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C2B5E">
              <a:alpha val="50000"/>
            </a:srgbClr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457200"/>
            <a:ext cx="3200400" cy="3200400"/>
          </a:xfrm>
          <a:prstGeom prst="ellipse">
            <a:avLst/>
          </a:prstGeom>
          <a:solidFill>
            <a:srgbClr val="243070">
              <a:alpha val="40000"/>
            </a:srgbClr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5B82C9">
              <a:alpha val="25000"/>
            </a:srgbClr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1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BACKEND DEVELOPER TRAINING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Testing Mastery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Testing · Integration Testing · Mockito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5029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@Spy  ·  @Mock  ·  @MockBean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ArgumentCaptor  ·  Stubs  ·  Verification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467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 ·  Test Coverage  ·  CI/CD Integration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4389120" cy="502920"/>
          </a:xfrm>
          <a:prstGeom prst="rect">
            <a:avLst/>
          </a:prstGeom>
          <a:solidFill>
            <a:srgbClr val="1C2B5E"/>
          </a:solidFill>
          <a:ln w="12700">
            <a:solidFill>
              <a:srgbClr val="5B82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343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Senior Java Backend Architect  ·  30+ Years Industry Experience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4343400"/>
            <a:ext cx="15544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4343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3–15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Roadmap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457200" cy="347472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6968" y="1325880"/>
            <a:ext cx="3520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1828800"/>
            <a:ext cx="457200" cy="347472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288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6968" y="1828800"/>
            <a:ext cx="3520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18288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vs Integration — Deep Comparison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2331720"/>
            <a:ext cx="457200" cy="347472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31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6968" y="2331720"/>
            <a:ext cx="3520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2331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That Created Mockito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2834640"/>
            <a:ext cx="457200" cy="347472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6968" y="2834640"/>
            <a:ext cx="3520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28346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Mockito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3337560"/>
            <a:ext cx="457200" cy="347472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3375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6968" y="3337560"/>
            <a:ext cx="3520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3337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Mocking?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1480" y="3840480"/>
            <a:ext cx="457200" cy="347472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6968" y="3840480"/>
            <a:ext cx="3520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" y="3840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Stubs?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1480" y="4343400"/>
            <a:ext cx="4572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343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86968" y="4343400"/>
            <a:ext cx="3520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4343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 vs Stubbing — Critical Distinction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54880" y="1325880"/>
            <a:ext cx="4572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30368" y="1325880"/>
            <a:ext cx="34107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132588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54880" y="1828800"/>
            <a:ext cx="457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8288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30368" y="1828800"/>
            <a:ext cx="34107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21808" y="182880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@Spy — Partial Mocking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754880" y="2331720"/>
            <a:ext cx="45720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331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30368" y="2331720"/>
            <a:ext cx="34107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21808" y="233172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ArgumentCaptor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457200" cy="34747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30368" y="2834640"/>
            <a:ext cx="34107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21808" y="283464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@MockBean — Mockito in Spring Boot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754880" y="3337560"/>
            <a:ext cx="457200" cy="34747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3375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230368" y="3337560"/>
            <a:ext cx="34107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1808" y="333756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Development (TDD)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754880" y="3840480"/>
            <a:ext cx="457200" cy="34747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L15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230368" y="3840480"/>
            <a:ext cx="34107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21808" y="384048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&amp; CI/CD Integration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914400"/>
            <a:ext cx="3657600" cy="3657600"/>
          </a:xfrm>
          <a:prstGeom prst="ellipse">
            <a:avLst/>
          </a:prstGeom>
          <a:solidFill>
            <a:srgbClr val="1C2B5E">
              <a:alpha val="50000"/>
            </a:srgbClr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63931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how components work together — the real world picture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Integration Testing?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5074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98448"/>
            <a:ext cx="64008" cy="3429000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89888"/>
            <a:ext cx="4846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multiple components working together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connections between components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involve real external systems: databases, APIs, queues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unit tests — seconds to minutes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bugs that unit tests cannot: connection issues, mapping errors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realistic scenarios — closer to production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23560" y="1298448"/>
            <a:ext cx="3108960" cy="132588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13898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THE GOAL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1737360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integrated parts behave correctly as a complete 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0" y="2761488"/>
            <a:ext cx="3108960" cy="1965960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28529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🚗  The Car Analogy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3200400"/>
            <a:ext cx="28346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part tested fine — brake pads ✓, hydraulics ✓, pedal ✓.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pedal was connected to the wrong line. The brakes FAIL.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integration bug. Only integration tests catch 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PROJECT SCENARIO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Project: Banking — Fund Transfer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2743200" cy="201168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3898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🏦  Business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transfers ₹10,000 from Account A → B. Both debit AND credit must happen atomically in a single DB transaction — either both succeed or both fail.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19272" y="1298448"/>
            <a:ext cx="2743200" cy="2011680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56432" y="13898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🧪  Why Integration Test?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173736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management (atomicity) cannot be tested with a unit test. You need a real database to verify that if Step 2 fails, Step 1 is also rolled back.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27064" y="1298448"/>
            <a:ext cx="2743200" cy="20116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4224" y="13898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Without It?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64224" y="173736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@Transactional means money debits from A but never credits to B. Customers lose money. A catastrophic production bug integration tests would have caught.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401568"/>
            <a:ext cx="8321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401568"/>
            <a:ext cx="64008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Integration Testing is Applied: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79476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up Account A (₹50,000) and Account B (₹20,000) in a REAL test database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411480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Call the transfer service with ₹10,000  →  verify A = ₹40,000 and B = ₹30,000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" y="44348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 a transaction record exists  →  delete Account B  →  verify Account A was NOT changed (rollback worked)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914400"/>
            <a:ext cx="5029200" cy="5029200"/>
          </a:xfrm>
          <a:prstGeom prst="ellipse">
            <a:avLst/>
          </a:prstGeom>
          <a:solidFill>
            <a:srgbClr val="1C2B5E">
              <a:alpha val="40000"/>
            </a:srgbClr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19072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vs Integration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47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Testing Pyramid  ·  Knowing when to use which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Testing Pyramid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4572000" cy="896112"/>
          </a:xfrm>
          <a:prstGeom prst="rect">
            <a:avLst/>
          </a:prstGeom>
          <a:solidFill>
            <a:srgbClr val="27AE60">
              <a:alpha val="90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85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0050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· Fast · Isolated · Milliseconds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25880" y="2624328"/>
            <a:ext cx="3383280" cy="896112"/>
          </a:xfrm>
          <a:prstGeom prst="rect">
            <a:avLst/>
          </a:prstGeom>
          <a:solidFill>
            <a:srgbClr val="5B82C9">
              <a:alpha val="90000"/>
            </a:srgbClr>
          </a:solidFill>
          <a:ln w="25400">
            <a:solidFill>
              <a:srgbClr val="5B82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TESTS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· Realistic · Seconds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20240" y="1627632"/>
            <a:ext cx="2194560" cy="896112"/>
          </a:xfrm>
          <a:prstGeom prst="rect">
            <a:avLst/>
          </a:prstGeom>
          <a:solidFill>
            <a:srgbClr val="E05252">
              <a:alpha val="90000"/>
            </a:srgbClr>
          </a:solidFill>
          <a:ln w="254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700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TESTS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20208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· Slowest · Full journey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0" y="1627632"/>
            <a:ext cx="3200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1627632"/>
            <a:ext cx="64008" cy="288036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848" y="17190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Ratio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41848" y="2176272"/>
            <a:ext cx="658368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41848" y="21762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22494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41848" y="2862072"/>
            <a:ext cx="658368" cy="475488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41848" y="28620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29352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41848" y="3547872"/>
            <a:ext cx="658368" cy="4754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354787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0" y="36210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41848" y="42519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= speed + precision + realistic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vs Integration — Side by Side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8321040" cy="41148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984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29844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7880" y="12984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Test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1737360"/>
            <a:ext cx="8321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3736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173736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method's logic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173736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components together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185416"/>
            <a:ext cx="8321040" cy="420624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8541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218541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(mocked/faked)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97880" y="218541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DB, API, message queue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2633472"/>
            <a:ext cx="8321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3347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263347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97880" y="263347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minutes 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081528"/>
            <a:ext cx="8321040" cy="420624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8152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0" y="308152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97880" y="308152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529584"/>
            <a:ext cx="8321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2958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precision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352958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— which method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97880" y="352958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— which flow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1480" y="3977640"/>
            <a:ext cx="8321040" cy="420624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97764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complexity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397764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97880" y="397764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1480" y="4425696"/>
            <a:ext cx="8321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42569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in project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42569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to thousands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97880" y="442569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to hundreds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114800" cy="4114800"/>
          </a:xfrm>
          <a:prstGeom prst="ellipse">
            <a:avLst/>
          </a:prstGeom>
          <a:solidFill>
            <a:srgbClr val="1C2B5E">
              <a:alpha val="45000"/>
            </a:srgbClr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That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Created Mockito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Hell — How do you isolate when everything is connected?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Dependency Problem in Real Applications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194560" cy="640080"/>
          </a:xfrm>
          <a:prstGeom prst="rect">
            <a:avLst/>
          </a:prstGeom>
          <a:solidFill>
            <a:srgbClr val="1C2B5E"/>
          </a:solidFill>
          <a:ln w="317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011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OrderService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1234440"/>
            <a:ext cx="2468880" cy="658368"/>
          </a:xfrm>
          <a:prstGeom prst="rect">
            <a:avLst/>
          </a:prstGeom>
          <a:solidFill>
            <a:srgbClr val="E05252">
              <a:alpha val="90000"/>
            </a:srgbClr>
          </a:solidFill>
          <a:ln w="1905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2527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(Stripe API — internet)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2468880" cy="658368"/>
          </a:xfrm>
          <a:prstGeom prst="rect">
            <a:avLst/>
          </a:prstGeom>
          <a:solidFill>
            <a:srgbClr val="E05252">
              <a:alpha val="90000"/>
            </a:srgbClr>
          </a:solidFill>
          <a:ln w="1905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53288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(Database queries)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234440"/>
            <a:ext cx="2468880" cy="658368"/>
          </a:xfrm>
          <a:prstGeom prst="rect">
            <a:avLst/>
          </a:prstGeom>
          <a:solidFill>
            <a:srgbClr val="E05252">
              <a:alpha val="90000"/>
            </a:srgbClr>
          </a:solidFill>
          <a:ln w="1905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2527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(SMTP Server)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514600"/>
            <a:ext cx="2468880" cy="658368"/>
          </a:xfrm>
          <a:prstGeom prst="rect">
            <a:avLst/>
          </a:prstGeom>
          <a:solidFill>
            <a:srgbClr val="E05252">
              <a:alpha val="90000"/>
            </a:srgbClr>
          </a:solidFill>
          <a:ln w="1905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53288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OrderRepository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(MySQL DB)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3749040"/>
            <a:ext cx="2468880" cy="658368"/>
          </a:xfrm>
          <a:prstGeom prst="rect">
            <a:avLst/>
          </a:prstGeom>
          <a:solidFill>
            <a:srgbClr val="E05252">
              <a:alpha val="90000"/>
            </a:srgbClr>
          </a:solidFill>
          <a:ln w="1905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29000" y="37673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TaxCalculationService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(Govt API)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57600"/>
            <a:ext cx="64008" cy="126187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7307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402336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OrderService in a unit test forces you to supply 5 real dependencies — each needing databases, APIs, SMTP servers.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657600"/>
            <a:ext cx="2560320" cy="1261872"/>
          </a:xfrm>
          <a:prstGeom prst="rect">
            <a:avLst/>
          </a:prstGeom>
          <a:solidFill>
            <a:srgbClr val="1C2B5E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3749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Mockito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404164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5 dependencies with controlled fake objects. No real network, DB, or email server needed.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731520"/>
            <a:ext cx="5029200" cy="5029200"/>
          </a:xfrm>
          <a:prstGeom prst="ellipse">
            <a:avLst/>
          </a:prstGeom>
          <a:solidFill>
            <a:srgbClr val="243070">
              <a:alpha val="40000"/>
            </a:srgbClr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Mockito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Java's most powerful testing framework for isolation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Mockito's Three Core Powers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272491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35608" y="1353312"/>
            <a:ext cx="658368" cy="6583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5608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" y="214884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Mocks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" y="2578608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creates a complete fake of ANY Java class or interface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2542032" cy="1481328"/>
          </a:xfrm>
          <a:prstGeom prst="rect">
            <a:avLst/>
          </a:prstGeom>
          <a:solidFill>
            <a:srgbClr val="1E2A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18688"/>
            <a:ext cx="235915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PaymentService mockPayment;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Mockito.mock(PaymentService.class)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4408" y="1298448"/>
            <a:ext cx="272491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88536" y="1353312"/>
            <a:ext cx="658368" cy="658368"/>
          </a:xfrm>
          <a:prstGeom prst="ellipse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88536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74136" y="214884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Stub Behavior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74136" y="2578608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mock exactly what to return for specific inputs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55848" y="3154680"/>
            <a:ext cx="2542032" cy="1481328"/>
          </a:xfrm>
          <a:prstGeom prst="rect">
            <a:avLst/>
          </a:prstGeom>
          <a:solidFill>
            <a:srgbClr val="1E2A4A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3218688"/>
            <a:ext cx="235915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when(mockPayment.charge(5000))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.thenReturn(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Response("SUCCESS")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17336" y="1298448"/>
            <a:ext cx="272491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41464" y="1353312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41464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27064" y="2148840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Interactions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27064" y="2578608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the right methods were called with the right arguments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08776" y="3154680"/>
            <a:ext cx="2542032" cy="1481328"/>
          </a:xfrm>
          <a:prstGeom prst="rect">
            <a:avLst/>
          </a:prstGeom>
          <a:solidFill>
            <a:srgbClr val="1E2A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3218688"/>
            <a:ext cx="235915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verify(mockPayment)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.charge(5000);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verify(service, never())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.charge(0);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371600"/>
            <a:ext cx="4572000" cy="4572000"/>
          </a:xfrm>
          <a:prstGeom prst="ellipse">
            <a:avLst/>
          </a:prstGeom>
          <a:solidFill>
            <a:srgbClr val="1C2B5E">
              <a:alpha val="45000"/>
            </a:srgbClr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Mocking?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controlled fake objects to isolate the class under test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Mocking — What a Mock Actually Does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461772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98448"/>
            <a:ext cx="64008" cy="3456432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89888"/>
            <a:ext cx="438912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COMPLETELY FAKE object that mimics a real class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perform any real work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whatever you program it to return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method call made to it (spy-like)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post-test verification: 'Was the right method called?'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focus: verifying BEHAVIOR, not just return values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66360" y="1298448"/>
            <a:ext cx="3566160" cy="14630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13898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The Film Industry Analogy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1737360"/>
            <a:ext cx="3246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$200K Lamborghini won't be crashed for a film scene. A prop car — a replica that looks real — takes the hit. Mocks work identically: real-looking, fully controllable, no real consequences.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66360" y="2880360"/>
            <a:ext cx="3566160" cy="502920"/>
          </a:xfrm>
          <a:prstGeom prst="rect">
            <a:avLst/>
          </a:prstGeom>
          <a:solidFill>
            <a:srgbClr val="F0F4FC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66360" y="2880360"/>
            <a:ext cx="64008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2907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21808" y="31363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fake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66360" y="3474720"/>
            <a:ext cx="3566160" cy="502920"/>
          </a:xfrm>
          <a:prstGeom prst="rect">
            <a:avLst/>
          </a:prstGeom>
          <a:solidFill>
            <a:srgbClr val="F0F4FC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66360" y="3474720"/>
            <a:ext cx="64008" cy="502920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35021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when().thenReturn()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21808" y="37307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behavior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66360" y="4069080"/>
            <a:ext cx="3566160" cy="502920"/>
          </a:xfrm>
          <a:prstGeom prst="rect">
            <a:avLst/>
          </a:prstGeom>
          <a:solidFill>
            <a:srgbClr val="F0F4FC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66360" y="4069080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4096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21808" y="43251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interaction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Mocking in Practice — E-Commerce Checkout Test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5166360" cy="3456432"/>
          </a:xfrm>
          <a:prstGeom prst="rect">
            <a:avLst/>
          </a:prstGeom>
          <a:solidFill>
            <a:srgbClr val="1E2A4A"/>
          </a:solidFill>
          <a:ln w="19050">
            <a:solidFill>
              <a:srgbClr val="5B82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" y="1389888"/>
            <a:ext cx="489204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@ExtendWith(MockitoExtension.class)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CheckoutServiceTest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@Mock InventoryService inventoryService;  // fake — no 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@Mock PaymentService paymentService;      // fake — no Stripe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@InjectMocks CheckoutService checkoutService; // REAL service, injected fakes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shouldReturnOutOfStock_whenItemNotAvailable()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ARRANGE — program the mock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when(inventoryService.isAvailable("LAPTOP-001", 2)).thenReturn(false);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result = checkoutService.checkout("LAPTOP-001", 2, 50000.0);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ASSERT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assertEquals("OUT_OF_STOCK", result);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VERIFY — customer must NOT be charged if stock unavailable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verify(paymentService, never()).charge(anyDouble());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1298448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15000" y="1298448"/>
            <a:ext cx="64008" cy="10789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0448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@InjectMocks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70448" y="16916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REAL CheckoutService and injects all @Mock objects as its dependencies.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2459736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15000" y="2459736"/>
            <a:ext cx="64008" cy="1078992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2532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2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when().thenReturn(false)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70448" y="285292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the fake: 'return false when isAvailable is called' — instant, no DB.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15000" y="3621024"/>
            <a:ext cx="3017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15000" y="3621024"/>
            <a:ext cx="64008" cy="10789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3694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verify(..., never())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70448" y="401421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safety check: ensure payment is never charged when stock is unavailable.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457200"/>
            <a:ext cx="5029200" cy="5029200"/>
          </a:xfrm>
          <a:prstGeom prst="ellipse">
            <a:avLst/>
          </a:prstGeom>
          <a:solidFill>
            <a:srgbClr val="243070">
              <a:alpha val="40000"/>
            </a:srgbClr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Stubs?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Controlling what fake objects return — setting the stage for testing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Stubs — Programming Your Fake Objects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4114800" cy="1261872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📼  The Answering Machine Analogy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17099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who calls or what they say — it plays the same pre-recorded message. A stub returns the same pre-set value regardless. It only cares about WHAT gets returned, not who called.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697480"/>
            <a:ext cx="64008" cy="1170432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return value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" y="3044952"/>
            <a:ext cx="3767328" cy="713232"/>
          </a:xfrm>
          <a:prstGeom prst="rect">
            <a:avLst/>
          </a:prstGeom>
          <a:solidFill>
            <a:srgbClr val="1E2A4A"/>
          </a:solidFill>
          <a:ln w="6350">
            <a:solidFill>
              <a:srgbClr val="5B82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099816"/>
            <a:ext cx="3584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when(service.getBalance(id))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.thenReturn(50000.0);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697480"/>
            <a:ext cx="64008" cy="1170432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Throw an exception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28032" y="3044952"/>
            <a:ext cx="3767328" cy="713232"/>
          </a:xfrm>
          <a:prstGeom prst="rect">
            <a:avLst/>
          </a:prstGeom>
          <a:solidFill>
            <a:srgbClr val="1E2A4A"/>
          </a:solidFill>
          <a:ln w="6350">
            <a:solidFill>
              <a:srgbClr val="5B82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099816"/>
            <a:ext cx="3584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when(service.getBalance(badId))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.thenThrow(new NotFoundException());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959352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959352"/>
            <a:ext cx="64008" cy="1170432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4005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Consecutive returns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" y="4306824"/>
            <a:ext cx="3767328" cy="713232"/>
          </a:xfrm>
          <a:prstGeom prst="rect">
            <a:avLst/>
          </a:prstGeom>
          <a:solidFill>
            <a:srgbClr val="1E2A4A"/>
          </a:solidFill>
          <a:ln w="6350">
            <a:solidFill>
              <a:srgbClr val="5B82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4361688"/>
            <a:ext cx="3584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when(service.getNextId())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.thenReturn(1).thenReturn(2);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959352"/>
            <a:ext cx="40690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959352"/>
            <a:ext cx="64008" cy="1170432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005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Void method (do nothing)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28032" y="4306824"/>
            <a:ext cx="3767328" cy="713232"/>
          </a:xfrm>
          <a:prstGeom prst="rect">
            <a:avLst/>
          </a:prstGeom>
          <a:solidFill>
            <a:srgbClr val="1E2A4A"/>
          </a:solidFill>
          <a:ln w="6350">
            <a:solidFill>
              <a:srgbClr val="5B82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4361688"/>
            <a:ext cx="35844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doNothing().when(emailSvc)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.sendEmail(anyString());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 vs Stub — The Critical Distinction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41148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98448"/>
            <a:ext cx="4114800" cy="621792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" y="1664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Input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029968"/>
            <a:ext cx="4114800" cy="475488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0665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06654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value should this dependency return?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542032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57860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57860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054096"/>
            <a:ext cx="4114800" cy="475488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09067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Style: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30906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State-based testing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566160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60273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 Syntax: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360273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when(...).thenReturn(...)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4114800" cy="475488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411480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Means: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411480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logic produced the wrong result"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1298448"/>
            <a:ext cx="41148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298448"/>
            <a:ext cx="411480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 VERIFICATION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73168" y="1664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Output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63440" y="2029968"/>
            <a:ext cx="4114800" cy="475488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0665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206654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my code call the right dependency?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2542032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578608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257860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calls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054096"/>
            <a:ext cx="4114800" cy="475488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09067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Style: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30906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Interaction-based testing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3566160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60273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 Syntax: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35040" y="360273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verify(...)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4078224"/>
            <a:ext cx="4114800" cy="475488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4114800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Means: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35040" y="411480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code did not interact correctly"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5029200" cy="5029200"/>
          </a:xfrm>
          <a:prstGeom prst="ellipse">
            <a:avLst/>
          </a:prstGeom>
          <a:solidFill>
            <a:srgbClr val="243070">
              <a:alpha val="40000"/>
            </a:srgbClr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@Spy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Mocking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object with surgical fake transplants on specific methods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@Mock vs @Spy — When to Use Which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41148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98448"/>
            <a:ext cx="4114800" cy="594360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16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@Mock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" y="1655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Fake Object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384048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returns null / 0 / false by default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class logic is NEVER executed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ALL return values via stubbing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external dependencies (DB, API, SMTP)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when().thenReturn() 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1148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98448"/>
            <a:ext cx="411480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316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73168" y="1655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Object, Selective Override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965960"/>
            <a:ext cx="384048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object created — constructor is called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execute REAL logic by default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Selectively override specific methods with doReturn()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real logic must run alongside faking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doReturn().when() — NEVER when().thenReturn() ⚠️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462272"/>
            <a:ext cx="4114800" cy="256032"/>
          </a:xfrm>
          <a:prstGeom prst="rect">
            <a:avLst/>
          </a:prstGeom>
          <a:solidFill>
            <a:srgbClr val="E05252">
              <a:alpha val="8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462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252"/>
                </a:solidFill>
              </a:rPr>
              <a:t>⚠️  With @Spy: always use doReturn().when() — never when().thenReturn() — or real method executes during setup!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914400"/>
            <a:ext cx="4572000" cy="4572000"/>
          </a:xfrm>
          <a:prstGeom prst="ellipse">
            <a:avLst/>
          </a:prstGeom>
          <a:solidFill>
            <a:srgbClr val="1C2B5E">
              <a:alpha val="40000"/>
            </a:srgbClr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Argument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Intercepting and inspecting WHAT your code passes to its dependencies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ArgumentCaptor — Three Steps to Deep Assertion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27249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35608" y="1353312"/>
            <a:ext cx="658368" cy="658368"/>
          </a:xfrm>
          <a:prstGeom prst="ellipse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5608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208" y="210312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Declare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487168"/>
            <a:ext cx="2542032" cy="594360"/>
          </a:xfrm>
          <a:prstGeom prst="rect">
            <a:avLst/>
          </a:prstGeom>
          <a:solidFill>
            <a:srgbClr val="1E2A4A"/>
          </a:solidFill>
          <a:ln w="19050">
            <a:solidFill>
              <a:srgbClr val="5B82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" y="2578608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@Captor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ArgumentCaptor&lt;EmailMessage&gt;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emailCaptor;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1298448"/>
            <a:ext cx="27249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88536" y="1353312"/>
            <a:ext cx="658368" cy="658368"/>
          </a:xfrm>
          <a:prstGeom prst="ellipse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8536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74136" y="210312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Capture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55848" y="2487168"/>
            <a:ext cx="2542032" cy="594360"/>
          </a:xfrm>
          <a:prstGeom prst="rect">
            <a:avLst/>
          </a:prstGeom>
          <a:solidFill>
            <a:srgbClr val="1E2A4A"/>
          </a:solidFill>
          <a:ln w="19050">
            <a:solidFill>
              <a:srgbClr val="5B82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20440" y="2578608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verify(emailService)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.send(emailCaptor.capture());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1298448"/>
            <a:ext cx="27249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41464" y="1353312"/>
            <a:ext cx="658368" cy="6583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41464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27064" y="210312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Inspect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08776" y="2487168"/>
            <a:ext cx="2542032" cy="594360"/>
          </a:xfrm>
          <a:prstGeom prst="rect">
            <a:avLst/>
          </a:prstGeom>
          <a:solidFill>
            <a:srgbClr val="1E2A4A"/>
          </a:solidFill>
          <a:ln w="19050">
            <a:solidFill>
              <a:srgbClr val="5B82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73368" y="2578608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EmailMessage e = emailCaptor.getValue();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assertEquals("user@x.com", e.getRecipient());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assertTrue(e.getBody().contains("ORDER-001"));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246120"/>
            <a:ext cx="83210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246120"/>
            <a:ext cx="64008" cy="14813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3192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ArgumentCaptor is Superior to eq() Matchers: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3639312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verify(emailService).send(eq(expectedEmail)) — requires building a perfectly-matching full object. Fragile — fails if ANY field differs, even unrelated ones.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Captor approach: capture the actual object, assert only on the fields that MATTER to this specific test. More readable, more precise failure messages, resilient to unrelated changes.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457200"/>
            <a:ext cx="5029200" cy="5029200"/>
          </a:xfrm>
          <a:prstGeom prst="ellipse">
            <a:avLst/>
          </a:prstGeom>
          <a:solidFill>
            <a:srgbClr val="243070">
              <a:alpha val="40000"/>
            </a:srgbClr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@MockBean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Spring Boot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Mocking inside the Spring Application Context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@Mock vs @MockBean — The Critical Difference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41148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98448"/>
            <a:ext cx="4114800" cy="713232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167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@Mock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208" y="1673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@ExtendWith(MockitoExtension.class)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121408"/>
            <a:ext cx="4114800" cy="576072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148840"/>
            <a:ext cx="1051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148840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unit tests — NO Spring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41148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770632"/>
            <a:ext cx="1051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2770632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Milliseconds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364992"/>
            <a:ext cx="4114800" cy="576072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392424"/>
            <a:ext cx="1051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3392424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 does injection via @InjectMocks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986784"/>
            <a:ext cx="41148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4014216"/>
            <a:ext cx="1051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4014216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logic, business rules, calculations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298448"/>
            <a:ext cx="41148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298448"/>
            <a:ext cx="4114800" cy="7132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3167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@MockBean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773168" y="1673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@SpringBootTest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121408"/>
            <a:ext cx="4114800" cy="576072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148840"/>
            <a:ext cx="1051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2148840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— Spring context IS running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743200"/>
            <a:ext cx="41148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770632"/>
            <a:ext cx="1051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770632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Seconds (Spring startup)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364992"/>
            <a:ext cx="4114800" cy="576072"/>
          </a:xfrm>
          <a:prstGeom prst="rect">
            <a:avLst/>
          </a:prstGeom>
          <a:solidFill>
            <a:srgbClr val="F0F4FC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392424"/>
            <a:ext cx="1051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52160" y="3392424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context auto-injects everywhere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986784"/>
            <a:ext cx="41148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4014216"/>
            <a:ext cx="1051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52160" y="4014216"/>
            <a:ext cx="281635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endpoints, Security, JSON, Transactions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46360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 don't need Spring — use @Mock. If Spring context must be active — use @MockBean.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457200"/>
            <a:ext cx="4114800" cy="4114800"/>
          </a:xfrm>
          <a:prstGeom prst="ellipse">
            <a:avLst/>
          </a:prstGeom>
          <a:solidFill>
            <a:srgbClr val="243070">
              <a:alpha val="45000"/>
            </a:srgbClr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Test-Driven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test FIRST — let tests DRIVE your implementation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TDD — The Red → Green → Refactor Cycle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2724912" cy="3456432"/>
          </a:xfrm>
          <a:prstGeom prst="rect">
            <a:avLst/>
          </a:prstGeom>
          <a:solidFill>
            <a:srgbClr val="FFFFFF"/>
          </a:solidFill>
          <a:ln w="254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98448"/>
            <a:ext cx="2724912" cy="65836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1673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🔴  RED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" y="2029968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FAILING test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test BEFORE any code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fails because no implementation exists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correct — failure is expected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the code should 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64408" y="1298448"/>
            <a:ext cx="2724912" cy="345643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1298448"/>
            <a:ext cx="2724912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31673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55848" y="148132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🟢  GREEN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74136" y="2029968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MINIMUM code to pass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251460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simplest code that makes it pass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over-engineer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extras, no premature optimisation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make the test go green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17336" y="1298448"/>
            <a:ext cx="2724912" cy="3456432"/>
          </a:xfrm>
          <a:prstGeom prst="rect">
            <a:avLst/>
          </a:prstGeom>
          <a:solidFill>
            <a:srgbClr val="FFFFFF"/>
          </a:solidFill>
          <a:ln w="25400">
            <a:solidFill>
              <a:srgbClr val="5B82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1298448"/>
            <a:ext cx="2724912" cy="658368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31673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08776" y="148132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🔵  REFACTOR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27064" y="2029968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2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code — keep tests green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54496" y="251460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up, rename, extract methods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after EVERY change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tests go red — you broke something, undo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cycle for the next feature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154680" y="2697480"/>
            <a:ext cx="566928" cy="0"/>
          </a:xfrm>
          <a:prstGeom prst="line">
            <a:avLst/>
          </a:prstGeom>
          <a:noFill/>
          <a:ln w="25400">
            <a:solidFill>
              <a:srgbClr val="8A9C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6752" y="2697480"/>
            <a:ext cx="566928" cy="0"/>
          </a:xfrm>
          <a:prstGeom prst="line">
            <a:avLst/>
          </a:prstGeom>
          <a:noFill/>
          <a:ln w="25400">
            <a:solidFill>
              <a:srgbClr val="8A9CC4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LECTURE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Coverage &amp; CI/CD Integration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Metrics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19072"/>
            <a:ext cx="64008" cy="457200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647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1764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lines executed by tests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249424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249424"/>
            <a:ext cx="64008" cy="457200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29514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29514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if/else paths taken — most valuable metric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77977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779776"/>
            <a:ext cx="64008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8254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Coverage: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282549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methods called by tests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364992"/>
            <a:ext cx="4114800" cy="12344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493008"/>
            <a:ext cx="109728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93008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737360" y="3547872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Standard Minimum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37360" y="386791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 ≠ bug-free. Focus on business logic. Avoid testing trivial getters/setters.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1298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 — Quality Gates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709160" y="1719072"/>
            <a:ext cx="438912" cy="475488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71907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166360" y="171907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176479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928616" y="2212848"/>
            <a:ext cx="0" cy="91440"/>
          </a:xfrm>
          <a:prstGeom prst="line">
            <a:avLst/>
          </a:prstGeom>
          <a:noFill/>
          <a:ln w="19050">
            <a:solidFill>
              <a:srgbClr val="8A9C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313432"/>
            <a:ext cx="438912" cy="475488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31343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166360" y="231343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235915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Unit Tests ⚡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928616" y="2807208"/>
            <a:ext cx="0" cy="91440"/>
          </a:xfrm>
          <a:prstGeom prst="line">
            <a:avLst/>
          </a:prstGeom>
          <a:noFill/>
          <a:ln w="19050">
            <a:solidFill>
              <a:srgbClr val="8A9C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907792"/>
            <a:ext cx="438912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90779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166360" y="29077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5232" y="295351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Coverage ≥ 80%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928616" y="3401568"/>
            <a:ext cx="0" cy="91440"/>
          </a:xfrm>
          <a:prstGeom prst="line">
            <a:avLst/>
          </a:prstGeom>
          <a:noFill/>
          <a:ln w="19050">
            <a:solidFill>
              <a:srgbClr val="8A9C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3502152"/>
            <a:ext cx="438912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50215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166360" y="350215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85232" y="354787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928616" y="3995928"/>
            <a:ext cx="0" cy="91440"/>
          </a:xfrm>
          <a:prstGeom prst="line">
            <a:avLst/>
          </a:prstGeom>
          <a:noFill/>
          <a:ln w="19050">
            <a:solidFill>
              <a:srgbClr val="8A9C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4096512"/>
            <a:ext cx="438912" cy="4754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4096512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66360" y="409651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85232" y="414223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 ✅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4709160" y="4663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FAILS if coverage drops below 80% — broken code NEVER reaches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01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Complete Testing Mental Model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CC4"/>
                </a:solidFill>
              </a:rPr>
              <a:t>Java Testing Mastery  ·  Senior Backend Architect Training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98448"/>
            <a:ext cx="2724912" cy="384048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9844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70992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· No external systems · Milliseconds · @Mock + @InjectMocks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298448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298448"/>
            <a:ext cx="2724912" cy="384048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29844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70992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components · Real Spring context · @MockBean + @SpringBootTest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17336" y="1298448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7336" y="1298448"/>
            <a:ext cx="2724912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29844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@Mock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08776" y="170992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fake object — use for all dependencies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2532888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532888"/>
            <a:ext cx="2724912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53288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@Spy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294436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object + selective override — doReturn().when()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64408" y="2532888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532888"/>
            <a:ext cx="2724912" cy="384048"/>
          </a:xfrm>
          <a:prstGeom prst="rect">
            <a:avLst/>
          </a:prstGeom>
          <a:solidFill>
            <a:srgbClr val="5B82C9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53288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294436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when().thenReturn() — control what fakes return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17336" y="2532888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2532888"/>
            <a:ext cx="2724912" cy="384048"/>
          </a:xfrm>
          <a:prstGeom prst="rect">
            <a:avLst/>
          </a:prstGeom>
          <a:solidFill>
            <a:srgbClr val="243070"/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253288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08776" y="294436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 method was called correctly with correct args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3767328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3767328"/>
            <a:ext cx="2724912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7673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Captor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17880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@Captor captures arguments — inspect every field after verify()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64408" y="3767328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64408" y="3767328"/>
            <a:ext cx="2724912" cy="38404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37673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TDD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55848" y="417880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→ Green → Refactor — write tests FIRST always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17336" y="3767328"/>
            <a:ext cx="272491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17336" y="3767328"/>
            <a:ext cx="2724912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08776" y="37673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08776" y="4178808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minimum · Branch coverage most valuable · JaCoCo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45"/>
          </a:solidFill>
          <a:ln w="12700">
            <a:solidFill>
              <a:srgbClr val="111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243070">
              <a:alpha val="40000"/>
            </a:srgbClr>
          </a:solidFill>
          <a:ln w="12700">
            <a:solidFill>
              <a:srgbClr val="243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743200"/>
            <a:ext cx="3657600" cy="3657600"/>
          </a:xfrm>
          <a:prstGeom prst="ellipse">
            <a:avLst/>
          </a:prstGeom>
          <a:solidFill>
            <a:srgbClr val="1C2B5E">
              <a:alpha val="40000"/>
            </a:srgbClr>
          </a:solidFill>
          <a:ln w="12700">
            <a:solidFill>
              <a:srgbClr val="1C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you can't change safely is dead code.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5029200" cy="45720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8D8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are what give you the confidence to change it.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in Your Journey: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 Containers — real Docker DBs in tests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465576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Contract Testing with Pact — microservices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803904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Mutation Testing with PIT — test quality metrics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142232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Performance Testing — JMeter &amp; Gatling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943600" cy="365760"/>
          </a:xfrm>
          <a:prstGeom prst="rect">
            <a:avLst/>
          </a:prstGeom>
          <a:solidFill>
            <a:srgbClr val="1C2B5E"/>
          </a:solidFill>
          <a:ln w="12700">
            <a:solidFill>
              <a:srgbClr val="5B82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26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Senior Java Backend Architect Training  ·  Java Testing Mastery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Testing Mastery — Unit, Integration Testing &amp; Mockito</dc:title>
  <dc:subject>PptxGenJS Presentation</dc:subject>
  <dc:creator>Senior Java Backend Architect</dc:creator>
  <cp:lastModifiedBy>Senior Java Backend Architect</cp:lastModifiedBy>
  <cp:revision>1</cp:revision>
  <dcterms:created xsi:type="dcterms:W3CDTF">2026-02-18T08:41:58Z</dcterms:created>
  <dcterms:modified xsi:type="dcterms:W3CDTF">2026-02-18T08:41:58Z</dcterms:modified>
</cp:coreProperties>
</file>