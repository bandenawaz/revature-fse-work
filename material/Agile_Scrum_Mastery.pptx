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457200"/>
            <a:ext cx="4114800" cy="4114800"/>
          </a:xfrm>
          <a:prstGeom prst="ellipse">
            <a:avLst/>
          </a:prstGeom>
          <a:solidFill>
            <a:srgbClr val="1A3E9A">
              <a:alpha val="22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097280"/>
            <a:ext cx="2743200" cy="2743200"/>
          </a:xfrm>
          <a:prstGeom prst="ellipse">
            <a:avLst/>
          </a:prstGeom>
          <a:solidFill>
            <a:srgbClr val="00B4D8">
              <a:alpha val="13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858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500" kern="0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&amp; SCRUM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Program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Professional Training on SDLC, Agile, Scrum,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Stories, Story Points, Burndown Charts &amp; JIRA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Project Manager &amp; Architect  |  30+ Years Industry Experience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Training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 — Your Learning Journey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6868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68680"/>
            <a:ext cx="2743200" cy="73152"/>
          </a:xfrm>
          <a:prstGeom prst="rect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" y="1069848"/>
            <a:ext cx="640080" cy="502920"/>
          </a:xfrm>
          <a:prstGeom prst="rect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0698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0624" y="167335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SDLC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68680"/>
            <a:ext cx="2743200" cy="7315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1069848"/>
            <a:ext cx="640080" cy="5029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0698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64992" y="167335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Agile Manifesto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4768" y="86868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86868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069848"/>
            <a:ext cx="6400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0698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167335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Framework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6032" y="28346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834640"/>
            <a:ext cx="2743200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" y="3035808"/>
            <a:ext cx="640080" cy="5029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0358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20624" y="36393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&amp; Epics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0" y="28346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834640"/>
            <a:ext cx="2743200" cy="73152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64992" y="3035808"/>
            <a:ext cx="640080" cy="50292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30358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364992" y="36393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Pointing &amp; Burndown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44768" y="28346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2834640"/>
            <a:ext cx="2743200" cy="73152"/>
          </a:xfrm>
          <a:prstGeom prst="rect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3035808"/>
            <a:ext cx="640080" cy="502920"/>
          </a:xfrm>
          <a:prstGeom prst="rect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0358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309360" y="36393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— Scrum Boards in Practice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56032" y="4617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builds on the previous — master the WHY before the HOW.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0"/>
            <a:ext cx="1371600" cy="50292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SDLC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foundation of all software development processes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438912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05472" y="4389120"/>
            <a:ext cx="182880" cy="18288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52944" y="4389120"/>
            <a:ext cx="182880" cy="18288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0416" y="4389120"/>
            <a:ext cx="182880" cy="182880"/>
          </a:xfrm>
          <a:prstGeom prst="ellipse">
            <a:avLst/>
          </a:prstGeom>
          <a:solidFill>
            <a:srgbClr val="00B4D8">
              <a:alpha val="5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7888" y="4389120"/>
            <a:ext cx="182880" cy="18288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4389120"/>
            <a:ext cx="182880" cy="1828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SDLC?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Life Cycle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phase-by-phase process for planning, building, testing, and delivering software professionally — bringing order to what was once chaos.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5303520" cy="11430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6771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Think of a Hospital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follow: Reception → Triage → Diagnosis → Treatment → Recovery → Discharge. Each step has a clear purpose. You cannot discharge before recovery. Software follows the same logic.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97880" y="749808"/>
            <a:ext cx="2971800" cy="3337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8412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1280160"/>
            <a:ext cx="4572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28016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1960s Software Crisis: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were late, over budget,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completely failed.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2029968"/>
            <a:ext cx="4572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2029968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structure, developers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wrong thing.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2779776"/>
            <a:ext cx="4572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2779776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brought predictability,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accountability.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3529584"/>
            <a:ext cx="4572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3529584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'recipe' for building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software systems.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5303520" cy="64008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5643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successful software project follows SDLC — consciously or instinctively."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Phases of SDLC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804672"/>
            <a:ext cx="117043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804672"/>
            <a:ext cx="1170432" cy="64008"/>
          </a:xfrm>
          <a:prstGeom prst="rect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960120"/>
            <a:ext cx="457200" cy="457200"/>
          </a:xfrm>
          <a:prstGeom prst="ellipse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" y="1508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" y="1938528"/>
            <a:ext cx="841248" cy="292608"/>
          </a:xfrm>
          <a:prstGeom prst="rect">
            <a:avLst/>
          </a:prstGeom>
          <a:solidFill>
            <a:srgbClr val="1A3E9A">
              <a:alpha val="85000"/>
            </a:srgbClr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93852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" y="2286000"/>
            <a:ext cx="107899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budget, resources, risk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26464" y="804672"/>
            <a:ext cx="117043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426464" y="804672"/>
            <a:ext cx="1170432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83080" y="960120"/>
            <a:ext cx="457200" cy="45720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308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1508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91056" y="1938528"/>
            <a:ext cx="841248" cy="292608"/>
          </a:xfrm>
          <a:prstGeom prst="rect">
            <a:avLst/>
          </a:prstGeom>
          <a:solidFill>
            <a:srgbClr val="6B3FA0">
              <a:alpha val="85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91056" y="193852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72184" y="2286000"/>
            <a:ext cx="107899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88336" y="804672"/>
            <a:ext cx="117043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88336" y="804672"/>
            <a:ext cx="1170432" cy="6400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44952" y="960120"/>
            <a:ext cx="457200" cy="45720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44952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24912" y="1508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52928" y="1938528"/>
            <a:ext cx="841248" cy="292608"/>
          </a:xfrm>
          <a:prstGeom prst="rect">
            <a:avLst/>
          </a:prstGeom>
          <a:solidFill>
            <a:srgbClr val="00796B">
              <a:alpha val="85000"/>
            </a:srgbClr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52928" y="193852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34056" y="2286000"/>
            <a:ext cx="107899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database, UI/UX design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50208" y="804672"/>
            <a:ext cx="117043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950208" y="804672"/>
            <a:ext cx="117043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06824" y="96012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06824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986784" y="1508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0" y="1938528"/>
            <a:ext cx="841248" cy="292608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193852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95928" y="2286000"/>
            <a:ext cx="107899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coding by developers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12080" y="804672"/>
            <a:ext cx="117043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212080" y="804672"/>
            <a:ext cx="1170432" cy="64008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68696" y="960120"/>
            <a:ext cx="457200" cy="457200"/>
          </a:xfrm>
          <a:prstGeom prst="ellipse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68696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48656" y="1508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376672" y="1938528"/>
            <a:ext cx="841248" cy="292608"/>
          </a:xfrm>
          <a:prstGeom prst="rect">
            <a:avLst/>
          </a:prstGeom>
          <a:solidFill>
            <a:srgbClr val="F7A11A">
              <a:alpha val="85000"/>
            </a:srgbClr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193852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57800" y="2286000"/>
            <a:ext cx="107899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 UAT, security tests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73952" y="804672"/>
            <a:ext cx="117043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73952" y="804672"/>
            <a:ext cx="1170432" cy="64008"/>
          </a:xfrm>
          <a:prstGeom prst="rect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30568" y="960120"/>
            <a:ext cx="457200" cy="457200"/>
          </a:xfrm>
          <a:prstGeom prst="ellipse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0568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10528" y="1508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638544" y="1938528"/>
            <a:ext cx="841248" cy="292608"/>
          </a:xfrm>
          <a:prstGeom prst="rect">
            <a:avLst/>
          </a:prstGeom>
          <a:solidFill>
            <a:srgbClr val="0A8A5A">
              <a:alpha val="85000"/>
            </a:srgbClr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38544" y="193852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19672" y="2286000"/>
            <a:ext cx="107899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to production, go-live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735824" y="804672"/>
            <a:ext cx="117043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735824" y="804672"/>
            <a:ext cx="1170432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92440" y="96012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9244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772400" y="1508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900416" y="1938528"/>
            <a:ext cx="841248" cy="292608"/>
          </a:xfrm>
          <a:prstGeom prst="rect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00416" y="193852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781544" y="2286000"/>
            <a:ext cx="107899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fixes, enhancements, monitoring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64592" y="4407408"/>
            <a:ext cx="8814816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440740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PAYEASY BANKING PROJECT:  The bank applies all 7 phases — from planning a $500K investment through maintenance of a live system serving 500,000 customers.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Model — The Traditional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777240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77240"/>
            <a:ext cx="4114800" cy="411480"/>
          </a:xfrm>
          <a:prstGeom prst="rect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777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MODEL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3749040" cy="292608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98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664208"/>
            <a:ext cx="3584448" cy="292608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64208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Requirements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029968"/>
            <a:ext cx="3419856" cy="292608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2996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2395728"/>
            <a:ext cx="3255264" cy="292608"/>
          </a:xfrm>
          <a:prstGeom prst="rect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39572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Development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2761488"/>
            <a:ext cx="3090672" cy="292608"/>
          </a:xfrm>
          <a:prstGeom prst="rect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7614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Testing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3127248"/>
            <a:ext cx="29260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1272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Deployment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" y="3657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Fatal Flaw: Requirements locked at start.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sees product only at the end — 12 months later!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4251960" cy="3474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ROOT PROBLEMS AGILE SOLVED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371600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change — business evolves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828800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feedback — customer sees product at the end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2286000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— huge investment, no working software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2743200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flexibility — changing direction is expensive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200400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over collaboration — misinterpretation rife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56032" y="4370832"/>
            <a:ext cx="8659368" cy="566928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37083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Standish CHAOS Report: Only 29% of Waterfall projects succeeded on time and on budget.  52% were late or missing features.  19% failed completely.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0"/>
            <a:ext cx="1371600" cy="50292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Agile Manifesto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68-word document that changed software development forever — February 2001, Utah, USA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438912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05472" y="4389120"/>
            <a:ext cx="182880" cy="18288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52944" y="4389120"/>
            <a:ext cx="182880" cy="18288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0416" y="4389120"/>
            <a:ext cx="182880" cy="182880"/>
          </a:xfrm>
          <a:prstGeom prst="ellipse">
            <a:avLst/>
          </a:prstGeom>
          <a:solidFill>
            <a:srgbClr val="00B4D8">
              <a:alpha val="5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7888" y="4389120"/>
            <a:ext cx="182880" cy="18288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4389120"/>
            <a:ext cx="182880" cy="1828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of Agile — February 2001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experienced software veterans gathered at Snowbird Ski Resort, Utah. Frustrated by heavyweight, documentation-heavy processes that were failing projects worldwide, they wrote a manifesto that would transform the industry.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719072"/>
            <a:ext cx="850392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1907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AGILE MANIFESTO — 4 CORE VALUES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384048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&amp; Interactions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2395728"/>
            <a:ext cx="868680" cy="32004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239572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30368" y="2286000"/>
            <a:ext cx="3657600" cy="548640"/>
          </a:xfrm>
          <a:prstGeom prst="rect">
            <a:avLst/>
          </a:prstGeom>
          <a:solidFill>
            <a:srgbClr val="E0E8F5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2286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&amp; Tools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384048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443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51960" y="3054096"/>
            <a:ext cx="868680" cy="32004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3054096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30368" y="2944368"/>
            <a:ext cx="3657600" cy="548640"/>
          </a:xfrm>
          <a:prstGeom prst="rect">
            <a:avLst/>
          </a:prstGeom>
          <a:solidFill>
            <a:srgbClr val="E0E8F5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1808" y="29443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Documentation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602736"/>
            <a:ext cx="384048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0273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Collaboration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51960" y="3712464"/>
            <a:ext cx="868680" cy="32004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3712464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30368" y="3602736"/>
            <a:ext cx="3657600" cy="548640"/>
          </a:xfrm>
          <a:prstGeom prst="rect">
            <a:avLst/>
          </a:prstGeom>
          <a:solidFill>
            <a:srgbClr val="E0E8F5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21808" y="360273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Negotiation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4261104"/>
            <a:ext cx="384048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26110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Change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51960" y="4370832"/>
            <a:ext cx="868680" cy="32004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51960" y="437083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230368" y="4261104"/>
            <a:ext cx="3657600" cy="548640"/>
          </a:xfrm>
          <a:prstGeom prst="rect">
            <a:avLst/>
          </a:prstGeom>
          <a:solidFill>
            <a:srgbClr val="E0E8F5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21808" y="426110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 Plan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"While there is value in items on the right, we value items on the LEFT more."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 Agile Principles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22960"/>
            <a:ext cx="2834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0896" y="1069848"/>
            <a:ext cx="384048" cy="384048"/>
          </a:xfrm>
          <a:prstGeom prst="ellipse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896112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through early &amp; continuous delivery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91256" y="822960"/>
            <a:ext cx="2834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00984" y="1069848"/>
            <a:ext cx="384048" cy="38404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0984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58184" y="896112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changing requirements, even late in development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822960"/>
            <a:ext cx="2834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91072" y="106984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48272" y="896112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working software frequently — weeks, not months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" y="1847088"/>
            <a:ext cx="2834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0896" y="2093976"/>
            <a:ext cx="384048" cy="384048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8096" y="1920240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developers must work together daily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91256" y="1847088"/>
            <a:ext cx="2834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00984" y="2093976"/>
            <a:ext cx="384048" cy="384048"/>
          </a:xfrm>
          <a:prstGeom prst="ellipse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00984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58184" y="1920240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around motivated individuals — trust them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81344" y="1847088"/>
            <a:ext cx="2834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91072" y="2093976"/>
            <a:ext cx="384048" cy="384048"/>
          </a:xfrm>
          <a:prstGeom prst="ellipse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48272" y="1920240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Face-to-face conversation is the most efficient communication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01168" y="2871216"/>
            <a:ext cx="2834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0896" y="3118104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8096" y="2944368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 is the primary measure of progress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191256" y="2871216"/>
            <a:ext cx="2834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00984" y="3118104"/>
            <a:ext cx="384048" cy="384048"/>
          </a:xfrm>
          <a:prstGeom prst="ellipse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00984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758184" y="2944368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promotes sustainable development — constant pace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81344" y="2871216"/>
            <a:ext cx="2834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91072" y="3118104"/>
            <a:ext cx="384048" cy="38404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48272" y="2944368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attention to technical excellence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01168" y="3895344"/>
            <a:ext cx="2834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10896" y="414223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68096" y="3968496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— maximize the work NOT done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191256" y="3895344"/>
            <a:ext cx="2834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300984" y="4142232"/>
            <a:ext cx="384048" cy="384048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00984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758184" y="3968496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architectures emerge from self-organizing teams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81344" y="3895344"/>
            <a:ext cx="2834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91072" y="4142232"/>
            <a:ext cx="384048" cy="384048"/>
          </a:xfrm>
          <a:prstGeom prst="ellipse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91072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748272" y="3968496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reflect and adjust to become more effective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0"/>
            <a:ext cx="1371600" cy="50292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Framework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Events, Artifacts — the world's most popular Agile implementation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438912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05472" y="4389120"/>
            <a:ext cx="182880" cy="18288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52944" y="4389120"/>
            <a:ext cx="182880" cy="18288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0416" y="4389120"/>
            <a:ext cx="182880" cy="182880"/>
          </a:xfrm>
          <a:prstGeom prst="ellipse">
            <a:avLst/>
          </a:prstGeom>
          <a:solidFill>
            <a:srgbClr val="00B4D8">
              <a:alpha val="5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7888" y="4389120"/>
            <a:ext cx="182880" cy="18288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4389120"/>
            <a:ext cx="182880" cy="1828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Framework — Big Picture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structures work into short, fixed cycles called Sprints. At the end of every Sprint, the team delivers real, working software.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371600"/>
            <a:ext cx="2194560" cy="3291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44752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21488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Feature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4871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Feature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8254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Feature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1638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Feature 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5021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Feature 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8404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...50+ items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2816352"/>
            <a:ext cx="5029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2926080"/>
            <a:ext cx="621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27248" y="1371600"/>
            <a:ext cx="3703320" cy="3291840"/>
          </a:xfrm>
          <a:prstGeom prst="rect">
            <a:avLst/>
          </a:prstGeom>
          <a:solidFill>
            <a:srgbClr val="EFF6F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146304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 (2 Weeks)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73552" y="1965960"/>
            <a:ext cx="34290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5D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202996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01568" y="23591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Story 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01568" y="27432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Story 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01568" y="31272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Story 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01568" y="351129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Story 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18688" y="4005072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Daily Standup — 15 min every morning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03720" y="2816352"/>
            <a:ext cx="411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60920" y="1371600"/>
            <a:ext cx="1572768" cy="1554480"/>
          </a:xfrm>
          <a:prstGeom prst="rect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4928" y="1481328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06640" y="20116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working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60920" y="3108960"/>
            <a:ext cx="1572768" cy="15544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24928" y="3218688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37490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improve?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4754880"/>
            <a:ext cx="8677656" cy="22860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INCREMENT — Working, potentially shippable software delivered at the end of every Sprint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Scrum Roles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hierarchy — all three roles are peers with distinct, non-overlapping responsibilities.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" y="1207008"/>
            <a:ext cx="2816352" cy="36758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07008"/>
            <a:ext cx="2816352" cy="658368"/>
          </a:xfrm>
          <a:prstGeom prst="rect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207008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" y="1618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WHAT"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0896" y="1993392"/>
            <a:ext cx="128016" cy="128016"/>
          </a:xfrm>
          <a:prstGeom prst="ellipse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93852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product value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" y="2340864"/>
            <a:ext cx="128016" cy="128016"/>
          </a:xfrm>
          <a:prstGeom prst="ellipse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28600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&amp; orders the Product Backlog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" y="2688336"/>
            <a:ext cx="128016" cy="128016"/>
          </a:xfrm>
          <a:prstGeom prst="ellipse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63347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voice of the customer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" y="3035808"/>
            <a:ext cx="128016" cy="128016"/>
          </a:xfrm>
          <a:prstGeom prst="ellipse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980944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or rejects completed 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" y="3383280"/>
            <a:ext cx="128016" cy="128016"/>
          </a:xfrm>
          <a:prstGeom prst="ellipse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32841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available daily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0896" y="3730752"/>
            <a:ext cx="128016" cy="128016"/>
          </a:xfrm>
          <a:prstGeom prst="ellipse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67588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final priority decisions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114800"/>
            <a:ext cx="2670048" cy="658368"/>
          </a:xfrm>
          <a:prstGeom prst="rect">
            <a:avLst/>
          </a:prstGeom>
          <a:solidFill>
            <a:srgbClr val="1A3E9A">
              <a:alpha val="12000"/>
            </a:srgbClr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" y="4133088"/>
            <a:ext cx="2596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Priya Sharma — Senior Digital Banking Manager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feature order and accepts completed sprints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82112" y="1207008"/>
            <a:ext cx="2816352" cy="36758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82112" y="1207008"/>
            <a:ext cx="2816352" cy="6583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1207008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73552" y="1618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HOW"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91840" y="1993392"/>
            <a:ext cx="128016" cy="128016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193852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Servant leader — serves the team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91840" y="2340864"/>
            <a:ext cx="128016" cy="128016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228600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impediments &amp; blockers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91840" y="2688336"/>
            <a:ext cx="128016" cy="128016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263347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team from distractions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1840" y="3035808"/>
            <a:ext cx="128016" cy="128016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2980944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Scrum values &amp; practices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1840" y="3383280"/>
            <a:ext cx="128016" cy="128016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332841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Facilitates all Scrum events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91840" y="3730752"/>
            <a:ext cx="128016" cy="128016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367588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project manager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55264" y="4114800"/>
            <a:ext cx="2670048" cy="658368"/>
          </a:xfrm>
          <a:prstGeom prst="rect">
            <a:avLst/>
          </a:prstGeom>
          <a:solidFill>
            <a:srgbClr val="00796B">
              <a:alpha val="12000"/>
            </a:srgbClr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4133088"/>
            <a:ext cx="2596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Rajiv Menon — Certified Scrum Master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team, removes blockers, protects sprint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63056" y="1207008"/>
            <a:ext cx="2816352" cy="36758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63056" y="1207008"/>
            <a:ext cx="281635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1207008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254496" y="1618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BUILD"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72784" y="199339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193852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— all skills in-house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72784" y="234086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73952" y="228600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Self-organizing — nobody assigns tasks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72784" y="268833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73952" y="263347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5–9 people (two-pizza rule)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272784" y="303580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73952" y="2980944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Collectively accountable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272784" y="338328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73952" y="332841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their own work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72784" y="373075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73952" y="367588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build, test &amp; deploy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236208" y="4114800"/>
            <a:ext cx="2670048" cy="658368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72784" y="4133088"/>
            <a:ext cx="2596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7-person team: Backend, Frontend, UX, QA, DB, DevOps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Self-assign tasks during Sprint Planning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Scrum Events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events occur within the Sprint. The Sprint is the container — all other events happen inside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234440"/>
            <a:ext cx="863193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234440"/>
            <a:ext cx="54864" cy="658368"/>
          </a:xfrm>
          <a:prstGeom prst="rect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371600"/>
            <a:ext cx="384048" cy="384048"/>
          </a:xfrm>
          <a:prstGeom prst="ellipse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12710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Sprint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6112" y="1618488"/>
            <a:ext cx="1005840" cy="201168"/>
          </a:xfrm>
          <a:prstGeom prst="rect">
            <a:avLst/>
          </a:prstGeom>
          <a:solidFill>
            <a:srgbClr val="1A3E9A">
              <a:alpha val="88000"/>
            </a:srgbClr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6184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93392" y="1618488"/>
            <a:ext cx="1280160" cy="201168"/>
          </a:xfrm>
          <a:prstGeom prst="rect">
            <a:avLst/>
          </a:prstGeom>
          <a:solidFill>
            <a:srgbClr val="E8EEF8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16184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Whole Team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298448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Fixed-length iteration — the engine of Scrum. Has a clear Sprint Goal. No changes that endanger goal.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" y="1984248"/>
            <a:ext cx="863193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1984248"/>
            <a:ext cx="54864" cy="6583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121408"/>
            <a:ext cx="384048" cy="384048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" y="20208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6112" y="2368296"/>
            <a:ext cx="1005840" cy="201168"/>
          </a:xfrm>
          <a:prstGeom prst="rect">
            <a:avLst/>
          </a:prstGeom>
          <a:solidFill>
            <a:srgbClr val="6B3FA0">
              <a:alpha val="88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23682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 hrs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93392" y="2368296"/>
            <a:ext cx="1280160" cy="201168"/>
          </a:xfrm>
          <a:prstGeom prst="rect">
            <a:avLst/>
          </a:prstGeom>
          <a:solidFill>
            <a:srgbClr val="E8EEF8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93392" y="2368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Whole Team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2048256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Sprint valuable? WHAT can be done? HOW will it be built? Output: Sprint Backlog.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56032" y="2734056"/>
            <a:ext cx="863193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734056"/>
            <a:ext cx="54864" cy="6583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2871216"/>
            <a:ext cx="384048" cy="38404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6112" y="27706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 (Standup)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96112" y="3118104"/>
            <a:ext cx="1005840" cy="201168"/>
          </a:xfrm>
          <a:prstGeom prst="rect">
            <a:avLst/>
          </a:prstGeom>
          <a:solidFill>
            <a:srgbClr val="00796B">
              <a:alpha val="88000"/>
            </a:srgbClr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31181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min/day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993392" y="3118104"/>
            <a:ext cx="1280160" cy="201168"/>
          </a:xfrm>
          <a:prstGeom prst="rect">
            <a:avLst/>
          </a:prstGeom>
          <a:solidFill>
            <a:srgbClr val="E8EEF8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93392" y="31181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Developers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29000" y="2798064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questions: What did I do yesterday? What will I do today? What's blocking me? NOT a status report.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56032" y="3483864"/>
            <a:ext cx="863193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3483864"/>
            <a:ext cx="54864" cy="658368"/>
          </a:xfrm>
          <a:prstGeom prst="rect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" y="3621024"/>
            <a:ext cx="384048" cy="384048"/>
          </a:xfrm>
          <a:prstGeom prst="ellipse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96112" y="35204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96112" y="3867912"/>
            <a:ext cx="1005840" cy="201168"/>
          </a:xfrm>
          <a:prstGeom prst="rect">
            <a:avLst/>
          </a:prstGeom>
          <a:solidFill>
            <a:srgbClr val="0A8A5A">
              <a:alpha val="88000"/>
            </a:srgbClr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38679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 hrs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993392" y="3867912"/>
            <a:ext cx="1280160" cy="201168"/>
          </a:xfrm>
          <a:prstGeom prst="rect">
            <a:avLst/>
          </a:prstGeom>
          <a:solidFill>
            <a:srgbClr val="E8EEF8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93392" y="38679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+ Stakeholders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29000" y="3547872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working software. Get real feedback. Update Product Backlog. PO accepts/rejects completed work.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56032" y="4233672"/>
            <a:ext cx="863193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56032" y="4233672"/>
            <a:ext cx="54864" cy="658368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4048" y="4370832"/>
            <a:ext cx="384048" cy="384048"/>
          </a:xfrm>
          <a:prstGeom prst="ellipse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96112" y="42702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96112" y="4617720"/>
            <a:ext cx="1005840" cy="201168"/>
          </a:xfrm>
          <a:prstGeom prst="rect">
            <a:avLst/>
          </a:prstGeom>
          <a:solidFill>
            <a:srgbClr val="F7A11A">
              <a:alpha val="88000"/>
            </a:srgbClr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6112" y="4617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hrs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993392" y="4617720"/>
            <a:ext cx="1280160" cy="201168"/>
          </a:xfrm>
          <a:prstGeom prst="rect">
            <a:avLst/>
          </a:prstGeom>
          <a:solidFill>
            <a:srgbClr val="E8EEF8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93392" y="46177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Scrum Team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429000" y="4297680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WELL? What went WRONG? What should we TRY? 3 specific action items for next Sprint.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0"/>
            <a:ext cx="1371600" cy="50292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&amp; Epics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Agile — turning business needs into deliverable software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438912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05472" y="4389120"/>
            <a:ext cx="182880" cy="18288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52944" y="4389120"/>
            <a:ext cx="182880" cy="18288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0416" y="4389120"/>
            <a:ext cx="182880" cy="182880"/>
          </a:xfrm>
          <a:prstGeom prst="ellipse">
            <a:avLst/>
          </a:prstGeom>
          <a:solidFill>
            <a:srgbClr val="00B4D8">
              <a:alpha val="5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7888" y="4389120"/>
            <a:ext cx="182880" cy="18288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4389120"/>
            <a:ext cx="182880" cy="1828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Story Formula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8631936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TYPE OF USER 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108960" y="914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12618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GOAL OR FEATURE ]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53328" y="914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BF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53328" y="12618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VALUE / BENEFIT ]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56032" y="2029968"/>
            <a:ext cx="8631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C's of User Stories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6032" y="2487168"/>
            <a:ext cx="281635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487168"/>
            <a:ext cx="2816352" cy="91440"/>
          </a:xfrm>
          <a:prstGeom prst="rect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334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A3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017520"/>
            <a:ext cx="257860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brief, physical or digital card. Small size forces brevity — it is a PLACEHOLDER for conversation, not a full specification.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0" y="2487168"/>
            <a:ext cx="281635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2487168"/>
            <a:ext cx="2816352" cy="914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6334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10128" y="3017520"/>
            <a:ext cx="257860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value. Direct discussion between PO, developers, and QA surfaces requirements no analyst could anticipate alone.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44768" y="2487168"/>
            <a:ext cx="281635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2487168"/>
            <a:ext cx="2816352" cy="91440"/>
          </a:xfrm>
          <a:prstGeom prst="rect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26334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54496" y="3017520"/>
            <a:ext cx="257860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— specific, testable conditions that define when the story is truly DONE. Written BEFORE development begins.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6032" y="4279392"/>
            <a:ext cx="8631936" cy="658368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279392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PayEasy Example:  "As a PayEasy retail customer, I want to transfer money to a family member's account instantly, so that I can support them financially without visiting a bank branch."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Agile Planning Hierarchy — Epics to Tasks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8631936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896112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PRODUCT VISION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243584"/>
            <a:ext cx="8449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PayEasy: A complete digital banking platform replacing branch banking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1901952"/>
            <a:ext cx="7772400" cy="822960"/>
          </a:xfrm>
          <a:prstGeom prst="rect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90195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" y="224942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Fund Transfers: All features enabling customers to move money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9536" y="27432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E9A"/>
                </a:solidFill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60704" y="2907792"/>
            <a:ext cx="6949440" cy="82296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97864" y="2907792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97864" y="3255264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0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 a customer, I want to transfer to a new recipient (13 pts)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261872" y="37490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96B"/>
                </a:solidFill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63040" y="3913632"/>
            <a:ext cx="612648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391363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/ SUB-TASK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426110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Build POST /api/transfer endpoint | Write unit tests | Design UI form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6032" y="4773168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Rule: If it can be done in ONE Sprint → Story.   If it takes MORE than one Sprint → Epic (break it down).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— Six Qualities of an Excellent User Story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22960"/>
            <a:ext cx="281635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22960"/>
            <a:ext cx="685800" cy="1920240"/>
          </a:xfrm>
          <a:prstGeom prst="rect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822960"/>
            <a:ext cx="685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78408" y="9875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8408" y="1389888"/>
            <a:ext cx="193852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developed without depending on another story. Use vertical slicing — each story goes end-to-end (UI + API + DB).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822960"/>
            <a:ext cx="281635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822960"/>
            <a:ext cx="685800" cy="19202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822960"/>
            <a:ext cx="685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950208" y="9875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50208" y="1389888"/>
            <a:ext cx="193852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are flexible — not a rigid contract. The WHAT and WHY are fixed. The HOW is always open to discussion.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44768" y="822960"/>
            <a:ext cx="281635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822960"/>
            <a:ext cx="685800" cy="19202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822960"/>
            <a:ext cx="685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922008" y="9875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22008" y="1389888"/>
            <a:ext cx="193852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story must deliver real value to a user or the business. If you can't articulate the value — don't build 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" y="2907792"/>
            <a:ext cx="281635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2907792"/>
            <a:ext cx="685800" cy="1920240"/>
          </a:xfrm>
          <a:prstGeom prst="rect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" y="2907792"/>
            <a:ext cx="685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978408" y="30723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ESTIMABLE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78408" y="3474720"/>
            <a:ext cx="193852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must be able to estimate effort. If they can't — the story is too vague, too large, or involves unknown technology.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72968" y="2907792"/>
            <a:ext cx="281635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2907792"/>
            <a:ext cx="685800" cy="192024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72968" y="2907792"/>
            <a:ext cx="685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3950208" y="30723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950208" y="3474720"/>
            <a:ext cx="193852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completable within ONE Sprint. Anything larger must be split. Large stories are disguised Epics.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44768" y="2907792"/>
            <a:ext cx="281635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2907792"/>
            <a:ext cx="685800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2907792"/>
            <a:ext cx="685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6922008" y="30723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22008" y="3474720"/>
            <a:ext cx="193852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 clear Acceptance Criteria that can be verified with specific pass/fail test scenarios. Vague stories can't be tested.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— The Definition of Done for a Story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are the specific, testable conditions that must be true for a story to be complete.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BEFORE development. Agreed by PO, Developer, and QA (the Three Amigos).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481328"/>
            <a:ext cx="4160520" cy="3337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5727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/ WHEN / THEN FORMAT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029968"/>
            <a:ext cx="89611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02996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GIVEN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20299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context/condition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468880"/>
            <a:ext cx="896112" cy="347472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46888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WHEN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4688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 is taken by the user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2907792"/>
            <a:ext cx="896112" cy="347472"/>
          </a:xfrm>
          <a:prstGeom prst="rect">
            <a:avLst/>
          </a:prstGeom>
          <a:solidFill>
            <a:srgbClr val="7BFF8A"/>
          </a:solidFill>
          <a:ln w="12700">
            <a:solidFill>
              <a:srgbClr val="7BF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907792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THEN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29077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expected outcome occurs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" y="33375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PayEasy Fund Transfer — Sample Scenario: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6576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I am logged in AND have ₹10,000 balance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389534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transfer ₹2,000 to a valid account + OTP verified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413308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my balance shows ₹8,000 immediately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43708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SMS confirmation sent to both parties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460857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transaction appears in history instantly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481328"/>
            <a:ext cx="4224528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481328"/>
            <a:ext cx="422452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627632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Story Mistakes to Avoid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73168" y="2029968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Writing from the SYSTEM's perspective (not user)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73168" y="2377440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Skipping the 'So that' — no clarity on value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2724912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Writing Tasks as Stories (no user value)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3072384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Writing Epics as Stories (too large for 1 Sprint)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3419856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Vague AC: 'should work correctly' is untestable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3767328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Horizontal slicing instead of vertical slicing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4114800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Technical jargon in user-facing stories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4462272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AC written after development begins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0"/>
            <a:ext cx="1371600" cy="50292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Pointing &amp; Burndown Charts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Agile teams estimate work, predict the future, and track sprint health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438912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05472" y="4389120"/>
            <a:ext cx="182880" cy="18288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52944" y="4389120"/>
            <a:ext cx="182880" cy="18288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0416" y="4389120"/>
            <a:ext cx="182880" cy="182880"/>
          </a:xfrm>
          <a:prstGeom prst="ellipse">
            <a:avLst/>
          </a:prstGeom>
          <a:solidFill>
            <a:srgbClr val="00B4D8">
              <a:alpha val="5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7888" y="4389120"/>
            <a:ext cx="182880" cy="18288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4389120"/>
            <a:ext cx="182880" cy="1828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 — Relative Estimation, Not Hours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 measure relative complexity, effort, and uncertainty — NOT time. Teams are good at comparing work, not predicting exact hours.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371600"/>
            <a:ext cx="8631936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7160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FIBONACCI SCALE   —   1  ·  2  ·  3  ·  5  ·  8  ·  13  ·  21  ·  34  ·  55  ·  89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56032" y="1920240"/>
            <a:ext cx="4160520" cy="28986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20116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Fibonacci Numbers?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323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GROW as stories get bigger → forces honesty about uncertainty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85292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7980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stories (1-3): precision is possible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321868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1638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stories (5-8): direction is clear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58444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5295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stories (13-21): gaps signal 'split this!'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95020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8953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analysis paralysis — is this a 6 or 7? With Fibonacci: is this 5 or 8?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431596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2611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gaps mean: you don't know enough yet — have a conversation first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920240"/>
            <a:ext cx="4224528" cy="28986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011680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487168"/>
            <a:ext cx="1261872" cy="987552"/>
          </a:xfrm>
          <a:prstGeom prst="rect">
            <a:avLst/>
          </a:prstGeom>
          <a:solidFill>
            <a:srgbClr val="1A3E9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532888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754880" y="3054096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— almost nothing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44768" y="2487168"/>
            <a:ext cx="1261872" cy="987552"/>
          </a:xfrm>
          <a:prstGeom prst="rect">
            <a:avLst/>
          </a:prstGeom>
          <a:solidFill>
            <a:srgbClr val="1A3E9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2532888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144768" y="3054096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— straightforward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534656" y="2487168"/>
            <a:ext cx="1261872" cy="987552"/>
          </a:xfrm>
          <a:prstGeom prst="rect">
            <a:avLst/>
          </a:prstGeom>
          <a:solidFill>
            <a:srgbClr val="1A3E9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34656" y="2532888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534656" y="3054096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— some unknowns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602736"/>
            <a:ext cx="1261872" cy="987552"/>
          </a:xfrm>
          <a:prstGeom prst="rect">
            <a:avLst/>
          </a:prstGeom>
          <a:solidFill>
            <a:srgbClr val="1A3E9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648456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4754880" y="4169664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— complex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44768" y="3602736"/>
            <a:ext cx="1261872" cy="987552"/>
          </a:xfrm>
          <a:prstGeom prst="rect">
            <a:avLst/>
          </a:prstGeom>
          <a:solidFill>
            <a:srgbClr val="1A3E9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68" y="3648456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144768" y="4169664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more info first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34656" y="3602736"/>
            <a:ext cx="1261872" cy="987552"/>
          </a:xfrm>
          <a:prstGeom prst="rect">
            <a:avLst/>
          </a:prstGeom>
          <a:solidFill>
            <a:srgbClr val="1A3E9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34656" y="3648456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7534656" y="4169664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split this story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Velocity — The Predictability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= Story Points completed per Sprint (average over time). Used for FORECASTING — never for measuring performance or comparing teams.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371600"/>
            <a:ext cx="53035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630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PayEasy Team Velocity History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640080" cy="1371600"/>
          </a:xfrm>
          <a:prstGeom prst="rect">
            <a:avLst/>
          </a:prstGeom>
          <a:solidFill>
            <a:srgbClr val="1A3E9A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06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279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307592" y="2575560"/>
            <a:ext cx="640080" cy="1676400"/>
          </a:xfrm>
          <a:prstGeom prst="rect">
            <a:avLst/>
          </a:prstGeom>
          <a:solidFill>
            <a:srgbClr val="1A3E9A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7592" y="2301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07592" y="4279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112264" y="2270760"/>
            <a:ext cx="640080" cy="1981200"/>
          </a:xfrm>
          <a:prstGeom prst="rect">
            <a:avLst/>
          </a:prstGeom>
          <a:solidFill>
            <a:srgbClr val="1A3E9A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19964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12264" y="4279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16936" y="2423160"/>
            <a:ext cx="640080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16936" y="21488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16936" y="4279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721608" y="2194560"/>
            <a:ext cx="640080" cy="2057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21608" y="1920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21608" y="4279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26280" y="2346960"/>
            <a:ext cx="640080" cy="1905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20726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26280" y="4279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1480" y="2423160"/>
            <a:ext cx="4983480" cy="0"/>
          </a:xfrm>
          <a:prstGeom prst="line">
            <a:avLst/>
          </a:prstGeom>
          <a:noFill/>
          <a:ln w="25400">
            <a:solidFill>
              <a:srgbClr val="F7A11A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023360" y="2167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24 pts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33872" y="1371600"/>
            <a:ext cx="3054096" cy="3291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1463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Forecast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0" y="1965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0" y="196596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pts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0" y="2377440"/>
            <a:ext cx="2788920" cy="0"/>
          </a:xfrm>
          <a:prstGeom prst="line">
            <a:avLst/>
          </a:prstGeom>
          <a:noFill/>
          <a:ln w="6350">
            <a:solidFill>
              <a:srgbClr val="2A3F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24414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velocity: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89520" y="244144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pts/Sprint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0" y="2852928"/>
            <a:ext cx="2788920" cy="0"/>
          </a:xfrm>
          <a:prstGeom prst="line">
            <a:avLst/>
          </a:prstGeom>
          <a:noFill/>
          <a:ln w="6350">
            <a:solidFill>
              <a:srgbClr val="2A3F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91693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needed: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89520" y="2916936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Sprints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943600" y="3328416"/>
            <a:ext cx="2788920" cy="0"/>
          </a:xfrm>
          <a:prstGeom prst="line">
            <a:avLst/>
          </a:prstGeom>
          <a:noFill/>
          <a:ln w="6350">
            <a:solidFill>
              <a:srgbClr val="2A3F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3924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length: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589520" y="3392424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943600" y="3803904"/>
            <a:ext cx="2788920" cy="0"/>
          </a:xfrm>
          <a:prstGeom prst="line">
            <a:avLst/>
          </a:prstGeom>
          <a:noFill/>
          <a:ln w="6350">
            <a:solidFill>
              <a:srgbClr val="2A3F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38679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89520" y="386791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months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943600" y="40050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WARNING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43600" y="42519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set velocity targets or compare across teams. Use it only for planning.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Chart — The X-Ray of Your Sprint's Health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Burndown Chart tracks remaining Story Points vs. time. Updated daily. The SHAPE of the line tells the Sprint's story.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234440"/>
            <a:ext cx="534924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2984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PayEasy Sprint 3 — Burndown Chart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1755648"/>
            <a:ext cx="6583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7190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26771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81635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3649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91363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61872" y="1737360"/>
            <a:ext cx="4023360" cy="2724912"/>
          </a:xfrm>
          <a:prstGeom prst="line">
            <a:avLst/>
          </a:prstGeom>
          <a:noFill/>
          <a:ln w="19050">
            <a:solidFill>
              <a:srgbClr val="B0C4D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261872" y="1737360"/>
            <a:ext cx="402336" cy="0"/>
          </a:xfrm>
          <a:prstGeom prst="line">
            <a:avLst/>
          </a:prstGeom>
          <a:noFill/>
          <a:ln w="31750">
            <a:solidFill>
              <a:srgbClr val="1A3E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4208" y="1737360"/>
            <a:ext cx="402336" cy="438912"/>
          </a:xfrm>
          <a:prstGeom prst="line">
            <a:avLst/>
          </a:prstGeom>
          <a:noFill/>
          <a:ln w="31750">
            <a:solidFill>
              <a:srgbClr val="1A3E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66544" y="2176272"/>
            <a:ext cx="402336" cy="0"/>
          </a:xfrm>
          <a:prstGeom prst="line">
            <a:avLst/>
          </a:prstGeom>
          <a:noFill/>
          <a:ln w="31750">
            <a:solidFill>
              <a:srgbClr val="1A3E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176272"/>
            <a:ext cx="402336" cy="438912"/>
          </a:xfrm>
          <a:prstGeom prst="line">
            <a:avLst/>
          </a:prstGeom>
          <a:noFill/>
          <a:ln w="31750">
            <a:solidFill>
              <a:srgbClr val="1A3E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1216" y="2615184"/>
            <a:ext cx="402336" cy="402336"/>
          </a:xfrm>
          <a:prstGeom prst="line">
            <a:avLst/>
          </a:prstGeom>
          <a:noFill/>
          <a:ln w="31750">
            <a:solidFill>
              <a:srgbClr val="1A3E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73552" y="3017520"/>
            <a:ext cx="402336" cy="0"/>
          </a:xfrm>
          <a:prstGeom prst="line">
            <a:avLst/>
          </a:prstGeom>
          <a:noFill/>
          <a:ln w="31750">
            <a:solidFill>
              <a:srgbClr val="1A3E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75888" y="3017520"/>
            <a:ext cx="402336" cy="914400"/>
          </a:xfrm>
          <a:prstGeom prst="line">
            <a:avLst/>
          </a:prstGeom>
          <a:noFill/>
          <a:ln w="31750">
            <a:solidFill>
              <a:srgbClr val="1A3E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78224" y="3931920"/>
            <a:ext cx="402336" cy="0"/>
          </a:xfrm>
          <a:prstGeom prst="line">
            <a:avLst/>
          </a:prstGeom>
          <a:noFill/>
          <a:ln w="31750">
            <a:solidFill>
              <a:srgbClr val="1A3E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931920"/>
            <a:ext cx="402336" cy="530352"/>
          </a:xfrm>
          <a:prstGeom prst="line">
            <a:avLst/>
          </a:prstGeom>
          <a:noFill/>
          <a:ln w="31750">
            <a:solidFill>
              <a:srgbClr val="1A3E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1874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Blocked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71800" y="34290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drop!</a:t>
            </a:r>
            <a:endParaRPr lang="en-US" sz="900" dirty="0"/>
          </a:p>
          <a:p>
            <a:pPr indent="0" marL="0">
              <a:buNone/>
            </a:pPr>
            <a:r>
              <a:rPr lang="en-US" sz="900" b="1" i="1" dirty="0">
                <a:solidFill>
                  <a:srgbClr val="0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rallied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97680" y="4206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Day 9 — Complete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day early!)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70432" y="452628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572768" y="452628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75104" y="452628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77440" y="452628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79776" y="452628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182112" y="452628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84448" y="452628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986784" y="452628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89120" y="452628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91456" y="452628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D9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7472" y="473659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--- Ideal   ── Actual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06440" y="1234440"/>
            <a:ext cx="3081528" cy="35478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1325880"/>
            <a:ext cx="2898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Chart Patterns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897880" y="1783080"/>
            <a:ext cx="2898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Ideal Sprint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897880" y="2029968"/>
            <a:ext cx="2898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diagonal — team is on track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97880" y="2286000"/>
            <a:ext cx="2834640" cy="0"/>
          </a:xfrm>
          <a:prstGeom prst="line">
            <a:avLst/>
          </a:prstGeom>
          <a:noFill/>
          <a:ln w="6350">
            <a:solidFill>
              <a:srgbClr val="1A30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2331720"/>
            <a:ext cx="2898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Slow Start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897880" y="2578608"/>
            <a:ext cx="2898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early — blocked or unclear stories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97880" y="2834640"/>
            <a:ext cx="2834640" cy="0"/>
          </a:xfrm>
          <a:prstGeom prst="line">
            <a:avLst/>
          </a:prstGeom>
          <a:noFill/>
          <a:ln w="6350">
            <a:solidFill>
              <a:srgbClr val="1A30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97880" y="2880360"/>
            <a:ext cx="2898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Scope Creep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897880" y="3127248"/>
            <a:ext cx="2898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RISES — work added mid-Sprint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97880" y="3383280"/>
            <a:ext cx="2834640" cy="0"/>
          </a:xfrm>
          <a:prstGeom prst="line">
            <a:avLst/>
          </a:prstGeom>
          <a:noFill/>
          <a:ln w="6350">
            <a:solidFill>
              <a:srgbClr val="1A30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97880" y="3429000"/>
            <a:ext cx="2898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Sandbagging Cliff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897880" y="3675888"/>
            <a:ext cx="2898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→ cliff at end — horizontal slicing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897880" y="3931920"/>
            <a:ext cx="2834640" cy="0"/>
          </a:xfrm>
          <a:prstGeom prst="line">
            <a:avLst/>
          </a:prstGeom>
          <a:noFill/>
          <a:ln w="6350">
            <a:solidFill>
              <a:srgbClr val="1A30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97880" y="3977640"/>
            <a:ext cx="2898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Scope Reduction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897880" y="4224528"/>
            <a:ext cx="2898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removed stories to protect quality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0"/>
            <a:ext cx="1371600" cy="50292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— Agile in Practice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center of every modern Agile team — Scrum boards, sprints &amp; reports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438912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05472" y="4389120"/>
            <a:ext cx="182880" cy="18288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52944" y="4389120"/>
            <a:ext cx="182880" cy="182880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0416" y="4389120"/>
            <a:ext cx="182880" cy="182880"/>
          </a:xfrm>
          <a:prstGeom prst="ellipse">
            <a:avLst/>
          </a:prstGeom>
          <a:solidFill>
            <a:srgbClr val="00B4D8">
              <a:alpha val="5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7888" y="4389120"/>
            <a:ext cx="182880" cy="18288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4389120"/>
            <a:ext cx="182880" cy="1828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JIRA?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by Atlassian is the world's #1 Agile project management tool — used by 65,000+ companies. It digitizes everything: backlogs, sprints, boards, burndown charts, and velocity reports.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463040"/>
            <a:ext cx="8631936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630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TERM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73168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EQUIVALENT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1901952"/>
            <a:ext cx="863193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9019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73168" y="19019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view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2221992"/>
            <a:ext cx="8631936" cy="320040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221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73168" y="2221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Sprint on Board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56032" y="2542032"/>
            <a:ext cx="863193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5420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73168" y="25420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(Issue Type 🟦)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6032" y="2862072"/>
            <a:ext cx="8631936" cy="320040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862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73168" y="2862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(Issue Type 🟪)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56032" y="3182112"/>
            <a:ext cx="863193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182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/ Defect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73168" y="3182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(Issue Type 🟥)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6032" y="3502152"/>
            <a:ext cx="8631936" cy="320040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5021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73168" y="35021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 field on each ticket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56032" y="3822192"/>
            <a:ext cx="863193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8221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Chart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73168" y="3822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→ Burndown Chart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56032" y="4142232"/>
            <a:ext cx="8631936" cy="320040"/>
          </a:xfrm>
          <a:prstGeom prst="rect">
            <a:avLst/>
          </a:prstGeom>
          <a:solidFill>
            <a:srgbClr val="F0F4FA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1422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73168" y="41422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→ Velocity Chart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56032" y="4462272"/>
            <a:ext cx="8631936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4622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/ Impediment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73168" y="4462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ticket ⚑ (red flag icon)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56032" y="4791456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doesn't introduce any new concepts — it implements everything you already know from Scrum.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JIRA Scrum 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is the daily operational view of the active Sprint. Cards flow left to right as work progresses through your workflow.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" y="1261872"/>
            <a:ext cx="2103120" cy="411480"/>
          </a:xfrm>
          <a:prstGeom prst="rect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2618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1691640"/>
            <a:ext cx="2103120" cy="3035808"/>
          </a:xfrm>
          <a:prstGeom prst="rect">
            <a:avLst/>
          </a:prstGeom>
          <a:solidFill>
            <a:srgbClr val="F5F8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178308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1A3E9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828800"/>
            <a:ext cx="17556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Confirm.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 · [Arun]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278892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1A3E9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834640"/>
            <a:ext cx="17556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Lookup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pts · [Lakshmi]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14016" y="1261872"/>
            <a:ext cx="2103120" cy="41148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12618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14016" y="1691640"/>
            <a:ext cx="2103120" cy="3035808"/>
          </a:xfrm>
          <a:prstGeom prst="rect">
            <a:avLst/>
          </a:prstGeom>
          <a:solidFill>
            <a:srgbClr val="F5F8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05456" y="178308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7A11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78608" y="1828800"/>
            <a:ext cx="17556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 · [Arun]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05456" y="278892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7A11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78608" y="2834640"/>
            <a:ext cx="17556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 · [Suresh]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05456" y="379476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7A11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78608" y="3840480"/>
            <a:ext cx="17556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[Lakshmi]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1261872"/>
            <a:ext cx="2103120" cy="4114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12618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26864" y="1691640"/>
            <a:ext cx="2103120" cy="3035808"/>
          </a:xfrm>
          <a:prstGeom prst="rect">
            <a:avLst/>
          </a:prstGeom>
          <a:solidFill>
            <a:srgbClr val="F5F8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18304" y="178308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6B3FA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91456" y="1828800"/>
            <a:ext cx="17556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Integration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 · [Meera]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18304" y="2788920"/>
            <a:ext cx="1920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91456" y="2834640"/>
            <a:ext cx="17556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Perf Test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· [Farhan]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39712" y="1261872"/>
            <a:ext cx="2103120" cy="411480"/>
          </a:xfrm>
          <a:prstGeom prst="rect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9712" y="12618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39712" y="1691640"/>
            <a:ext cx="2103120" cy="3035808"/>
          </a:xfrm>
          <a:prstGeom prst="rect">
            <a:avLst/>
          </a:prstGeom>
          <a:solidFill>
            <a:srgbClr val="F5F8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31152" y="178308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0A8A5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31152" y="1783080"/>
            <a:ext cx="1920240" cy="64008"/>
          </a:xfrm>
          <a:prstGeom prst="rect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04304" y="1828800"/>
            <a:ext cx="17556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Error Handling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31152" y="278892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0A8A5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31152" y="2788920"/>
            <a:ext cx="1920240" cy="64008"/>
          </a:xfrm>
          <a:prstGeom prst="rect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04304" y="2834640"/>
            <a:ext cx="17556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Login Feature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01168" y="4754880"/>
            <a:ext cx="8741664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" y="4754880"/>
            <a:ext cx="8558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Goal: 'Customers can securely transfer funds with real-time confirmation'  |  26 Story Points  |  Feb 1 – Feb 14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Lifecycle in JIRA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1627632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1627632" cy="73152"/>
          </a:xfrm>
          <a:prstGeom prst="rect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005840"/>
            <a:ext cx="457200" cy="457200"/>
          </a:xfrm>
          <a:prstGeom prst="ellipse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" y="157276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Sprint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2084832"/>
            <a:ext cx="144475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Sprint name, start/end dates, Sprint Goal in JIRA Backlog view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20240" y="17830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E9A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93392" y="804672"/>
            <a:ext cx="1627632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93392" y="804672"/>
            <a:ext cx="1627632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78608" y="1005840"/>
            <a:ext cx="457200" cy="45720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66544" y="157276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84832" y="2084832"/>
            <a:ext cx="144475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Stories from Backlog into Sprint. Run Planning Poker. Add Story Points. Set Sprint Goal.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0" y="17830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A0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30752" y="804672"/>
            <a:ext cx="1627632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30752" y="804672"/>
            <a:ext cx="1627632" cy="7315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1005840"/>
            <a:ext cx="457200" cy="45720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03904" y="157276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Sprint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22192" y="2084832"/>
            <a:ext cx="144475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'Start Sprint'. Board activates. Burndown begins. Team receives notification.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94960" y="17830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96B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68112" y="804672"/>
            <a:ext cx="1627632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68112" y="804672"/>
            <a:ext cx="162763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53328" y="100584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5332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41264" y="157276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Management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59552" y="2084832"/>
            <a:ext cx="144475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drags cards across columns. Flag blockers immediately. SM removes impediments same day.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32320" y="17830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205472" y="804672"/>
            <a:ext cx="1627632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05472" y="804672"/>
            <a:ext cx="1627632" cy="73152"/>
          </a:xfrm>
          <a:prstGeom prst="rect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90688" y="1005840"/>
            <a:ext cx="457200" cy="457200"/>
          </a:xfrm>
          <a:prstGeom prst="ellipse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9068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78624" y="157276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Sprint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96912" y="2084832"/>
            <a:ext cx="144475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'Complete Sprint'. JIRA asks where unfinished stories go (Backlog or next Sprint). Sprint Report auto-generated.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56032" y="4069080"/>
            <a:ext cx="8631936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133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BEST PRACTICES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103120" y="4151376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31720" y="4114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cards DAILY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315968" y="4151376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44568" y="4114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AC in the Story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28816" y="4151376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57416" y="4114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all decisions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103120" y="4443984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31720" y="44074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related issues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315968" y="4443984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44568" y="44074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delete — close with reason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28816" y="4443984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57416" y="44074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backlog mid-sprint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Reports — Intelligence for Every Decision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auto-generates all Agile reports from your team's daily card movements. No manual data entry required.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" y="1261872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61872"/>
            <a:ext cx="2834640" cy="91440"/>
          </a:xfrm>
          <a:prstGeom prst="rect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" y="1426464"/>
            <a:ext cx="2615184" cy="292608"/>
          </a:xfrm>
          <a:prstGeom prst="rect">
            <a:avLst/>
          </a:prstGeom>
          <a:solidFill>
            <a:srgbClr val="1A3E9A">
              <a:alpha val="88000"/>
            </a:srgbClr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2646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Chart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" y="179222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Are we on track this Sprint?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" y="2084832"/>
            <a:ext cx="26151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daily from card movements. Reveals blockers, scope creep, and sandbagging patterns. The daily health check.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82112" y="1261872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1261872"/>
            <a:ext cx="2834640" cy="914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426464"/>
            <a:ext cx="2615184" cy="292608"/>
          </a:xfrm>
          <a:prstGeom prst="rect">
            <a:avLst/>
          </a:prstGeom>
          <a:solidFill>
            <a:srgbClr val="00796B">
              <a:alpha val="88000"/>
            </a:srgbClr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42646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Chart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179222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How much can we plan next Sprint?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084832"/>
            <a:ext cx="26151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committed vs completed points per Sprint. Used for release forecasting. NEVER used to pressure teams.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63056" y="1261872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1261872"/>
            <a:ext cx="2834640" cy="91440"/>
          </a:xfrm>
          <a:prstGeom prst="rect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1426464"/>
            <a:ext cx="2615184" cy="292608"/>
          </a:xfrm>
          <a:prstGeom prst="rect">
            <a:avLst/>
          </a:prstGeom>
          <a:solidFill>
            <a:srgbClr val="0A8A5A">
              <a:alpha val="88000"/>
            </a:srgbClr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142646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72784" y="179222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did we achieve this Sprint?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72784" y="2084832"/>
            <a:ext cx="26151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on Sprint completion. Shows completed, incomplete, and added issues. Evidence for Sprint Review.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1168" y="3145536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3145536"/>
            <a:ext cx="2834640" cy="914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0896" y="3310128"/>
            <a:ext cx="2615184" cy="292608"/>
          </a:xfrm>
          <a:prstGeom prst="rect">
            <a:avLst/>
          </a:prstGeom>
          <a:solidFill>
            <a:srgbClr val="6B3FA0">
              <a:alpha val="88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31012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Burndown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10896" y="367588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When will this Epic be complete?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0896" y="3968496"/>
            <a:ext cx="26151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story completion within a specific Epic. Shows feature-area progress at a strategic level.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182112" y="3145536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82112" y="3145536"/>
            <a:ext cx="2834640" cy="9144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3310128"/>
            <a:ext cx="2615184" cy="292608"/>
          </a:xfrm>
          <a:prstGeom prst="rect">
            <a:avLst/>
          </a:prstGeom>
          <a:solidFill>
            <a:srgbClr val="F7A11A">
              <a:alpha val="88000"/>
            </a:srgbClr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31012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Flow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91840" y="367588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Is work flowing through our process?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3968496"/>
            <a:ext cx="26151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issue volume in each workflow column over time. Thick bands reveal bottlenecks — e.g., review stage overloaded.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63056" y="3145536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3145536"/>
            <a:ext cx="28346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72784" y="3310128"/>
            <a:ext cx="2615184" cy="292608"/>
          </a:xfrm>
          <a:prstGeom prst="rect">
            <a:avLst/>
          </a:prstGeom>
          <a:solidFill>
            <a:srgbClr val="C0392B">
              <a:alpha val="88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331012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Burndown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72784" y="367588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Will we launch on time?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72784" y="3968496"/>
            <a:ext cx="26151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view across all Sprints. Shows if team will finish by target release date. Enables scope or timeline adjustments.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7A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&amp; SCRUM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Summary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47472" y="1600200"/>
            <a:ext cx="2743200" cy="1261872"/>
          </a:xfrm>
          <a:prstGeom prst="rect">
            <a:avLst/>
          </a:prstGeom>
          <a:solidFill>
            <a:srgbClr val="1A3E9A">
              <a:alpha val="25000"/>
            </a:srgbClr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09928"/>
            <a:ext cx="502920" cy="502920"/>
          </a:xfrm>
          <a:prstGeom prst="rect">
            <a:avLst/>
          </a:prstGeom>
          <a:solidFill>
            <a:srgbClr val="1A3E9A"/>
          </a:solidFill>
          <a:ln w="12700">
            <a:solidFill>
              <a:srgbClr val="1A3E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17099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224028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7-phase structured process · Waterfall's fatal flaw · 5 root problems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55264" y="1600200"/>
            <a:ext cx="2743200" cy="1261872"/>
          </a:xfrm>
          <a:prstGeom prst="rect">
            <a:avLst/>
          </a:prstGeom>
          <a:solidFill>
            <a:srgbClr val="1A3E9A">
              <a:alpha val="25000"/>
            </a:srgbClr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709928"/>
            <a:ext cx="502920" cy="5029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68496" y="17099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24028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Values · 12 Principles · Mindset over ceremonies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3056" y="1600200"/>
            <a:ext cx="2743200" cy="1261872"/>
          </a:xfrm>
          <a:prstGeom prst="rect">
            <a:avLst/>
          </a:prstGeom>
          <a:solidFill>
            <a:srgbClr val="1A3E9A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1709928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76288" y="17099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91072" y="224028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 · 5 Events · 3 Artifacts · 5 Values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017520"/>
            <a:ext cx="2743200" cy="1261872"/>
          </a:xfrm>
          <a:prstGeom prst="rect">
            <a:avLst/>
          </a:prstGeom>
          <a:solidFill>
            <a:srgbClr val="1A3E9A">
              <a:alpha val="25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27248"/>
            <a:ext cx="502920" cy="5029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0704" y="31272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" y="365760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/ I want / So that · INVEST · Acceptance Criteria · Epic hierarchy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55264" y="3017520"/>
            <a:ext cx="2743200" cy="1261872"/>
          </a:xfrm>
          <a:prstGeom prst="rect">
            <a:avLst/>
          </a:prstGeom>
          <a:solidFill>
            <a:srgbClr val="1A3E9A">
              <a:alpha val="25000"/>
            </a:srgbClr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64992" y="3127248"/>
            <a:ext cx="502920" cy="502920"/>
          </a:xfrm>
          <a:prstGeom prst="rect">
            <a:avLst/>
          </a:prstGeom>
          <a:solidFill>
            <a:srgbClr val="F7A11A"/>
          </a:solidFill>
          <a:ln w="12700">
            <a:solidFill>
              <a:srgbClr val="F7A1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968496" y="31272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83280" y="365760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 · Fibonacci · Planning Poker · Velocity · Burndown Charts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63056" y="3017520"/>
            <a:ext cx="2743200" cy="1261872"/>
          </a:xfrm>
          <a:prstGeom prst="rect">
            <a:avLst/>
          </a:prstGeom>
          <a:solidFill>
            <a:srgbClr val="1A3E9A">
              <a:alpha val="25000"/>
            </a:srgbClr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2784" y="3127248"/>
            <a:ext cx="502920" cy="502920"/>
          </a:xfrm>
          <a:prstGeom prst="rect">
            <a:avLst/>
          </a:prstGeom>
          <a:solidFill>
            <a:srgbClr val="0A8A5A"/>
          </a:solidFill>
          <a:ln w="12700">
            <a:solidFill>
              <a:srgbClr val="0A8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76288" y="31272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91072" y="365760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Board · Sprint lifecycle · Reports · Best practices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7472" y="468172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"Agile isn't installed — it's a culture of trust, transparency, continuous improvement, and relentless focus on customer value."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&amp; Scrum Mastery Program</dc:title>
  <dc:subject>PptxGenJS Presentation</dc:subject>
  <dc:creator>Senior Project Manager &amp; Architect</dc:creator>
  <cp:lastModifiedBy>Senior Project Manager &amp; Architect</cp:lastModifiedBy>
  <cp:revision>1</cp:revision>
  <dcterms:created xsi:type="dcterms:W3CDTF">2026-02-19T03:26:36Z</dcterms:created>
  <dcterms:modified xsi:type="dcterms:W3CDTF">2026-02-19T03:26:36Z</dcterms:modified>
</cp:coreProperties>
</file>