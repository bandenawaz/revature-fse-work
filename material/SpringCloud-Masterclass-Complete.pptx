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2A4A8A">
              <a:alpha val="60000"/>
            </a:srgbClr>
          </a:solidFill>
          <a:ln w="12700">
            <a:solidFill>
              <a:srgbClr val="2A4A8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82880"/>
            <a:ext cx="1645920" cy="164592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3474720"/>
            <a:ext cx="2194560" cy="2194560"/>
          </a:xfrm>
          <a:prstGeom prst="ellipse">
            <a:avLst/>
          </a:prstGeom>
          <a:solidFill>
            <a:srgbClr val="3D8EF5">
              <a:alpha val="30000"/>
            </a:srgbClr>
          </a:solidFill>
          <a:ln w="12700">
            <a:solidFill>
              <a:srgbClr val="3D8EF5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256032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PROFESSIONAL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Guide to Building Resilient Microservices with Spring Cloud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3000" y="4480560"/>
            <a:ext cx="0" cy="54864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4480560"/>
            <a:ext cx="0" cy="54864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Client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4480560"/>
            <a:ext cx="0" cy="54864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4480560"/>
            <a:ext cx="0" cy="54864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15000" y="4480560"/>
            <a:ext cx="0" cy="54864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4480560"/>
            <a:ext cx="0" cy="54864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01000" y="4480560"/>
            <a:ext cx="0" cy="54864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4407408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Master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367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&amp; Registration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00200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002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6367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9110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&amp; Front Controller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50008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386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Client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6609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REST Communication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5000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50008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35000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386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6609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Traffic Distribution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09981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99816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9981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1363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3410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Configuration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9981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99816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9981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31363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410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Fault Tolerance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84962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849624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496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&amp; Config Mgmt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84962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849624"/>
            <a:ext cx="502920" cy="62179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8496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Architecture Patterns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732520" y="1097280"/>
            <a:ext cx="246888" cy="3657600"/>
          </a:xfrm>
          <a:prstGeom prst="rect">
            <a:avLst/>
          </a:prstGeom>
          <a:solidFill>
            <a:srgbClr val="E8EFFE"/>
          </a:solidFill>
          <a:ln w="12700">
            <a:solidFill>
              <a:srgbClr val="E8EFF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MONOLITHIC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Monolith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0" cy="2971800"/>
          </a:xfrm>
          <a:prstGeom prst="rect">
            <a:avLst/>
          </a:prstGeom>
          <a:solidFill>
            <a:srgbClr val="0F1F3D"/>
          </a:solidFill>
          <a:ln w="25400">
            <a:solidFill>
              <a:srgbClr val="2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Application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1737360" cy="457200"/>
          </a:xfrm>
          <a:prstGeom prst="rect">
            <a:avLst/>
          </a:prstGeom>
          <a:solidFill>
            <a:srgbClr val="2A4A8A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User Service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1965960"/>
            <a:ext cx="1737360" cy="457200"/>
          </a:xfrm>
          <a:prstGeom prst="rect">
            <a:avLst/>
          </a:prstGeom>
          <a:solidFill>
            <a:srgbClr val="2A4A8A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Product Catalog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1737360" cy="457200"/>
          </a:xfrm>
          <a:prstGeom prst="rect">
            <a:avLst/>
          </a:prstGeom>
          <a:solidFill>
            <a:srgbClr val="2A4A8A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32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Shopping Cart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2532888"/>
            <a:ext cx="1737360" cy="457200"/>
          </a:xfrm>
          <a:prstGeom prst="rect">
            <a:avLst/>
          </a:prstGeom>
          <a:solidFill>
            <a:srgbClr val="2A4A8A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5328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Order Management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099816"/>
            <a:ext cx="1737360" cy="457200"/>
          </a:xfrm>
          <a:prstGeom prst="rect">
            <a:avLst/>
          </a:prstGeom>
          <a:solidFill>
            <a:srgbClr val="2A4A8A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998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Payment Processing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0" y="3099816"/>
            <a:ext cx="1737360" cy="457200"/>
          </a:xfrm>
          <a:prstGeom prst="rect">
            <a:avLst/>
          </a:prstGeom>
          <a:solidFill>
            <a:srgbClr val="2A4A8A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0998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Notifications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666744"/>
            <a:ext cx="3749040" cy="457200"/>
          </a:xfrm>
          <a:prstGeom prst="rect">
            <a:avLst/>
          </a:prstGeom>
          <a:solidFill>
            <a:srgbClr val="2A4A8A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66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Inventory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79392" y="3017520"/>
            <a:ext cx="457200" cy="0"/>
          </a:xfrm>
          <a:prstGeom prst="line">
            <a:avLst/>
          </a:prstGeom>
          <a:noFill/>
          <a:ln w="25400">
            <a:solidFill>
              <a:srgbClr val="8A9B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BBE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Problems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37760" y="1508760"/>
            <a:ext cx="4023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508760"/>
            <a:ext cx="54864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5453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Scaling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74920" y="18013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scale ENTIRE app even if only Payment is overloaded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2258568"/>
            <a:ext cx="4023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2258568"/>
            <a:ext cx="54864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2951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Redeploy for Any Bug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74920" y="25511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bug? Redeploy everything. Store goes down.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3008376"/>
            <a:ext cx="4023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3008376"/>
            <a:ext cx="54864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0449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74920" y="33009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one module, break three others unexpectedly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37760" y="3758184"/>
            <a:ext cx="4023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0" y="3758184"/>
            <a:ext cx="54864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79476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Bottlenecks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74920" y="40507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developers blocked by one team release schedule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toolkit. Eight powerful solutions to distributed systems challenges.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0116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612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🔍  Eureka Server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Discovery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585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14300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143000"/>
            <a:ext cx="2011680" cy="41148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1612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🚪  Cloud Gateway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Gateway / Routing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8920" y="216712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2585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14300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143000"/>
            <a:ext cx="20116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1612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🔌  Feign Client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Communication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16712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2585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66560" y="114300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143000"/>
            <a:ext cx="201168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1612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⚖  Load Balancer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Traffic Distribution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86600" y="216712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2585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06324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063240"/>
            <a:ext cx="2011680" cy="411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081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⚙  Config Server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 Configuration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08736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68880" y="306324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68880" y="3063240"/>
            <a:ext cx="20116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3081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🛡  Resilience4j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6888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88920" y="408736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306324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17720" y="3063240"/>
            <a:ext cx="20116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081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🗺  Consul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1772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+ Config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37760" y="408736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66560" y="3063240"/>
            <a:ext cx="20116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66560" y="3063240"/>
            <a:ext cx="2011680" cy="4114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30815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🕸  Service Mesh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665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A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Networking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086600" y="4087368"/>
            <a:ext cx="137160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41788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Learn → Apply → Master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A3260">
              <a:alpha val="70000"/>
            </a:srgbClr>
          </a:solidFill>
          <a:ln w="12700">
            <a:solidFill>
              <a:srgbClr val="1A326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MODULE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Discovery &amp; Dynamic Registration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17373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Registration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4023360"/>
            <a:ext cx="17373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Heartbeat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4023360"/>
            <a:ext cx="17373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Self-Preservation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4023360"/>
            <a:ext cx="17373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Client Cache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 — HOW IT 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3D"/>
                </a:solidFill>
              </a:rPr>
              <a:t>MODULE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2926080" cy="1554480"/>
          </a:xfrm>
          <a:prstGeom prst="rect">
            <a:avLst/>
          </a:prstGeom>
          <a:solidFill>
            <a:srgbClr val="0F1F3D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1887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doctor-service    10.0.1.1:8081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patient-service   10.0.1.2:8082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appt-service      10.0.1.3:8083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billing-service   10.0.1.4:8084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2103120" cy="59436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 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2103120" cy="59436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011680"/>
            <a:ext cx="210312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Appointment Svc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210312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Billing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95728" y="2304288"/>
            <a:ext cx="694944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95728" y="2057400"/>
            <a:ext cx="694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9A7"/>
                </a:solidFill>
              </a:rPr>
              <a:t>REGISTER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95728" y="3493008"/>
            <a:ext cx="694944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95728" y="3246120"/>
            <a:ext cx="694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9A7"/>
                </a:solidFill>
              </a:rPr>
              <a:t>REGISTER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53328" y="2304288"/>
            <a:ext cx="51206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2057400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</a:rPr>
              <a:t>DISCOVER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53328" y="3493008"/>
            <a:ext cx="51206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3246120"/>
            <a:ext cx="512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</a:rPr>
              <a:t>DISCOVER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3159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Heartbeat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5902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seconds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50592" y="429768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50592" y="43159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 Lease Expiry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50592" y="45902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 no heartbeat = removed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26864" y="429768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26864" y="43159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Self-Preservation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26864" y="45902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on network blips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03136" y="429768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03136" y="43159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Client Cache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03136" y="459028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local registry cache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389120" cy="4389120"/>
          </a:xfrm>
          <a:prstGeom prst="ellipse">
            <a:avLst/>
          </a:prstGeom>
          <a:solidFill>
            <a:srgbClr val="1A3260">
              <a:alpha val="65000"/>
            </a:srgbClr>
          </a:solidFill>
          <a:ln w="12700">
            <a:solidFill>
              <a:srgbClr val="1A326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560320" cy="2560320"/>
          </a:xfrm>
          <a:prstGeom prst="ellipse">
            <a:avLst/>
          </a:prstGeom>
          <a:solidFill>
            <a:srgbClr val="3D8EF5">
              <a:alpha val="28000"/>
            </a:srgbClr>
          </a:solidFill>
          <a:ln w="12700">
            <a:solidFill>
              <a:srgbClr val="3D8EF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Gateway · Front Controller · Edge Service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15087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Routes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21992" y="4023360"/>
            <a:ext cx="15087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Predicates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41064" y="4023360"/>
            <a:ext cx="15087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Filters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0136" y="4023360"/>
            <a:ext cx="15087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0136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Rate Limiting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79208" y="4023360"/>
            <a:ext cx="150876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9208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Auth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—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1371600" cy="1463040"/>
          </a:xfrm>
          <a:prstGeom prst="rect">
            <a:avLst/>
          </a:prstGeom>
          <a:solidFill>
            <a:srgbClr val="0F1F3D"/>
          </a:solidFill>
          <a:ln w="254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2880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(Mobile / Web)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64208" y="2560320"/>
            <a:ext cx="502920" cy="0"/>
          </a:xfrm>
          <a:prstGeom prst="line">
            <a:avLst/>
          </a:prstGeom>
          <a:noFill/>
          <a:ln w="25400">
            <a:solidFill>
              <a:srgbClr val="3D8E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6272" y="1188720"/>
            <a:ext cx="2560320" cy="2743200"/>
          </a:xfrm>
          <a:prstGeom prst="rect">
            <a:avLst/>
          </a:prstGeom>
          <a:solidFill>
            <a:srgbClr val="1A3260"/>
          </a:solidFill>
          <a:ln w="254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76272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1627632"/>
            <a:ext cx="23317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6276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🔐 Auth Filter (Global)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2048256"/>
            <a:ext cx="23317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04825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⚖ Rate Limiter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2468880"/>
            <a:ext cx="23317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4688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📋 Route Matching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889504"/>
            <a:ext cx="23317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8895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🔄 Path Rewrite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3310128"/>
            <a:ext cx="2331720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3310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🔀 Load Balance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5029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21808" y="1188720"/>
            <a:ext cx="1828800" cy="566928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21808" y="1188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 Service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76088" y="1472184"/>
            <a:ext cx="45720" cy="0"/>
          </a:xfrm>
          <a:prstGeom prst="line">
            <a:avLst/>
          </a:prstGeom>
          <a:noFill/>
          <a:ln w="15240">
            <a:solidFill>
              <a:srgbClr val="8A9B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1808" y="1920240"/>
            <a:ext cx="1828800" cy="566928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21808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Service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76088" y="2203704"/>
            <a:ext cx="45720" cy="0"/>
          </a:xfrm>
          <a:prstGeom prst="line">
            <a:avLst/>
          </a:prstGeom>
          <a:noFill/>
          <a:ln w="15240">
            <a:solidFill>
              <a:srgbClr val="8A9B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21808" y="2651760"/>
            <a:ext cx="182880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21808" y="2651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 Svc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76088" y="2935224"/>
            <a:ext cx="45720" cy="0"/>
          </a:xfrm>
          <a:prstGeom prst="line">
            <a:avLst/>
          </a:prstGeom>
          <a:noFill/>
          <a:ln w="15240">
            <a:solidFill>
              <a:srgbClr val="8A9B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21808" y="3383280"/>
            <a:ext cx="182880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21808" y="3383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Billing Service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76088" y="3666744"/>
            <a:ext cx="45720" cy="0"/>
          </a:xfrm>
          <a:prstGeom prst="line">
            <a:avLst/>
          </a:prstGeom>
          <a:noFill/>
          <a:ln w="15240">
            <a:solidFill>
              <a:srgbClr val="8A9B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640" y="2286000"/>
            <a:ext cx="1463040" cy="566928"/>
          </a:xfrm>
          <a:prstGeom prst="rect">
            <a:avLst/>
          </a:prstGeom>
          <a:solidFill>
            <a:srgbClr val="0F1F3D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22860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🔍 Eureka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C9A7"/>
                </a:solidFill>
              </a:rPr>
              <a:t>Registry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68896" y="2386584"/>
            <a:ext cx="219456" cy="0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74320" y="429768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297680"/>
            <a:ext cx="502920" cy="658368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297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🛣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0392" y="431596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50392" y="455371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URL patterns to target services via lb:// URIs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429768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0" y="4297680"/>
            <a:ext cx="502920" cy="658368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297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776472" y="431596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776472" y="455371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Path, Method, Header, Cookie, Time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429768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4297680"/>
            <a:ext cx="502920" cy="658368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42976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02552" y="431596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02552" y="455371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requests/responses: Auth, Strip, Retry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840480" cy="3840480"/>
          </a:xfrm>
          <a:prstGeom prst="ellipse">
            <a:avLst/>
          </a:prstGeom>
          <a:solidFill>
            <a:srgbClr val="1A3260">
              <a:alpha val="65000"/>
            </a:srgbClr>
          </a:solidFill>
          <a:ln w="12700">
            <a:solidFill>
              <a:srgbClr val="1A326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291840"/>
            <a:ext cx="2286000" cy="2286000"/>
          </a:xfrm>
          <a:prstGeom prst="ellipse">
            <a:avLst/>
          </a:prstGeom>
          <a:solidFill>
            <a:srgbClr val="FF6B35">
              <a:alpha val="28000"/>
            </a:srgbClr>
          </a:solidFill>
          <a:ln w="12700">
            <a:solidFill>
              <a:srgbClr val="FF6B3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Declarative · Elegant · Zero Boilerplate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Interface-Based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67128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Auto Load Balancing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31336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Fallbacks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95544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Interceptors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59752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Error Decoder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 CLIENT — BEFORE vs AFTER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BEFORE — RestTemplate (40+ lines)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4023360" cy="3337560"/>
          </a:xfrm>
          <a:prstGeom prst="rect">
            <a:avLst/>
          </a:prstGeom>
          <a:solidFill>
            <a:srgbClr val="0F1F3D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544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Eureka instances manually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List&lt;ServiceInstance&gt; instances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discoveryClient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.getInstances("doctor-service");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Pick ONE — no load balancing!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ServiceInstance inst = instances.get(0);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Manually build URL — typo-prone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url = inst.getUri()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"/doctors/" + doctorId;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Handle all HTTP errors yourself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restTemplate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.getForObject(url, DoctorDTO.class);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(Exception e) { ... 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023360" cy="384048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AFTER — Feign Client (5 lines)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99616"/>
            <a:ext cx="4023360" cy="3337560"/>
          </a:xfrm>
          <a:prstGeom prst="rect">
            <a:avLst/>
          </a:prstGeom>
          <a:solidFill>
            <a:srgbClr val="0F1F3D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544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@FeignClient(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"doctor-service"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DoctorClient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@GetMapping("/doctors/{id}")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DoctorDTO getDoctorById(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@PathVariable("id") Long 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— looks like a local call!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DoctorDTO doctor 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doctorClient.getDoctorById(42L);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44568" y="1097280"/>
            <a:ext cx="0" cy="384048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640080"/>
            <a:ext cx="4114800" cy="4114800"/>
          </a:xfrm>
          <a:prstGeom prst="ellipse">
            <a:avLst/>
          </a:prstGeom>
          <a:solidFill>
            <a:srgbClr val="1A3260">
              <a:alpha val="65000"/>
            </a:srgbClr>
          </a:solidFill>
          <a:ln w="12700">
            <a:solidFill>
              <a:srgbClr val="1A326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3108960"/>
            <a:ext cx="2560320" cy="2560320"/>
          </a:xfrm>
          <a:prstGeom prst="ellipse">
            <a:avLst/>
          </a:prstGeom>
          <a:solidFill>
            <a:srgbClr val="9B59B6">
              <a:alpha val="28000"/>
            </a:srgbClr>
          </a:solidFill>
          <a:ln w="12700">
            <a:solidFill>
              <a:srgbClr val="9B59B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Client-Side · Intelligent · Self-Healing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Round Robin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67128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Random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31336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Weighted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95544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544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Health-Aware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59752" y="4023360"/>
            <a:ext cx="146304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Zone-Aware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— TYPES &amp; ALGORITHMS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Server-Side LB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BE"/>
                </a:solidFill>
              </a:rPr>
              <a:t>AWS ELB · Nginx · HAProxy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caller code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1122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Language agnostic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3500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Centrally managed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Single point of failure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8437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Extra network hop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0815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Can become bottleneck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97280"/>
            <a:ext cx="402336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Client-Side LB 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5727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BBE"/>
                </a:solidFill>
              </a:rPr>
              <a:t>Spring Cloud LoadBalancer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8745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single point of failure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1122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Zero extra network hop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3500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Service-specific strategies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6060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Library in each service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8437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Java-centric approach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30815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Distributed config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57600"/>
            <a:ext cx="2011680" cy="329184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57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Round Robin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distributed in rotation. Simple &amp; fair. Default in Spring Cloud LB.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50592" y="36576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50592" y="3657600"/>
            <a:ext cx="201168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3657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Random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42032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select an instance. Good for identical, high-volume workloads.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26864" y="36576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3657600"/>
            <a:ext cx="201168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657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Weighted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18304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machines get more traffic. Custom implementation required.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03136" y="365760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3657600"/>
            <a:ext cx="201168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3657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Health-Aware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94576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withHealthChecks() — never route to degraded instances. Production must-have.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MEDICARE — REAL-WORLD PROJECT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2DFDB"/>
                </a:solidFill>
              </a:rPr>
              <a:t>Applying every concept to a hospital management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0"/>
                </a:solidFill>
              </a:rPr>
              <a:t>System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1280160" cy="640080"/>
          </a:xfrm>
          <a:prstGeom prst="rect">
            <a:avLst/>
          </a:prstGeom>
          <a:solidFill>
            <a:srgbClr val="0F1F3D"/>
          </a:solidFill>
          <a:ln w="1905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Mobile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72768" y="2514600"/>
            <a:ext cx="365760" cy="0"/>
          </a:xfrm>
          <a:prstGeom prst="line">
            <a:avLst/>
          </a:prstGeom>
          <a:noFill/>
          <a:ln w="19050">
            <a:solidFill>
              <a:srgbClr val="3D8E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1508760"/>
            <a:ext cx="1828800" cy="2011680"/>
          </a:xfrm>
          <a:prstGeom prst="rect">
            <a:avLst/>
          </a:prstGeom>
          <a:solidFill>
            <a:srgbClr val="1A3260"/>
          </a:solidFill>
          <a:ln w="254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56816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8EF5"/>
                </a:solidFill>
              </a:rPr>
              <a:t>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D8EF5"/>
                </a:solidFill>
              </a:rPr>
              <a:t>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D8EF5"/>
                </a:solidFill>
              </a:rPr>
              <a:t>:8080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29968" y="2194560"/>
            <a:ext cx="1682496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219456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Auth Filter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29968" y="2596896"/>
            <a:ext cx="1682496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259689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Rate Limit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29968" y="2999232"/>
            <a:ext cx="1682496" cy="329184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2999232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Route + LB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03904" y="2514600"/>
            <a:ext cx="34747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9664" y="1508760"/>
            <a:ext cx="1645920" cy="45720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69664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Patient Svc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:8082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9664" y="2057400"/>
            <a:ext cx="1645920" cy="45720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69664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Doctor Svc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:8081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69664" y="2606040"/>
            <a:ext cx="164592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69664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Appointment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:8083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69664" y="3154680"/>
            <a:ext cx="164592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69664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Billing Svc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:8084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69664" y="3703320"/>
            <a:ext cx="1645920" cy="548640"/>
          </a:xfrm>
          <a:prstGeom prst="rect">
            <a:avLst/>
          </a:prstGeom>
          <a:solidFill>
            <a:srgbClr val="0F1F3D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69664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🔍 Eureka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:8761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33872" y="2514600"/>
            <a:ext cx="32004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148840"/>
            <a:ext cx="1600200" cy="731520"/>
          </a:xfrm>
          <a:prstGeom prst="rect">
            <a:avLst/>
          </a:prstGeom>
          <a:solidFill>
            <a:srgbClr val="0F1F3D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Feign Client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Appt → Doctor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Appt → Patient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0"/>
                </a:solidFill>
              </a:rPr>
              <a:t>Key Flows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38912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3D"/>
                </a:solidFill>
              </a:rPr>
              <a:t>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" y="437997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books appointment → Gateway authenticates JWT → Routes to Appointment Svc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246120" y="438912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3D"/>
                </a:solidFill>
              </a:rPr>
              <a:t>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66160" y="437997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Svc calls Doctor Svc via Feign → Eureka resolves → LB picks instance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217920" y="438912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3D"/>
                </a:solidFill>
              </a:rPr>
              <a:t>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37960" y="437997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Svc down? → Circuit Breaker triggers → Fallback returns graceful response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3260">
              <a:alpha val="50000"/>
            </a:srgbClr>
          </a:solidFill>
          <a:ln w="12700">
            <a:solidFill>
              <a:srgbClr val="1A326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to remember from every module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160520" cy="1115568"/>
          </a:xfrm>
          <a:prstGeom prst="rect">
            <a:avLst/>
          </a:prstGeom>
          <a:solidFill>
            <a:srgbClr val="1A326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07008"/>
            <a:ext cx="960120" cy="1115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89888" y="129844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Services register by name, not by IP. Heartbeat keeps registry fresh. Self-preservation prevents false evictions.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73168" y="1207008"/>
            <a:ext cx="4160520" cy="1115568"/>
          </a:xfrm>
          <a:prstGeom prst="rect">
            <a:avLst/>
          </a:prstGeom>
          <a:solidFill>
            <a:srgbClr val="1A3260"/>
          </a:solidFill>
          <a:ln w="1905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207008"/>
            <a:ext cx="960120" cy="1115568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207008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97296" y="129844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front door. Centralize auth, rate limiting &amp; logging. Routes use lb:// for Eureka integration.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441448"/>
            <a:ext cx="4160520" cy="1115568"/>
          </a:xfrm>
          <a:prstGeom prst="rect">
            <a:avLst/>
          </a:prstGeom>
          <a:solidFill>
            <a:srgbClr val="1A326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41448"/>
            <a:ext cx="960120" cy="11155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41448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89888" y="253288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Interface + annotations = complete REST client. Always name @PathVariable. Use FallbackFactory for rich error handling.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73168" y="2441448"/>
            <a:ext cx="4160520" cy="1115568"/>
          </a:xfrm>
          <a:prstGeom prst="rect">
            <a:avLst/>
          </a:prstGeom>
          <a:solidFill>
            <a:srgbClr val="1A326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2441448"/>
            <a:ext cx="960120" cy="11155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41448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97296" y="253288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Client-side via lb://. Use withHealthChecks() in production. Never retry POST — creates duplicates.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4160520" cy="1115568"/>
          </a:xfrm>
          <a:prstGeom prst="rect">
            <a:avLst/>
          </a:prstGeom>
          <a:solidFill>
            <a:srgbClr val="1A3260"/>
          </a:solidFill>
          <a:ln w="1905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75888"/>
            <a:ext cx="960120" cy="11155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75888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Coming: Config Server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89888" y="37673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Centralized, Git-backed config. Environment-specific. Refresh without restart. Encrypt sensitive values.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3675888"/>
            <a:ext cx="4160520" cy="1115568"/>
          </a:xfrm>
          <a:prstGeom prst="rect">
            <a:avLst/>
          </a:prstGeom>
          <a:solidFill>
            <a:srgbClr val="1A326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3675888"/>
            <a:ext cx="960120" cy="11155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675888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Coming: Resilience4j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97296" y="37673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Circuit Breaker stops cascading failures. States: CLOSED → OPEN → HALF-OPEN. Define clear fallbacks.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Spring Cloud Masterclass  ·  Senior Java Backend Developer &amp; Architect  ·  30+ Years Experience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A3260">
              <a:alpha val="65000"/>
            </a:srgbClr>
          </a:solidFill>
          <a:ln w="12700">
            <a:solidFill>
              <a:srgbClr val="1A326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108960"/>
            <a:ext cx="2560320" cy="2560320"/>
          </a:xfrm>
          <a:prstGeom prst="ellipse">
            <a:avLst/>
          </a:prstGeom>
          <a:solidFill>
            <a:srgbClr val="16A085">
              <a:alpha val="28000"/>
            </a:srgbClr>
          </a:solidFill>
          <a:ln w="12700">
            <a:solidFill>
              <a:srgbClr val="16A085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Centralized · Git-Backed · Zero Downtime Refresh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Git Backend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76272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bootstrap.yml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9624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Encryption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22976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@RefreshScope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96328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Spring Cloud Bus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 — ARCHITECTURE &amp; FILE NAMING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200400" cy="2651760"/>
          </a:xfrm>
          <a:prstGeom prst="rect">
            <a:avLst/>
          </a:prstGeom>
          <a:solidFill>
            <a:srgbClr val="0F1F3D"/>
          </a:solidFill>
          <a:ln w="2540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017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          ← ALL services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application-prod.properties     ← ALL / prod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doctor-service.properties       ← Specific svc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doctor-service-dev.properties   ← Svc + profile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doctor-service-prod.properties  ← Svc + prod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patient-service.properties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billing-service-prod.properties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93008" y="2423160"/>
            <a:ext cx="594360" cy="0"/>
          </a:xfrm>
          <a:prstGeom prst="line">
            <a:avLst/>
          </a:prstGeom>
          <a:noFill/>
          <a:ln w="254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17627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reads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05656" y="1417320"/>
            <a:ext cx="2286000" cy="2011680"/>
          </a:xfrm>
          <a:prstGeom prst="rect">
            <a:avLst/>
          </a:prstGeom>
          <a:solidFill>
            <a:srgbClr val="1A3260"/>
          </a:solidFill>
          <a:ln w="2540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05656" y="1417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:8888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956816"/>
            <a:ext cx="2084832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95681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/doctor-service/prod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06240" y="2414016"/>
            <a:ext cx="2084832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41401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/patient-service/dev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06240" y="2871216"/>
            <a:ext cx="2084832" cy="347472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87121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/application/default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9944" y="2423160"/>
            <a:ext cx="5486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21762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A7"/>
                </a:solidFill>
              </a:rPr>
              <a:t>serves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76872" y="1417320"/>
            <a:ext cx="1920240" cy="420624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76872" y="14173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 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76872" y="1938528"/>
            <a:ext cx="1920240" cy="420624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76872" y="19385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76872" y="2459736"/>
            <a:ext cx="1920240" cy="4206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76872" y="245973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Appointment Svc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76872" y="2980944"/>
            <a:ext cx="1920240" cy="4206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76872" y="29809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Billing Service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886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</a:rPr>
              <a:t>Property Override Priority (highest → lowest)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187952"/>
            <a:ext cx="20848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187952"/>
            <a:ext cx="292608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18795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" y="4206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doctor-service-prod.properties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1792" y="448056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— wins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487168" y="4187952"/>
            <a:ext cx="20848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87168" y="4187952"/>
            <a:ext cx="292608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87168" y="418795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34640" y="4206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doctor-service.properties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834640" y="448056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all profiles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00016" y="4187952"/>
            <a:ext cx="20848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4187952"/>
            <a:ext cx="292608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418795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47488" y="4206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application-prod.properties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47488" y="448056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services, prod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912864" y="4187952"/>
            <a:ext cx="20848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12864" y="4187952"/>
            <a:ext cx="292608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4187952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60336" y="42062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260336" y="448056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defaults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 — REFRESH &amp; ENCRYPTION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0"/>
                </a:solidFill>
              </a:rPr>
              <a:t>Zero-Downtime Config Refresh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63624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63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" y="1947672"/>
            <a:ext cx="0" cy="219456"/>
          </a:xfrm>
          <a:prstGeom prst="line">
            <a:avLst/>
          </a:prstGeom>
          <a:noFill/>
          <a:ln w="1905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5361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Git commit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7739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feature.flag=false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57984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" y="2542032"/>
            <a:ext cx="0" cy="219456"/>
          </a:xfrm>
          <a:prstGeom prst="line">
            <a:avLst/>
          </a:prstGeom>
          <a:noFill/>
          <a:ln w="1905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3055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webhook fires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3682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/actuator/bus-refresh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52344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" y="3136392"/>
            <a:ext cx="0" cy="219456"/>
          </a:xfrm>
          <a:prstGeom prst="line">
            <a:avLst/>
          </a:prstGeom>
          <a:noFill/>
          <a:ln w="1905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7249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 pulls Git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9626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values fetched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346704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" y="3730752"/>
            <a:ext cx="0" cy="219456"/>
          </a:xfrm>
          <a:prstGeom prst="line">
            <a:avLst/>
          </a:prstGeom>
          <a:noFill/>
          <a:ln w="19050">
            <a:solidFill>
              <a:srgbClr val="16A0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3192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Bus broadcasts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5570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RabbitMQ / Kafka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41064"/>
            <a:ext cx="365760" cy="36576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391363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instances refresh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" y="41513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@RefreshScope beans recreated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526280"/>
            <a:ext cx="4114800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26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Result: 50 services updated in &lt; 2 seconds  ·  Zero restarts  ·  Zero downtime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1097280"/>
            <a:ext cx="0" cy="379476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0"/>
                </a:solidFill>
              </a:rPr>
              <a:t>Sensitive Value Encryption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1481328"/>
            <a:ext cx="41148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481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NEVER commit plain-text passwords to Git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1920240"/>
            <a:ext cx="4114800" cy="123444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9659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doctor-service-prod.properties
</a:t>
            </a:r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spring.datasource.password=</a:t>
            </a:r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'{cipher}AQB3mX9pK2fNR...'</a:t>
            </a:r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Config Server decrypts before serving
</a:t>
            </a:r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 receives → </a:t>
            </a:r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Sup3rS3cr3tP@ss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246120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2644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760720" y="32644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/encrypt  →  {cipher}AQB3mX...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3593592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611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Git: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760720" y="3611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spring.datasource.password={cipher}...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941064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959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760720" y="39593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Detects {cipher}, decrypts → plain text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4288536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43068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gets: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60720" y="43068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text value in memory only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4663440"/>
            <a:ext cx="4114800" cy="27432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Production tip: Use asymmetric RSA keypair for stronger security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A3260">
              <a:alpha val="65000"/>
            </a:srgbClr>
          </a:solidFill>
          <a:ln w="12700">
            <a:solidFill>
              <a:srgbClr val="1A326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108960"/>
            <a:ext cx="2560320" cy="2560320"/>
          </a:xfrm>
          <a:prstGeom prst="ellipse">
            <a:avLst/>
          </a:prstGeom>
          <a:solidFill>
            <a:srgbClr val="E74C3C">
              <a:alpha val="28000"/>
            </a:srgbClr>
          </a:solidFill>
          <a:ln w="12700">
            <a:solidFill>
              <a:srgbClr val="E74C3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Prevent · Detect · Recover — Stop Cascading Failures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CircuitBreaker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76272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Retry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9624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TimeLimiter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22976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Bulkhead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96328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RateLimiter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— THREE-STATE MACHINE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22860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7AE60"/>
                </a:solidFill>
              </a:rPr>
              <a:t>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192024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97480"/>
            <a:ext cx="2066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calls flow through.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monitors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success/failure rates.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09728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097280"/>
            <a:ext cx="22860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097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16642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74C3C"/>
                </a:solidFill>
              </a:rPr>
              <a:t>✕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2900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All Calls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2624328"/>
            <a:ext cx="192024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697480"/>
            <a:ext cx="2066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REJECTED instantly.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 fail-fast response.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executes.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1097280"/>
            <a:ext cx="22860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097280"/>
            <a:ext cx="228600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097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HALF-OPEN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16642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39C12"/>
                </a:solidFill>
              </a:rPr>
              <a:t>◑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58368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Recovery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624328"/>
            <a:ext cx="1920240" cy="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697480"/>
            <a:ext cx="20665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probe calls sent.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probes succeed → CLOSED.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fail → OPEN again.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78608" y="2468880"/>
            <a:ext cx="82296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21031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&gt; threshold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733288" y="2468880"/>
            <a:ext cx="82296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33288" y="21031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duration expires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0" y="4160520"/>
            <a:ext cx="-630936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4206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Probe calls succeed → CLOSED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</a:rPr>
              <a:t>Key application.properties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773168"/>
            <a:ext cx="160020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731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sliding-window-size=10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011680" y="4773168"/>
            <a:ext cx="160020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47731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failure-rate-threshold=50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749040" y="4773168"/>
            <a:ext cx="160020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47731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minimum-number-of-calls=5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486400" y="4773168"/>
            <a:ext cx="160020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47731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wait-duration-in-open-state=30s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223760" y="4773168"/>
            <a:ext cx="160020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47731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permitted-calls-in-half-open=3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— SIX MODULES + FALLBACK PATTERN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2743200" cy="4023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15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🔌  CircuitBreaker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572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CLOSED→OPEN→HALF-OPEN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cascading failures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63824" y="11155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115568"/>
            <a:ext cx="2743200" cy="402336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115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Retry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5264" y="1572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+ jitter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idempotent ops (GET)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1155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115568"/>
            <a:ext cx="2743200" cy="40233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1155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⏱  TimeLimiter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1572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response timeout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CompletableFuture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596896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596896"/>
            <a:ext cx="2743200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5968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🧱  Bulkhead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054096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thread pools per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service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63824" y="2596896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63824" y="2596896"/>
            <a:ext cx="2743200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63824" y="25968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RateLimiter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55264" y="3054096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 calls per period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downstream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71616" y="2596896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2596896"/>
            <a:ext cx="2743200" cy="402336"/>
          </a:xfrm>
          <a:prstGeom prst="rect">
            <a:avLst/>
          </a:prstGeom>
          <a:solidFill>
            <a:srgbClr val="2A4A8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25968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💾  Cache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63056" y="3054096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cached response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service unavailable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4114800"/>
            <a:ext cx="8631936" cy="777240"/>
          </a:xfrm>
          <a:prstGeom prst="rect">
            <a:avLst/>
          </a:prstGeom>
          <a:solidFill>
            <a:srgbClr val="0F1F3D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1148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RULE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463040" y="4133088"/>
            <a:ext cx="0" cy="749808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72768" y="415137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@CircuitBreaker(name="doctorServiceCB", fallbackMethod="getDoctorFallback")
</a:t>
            </a:r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DoctorDTO getDoctorFallback(Long id, </a:t>
            </a:r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 t</a:t>
            </a:r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... }   ← same params + Throwable LAST — always required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A3260">
              <a:alpha val="65000"/>
            </a:srgbClr>
          </a:solidFill>
          <a:ln w="12700">
            <a:solidFill>
              <a:srgbClr val="1A326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108960"/>
            <a:ext cx="2560320" cy="2560320"/>
          </a:xfrm>
          <a:prstGeom prst="ellipse">
            <a:avLst/>
          </a:prstGeom>
          <a:solidFill>
            <a:srgbClr val="F39C12">
              <a:alpha val="28000"/>
            </a:srgbClr>
          </a:solidFill>
          <a:ln w="12700">
            <a:solidFill>
              <a:srgbClr val="F39C12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HashiCorp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· Health Checks · K/V Config · Service Mesh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CP Consistency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76272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Rich Health Checks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9624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K/V Store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22976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Polyglot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96328" y="4041648"/>
            <a:ext cx="16002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40416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Watch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— ARCHITECTURE &amp; FOUR CAPABILITIES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0F1F3D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SERVER CLUSTER  (3 or 5 nodes — Raft Consensus)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207008"/>
            <a:ext cx="1353312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2070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 (Leader)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78424" y="1207008"/>
            <a:ext cx="1353312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78424" y="12070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 (Follower)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96328" y="1207008"/>
            <a:ext cx="1353312" cy="713232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96328" y="1207008"/>
            <a:ext cx="1353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3 (Follower)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2075688"/>
            <a:ext cx="0" cy="27432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500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HTTP :8500  ·  DNS :8600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8595360" cy="96012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57860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AGENTS — lightweight process on every machine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2688336"/>
            <a:ext cx="1143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688336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Machine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Doctor Svc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0" y="2688336"/>
            <a:ext cx="1143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688336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Machine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Patient Svc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09360" y="2688336"/>
            <a:ext cx="1143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688336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Machine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Appt Svc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89520" y="2688336"/>
            <a:ext cx="11430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688336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Machine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ML Service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(Python)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57600"/>
            <a:ext cx="2029968" cy="365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57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🔍  Service Discovery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059936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+ DNS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— any language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50592" y="365760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50592" y="3657600"/>
            <a:ext cx="2029968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657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❤  Rich Health Checks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42032" y="4059936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TCP · Script · TTL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detection (vs 90s Eureka)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26864" y="365760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3657600"/>
            <a:ext cx="2029968" cy="3657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26864" y="3657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⚙  K/V Config Store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18304" y="4059936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Config Server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= 1s auto-refresh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03136" y="3657600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3657600"/>
            <a:ext cx="2029968" cy="365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3657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🕸  Service Mesh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94576" y="4059936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Connect + Envoy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via Intentions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 — K/V CONFIG STORE &amp; EUREKA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0"/>
                </a:solidFill>
              </a:rPr>
              <a:t>K/V Store — Replaces Config 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206240" cy="1828800"/>
          </a:xfrm>
          <a:prstGeom prst="rect">
            <a:avLst/>
          </a:prstGeom>
          <a:solidFill>
            <a:srgbClr val="0F1F3D"/>
          </a:solidFill>
          <a:ln w="12700">
            <a:solidFill>
              <a:srgbClr val="2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508760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application/data          ← ALL 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doctor-service/data       ← Specific service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doctor-service,prod/data  ← Svc + profile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patient-service/data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333756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364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Mechanism (Auto Refresh)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spring.cloud.consul.config.watch.enabled=</a:t>
            </a:r>
            <a:pPr indent="0" marL="0">
              <a:buNone/>
            </a:pPr>
            <a:r>
              <a:rPr lang="en-US" sz="8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spring.cloud.consul.config.watch.delay=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4251960"/>
            <a:ext cx="4206240" cy="29260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51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RabbitMQ · No Spring Cloud Bus · No webhooks — built in!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0" cy="3520440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0"/>
                </a:solidFill>
              </a:rPr>
              <a:t>Consul vs Eureka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63040"/>
            <a:ext cx="4023360" cy="3108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63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Aspect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36208" y="146304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Eureka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34656" y="1463040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Consul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792224"/>
            <a:ext cx="4023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1792224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CAP 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36208" y="17922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AP (Available)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34656" y="1792224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39C12"/>
                </a:solidFill>
              </a:rPr>
              <a:t>CP (Consistent)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2121408"/>
            <a:ext cx="40233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1214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Language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36208" y="212140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Java / Spring only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34656" y="212140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50"/>
                </a:solidFill>
              </a:rPr>
              <a:t>Any language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2450592"/>
            <a:ext cx="4023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450592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Health Checks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36208" y="2450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Heartbeat (30s)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34656" y="2450592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50"/>
                </a:solidFill>
              </a:rPr>
              <a:t>HTTP/TCP/Script (10s)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779776"/>
            <a:ext cx="40233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779776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Config Storage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36208" y="27797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✕  Needs ext tool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34656" y="2779776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✓  K/V Store built in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3108960"/>
            <a:ext cx="4023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3108960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Service Mesh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36208" y="31089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✕  No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34656" y="3108960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✓  Consul Connect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3438144"/>
            <a:ext cx="40233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438144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Multi-Datacenter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36208" y="343814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Limited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34656" y="3438144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50"/>
                </a:solidFill>
              </a:rPr>
              <a:t>Native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46320" y="3767328"/>
            <a:ext cx="4023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376732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DNS Discovery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36208" y="376732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✕  No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34656" y="3767328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✓  Port 8600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4096512"/>
            <a:ext cx="40233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E8EF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01184" y="4096512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A50"/>
                </a:solidFill>
              </a:rPr>
              <a:t>Eviction Speed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36208" y="40965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E"/>
                </a:solidFill>
              </a:rPr>
              <a:t>90 seconds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34656" y="4096512"/>
            <a:ext cx="1316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A50"/>
                </a:solidFill>
              </a:rPr>
              <a:t>~30 seconds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0" y="4462272"/>
            <a:ext cx="4023360" cy="384048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4622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E"/>
                </a:solidFill>
              </a:rPr>
              <a:t>Choose Consul for polyglot + strong consistency + fewer infra components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A3260">
              <a:alpha val="65000"/>
            </a:srgbClr>
          </a:solidFill>
          <a:ln w="12700">
            <a:solidFill>
              <a:srgbClr val="1A326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108960"/>
            <a:ext cx="2560320" cy="2560320"/>
          </a:xfrm>
          <a:prstGeom prst="ellipse">
            <a:avLst/>
          </a:prstGeom>
          <a:solidFill>
            <a:srgbClr val="9B59B6">
              <a:alpha val="28000"/>
            </a:srgbClr>
          </a:solidFill>
          <a:ln w="12700">
            <a:solidFill>
              <a:srgbClr val="9B59B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mTLS · Zero-Trust · Automatic Observability · Traffic Control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041648"/>
            <a:ext cx="13716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Sidecar Proxy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47672" y="4041648"/>
            <a:ext cx="13716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Istio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92424" y="4041648"/>
            <a:ext cx="13716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mTLS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37176" y="4041648"/>
            <a:ext cx="13716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VirtualService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81928" y="4041648"/>
            <a:ext cx="13716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Kiali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26680" y="4041648"/>
            <a:ext cx="1371600" cy="320040"/>
          </a:xfrm>
          <a:prstGeom prst="rect">
            <a:avLst/>
          </a:prstGeom>
          <a:solidFill>
            <a:srgbClr val="1A3260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E"/>
                </a:solidFill>
              </a:rPr>
              <a:t>Canary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— SIDECAR PATTERN &amp; mTLS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023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15568"/>
            <a:ext cx="40233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WITHOUT Service Mesh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5087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Service  ──── HTTP (unencrypted) ────→  Patient 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· No tracing · No access control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64608" y="1115568"/>
            <a:ext cx="4023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115568"/>
            <a:ext cx="402336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WITH Service Mesh (Istio)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15087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Svc → Envoy ──── mTLS encrypted ────→ Envoy → Patient Svc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· Encrypted · Traced · Access controlled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" y="2331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0"/>
                </a:solidFill>
              </a:rPr>
              <a:t>The Sidecar Pattern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2715768"/>
            <a:ext cx="3200400" cy="1508760"/>
          </a:xfrm>
          <a:prstGeom prst="rect">
            <a:avLst/>
          </a:prstGeom>
          <a:solidFill>
            <a:srgbClr val="1A3260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27157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Doctor Service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1417320" cy="91440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723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Doctor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(Spring Boot)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38528" y="3072384"/>
            <a:ext cx="1417320" cy="9144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30723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Envoy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Sidecar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(auto-injected)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3246120"/>
            <a:ext cx="2011680" cy="658368"/>
          </a:xfrm>
          <a:prstGeom prst="rect">
            <a:avLst/>
          </a:prstGeom>
          <a:solidFill>
            <a:srgbClr val="0F1F3D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mTLS encrypted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Authenticated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0" y="3566160"/>
            <a:ext cx="914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96128" y="3566160"/>
            <a:ext cx="914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87568" y="2715768"/>
            <a:ext cx="3200400" cy="1508760"/>
          </a:xfrm>
          <a:prstGeom prst="rect">
            <a:avLst/>
          </a:prstGeom>
          <a:solidFill>
            <a:srgbClr val="1A3260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87568" y="27157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Patient Service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97296" y="3072384"/>
            <a:ext cx="1417320" cy="9144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97296" y="30723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Envoy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Sidecar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(auto-injected)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70064" y="3072384"/>
            <a:ext cx="141732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0064" y="30723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Patient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(Spring Boot)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4343400"/>
            <a:ext cx="8631936" cy="21945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34340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🔒 mTLS auto-issued certificates · 24h rotation · zero code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599432"/>
            <a:ext cx="8631936" cy="21945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59943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🛡 AuthorizationPolicy: who can call whom · SPIFFE identity enforced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4855464"/>
            <a:ext cx="8631936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85546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📊 Every request auto-traced · metrics collected · zero instrumentation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— TRAFFIC MANAGEMENT &amp; OBSERVABILITY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74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0"/>
                </a:solidFill>
              </a:rPr>
              <a:t>Traffic Management (VirtualService)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481328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481328"/>
            <a:ext cx="54864" cy="6949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179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755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95%  ·  v2: 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with one YAML change.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by flipping weight.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249424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249424"/>
            <a:ext cx="54864" cy="6949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860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5237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5s delays or 503 errors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10% of traffic. Chaos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without code.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017520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017520"/>
            <a:ext cx="54864" cy="6949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05409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Routing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X-Internal-User: true → v2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others → v1. A/B testing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application changes.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785616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785616"/>
            <a:ext cx="54864" cy="69494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8221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Mirroring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4059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100% of live traffic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v2. Responses discarded.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under real production load.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097280"/>
            <a:ext cx="0" cy="3822192"/>
          </a:xfrm>
          <a:prstGeom prst="line">
            <a:avLst/>
          </a:prstGeom>
          <a:noFill/>
          <a:ln w="12700">
            <a:solidFill>
              <a:srgbClr val="E8EF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972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0"/>
                </a:solidFill>
              </a:rPr>
              <a:t>Automatic Observability (Zero Code)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481328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481328"/>
            <a:ext cx="4069080" cy="32918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4813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Kiali — Service Topology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18470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graph: every service + connection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20665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GREEN = healthy · RED = errors · YELLOW = slow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19472" y="22860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Click edge → see RPS, P99 latency, error rate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624328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624328"/>
            <a:ext cx="4069080" cy="329184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6243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Jaeger — Distributed Traces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29900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Every request traced end-to-end automatically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9472" y="32095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 /book/appt → Gateway → Appt Svc → Doctor Svc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34290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Exact ms breakdown per service — find bottlenecks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3767328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767328"/>
            <a:ext cx="4069080" cy="32918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7673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Prometheus + Grafana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19472" y="41330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Four Golden Signals per service (auto-collected)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19472" y="43525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Latency, Traffic, Errors, Saturation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19472" y="457200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Pre-built Istio dashboards out of the box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4626864"/>
            <a:ext cx="4069080" cy="2926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6268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kubectl apply -f istio-addons/ — full observability in 60 seconds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3260">
              <a:alpha val="45000"/>
            </a:srgbClr>
          </a:solidFill>
          <a:ln w="12700">
            <a:solidFill>
              <a:srgbClr val="1A326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011680" cy="201168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 Complete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 from every module — from Service Discovery to Service Mesh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005840"/>
            <a:ext cx="105156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058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Eureka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1078992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Services register by NAME. Heartbeat every 30s. Self-preservation prevents mass eviction on network blips.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3D8E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1051560" cy="914400"/>
          </a:xfrm>
          <a:prstGeom prst="rect">
            <a:avLst/>
          </a:prstGeom>
          <a:solidFill>
            <a:srgbClr val="3D8EF5"/>
          </a:solidFill>
          <a:ln w="12700">
            <a:solidFill>
              <a:srgbClr val="3D8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Gateway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61888" y="1078992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front door. Centralize auth, rate limiting, routing. Use lb:// for Eureka/Consul integration.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029968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029968"/>
            <a:ext cx="105156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029968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Feign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2103120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Interface + annotations = full HTTP client. Always name @PathVariable. Use FallbackFactory for rich fallbacks.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029968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029968"/>
            <a:ext cx="1051560" cy="9144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029968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Load Balancer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61888" y="2103120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Client-side via lb://. withHealthChecks() in production. NEVER retry POST requests — creates duplicates.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054096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054096"/>
            <a:ext cx="1051560" cy="9144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05409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Config Server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3127248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Git-backed central config. {cipher} prefix for secrets. @RefreshScope + Bus for zero-downtime updates.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054096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054096"/>
            <a:ext cx="105156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5409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Resilience4j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3127248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Circuit Breaker: CLOSED→OPEN→HALF-OPEN. Fallback must have Throwable param. ignore-exceptions for business errors.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4078224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4078224"/>
            <a:ext cx="105156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07822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Consul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463040" y="4151376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 model, polyglot, rich health checks (10s). K/V store replaces Config Server. Watch = 1s auto-refresh.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078224"/>
            <a:ext cx="4315968" cy="914400"/>
          </a:xfrm>
          <a:prstGeom prst="rect">
            <a:avLst/>
          </a:prstGeom>
          <a:solidFill>
            <a:srgbClr val="1A3260"/>
          </a:solidFill>
          <a:ln w="1905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4078224"/>
            <a:ext cx="1051560" cy="9144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07822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Service Mesh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61888" y="4151376"/>
            <a:ext cx="3090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Sidecar handles mTLS, tracing, retries — zero app code. AuthorizationPolicy = zero-trust. Canary in one YAML file.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E"/>
                </a:solidFill>
              </a:rPr>
              <a:t>Spring Cloud Masterclass  ·  Senior Java Backend Developer &amp; Architect  ·  Lectures 1–9 Complete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Cloud Masterclass</dc:title>
  <dc:subject>PptxGenJS Presentation</dc:subject>
  <dc:creator>Senior Java Backend Developer &amp; Architect</dc:creator>
  <cp:lastModifiedBy>Senior Java Backend Developer &amp; Architect</cp:lastModifiedBy>
  <cp:revision>1</cp:revision>
  <dcterms:created xsi:type="dcterms:W3CDTF">2026-03-05T08:01:30Z</dcterms:created>
  <dcterms:modified xsi:type="dcterms:W3CDTF">2026-03-05T08:01:30Z</dcterms:modified>
</cp:coreProperties>
</file>