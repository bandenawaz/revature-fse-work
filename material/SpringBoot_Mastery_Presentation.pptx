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7000"/>
          </a:blip>
          <a:stretch>
            <a:fillRect/>
          </a:stretch>
        </p:blipFill>
        <p:spPr>
          <a:xfrm>
            <a:off x="6035040" y="640080"/>
            <a:ext cx="29260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4048" y="329184"/>
            <a:ext cx="2286000" cy="34747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3291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311"/>
                </a:solidFill>
              </a:rPr>
              <a:t>SPRING BOOT MASTERY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4048" y="850392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384048" y="18013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Guide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84048" y="2578608"/>
            <a:ext cx="5029200" cy="54864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7249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Real Hospital Management System API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4048" y="3246120"/>
            <a:ext cx="1883664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2461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 Modules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14016" y="3246120"/>
            <a:ext cx="1883664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14016" y="32461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 API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43984" y="3246120"/>
            <a:ext cx="1883664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3984" y="32461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Code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73952" y="3246120"/>
            <a:ext cx="1883664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32461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Practices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0060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•  Spring Boot 3.2  •  Java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— from zero to production REST API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42416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1155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42646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&amp; why it exists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4241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42416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4241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1155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7528" y="142646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over configuration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67335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673352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7335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17465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Dependencies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0574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Bundled, compatible libraries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67335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673352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67335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17465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67528" y="20574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boilerplate code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30428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304288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30428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" y="23774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" y="26883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development restarts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30428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304288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30428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23774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Mgmt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67528" y="26883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Profiles + Properties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935224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935224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93522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6968" y="3008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Architecture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6968" y="33192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request flow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935224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935224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93522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67528" y="3008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&amp; Annotations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67528" y="33192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deep dive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56616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566160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661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6968" y="36393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86968" y="39502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PATCH, DELETE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356616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3566160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5661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67528" y="36393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67528" y="39502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@PathVariable, @RequestBody…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19709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" y="4197096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19709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11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86968" y="42702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86968" y="45811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+ status codes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00600" y="419709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00600" y="4197096"/>
            <a:ext cx="475488" cy="566928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419709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</a:rPr>
              <a:t>12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367528" y="42702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REST API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67528" y="45811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full example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Spring Boot Solve?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•  Spring Boot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023360" cy="1170432"/>
          </a:xfrm>
          <a:prstGeom prst="rect">
            <a:avLst/>
          </a:prstGeom>
          <a:solidFill>
            <a:srgbClr val="FDF3E8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Before Spring Boot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XML configuration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dependency version hunting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external Tomcat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business logic written yet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572768"/>
            <a:ext cx="347472" cy="2286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5361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69080" cy="1170432"/>
          </a:xfrm>
          <a:prstGeom prst="rect">
            <a:avLst/>
          </a:prstGeom>
          <a:solidFill>
            <a:srgbClr val="E8F5DC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Spring Boot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4996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REST API in 15 minutes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dependency pulls in everything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Tomcat — just run the JAR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100% on business logic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2395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1993392" cy="530352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7432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8346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23160" y="2743200"/>
            <a:ext cx="1993392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27432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Spring Framework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8346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6280" y="2743200"/>
            <a:ext cx="1993392" cy="53035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27432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Spring Boot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28346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29400" y="2743200"/>
            <a:ext cx="1993392" cy="5303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7432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Your App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429000"/>
            <a:ext cx="8503920" cy="1444752"/>
          </a:xfrm>
          <a:prstGeom prst="rect">
            <a:avLst/>
          </a:prstGeom>
          <a:solidFill>
            <a:srgbClr val="E8F5DC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47872"/>
            <a:ext cx="402336" cy="40233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87552" y="3511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Apartment vs Empty Land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384048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= Buying raw land with materials. You build everything from scratch.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= A fully furnished apartment. Move in immediately. Customize only what you want to change.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•  Convention Over Configuration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@Conditional Annotations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435608"/>
            <a:ext cx="2743200" cy="1115568"/>
          </a:xfrm>
          <a:prstGeom prst="rect">
            <a:avLst/>
          </a:prstGeom>
          <a:solidFill>
            <a:srgbClr val="1A3A1C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35608"/>
            <a:ext cx="27432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35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@ConditionalOnClass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185623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ONLY if a class exists on the classpath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1435608"/>
            <a:ext cx="2743200" cy="1115568"/>
          </a:xfrm>
          <a:prstGeom prst="rect">
            <a:avLst/>
          </a:prstGeom>
          <a:solidFill>
            <a:srgbClr val="1A3A1C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35608"/>
            <a:ext cx="27432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35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@ConditionalOnMissingBean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185623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off when developer provides their own bean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1435608"/>
            <a:ext cx="2743200" cy="1115568"/>
          </a:xfrm>
          <a:prstGeom prst="rect">
            <a:avLst/>
          </a:prstGeom>
          <a:solidFill>
            <a:srgbClr val="1A3A1C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1435608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435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@ConditionalOnProperty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36792" y="185623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based on a specific property value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3886200" cy="166420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debug: true  # application.yml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prints a CONDITIONS EVALUATION REPORT showing exactly which auto-configurations fired and why.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2697480"/>
            <a:ext cx="4361688" cy="1664208"/>
          </a:xfrm>
          <a:prstGeom prst="rect">
            <a:avLst/>
          </a:prstGeom>
          <a:solidFill>
            <a:srgbClr val="0D1117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2816352"/>
            <a:ext cx="118872" cy="118872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2816352"/>
            <a:ext cx="118872" cy="118872"/>
          </a:xfrm>
          <a:prstGeom prst="oval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816352"/>
            <a:ext cx="118872" cy="118872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017520"/>
            <a:ext cx="4069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matches: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DispatcherServletAutoConfig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DispatcherServlet found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JacksonAutoConfiguration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ObjectMapper found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matches: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DataSourceAutoConfiguration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No DataSource on classpath 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480560"/>
            <a:ext cx="83210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526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Analogy: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526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pre-sets your room from your guest profile — chai, standing desk, birthday cake. All automatic. You only request changes.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Starters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•  Bundled, Compatible Libraries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dependency = 15+ compatible libraries, pre-configured and ready.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621792"/>
          </a:xfrm>
          <a:prstGeom prst="rect">
            <a:avLst/>
          </a:prstGeom>
          <a:solidFill>
            <a:srgbClr val="E8F5D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🍝  Analogy: Order one 'Italian Dinner Kit' and receive pasta, tomatoes, basil, garlic — correct quantities, all compatible. No grocery hunting.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57984"/>
            <a:ext cx="28346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57984"/>
            <a:ext cx="28346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240280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194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spring-boot-starter-web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4632" y="3035808"/>
            <a:ext cx="91440" cy="91440"/>
          </a:xfrm>
          <a:prstGeom prst="oval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spring-webmvc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" y="3447288"/>
            <a:ext cx="91440" cy="91440"/>
          </a:xfrm>
          <a:prstGeom prst="oval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tomcat-embed-core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" y="3858768"/>
            <a:ext cx="91440" cy="91440"/>
          </a:xfrm>
          <a:prstGeom prst="oval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" y="3813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jackson-databind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" y="4270248"/>
            <a:ext cx="91440" cy="91440"/>
          </a:xfrm>
          <a:prstGeom prst="oval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" y="4224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hibernate-validator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64408" y="2157984"/>
            <a:ext cx="28346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64408" y="2157984"/>
            <a:ext cx="283464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240280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67328" y="2194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spring-boot-starter-data-jpa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401568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429000" y="3035808"/>
            <a:ext cx="91440" cy="91440"/>
          </a:xfrm>
          <a:prstGeom prst="oval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93592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spring-data-jpa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429000" y="3447288"/>
            <a:ext cx="91440" cy="91440"/>
          </a:xfrm>
          <a:prstGeom prst="oval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93592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hibernate-core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429000" y="3858768"/>
            <a:ext cx="91440" cy="91440"/>
          </a:xfrm>
          <a:prstGeom prst="oval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593592" y="3813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429000" y="4270248"/>
            <a:ext cx="91440" cy="91440"/>
          </a:xfrm>
          <a:prstGeom prst="oval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93592" y="4224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spring-jdbc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08776" y="2157984"/>
            <a:ext cx="28346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208776" y="2157984"/>
            <a:ext cx="28346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240280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11696" y="2194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spring-boot-starter-test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345936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373368" y="3035808"/>
            <a:ext cx="91440" cy="91440"/>
          </a:xfrm>
          <a:prstGeom prst="oval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37960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373368" y="3447288"/>
            <a:ext cx="91440" cy="91440"/>
          </a:xfrm>
          <a:prstGeom prst="oval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3796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373368" y="3858768"/>
            <a:ext cx="91440" cy="91440"/>
          </a:xfrm>
          <a:prstGeom prst="oval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37960" y="3813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373368" y="4270248"/>
            <a:ext cx="91440" cy="91440"/>
          </a:xfrm>
          <a:prstGeom prst="oval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537960" y="4224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Test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E8F5D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75488" y="4791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DevTools &amp; Lombok use  optional: true  — automatically EXCLUDED from the production JAR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— Eliminate Boilerplate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•  Write Less, Do More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51960" cy="3547872"/>
          </a:xfrm>
          <a:prstGeom prst="rect">
            <a:avLst/>
          </a:prstGeom>
          <a:solidFill>
            <a:srgbClr val="1A3A1C"/>
          </a:solidFill>
          <a:ln w="1905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4251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06424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Lombok  (~120 lines)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97764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Doctor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Long 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name;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8 more fields...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Long getId() { return id;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setId(Long v) { id=v;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getName() { return name;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setName(String v) { name=v;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...40 more getter/setter lines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toString()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equals(Object o)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hashCode()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Doctor(Long id,String name,...)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Doctor()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79392" y="26517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B33F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069080" cy="3547872"/>
          </a:xfrm>
          <a:prstGeom prst="rect">
            <a:avLst/>
          </a:prstGeom>
          <a:solidFill>
            <a:srgbClr val="1A3A1C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78992"/>
            <a:ext cx="4069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0642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Lombok  (~25 lines)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7947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@Builder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@AllArgsConstructor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Doctor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Long   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name;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email;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specialization;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Double consultationFee;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Boolean available;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@ToString.Exclude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sensitiveData;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ALL getters, setters, toString,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equals, hashCode, builder,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and constructors auto-generated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DevTools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•  Fast Development Restarts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Two-Classloader Architecture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435608"/>
            <a:ext cx="8321040" cy="1115568"/>
          </a:xfrm>
          <a:prstGeom prst="rect">
            <a:avLst/>
          </a:prstGeom>
          <a:solidFill>
            <a:srgbClr val="EEEEEE"/>
          </a:solidFill>
          <a:ln w="19050">
            <a:solidFill>
              <a:srgbClr val="5A7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CLASSLOADER  — loaded once at startup, never reloaded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spring-core  •  spring-webmvc  •  hibernate  •  jackson  •  tomcat  •  3rd-party libs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Full boot: 15-30 seconds — but this happens ONCE per session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8321040" cy="1115568"/>
          </a:xfrm>
          <a:prstGeom prst="rect">
            <a:avLst/>
          </a:prstGeom>
          <a:solidFill>
            <a:srgbClr val="E8F5DC"/>
          </a:solidFill>
          <a:ln w="25400">
            <a:solidFill>
              <a:srgbClr val="6DB33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16352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4128" y="27614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CLASSLOADER  — replaced on every code change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063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DoctorController  •  DoctorService  •  PatientController  •  AppointmentService  •  YOUR code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3355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Restart takes only ~2 seconds — only this layer is discarded and recreated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950208"/>
            <a:ext cx="8321040" cy="822960"/>
          </a:xfrm>
          <a:prstGeom prst="rect">
            <a:avLst/>
          </a:prstGeom>
          <a:solidFill>
            <a:srgbClr val="0F2311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0050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Trigger  →  Make code change  →  Ctrl+F9 (Win/Linux)  or  Cmd+F9 (macOS)  →  Restarts in ~2 seconds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43525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 safe: Automatically DISABLED when running from a packaged JAR (optional:true in pom.xml)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•  YAML + Profiles + @ConfigurationProperties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Source Priority  (Higher number = Wins)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35608"/>
            <a:ext cx="5303520" cy="475488"/>
          </a:xfrm>
          <a:prstGeom prst="rect">
            <a:avLst/>
          </a:prstGeom>
          <a:solidFill>
            <a:srgbClr val="0F2311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35608"/>
            <a:ext cx="384048" cy="47548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356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1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14721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args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6824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-jar app.jar --server.port=9090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002536"/>
            <a:ext cx="5138928" cy="475488"/>
          </a:xfrm>
          <a:prstGeom prst="rect">
            <a:avLst/>
          </a:prstGeom>
          <a:solidFill>
            <a:srgbClr val="0F2311"/>
          </a:solidFill>
          <a:ln w="19050">
            <a:solidFill>
              <a:srgbClr val="95D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02536"/>
            <a:ext cx="384048" cy="475488"/>
          </a:xfrm>
          <a:prstGeom prst="rect">
            <a:avLst/>
          </a:prstGeom>
          <a:solidFill>
            <a:srgbClr val="95D46A"/>
          </a:solidFill>
          <a:ln w="12700">
            <a:solidFill>
              <a:srgbClr val="95D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0253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1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" y="203911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2249424"/>
            <a:ext cx="4590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SPRING_DATASOURCE_PASSWORD=secret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569464"/>
            <a:ext cx="4974336" cy="475488"/>
          </a:xfrm>
          <a:prstGeom prst="rect">
            <a:avLst/>
          </a:prstGeom>
          <a:solidFill>
            <a:srgbClr val="0F2311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69464"/>
            <a:ext cx="38404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6946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1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" y="2606040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application-prod.yml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816352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Profile-specific overrides main config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136392"/>
            <a:ext cx="4809744" cy="475488"/>
          </a:xfrm>
          <a:prstGeom prst="rect">
            <a:avLst/>
          </a:prstGeom>
          <a:solidFill>
            <a:srgbClr val="0F2311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136392"/>
            <a:ext cx="384048" cy="47548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3639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1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" y="3172968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" y="3383280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main configuration file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703320"/>
            <a:ext cx="4645152" cy="475488"/>
          </a:xfrm>
          <a:prstGeom prst="rect">
            <a:avLst/>
          </a:prstGeom>
          <a:solidFill>
            <a:srgbClr val="0F2311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703320"/>
            <a:ext cx="384048" cy="47548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033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1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" y="373989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defaults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" y="395020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fallback values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1069848"/>
            <a:ext cx="2926080" cy="3886200"/>
          </a:xfrm>
          <a:prstGeom prst="rect">
            <a:avLst/>
          </a:prstGeom>
          <a:solidFill>
            <a:srgbClr val="0D1117"/>
          </a:solidFill>
          <a:ln w="19050">
            <a:solidFill>
              <a:srgbClr val="6DB3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53328" y="1188720"/>
            <a:ext cx="118872" cy="118872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1188720"/>
            <a:ext cx="118872" cy="118872"/>
          </a:xfrm>
          <a:prstGeom prst="oval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5664" y="1188720"/>
            <a:ext cx="118872" cy="118872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464" y="1371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HospitalProperties.java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35040" y="1627632"/>
            <a:ext cx="2670048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@ConfigurationProperties(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prefix = "hospital")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HospitalProperties {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name;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Integer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maxAppointmentsPerDay;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Features features;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@Data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Features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Boolean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smsNotificationsEnabled;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Boolean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onlinePaymentsEnabled;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•  The Complete Request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371600" cy="1005840"/>
          </a:xfrm>
          <a:prstGeom prst="rect">
            <a:avLst/>
          </a:prstGeom>
          <a:solidFill>
            <a:srgbClr val="5A7A5C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7043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(Browser/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Mobile)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64208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55648" y="1170432"/>
            <a:ext cx="13716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55648" y="117043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145536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6976" y="1170432"/>
            <a:ext cx="13716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36976" y="117043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626864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18304" y="1170432"/>
            <a:ext cx="1371600" cy="1005840"/>
          </a:xfrm>
          <a:prstGeom prst="rect">
            <a:avLst/>
          </a:prstGeom>
          <a:solidFill>
            <a:srgbClr val="0F2311"/>
          </a:solidFill>
          <a:ln w="254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17043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108192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9632" y="1170432"/>
            <a:ext cx="1371600" cy="1005840"/>
          </a:xfrm>
          <a:prstGeom prst="rect">
            <a:avLst/>
          </a:prstGeom>
          <a:solidFill>
            <a:srgbClr val="0F2311"/>
          </a:solidFill>
          <a:ln w="254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117043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589520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B33F"/>
                </a:solidFill>
              </a:rPr>
              <a:t>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80960" y="1170432"/>
            <a:ext cx="13716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1170432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JSON↔Java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274320" y="2240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HTTP Request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HTTP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7249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3-Layer Architecture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063240"/>
            <a:ext cx="2788920" cy="1719072"/>
          </a:xfrm>
          <a:prstGeom prst="rect">
            <a:avLst/>
          </a:prstGeom>
          <a:solidFill>
            <a:srgbClr val="E8F5DC"/>
          </a:solidFill>
          <a:ln w="1905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063240"/>
            <a:ext cx="2788920" cy="36576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081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@RestController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34930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handling — extract params, return responses. Contains NO business logic.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27248" y="37033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B33F"/>
                </a:solidFill>
              </a:rPr>
              <a:t>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46120" y="3063240"/>
            <a:ext cx="2788920" cy="1719072"/>
          </a:xfrm>
          <a:prstGeom prst="rect">
            <a:avLst/>
          </a:prstGeom>
          <a:solidFill>
            <a:srgbClr val="E8F5DC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063240"/>
            <a:ext cx="278892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081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@Service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55848" y="34930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— validation, orchestration. No HTTP concerns.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53328" y="37033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B33F"/>
                </a:solidFill>
              </a:rPr>
              <a:t>↓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72200" y="3063240"/>
            <a:ext cx="2788920" cy="1719072"/>
          </a:xfrm>
          <a:prstGeom prst="rect">
            <a:avLst/>
          </a:prstGeom>
          <a:solidFill>
            <a:srgbClr val="EAF2FB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063240"/>
            <a:ext cx="278892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081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@Repository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81928" y="34930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only — JPA/Hibernate. No logic, no HTTP.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Deep Dive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 •  Controllers &amp; Stereotype Annotations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69848"/>
            <a:ext cx="8321040" cy="658368"/>
          </a:xfrm>
          <a:prstGeom prst="rect">
            <a:avLst/>
          </a:prstGeom>
          <a:solidFill>
            <a:srgbClr val="1A3A1C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972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  =  @Controller  +  @ResponseBody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146304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auto-converts return values to JSON. No @ResponseBody needed on each method.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65376"/>
            <a:ext cx="8321040" cy="448056"/>
          </a:xfrm>
          <a:prstGeom prst="rect">
            <a:avLst/>
          </a:prstGeom>
          <a:solidFill>
            <a:srgbClr val="1A3A1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65376"/>
            <a:ext cx="841248" cy="4480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65376"/>
            <a:ext cx="841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81728" y="19202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(supports ?specialization=X filtering)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8321040" cy="448056"/>
          </a:xfrm>
          <a:prstGeom prst="rect">
            <a:avLst/>
          </a:prstGeom>
          <a:solidFill>
            <a:srgbClr val="0F231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77440"/>
            <a:ext cx="841248" cy="4480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77440"/>
            <a:ext cx="841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2432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/api/v1/doctors/{id}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81728" y="2432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single doctor by ID → 404 if not found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889504"/>
            <a:ext cx="8321040" cy="448056"/>
          </a:xfrm>
          <a:prstGeom prst="rect">
            <a:avLst/>
          </a:prstGeom>
          <a:solidFill>
            <a:srgbClr val="1A3A1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889504"/>
            <a:ext cx="841248" cy="44805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9504"/>
            <a:ext cx="841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2944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/api/v1/doctors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29443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doctor → 201 Created + Location header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01568"/>
            <a:ext cx="8321040" cy="448056"/>
          </a:xfrm>
          <a:prstGeom prst="rect">
            <a:avLst/>
          </a:prstGeom>
          <a:solidFill>
            <a:srgbClr val="0F231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01568"/>
            <a:ext cx="841248" cy="4480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01568"/>
            <a:ext cx="841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3456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/api/v1/doctors/{id}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3456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ENTIRE doctor object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913632"/>
            <a:ext cx="8321040" cy="448056"/>
          </a:xfrm>
          <a:prstGeom prst="rect">
            <a:avLst/>
          </a:prstGeom>
          <a:solidFill>
            <a:srgbClr val="1A3A1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913632"/>
            <a:ext cx="841248" cy="44805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13632"/>
            <a:ext cx="841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25880" y="3968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/api/v1/doctors/{id}/availability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28" y="39684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availability flag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425696"/>
            <a:ext cx="8321040" cy="448056"/>
          </a:xfrm>
          <a:prstGeom prst="rect">
            <a:avLst/>
          </a:prstGeom>
          <a:solidFill>
            <a:srgbClr val="0F231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425696"/>
            <a:ext cx="841248" cy="4480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425696"/>
            <a:ext cx="841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25880" y="44805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/api/v1/doctors/{id}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1728" y="44805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doctor → 204 No Content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 Semantics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 •  Why the Right Method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960120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11521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89888" y="1362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1152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12848" y="1362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225296"/>
            <a:ext cx="18288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207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data. NEVER modify. Cacheable by proxies and infrastructure.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865376"/>
            <a:ext cx="8503920" cy="676656"/>
          </a:xfrm>
          <a:prstGeom prst="rect">
            <a:avLst/>
          </a:prstGeom>
          <a:solidFill>
            <a:srgbClr val="F4FA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65376"/>
            <a:ext cx="960120" cy="67665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65376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9888" y="19019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89888" y="21122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12848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12848" y="2112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1975104"/>
            <a:ext cx="18288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568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resource. Calling twice creates a duplicate. Use for new doctors/patients.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615184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615184"/>
            <a:ext cx="960120" cy="6766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615184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89888" y="2651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89888" y="2862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2651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12848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0128" y="2724912"/>
            <a:ext cx="18288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7066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ENTIRE resource. Missing fields become null. Must send complete object.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364992"/>
            <a:ext cx="8503920" cy="676656"/>
          </a:xfrm>
          <a:prstGeom prst="rect">
            <a:avLst/>
          </a:prstGeom>
          <a:solidFill>
            <a:srgbClr val="F4FA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364992"/>
            <a:ext cx="960120" cy="67665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36499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89888" y="3401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89888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12848" y="3401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212848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0128" y="3474720"/>
            <a:ext cx="18288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update. Only send changed fields. Used for availability, fee updates.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114800"/>
            <a:ext cx="85039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4114800"/>
            <a:ext cx="96012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114800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89888" y="41513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89888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212848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212848" y="4361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10128" y="4224528"/>
            <a:ext cx="18288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4206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resource. 204 No Content on success. Idempotent — deleting deleted is OK.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FD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use GET to modify data. Search engines crawl GET URLs — your delete endpoint will be triggered by Googlebot. This has caused real-world data loss.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Request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 •  @PathVariable  @RequestParam  @RequestBody  @RequestHeader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114800" cy="1792224"/>
          </a:xfrm>
          <a:prstGeom prst="rect">
            <a:avLst/>
          </a:prstGeom>
          <a:solidFill>
            <a:srgbClr val="1A3A1C"/>
          </a:solidFill>
          <a:ln w="25400">
            <a:solidFill>
              <a:srgbClr val="6DB3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97280"/>
            <a:ext cx="4114800" cy="36576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/doctors/{42}/appointments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@PathVariable Long id = 42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" y="2148840"/>
            <a:ext cx="3877056" cy="18288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Resource identifiers in URL paths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Wrong type → 400 auto-handled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1097280"/>
            <a:ext cx="4114800" cy="1792224"/>
          </a:xfrm>
          <a:prstGeom prst="rect">
            <a:avLst/>
          </a:prstGeom>
          <a:solidFill>
            <a:srgbClr val="1A3A1C"/>
          </a:solidFill>
          <a:ln w="25400">
            <a:solidFill>
              <a:srgbClr val="95D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097280"/>
            <a:ext cx="4114800" cy="365760"/>
          </a:xfrm>
          <a:prstGeom prst="rect">
            <a:avLst/>
          </a:prstGeom>
          <a:solidFill>
            <a:srgbClr val="95D46A"/>
          </a:solidFill>
          <a:ln w="12700">
            <a:solidFill>
              <a:srgbClr val="95D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@RequestParam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15179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?specialization=Cardiology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&amp;page=0&amp;size=20&amp;minFee=100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148840"/>
            <a:ext cx="3877056" cy="18288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Filtering, sorting, pagination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required=false → null if absent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defaultValue → fallback value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4114800" cy="1792224"/>
          </a:xfrm>
          <a:prstGeom prst="rect">
            <a:avLst/>
          </a:prstGeom>
          <a:solidFill>
            <a:srgbClr val="1A3A1C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35808"/>
            <a:ext cx="41148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456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JSON body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Jackson auto-deserializes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 Doctor object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" y="4087368"/>
            <a:ext cx="3877056" cy="18288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60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Create or update with full 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453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Malformed JSON → 400 auto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90872" y="3035808"/>
            <a:ext cx="4114800" cy="1792224"/>
          </a:xfrm>
          <a:prstGeom prst="rect">
            <a:avLst/>
          </a:prstGeom>
          <a:solidFill>
            <a:srgbClr val="1A3A1C"/>
          </a:solidFill>
          <a:ln w="25400">
            <a:solidFill>
              <a:srgbClr val="79C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3035808"/>
            <a:ext cx="4114800" cy="36576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@RequestHeader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456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X-Doctor-Id: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token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4087368"/>
            <a:ext cx="3877056" cy="18288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160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Auth tokens, correlation IDs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4453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required=false → null if missing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Status Codes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 •  @RestControllerAdvice + HTTP Semantics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Flow — Write Once, Handle Everywhere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08483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084832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173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ResourceNotFoundException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("Doctor", id)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32888" y="1417320"/>
            <a:ext cx="208483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1417320"/>
            <a:ext cx="2084832" cy="320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4173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24328" y="177393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try/catch needed!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bubbles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36008" y="192024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45736" y="1417320"/>
            <a:ext cx="2084832" cy="1234440"/>
          </a:xfrm>
          <a:prstGeom prst="rect">
            <a:avLst/>
          </a:prstGeom>
          <a:solidFill>
            <a:srgbClr val="FFFFFF"/>
          </a:solidFill>
          <a:ln w="31750">
            <a:solidFill>
              <a:srgbClr val="6DB33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417320"/>
            <a:ext cx="2084832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14173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7176" y="177393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Intercepts globally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 ErrorResponse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404 JSON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48856" y="192024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58584" y="1417320"/>
            <a:ext cx="208483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8584" y="1417320"/>
            <a:ext cx="208483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14173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50024" y="177393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404 Not Found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{"status":404,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"message":"..."}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2779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 Reference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090672"/>
            <a:ext cx="594360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09067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3355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GET/PUT/PATCH success with response body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4408" y="3090672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3090672"/>
            <a:ext cx="594360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09067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50208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50208" y="3355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new resource registered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08776" y="3090672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08776" y="3090672"/>
            <a:ext cx="594360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8776" y="309067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94576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4576" y="3355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nothing to return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675888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675888"/>
            <a:ext cx="594360" cy="5212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5840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3941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JSON / wrong type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64408" y="3675888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64408" y="3675888"/>
            <a:ext cx="594360" cy="5212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4408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950208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50208" y="3941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 auth token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08776" y="3675888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08776" y="3675888"/>
            <a:ext cx="594360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08776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894576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94576" y="3941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ID does not exist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4261104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4261104"/>
            <a:ext cx="594360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261104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005840" y="4297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05840" y="4526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license number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64408" y="4261104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64408" y="4261104"/>
            <a:ext cx="594360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64408" y="4261104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950208" y="4297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Unprocessable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950208" y="4526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violated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08776" y="4261104"/>
            <a:ext cx="28346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08776" y="4261104"/>
            <a:ext cx="594360" cy="5212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08776" y="4261104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894576" y="4297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894576" y="4526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bug — log it, hide details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API — Quick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 •  Hospital Management System Annotation Cheat Sheet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11"/>
                </a:solidFill>
              </a:rPr>
              <a:t>MODULE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Annotation Cheat Sheet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1261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49240" y="1261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463040"/>
            <a:ext cx="8503920" cy="3017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996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46120" y="1499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ManagementApplication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49240" y="1499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 + @EnableAutoConfig + @ComponentScan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792224"/>
            <a:ext cx="8503920" cy="301752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controllers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49240" y="1828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@ResponseBody combined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121408"/>
            <a:ext cx="8503920" cy="3017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57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@RequestMapping("/api/v1/...")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controllers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49240" y="2157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prefix for all methods in class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450592"/>
            <a:ext cx="8503920" cy="301752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87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 / @PostMapping…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2487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methods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49240" y="24871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HTTP methods to Java methods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779776"/>
            <a:ext cx="8503920" cy="3017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16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6120" y="2816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/{id} parameters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49240" y="2816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segment → method parameter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8503920" cy="301752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@RequestParam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46120" y="3145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?filter=val params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49240" y="31455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 → method parameter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438144"/>
            <a:ext cx="8503920" cy="3017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46120" y="3474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PUT methods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49240" y="3474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 → Java object via Jackson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767328"/>
            <a:ext cx="8503920" cy="301752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03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@RestControllerAdvice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46120" y="38039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49240" y="3803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exceptions from ALL controllers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096512"/>
            <a:ext cx="8503920" cy="3017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133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@ExceptionHandler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methods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49240" y="4133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specific exception type → HTTP response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425696"/>
            <a:ext cx="8503920" cy="301752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462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@ConfigurationProperties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46120" y="44622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HospitalProperties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49240" y="4462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YAML section → Java class fields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4754880"/>
            <a:ext cx="8503920" cy="3017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791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B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 / @Builder / @Slf4j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46120" y="4791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49240" y="47914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— generate methods at compile time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2311"/>
          </a:solidFill>
          <a:ln w="12700">
            <a:solidFill>
              <a:srgbClr val="0F231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|  Hospital Management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949440" y="365760"/>
            <a:ext cx="1920240" cy="19202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182880" y="3291840"/>
            <a:ext cx="1828800" cy="1828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84048" y="402336"/>
            <a:ext cx="265176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4048" y="402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CONGRATULATIONS!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84048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 all 12 modules.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84048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build something real.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384048" y="2029968"/>
            <a:ext cx="5303520" cy="4572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4048" y="217627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5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Learn Next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84048" y="2578608"/>
            <a:ext cx="42062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84048" y="2578608"/>
            <a:ext cx="64008" cy="6583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2642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6928" y="2916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@Valid, @NotBlank, @Email, @Min, @Max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2578608"/>
            <a:ext cx="42062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2578608"/>
            <a:ext cx="64008" cy="6583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37760" y="2642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37760" y="2916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Map with a real database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84048" y="3328416"/>
            <a:ext cx="42062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4048" y="3328416"/>
            <a:ext cx="64008" cy="6583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33924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66928" y="36667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role-based access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3328416"/>
            <a:ext cx="42062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54880" y="3328416"/>
            <a:ext cx="64008" cy="6583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37760" y="33924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937760" y="36667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+ @WebMvcTest + @SpringBootTest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84048" y="4078224"/>
            <a:ext cx="42062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84048" y="4078224"/>
            <a:ext cx="64008" cy="6583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" y="4142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66928" y="4416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@PageableDefault + JPA paging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754880" y="4078224"/>
            <a:ext cx="4206240" cy="658368"/>
          </a:xfrm>
          <a:prstGeom prst="rect">
            <a:avLst/>
          </a:prstGeom>
          <a:solidFill>
            <a:srgbClr val="1A3A1C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54880" y="4078224"/>
            <a:ext cx="64008" cy="65836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37760" y="4142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937760" y="4416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interactive API documentation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09744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40080" y="4809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  •  Hospital Management System  •  All concepts with working code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Mastery</dc:title>
  <dc:subject>PptxGenJS Presentation</dc:subject>
  <dc:creator>PptxGenJS</dc:creator>
  <cp:lastModifiedBy>PptxGenJS</cp:lastModifiedBy>
  <cp:revision>1</cp:revision>
  <dcterms:created xsi:type="dcterms:W3CDTF">2026-02-25T07:27:28Z</dcterms:created>
  <dcterms:modified xsi:type="dcterms:W3CDTF">2026-02-25T07:27:28Z</dcterms:modified>
</cp:coreProperties>
</file>