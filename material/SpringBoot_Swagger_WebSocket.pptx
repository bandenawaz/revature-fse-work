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560320"/>
            <a:ext cx="3474720" cy="34747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74320"/>
            <a:ext cx="1828800" cy="18288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2834640"/>
            <a:ext cx="1097280" cy="10972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315200" y="502920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138160" y="1417320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58000" y="2011680"/>
            <a:ext cx="50292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8321040" y="3017520"/>
            <a:ext cx="457200" cy="4572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11480" y="457200"/>
            <a:ext cx="2286000" cy="310896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11480" y="457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 SERIES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384048" y="960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6800" dirty="0"/>
          </a:p>
        </p:txBody>
      </p:sp>
      <p:sp>
        <p:nvSpPr>
          <p:cNvPr id="14" name="Text 8"/>
          <p:cNvSpPr/>
          <p:nvPr/>
        </p:nvSpPr>
        <p:spPr>
          <a:xfrm>
            <a:off x="384048" y="18288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Mastery</a:t>
            </a:r>
            <a:endParaRPr lang="en-US" sz="5400" dirty="0"/>
          </a:p>
        </p:txBody>
      </p:sp>
      <p:sp>
        <p:nvSpPr>
          <p:cNvPr id="15" name="Shape 9"/>
          <p:cNvSpPr/>
          <p:nvPr/>
        </p:nvSpPr>
        <p:spPr>
          <a:xfrm>
            <a:off x="384048" y="2743200"/>
            <a:ext cx="5303520" cy="4114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84048" y="28529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 •  OpenAPI 3  •  WebSocket  •  STOMP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84048" y="32461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production-ready real-time APIs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84048" y="3840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84048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532888" y="3840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532888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Testing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81728" y="3840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81728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830568" y="3840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30568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Messaging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Mastery  •  Professional Training Series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15568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252728"/>
            <a:ext cx="384048" cy="384048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68096" y="128016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17043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Life Before Swagger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88720" y="151790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chaos, drift, and the insight that changed everything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1168" y="2039112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1168" y="2039112"/>
            <a:ext cx="54864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" y="2176272"/>
            <a:ext cx="384048" cy="384048"/>
          </a:xfrm>
          <a:prstGeom prst="rect">
            <a:avLst/>
          </a:prstGeom>
          <a:solidFill>
            <a:srgbClr val="0369A1">
              <a:alpha val="2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89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768096" y="220370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0939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&amp; Swagger Ecosystem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88720" y="2441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Specifications, tool families, SpringDoc vs SpringFox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01168" y="2962656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01168" y="2962656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10896" y="3099816"/>
            <a:ext cx="384048" cy="384048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08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8096" y="312724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01752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Swagger in Spring Boot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88720" y="336499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Annotations, global config, security schemes, response examples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201168" y="3886200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01168" y="3886200"/>
            <a:ext cx="54864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10896" y="4023360"/>
            <a:ext cx="384048" cy="384048"/>
          </a:xfrm>
          <a:prstGeom prst="rect">
            <a:avLst/>
          </a:prstGeom>
          <a:solidFill>
            <a:srgbClr val="0369A1">
              <a:alpha val="2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1089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768096" y="4050792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88720" y="394106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Best Practices &amp; Production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88720" y="428853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grouping, common mistakes, team workflows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727448" y="1115568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727448" y="111556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837176" y="1252728"/>
            <a:ext cx="384048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3717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94376" y="1280160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715000" y="117043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Protocol Deep Dive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715000" y="151790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Full-duplex, TCP handshake, protocol framing, comparison with HTTP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727448" y="2039112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727448" y="203911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837176" y="2176272"/>
            <a:ext cx="384048" cy="38404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83717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5294376" y="2203704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715000" y="20939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WebSocket Implementation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715000" y="2441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handler, SockJS, lifecycle events, broadcasting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4727448" y="2962656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4727448" y="296265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837176" y="3099816"/>
            <a:ext cx="384048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483717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5294376" y="3127248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715000" y="301752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— Messaging Over WebSocket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5715000" y="336499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frames, destinations, broker, subscriptions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4727448" y="3886200"/>
            <a:ext cx="4315968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4727448" y="3886200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837176" y="4023360"/>
            <a:ext cx="384048" cy="38404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483717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5294376" y="4050792"/>
            <a:ext cx="329184" cy="32918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5715000" y="394106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Scaling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5715000" y="428853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broker relay, security, multi-server architecture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Mastery  •  Professional Training Series</a:t>
            </a:r>
            <a:endParaRPr lang="en-US" sz="900" dirty="0"/>
          </a:p>
        </p:txBody>
      </p:sp>
      <p:sp>
        <p:nvSpPr>
          <p:cNvPr id="63" name="Text 5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772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Life Before API Documentation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88352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8352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CONTEXT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11556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115568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0160" y="1280160"/>
            <a:ext cx="685800" cy="68580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1371600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20574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 Docs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2432304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once, forgotten forever. The moment code changes, docs lie. Documentation drift is inevitable with manual processes.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163824" y="111556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63824" y="1115568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87952" y="1280160"/>
            <a:ext cx="685800" cy="68580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4279392" y="1371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73552" y="20574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Confluence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273552" y="2432304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PDFs, but still manually maintained. Under deadline pressure, developers skip updates. Stale docs proliferate.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71616" y="111556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71616" y="1115568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095744" y="1280160"/>
            <a:ext cx="685800" cy="68580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7187184" y="13716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81344" y="20574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Chains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181344" y="2432304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buried in inboxes. Impossible to discover, impossible to version, impossible to share across time zones.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56032" y="3236976"/>
            <a:ext cx="8631936" cy="86868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56032" y="3236976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323697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Root Cause: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103120" y="3236976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lived separately from code. When code changed, nobody updated the docs. The fix: make documentation generated FROM the code, so they can never drift apart.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The Problem  •  Spring Boot API Mastery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772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&amp; The Swagger Ecosystem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88352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8352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CONCEPTS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97280"/>
            <a:ext cx="3017520" cy="30632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97280"/>
            <a:ext cx="3017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1521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16276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(not a tool)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20025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API contract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23774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or YAML format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" y="275234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Describes: endpoints, params,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bodies, responses, security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" y="31272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from Swagger Spec in 2016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4048" y="35021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OpenAPI Initiative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(Linux Foundation)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3401568" y="2450592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05072" y="1097280"/>
            <a:ext cx="4882896" cy="30632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005072" y="1097280"/>
            <a:ext cx="4882896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0" y="11521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Tool Ecosystem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114800" y="1664208"/>
            <a:ext cx="4663440" cy="621792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224528" y="179222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81728" y="17007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681728" y="1975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OpenAPI JSON as interactive HTML documentation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790688" y="18288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906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4114800" y="2395728"/>
            <a:ext cx="4663440" cy="621792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4224528" y="252374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681728" y="2432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Editor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81728" y="2706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OpenAPI spec editor with live preview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114800" y="3127248"/>
            <a:ext cx="4663440" cy="621792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4224528" y="3255264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81728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Codegen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81728" y="34381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client SDKs in 40+ programming languages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114800" y="3858768"/>
            <a:ext cx="4663440" cy="621792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4224528" y="3986784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681728" y="38953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Hub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681728" y="41696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for team API design collaboration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OpenAPI &amp; Swagger Ecosystem  •  Spring Boot API Mastery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The Two-Step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9184" y="1170432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170432"/>
            <a:ext cx="196596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298448"/>
            <a:ext cx="694944" cy="69494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78992" y="20848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0624" y="261518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Annotations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" y="31455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@Operation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@Schema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340864" y="2395728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05456" y="1170432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05456" y="1170432"/>
            <a:ext cx="1965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36392" y="1298448"/>
            <a:ext cx="694944" cy="69494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36392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3255264" y="208483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96896" y="261518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at Startup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596896" y="31455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controllers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annotations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application start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517136" y="2395728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681728" y="1170432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81728" y="1170432"/>
            <a:ext cx="19659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312664" y="1298448"/>
            <a:ext cx="694944" cy="6949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312664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5431536" y="208483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73168" y="261518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/v3/api-docs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773168" y="31455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JSON format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6693408" y="2395728"/>
            <a:ext cx="310896" cy="31089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858000" y="1170432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858000" y="1170432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488936" y="1298448"/>
            <a:ext cx="694944" cy="6949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488936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7607808" y="2084832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49440" y="261518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/swagger-ui.html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949440" y="31455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HTML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 testing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329184" y="3986784"/>
            <a:ext cx="8485632" cy="6858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29184" y="3986784"/>
            <a:ext cx="54864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502920" y="398678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600200" y="398678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is GENERATED from annotated code — it can never drift. The moment you add a new endpoint, it appears in Swagger UI automatically on the next restart. Visit  /v3/api-docs  for raw JSON  •  /swagger-ui.html  for the interactive UI.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Two-Step Flow  •  Spring Boot API Mastery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Setup &amp; Global Configuration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88352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8352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SETUP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4224528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133856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" y="1463040"/>
            <a:ext cx="4224528" cy="109728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481328"/>
            <a:ext cx="4041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&lt;groupId&gt;org.springdoc&lt;/groupId&gt;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springdoc-openapi-starter-webmvc-ui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&lt;/artifactId&gt;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&lt;version&gt;2.3.0&lt;/version&gt;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078992"/>
            <a:ext cx="4224528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91456" y="1133856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— SpringDoc Config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463040"/>
            <a:ext cx="4224528" cy="109728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481328"/>
            <a:ext cx="4041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api-docs: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/v3/api-docs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swagger-ui: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/swagger-ui.html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try-it-out-enabled: true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filter: true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deep-linking: true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6032" y="2706624"/>
            <a:ext cx="8631936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84048" y="27614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OpenApiConfig.java — Global API Information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" y="3090672"/>
            <a:ext cx="8631936" cy="150876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108960"/>
            <a:ext cx="8449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  public class OpenApiConfig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@Bean  public OpenAPI employeeManagementOpenAPI()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OpenAPI()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.info(new Info().title("TechCorp Employee API").version("v1.0.0")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.description("Complete employee lifecycle management API")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.contact(new Contact().name("Backend Team").email("backend@techcorp.com")))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.servers(List.of(new Server().url("http://localhost:8080").description("Dev"),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new Server().url("https://api.techcorp.com").description("Prod")));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 }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SpringDoc Setup  •  Spring Boot API Mastery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Annotation Hierarchy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863193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97280"/>
            <a:ext cx="54864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216152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216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188720" y="11887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OpenAPI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645920" y="1389888"/>
            <a:ext cx="712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version, description, servers, security schemes — configures the entire API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85800" y="1728216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1728216"/>
            <a:ext cx="54864" cy="5303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5528" y="1847088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5528" y="18470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7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618488" y="181965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75688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075688" y="2020824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endpoints into named sections with descriptions — like chapters in a book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115568" y="2359152"/>
            <a:ext cx="6858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15568" y="2359152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25296" y="2478024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225296" y="24780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048256" y="24505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05456" y="2386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@Operation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505456" y="265176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one endpoint: summary, description, operationId, deprecated, tags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554480" y="2990088"/>
            <a:ext cx="5943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554480" y="2990088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664208" y="310896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664208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2487168" y="308152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944368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 @RequestBody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944368" y="328269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path vars, query params, headers, and the request body with examples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984248" y="3621024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984248" y="3621024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093976" y="3739896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093976" y="3739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2916936" y="3712464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374136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@ApiResponses @ApiResponse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374136" y="3913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each response code with description and example JSON bodies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2423160" y="42519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2423160" y="4251960"/>
            <a:ext cx="54864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2532888" y="4370832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532888" y="4370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3355848" y="4343400"/>
            <a:ext cx="347472" cy="3474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813048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3813048" y="45445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model fields: type, format, min/max, allowableValues, readOnly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Annotation Hierarchy  •  Spring Boot API Mastery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@Operation &amp; @ApiResponses — Documenting Endpoints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04088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ANNOTATIONS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8631936" cy="365760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1115568"/>
            <a:ext cx="8412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@Operation(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 = "Register a new employee",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"""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Creates employee. Email must be unique.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**Business Rules:** Salary &gt; 0, dept must be valid.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**Side Effects:** Triggers onboarding email.""",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operationId = "createEmployee")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@ApiResponses({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@ApiResponse(responseCode="201", description="Created",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= @Content(schema = @Schema(implementation=Employee.class),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examples = @ExampleObject(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'{"id":42,"firstName":"Alice","salary":95000.00}')),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@ApiResponse(responseCode="409",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description="Email already exists"),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@ApiResponse(responseCode="400", description="Validation failed")})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ResponseEntity&lt;Employee&gt; create(@RequestBody Employee employee) { ... 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@Operation &amp; @ApiResponses  •  Spring Boot API Mastery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@Schema &amp; @Parameter — Documenting Models &amp; Params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41148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48" y="1152144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@Schema on Model Fields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" y="1481328"/>
            <a:ext cx="4114800" cy="310896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499616"/>
            <a:ext cx="39319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@Schema(description="System ID — do not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 in POST",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example="42",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accessMode=READ_ONLY)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Long id;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@Schema(description="Corporate email",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example="alice@techcorp.com",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format="email")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email;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@Schema(description="Annual salary USD",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minimum="0", exclusiveMinimum=true,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allowableValues={"Engineering",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"HR","Finance","Product"})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department;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097280"/>
            <a:ext cx="4315968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0016" y="1152144"/>
            <a:ext cx="4059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@Parameter on Controller Methods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481328"/>
            <a:ext cx="4315968" cy="310896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499616"/>
            <a:ext cx="413308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ResponseEntity&lt;List&lt;Employee&gt;&gt;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getAll(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@Parameter(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description="Filter by dept",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example="Engineering",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schema=@Schema(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allowableValues={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"Engineering","HR",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"Finance","Sales"}))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@RequestParam(required=false)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department,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@Parameter(description="Min salary",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required=true, example="50000")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@RequestParam BigDecimal minSalary) {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@Schema &amp; @Parameter  •  Spring Boot API Mastery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API Security in Swagger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SECURITY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97280"/>
            <a:ext cx="2788920" cy="35204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97280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0160" y="1207008"/>
            <a:ext cx="731520" cy="73152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1371600" y="129844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20116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232257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47472" y="2615184"/>
            <a:ext cx="2606040" cy="192024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3192" y="26517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.addSecuritySchemes("ApiKeyAuth",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SecurityScheme()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.type(Type.APIKEY)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.in(In.HEADER)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.name("X-API-Key"))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18688" y="1097280"/>
            <a:ext cx="2788920" cy="35204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18688" y="1097280"/>
            <a:ext cx="2788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42816" y="1207008"/>
            <a:ext cx="731520" cy="73152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4334256" y="129844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28416" y="20116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28416" y="232257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310128" y="2615184"/>
            <a:ext cx="2606040" cy="192024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55848" y="26517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.addSecuritySchemes("BearerAuth",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SecurityScheme()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.type(Type.HTTP)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.scheme("bearer")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.bearerFormat("JWT"))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181344" y="1097280"/>
            <a:ext cx="2788920" cy="35204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81344" y="109728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05472" y="1207008"/>
            <a:ext cx="731520" cy="7315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7296912" y="1298448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91072" y="20116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291072" y="232257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auth flow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272784" y="2615184"/>
            <a:ext cx="2606040" cy="192024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18504" y="26517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.addSecuritySchemes("OAuth2",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SecurityScheme()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.type(Type.OAUTH2)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.flows(new OAuthFlows()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.clientCredentials(flow)))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Security Documentation  •  Spring Boot API Mastery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Best Practices &amp; Common Mistakes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90372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BEST PRACTICES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F0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402336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384048" y="11612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0972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— Best Practices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4048" y="16276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160020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summaries that describe MEANING, not the URL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4048" y="20299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00253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response codes: 200, 400, 401, 404, 409, 500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4048" y="243230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" y="240487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@ExampleObject for every request body and response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84048" y="283464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" y="2807208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system fields READ_ONLY in @Schema (id, createdAt)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84048" y="323697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3232" y="320954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Tags globally with descriptions in OpenApiConfig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384048" y="363931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" y="36118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Swagger in production by default (use profiles)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384048" y="4041648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13232" y="401421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operationId — must be globally unique for code gen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4572000" y="1097280"/>
            <a:ext cx="4315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4572000" y="1097280"/>
            <a:ext cx="431596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>
            <a:alphaModFix amt="95000"/>
          </a:blip>
          <a:stretch>
            <a:fillRect/>
          </a:stretch>
        </p:blipFill>
        <p:spPr>
          <a:xfrm>
            <a:off x="4700016" y="1161288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29200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— Common Mistakes</a:t>
            </a:r>
            <a:endParaRPr lang="en-US" sz="13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4700016" y="1627632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02920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SpringFox — it's dead, incompatible with Spring Boot 3</a:t>
            </a:r>
            <a:endParaRPr lang="en-US" sz="10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4700016" y="2029968"/>
            <a:ext cx="237744" cy="23774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029200" y="2002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@ApiResponse for error codes — callers are left guessing</a:t>
            </a:r>
            <a:endParaRPr lang="en-US" sz="10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4700016" y="2432304"/>
            <a:ext cx="237744" cy="23774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029200" y="2404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@Schema(min) with validation — it's documentation only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4700016" y="2834640"/>
            <a:ext cx="237744" cy="237744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02920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READ_ONLY — consumers include id in POST requests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4700016" y="3236976"/>
            <a:ext cx="237744" cy="237744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029200" y="3209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Swagger enabled in production without auth protection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4700016" y="3639312"/>
            <a:ext cx="237744" cy="237744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502920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SpringFox and SpringDoc dependencies in the same project</a:t>
            </a:r>
            <a:endParaRPr lang="en-US" sz="100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4700016" y="4041648"/>
            <a:ext cx="237744" cy="237744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5029200" y="4014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operationId values across different endpoints</a:t>
            </a:r>
            <a:endParaRPr lang="en-US" sz="1000" dirty="0"/>
          </a:p>
        </p:txBody>
      </p:sp>
      <p:sp>
        <p:nvSpPr>
          <p:cNvPr id="43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44" name="Text 26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Best Practices  •  Spring Boot API Mastery</a:t>
            </a:r>
            <a:endParaRPr lang="en-US" sz="900" dirty="0"/>
          </a:p>
        </p:txBody>
      </p:sp>
      <p:sp>
        <p:nvSpPr>
          <p:cNvPr id="45" name="Text 27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914400"/>
            <a:ext cx="5486400" cy="5486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1371600"/>
            <a:ext cx="3291840" cy="329184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2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3474720" y="45720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371600" y="3200400"/>
            <a:ext cx="731520" cy="7315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132320" y="2560320"/>
            <a:ext cx="731520" cy="731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7200" y="17830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WebSocket</a:t>
            </a:r>
            <a:endParaRPr lang="en-US" sz="6400" dirty="0"/>
          </a:p>
        </p:txBody>
      </p:sp>
      <p:sp>
        <p:nvSpPr>
          <p:cNvPr id="11" name="Text 6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STOMP Messaging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457200" y="3703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 •  Real-time  •  Pub-Sub  •  Production-Ready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Mastery  •  Professional Training Series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WebSocket — A Critical Comparison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04088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WEBSOCKET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97280"/>
            <a:ext cx="4114800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384048" y="1207008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" y="109728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(Request-Response)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56032" y="237744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7472" y="23774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810512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(Half-duplex)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6032" y="2724912"/>
            <a:ext cx="4114800" cy="329184"/>
          </a:xfrm>
          <a:prstGeom prst="rect">
            <a:avLst/>
          </a:prstGeom>
          <a:solidFill>
            <a:srgbClr val="EBF3FC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27249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810512" y="27249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 per request, then closes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56032" y="3072384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810512" y="30723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ALWAYS initiates — server cannot push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032" y="3419856"/>
            <a:ext cx="4114800" cy="329184"/>
          </a:xfrm>
          <a:prstGeom prst="rect">
            <a:avLst/>
          </a:prstGeom>
          <a:solidFill>
            <a:srgbClr val="EBF3FC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810512" y="34198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HTTP headers on every request (expensive)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6032" y="376732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" y="37673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Real-time?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810512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via polling (wasteful, laggy)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56032" y="4114800"/>
            <a:ext cx="4114800" cy="329184"/>
          </a:xfrm>
          <a:prstGeom prst="rect">
            <a:avLst/>
          </a:prstGeom>
          <a:solidFill>
            <a:srgbClr val="EBF3FC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" y="4114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810512" y="4114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web pages, form submissions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187952" y="2286000"/>
            <a:ext cx="768096" cy="768096"/>
          </a:xfrm>
          <a:prstGeom prst="ellipse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87952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773168" y="1097280"/>
            <a:ext cx="41148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901184" y="1207008"/>
            <a:ext cx="475488" cy="4754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468112" y="109728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(Full-Duplex)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4773168" y="237744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64608" y="23774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327648" y="23774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bidirectional (RFC 6455)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773168" y="2724912"/>
            <a:ext cx="4114800" cy="329184"/>
          </a:xfrm>
          <a:prstGeom prst="rect">
            <a:avLst/>
          </a:prstGeom>
          <a:solidFill>
            <a:srgbClr val="F3EE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864608" y="27249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327648" y="27249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persistent TCP connection stays open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773168" y="3072384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64608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327648" y="30723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can send at any time, independently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773168" y="3419856"/>
            <a:ext cx="4114800" cy="329184"/>
          </a:xfrm>
          <a:prstGeom prst="rect">
            <a:avLst/>
          </a:prstGeom>
          <a:solidFill>
            <a:srgbClr val="F3EE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864608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327648" y="34198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frame headers after initial handshake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4773168" y="376732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864608" y="37673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Real-time?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327648" y="37673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server pushes instantly, no polling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773168" y="4114800"/>
            <a:ext cx="4114800" cy="329184"/>
          </a:xfrm>
          <a:prstGeom prst="rect">
            <a:avLst/>
          </a:prstGeom>
          <a:solidFill>
            <a:srgbClr val="F3EEFF"/>
          </a:solidFill>
          <a:ln w="12700">
            <a:solidFill>
              <a:srgbClr val="DDD0F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864608" y="4114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6327648" y="411480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dashboards, chat, gaming, trading, IoT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HTTP vs WebSocket  •  Spring Boot API Mastery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WebSocket Handshake — Protocol Details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PROTOCOL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402336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402336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Client HTTP Upgrade Request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26464"/>
            <a:ext cx="4023360" cy="1517904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444752"/>
            <a:ext cx="38770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/ws/vitals HTTP/1.1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hospital.techcorp.com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Upgrade: websocket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Connection: Upgrade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Sec-WebSocket-Key: dGhlIHNhbXBsZQ==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Sec-WebSocket-Version: 13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70832" y="2029968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572000" y="1901952"/>
            <a:ext cx="347472" cy="3474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10912" y="1097280"/>
            <a:ext cx="3877056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10912" y="1097280"/>
            <a:ext cx="3877056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1097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Server 101 Switching Protocols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10912" y="1426464"/>
            <a:ext cx="3877056" cy="1517904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84064" y="1444752"/>
            <a:ext cx="3730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HTTP/1.1 101 Switching Protocols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Upgrade: websocket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Connection: Upgrade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Sec-WebSocket-Accept: s3pPLMBiTxaQ...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6032" y="3072384"/>
            <a:ext cx="8631936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6032" y="3072384"/>
            <a:ext cx="863193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0723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Protocol Switched → WebSocket Frames Flow Freely (Both Directions)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6032" y="3401568"/>
            <a:ext cx="8631936" cy="137160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3419856"/>
            <a:ext cx="84490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◄─────────── WS Frame: {"heartRate":72, "type":"VITAL_UPDATE"}  ─────────── Server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──────────── WS Frame: {"command":"alarm_off", "patientId":"PT-001"}  ─────► Server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◄─────────── WS Frame: {"alert":"O2 dropping!", "severity":"CRITICAL"} ─── Server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◄─────────── WS Frame: {"heartRate":68}  ───────────────────────────────── Server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Hours later — SAME TCP connection still open — no new handshake needed ]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WebSocket Handshake  •  Spring Boot API Mastery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772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WebSocket: Three Levels of Abstraction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85800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ARCHITECTURE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115568"/>
            <a:ext cx="863193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115568"/>
            <a:ext cx="54864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1335024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3350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207008" y="1371600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10512" y="1170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WebSocket Handler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810512" y="149961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WebSocketHandler interface. Full control over message format and routing. You manage sessions, broadcasting, and connection lifecycle. Good for simple scenarios.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73952" y="1207008"/>
            <a:ext cx="2304288" cy="987552"/>
          </a:xfrm>
          <a:prstGeom prst="rect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47104" y="12070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47104" y="14264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echo, minimal use case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547104" y="17007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547104" y="186537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TextWebSocketHandler • @EnableWebSocket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256032" y="2414016"/>
            <a:ext cx="863193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414016"/>
            <a:ext cx="54864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4048" y="2633472"/>
            <a:ext cx="713232" cy="71323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4048" y="2633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207008" y="2670048"/>
            <a:ext cx="493776" cy="4937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10512" y="2468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SockJS Fallback Layer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810512" y="279806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transport fallback when WebSocket is blocked by firewalls. Auto-negotiates: WebSocket → HTTP Streaming → Long Polling. Same JavaScript API throughout.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73952" y="2505456"/>
            <a:ext cx="2304288" cy="987552"/>
          </a:xfrm>
          <a:prstGeom prst="rect">
            <a:avLst/>
          </a:prstGeom>
          <a:solidFill>
            <a:srgbClr val="0369A1">
              <a:alpha val="1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47104" y="25054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547104" y="27249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production app (corporate users)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547104" y="29992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API: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547104" y="316382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.withSockJS() • SockJS client library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256032" y="3712464"/>
            <a:ext cx="863193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56032" y="3712464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84048" y="393192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84048" y="39319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1207008" y="3968496"/>
            <a:ext cx="493776" cy="49377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810512" y="37673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over WebSocket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810512" y="409651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messaging protocol: destinations, subscriptions, broker routing. @MessageMapping methods handle incoming. SimpMessagingTemplate sends from anywhere. Both simple and external brokers supported.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473952" y="3803904"/>
            <a:ext cx="2304288" cy="98755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547104" y="380390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547104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live dashboards, collaborative tools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6547104" y="429768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API: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547104" y="44622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@EnableWebSocketMessageBroker • STOMP broker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Spring WebSocket Architecture  •  Spring Boot API Mastery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772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— Messaging Protocol Over WebSocket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40664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STOMP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97280"/>
            <a:ext cx="4114800" cy="35478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152144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STOMP Frame (anatomy)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" y="1481328"/>
            <a:ext cx="4114800" cy="3145536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499616"/>
            <a:ext cx="393192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id:sub-001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destination:/topic/vitals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^@   ← null byte (terminator)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subscription:sub-001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destination:/topic/vitals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content-type:application/json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{"heartRate":78,"o2":99}^@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1097280"/>
            <a:ext cx="4315968" cy="354787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0016" y="1152144"/>
            <a:ext cx="4059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Destination Prefixes in Spring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0016" y="1536192"/>
            <a:ext cx="4059936" cy="749808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0016" y="1536192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9744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/app/...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9744" y="1847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 Handler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09744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routed to @MessageMapping methods.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to: /app/chat → @MessageMapping("/chat")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00016" y="2395728"/>
            <a:ext cx="4059936" cy="749808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0016" y="2395728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9744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/topic/...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09744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(Pub-Sub)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09744" y="2889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sender → ALL subscribers.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/topic/vitals-all → every connected watcher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255264"/>
            <a:ext cx="4059936" cy="749808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0016" y="3255264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9744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/queue/...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9744" y="3566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09744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sender → ONE specific recipient.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/queue/notifications → private queue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700016" y="4114800"/>
            <a:ext cx="4059936" cy="749808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0016" y="4114800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9744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/user/...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09744" y="4425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Routing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09744" y="4608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specific authenticated user.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resolves which session to target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STOMP Protocol  •  Spring Boot API Mastery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STOMP Configuration — The Key File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530352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48" y="1152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StompWebSocketConfig.java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" y="1444752"/>
            <a:ext cx="5303520" cy="3273552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463040"/>
            <a:ext cx="51572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@EnableWebSocketMessageBroker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StompConfig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WebSocketMessageBrokerConfigurer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configureMessageBroker(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MessageBrokerRegistry registry)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registry.enableSimpleBroker("/topic","/queue");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/topic → broadcast  /queue → point-to-point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registry.setApplicationDestinationPrefixes("/app");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/app/... → @MessageMapping methods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registry.setUserDestinationPrefix("/user");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/user/alice/queue/alerts → Alice only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registerStompEndpoints(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StompEndpointRegistry registry)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registry.addEndpoint("/ws")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.setAllowedOriginPatterns("*")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.withSockJS(); // SockJS fallback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42432" y="1097280"/>
            <a:ext cx="31455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42432" y="1097280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1133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@EnableWebSocketMessageBroker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70448" y="1444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the full STOMP infrastructure — broker, channels, adapters, and SimpMessagingTemplate bean. Nothing works without this.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42432" y="2011680"/>
            <a:ext cx="31455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42432" y="2011680"/>
            <a:ext cx="54864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enableSimpleBroker()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70448" y="23591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broker. Perfect for dev and single-server prod. For multi-server: use enableStompBrokerRelay() + RabbitMQ.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42432" y="2926080"/>
            <a:ext cx="31455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42432" y="2926080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setApplicationDestinationPrefixes()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70448" y="32735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SEND to /app/... is stripped and routed to @MessageMapping. Without this prefix, all messages go directly to the broker.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42432" y="3840480"/>
            <a:ext cx="31455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42432" y="384048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70448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withSockJS()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70448" y="41879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production. Enables auto-fallback when WebSocket is blocked. Negotiates best available transport transparently.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STOMP Configuration  •  Spring Boot API Mastery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@MessageMapping &amp; SimpMessagingTemplate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22376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MESSAGING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097280"/>
            <a:ext cx="4133088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15214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Receiving Messages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1444752"/>
            <a:ext cx="4133088" cy="329184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1463040"/>
            <a:ext cx="39867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@Controller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VitalSignsController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@MessageMapping("/vitals/update")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@SendTo("/topic/vitals-all")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Client SEND /app/vitals/update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→ broadcast to ALL subscribers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VitalResponse handleUpdate(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@Payload VitalRequest req)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service.process(req);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@MessageMapping("/vitals/mine")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@SendToUser("/queue/my-vitals")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Response goes to SENDER only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PatientList getMyPatients(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Principal principal)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service.forDoctor(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principal.getName());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@MessageExceptionHandler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@SendToUser("/queue/errors")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ErrorResponse onError(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Throwable ex)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ErrorResponse(ex);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0" y="1097280"/>
            <a:ext cx="4315968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0016" y="115214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Pushing from Anywhere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444752"/>
            <a:ext cx="4315968" cy="3291840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1463040"/>
            <a:ext cx="416966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VitalSignsService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Spring auto-injects this bean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@Autowired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SimpMessagingTemplate messaging;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@Scheduled(fixedRate = 2000)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broadcastVitals()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VitalResponse v = getLatest();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ALL subscribers of topic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messaging.convertAndSend(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"/topic/vitals-all", v);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Specific ward channel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messaging.convertAndSend(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"/topic/vitals/" + wardId, v);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alertDoctor(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username, Alert a)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ONE user's private queue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messaging.convertAndSendToUser(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username,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"/queue/emergency-alerts", a);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@MessageMapping &amp; SimpMessagingTemplate  •  Spring Boot API Mastery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— External Broker &amp; Scaling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949440" y="347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347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PRODUCTION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" y="1115568"/>
            <a:ext cx="42062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115568"/>
            <a:ext cx="420624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384048" y="1207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111556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Broker (Dev / Single Server)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0624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20624" y="193852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— zero configuration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20624" y="225856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possible throughput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420624" y="2578608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44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20624" y="289864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development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420624" y="3236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420624" y="351129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6656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on server restart — no persistence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420624" y="3822192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6656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only — no horizontal scaling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420624" y="413308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76656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 queuing or replay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4663440" y="1115568"/>
            <a:ext cx="42062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4663440" y="1115568"/>
            <a:ext cx="420624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>
            <a:alphaModFix amt="90000"/>
          </a:blip>
          <a:stretch>
            <a:fillRect/>
          </a:stretch>
        </p:blipFill>
        <p:spPr>
          <a:xfrm>
            <a:off x="4791456" y="1207008"/>
            <a:ext cx="292608" cy="29260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75504" y="111556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Broker Relay (Production)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4828032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4828032" y="193852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1023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Multi-server: all instances share broker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4828032" y="2258568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102352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persistence across restarts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4828032" y="2578608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102352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queuing with delivery guarantees</a:t>
            </a:r>
            <a:endParaRPr lang="en-US" sz="9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4828032" y="2898648"/>
            <a:ext cx="201168" cy="20116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10235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/ ActiveMQ / Artemis</a:t>
            </a:r>
            <a:endParaRPr lang="en-US" sz="950" dirty="0"/>
          </a:p>
        </p:txBody>
      </p:sp>
      <p:sp>
        <p:nvSpPr>
          <p:cNvPr id="41" name="Text 25"/>
          <p:cNvSpPr/>
          <p:nvPr/>
        </p:nvSpPr>
        <p:spPr>
          <a:xfrm>
            <a:off x="4828032" y="3236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0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4828032" y="3511296"/>
            <a:ext cx="182880" cy="18288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084064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external broker process</a:t>
            </a:r>
            <a:endParaRPr lang="en-US" sz="90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4828032" y="3822192"/>
            <a:ext cx="182880" cy="18288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5084064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hop adds small latency</a:t>
            </a:r>
            <a:endParaRPr lang="en-US" sz="90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4828032" y="4133088"/>
            <a:ext cx="182880" cy="18288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5084064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 increases</a:t>
            </a:r>
            <a:endParaRPr lang="en-US" sz="900" dirty="0"/>
          </a:p>
        </p:txBody>
      </p:sp>
      <p:sp>
        <p:nvSpPr>
          <p:cNvPr id="48" name="Shape 29"/>
          <p:cNvSpPr/>
          <p:nvPr/>
        </p:nvSpPr>
        <p:spPr>
          <a:xfrm>
            <a:off x="4663440" y="4005072"/>
            <a:ext cx="4206240" cy="658368"/>
          </a:xfrm>
          <a:prstGeom prst="rect">
            <a:avLst/>
          </a:prstGeom>
          <a:solidFill>
            <a:srgbClr val="060C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30"/>
          <p:cNvSpPr/>
          <p:nvPr/>
        </p:nvSpPr>
        <p:spPr>
          <a:xfrm>
            <a:off x="4736592" y="4014216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registry.enableStompBrokerRelay("/topic","/queue")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.setRelayHost("rabbitmq").setRelayPort(61613)</a:t>
            </a:r>
            <a:endParaRPr lang="en-US" sz="800" dirty="0"/>
          </a:p>
        </p:txBody>
      </p:sp>
      <p:sp>
        <p:nvSpPr>
          <p:cNvPr id="50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51" name="Text 32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Production Architecture  •  Spring Boot API Mastery</a:t>
            </a:r>
            <a:endParaRPr lang="en-US" sz="900" dirty="0"/>
          </a:p>
        </p:txBody>
      </p:sp>
      <p:sp>
        <p:nvSpPr>
          <p:cNvPr id="52" name="Text 33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772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Technology Stack — Everything Connected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256032" y="1078992"/>
            <a:ext cx="4023360" cy="3749040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78992"/>
            <a:ext cx="402336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384048" y="11430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07899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STACK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47472" y="1536192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7472" y="1536192"/>
            <a:ext cx="4572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" y="15544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75488" y="173736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springdoc-openapi-starter-webmvc-ui:2.3.0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47472" y="2011680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" y="2011680"/>
            <a:ext cx="457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" y="20299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@OpenAPIDefinition / @Bean OpenAPI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5488" y="22128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version, servers, security schemes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47472" y="2487168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7472" y="2487168"/>
            <a:ext cx="4572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" y="250545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 on Controller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488" y="268833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endpoints into named sections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47472" y="2962656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47472" y="2962656"/>
            <a:ext cx="457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" y="2980944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@Operation on Method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5488" y="316382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description, operationId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47472" y="3438144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7472" y="3438144"/>
            <a:ext cx="4572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" y="3456432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on Arguments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488" y="363931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vars, query params with examples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47472" y="3913632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7472" y="3913632"/>
            <a:ext cx="457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5488" y="393192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@ApiResponses on Method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75488" y="411480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status code with example JSON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47472" y="4389120"/>
            <a:ext cx="382219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47472" y="4389120"/>
            <a:ext cx="4572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5488" y="440740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 on Model Fields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75488" y="459028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format, min/max, readOnly, allowable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4590288" y="1078992"/>
            <a:ext cx="4297680" cy="3749040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590288" y="1078992"/>
            <a:ext cx="4297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718304" y="1143000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84064" y="107899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 STACK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4681728" y="1536192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681728" y="1536192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809744" y="15544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4809744" y="173736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spring-boot-starter-websocket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4681728" y="2011680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681728" y="2011680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09744" y="20299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@EnableWebSocketMessageBroker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4809744" y="221284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full STOMP infrastructure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4681728" y="2487168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681728" y="2487168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809744" y="250545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enableSimpleBroker / BrokerRelay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4809744" y="268833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(dev) or RabbitMQ (prod)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4681728" y="2962656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681728" y="2962656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809744" y="29809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@MessageMapping on Method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4809744" y="316382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/app/... STOMP SEND frames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4681728" y="3438144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4681728" y="3438144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809744" y="345643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@SendTo / @SendToUser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4809744" y="363931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or private response routing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81728" y="3913632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4681728" y="391363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4809744" y="39319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SimpMessagingTemplate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4809744" y="41148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from @Scheduled, services, events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4681728" y="4389120"/>
            <a:ext cx="4096512" cy="402336"/>
          </a:xfrm>
          <a:prstGeom prst="rect">
            <a:avLst/>
          </a:prstGeom>
          <a:solidFill>
            <a:srgbClr val="142B52"/>
          </a:solidFill>
          <a:ln w="12700">
            <a:solidFill>
              <a:srgbClr val="142B52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4681728" y="4389120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4809744" y="440740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SessionConnected/DisconnectEvent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4809744" y="459028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lifecycle, session tracking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Mastery  •  Professional Training Series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914400"/>
            <a:ext cx="6400800" cy="6400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57200"/>
            <a:ext cx="4114800" cy="4114800"/>
          </a:xfrm>
          <a:prstGeom prst="ellipse">
            <a:avLst/>
          </a:prstGeom>
          <a:solidFill>
            <a:srgbClr val="0EA5E9">
              <a:alpha val="7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743200"/>
            <a:ext cx="2286000" cy="228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complete mastery of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&amp; WebSocket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2395728" cy="1682496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83080" y="2724912"/>
            <a:ext cx="658368" cy="6583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856232" y="2798064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4381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74904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• SpringDoc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• Examples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547872" y="2633472"/>
            <a:ext cx="2395728" cy="1682496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2724912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4489704" y="2798064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9312" y="34381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39312" y="374904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• SockJS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• Raw Handler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81344" y="2633472"/>
            <a:ext cx="2395728" cy="1682496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50024" y="2724912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123176" y="2798064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72784" y="34381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Messaging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72784" y="374904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• @MessageMapping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• User Routing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build something real-time and production-ready.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4855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Mastery  •  Professional Training Series  •  © 2024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72400" y="4855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API Mastery: Swagger UI &amp; WebSocket</dc:title>
  <dc:subject>PptxGenJS Presentation</dc:subject>
  <dc:creator>Senior Java Architect</dc:creator>
  <cp:lastModifiedBy>Senior Java Architect</cp:lastModifiedBy>
  <cp:revision>1</cp:revision>
  <dcterms:created xsi:type="dcterms:W3CDTF">2026-02-26T05:22:54Z</dcterms:created>
  <dcterms:modified xsi:type="dcterms:W3CDTF">2026-02-26T05:22:54Z</dcterms:modified>
</cp:coreProperties>
</file>