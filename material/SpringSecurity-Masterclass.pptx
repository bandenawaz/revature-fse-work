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861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801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916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031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2743200" cy="2743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592" y="3429000"/>
            <a:ext cx="320040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64592" y="3429000"/>
            <a:ext cx="45720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9456" y="34290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12064" y="3429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64592" y="3694176"/>
            <a:ext cx="320040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64592" y="3694176"/>
            <a:ext cx="45720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19456" y="36941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</a:rPr>
              <a:t>02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12064" y="36941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64592" y="3959352"/>
            <a:ext cx="320040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64592" y="3959352"/>
            <a:ext cx="4572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19456" y="3959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03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12064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64592" y="4224528"/>
            <a:ext cx="320040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64592" y="4224528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19456" y="4224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04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12064" y="4224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Auth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64592" y="4489704"/>
            <a:ext cx="320040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64592" y="4489704"/>
            <a:ext cx="4572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19456" y="44897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05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12064" y="44897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64592" y="4754880"/>
            <a:ext cx="320040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64592" y="4754880"/>
            <a:ext cx="45720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19456" y="4754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06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12064" y="4754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56616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5200" dirty="0"/>
          </a:p>
        </p:txBody>
      </p:sp>
      <p:sp>
        <p:nvSpPr>
          <p:cNvPr id="37" name="Text 34"/>
          <p:cNvSpPr/>
          <p:nvPr/>
        </p:nvSpPr>
        <p:spPr>
          <a:xfrm>
            <a:off x="3566160" y="12070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5200" dirty="0"/>
          </a:p>
        </p:txBody>
      </p:sp>
      <p:sp>
        <p:nvSpPr>
          <p:cNvPr id="38" name="Text 35"/>
          <p:cNvSpPr/>
          <p:nvPr/>
        </p:nvSpPr>
        <p:spPr>
          <a:xfrm>
            <a:off x="3566160" y="20299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3566160" y="2523744"/>
            <a:ext cx="53035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566160" y="269748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730752" y="2651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 · theory + working code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3566160" y="313639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730752" y="3090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Spring Security 6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3566160" y="35753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730752" y="35295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MySQL, @PreAuthorize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3566160" y="401421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730752" y="39684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project: SecureTask API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Masterclass  ·  Complete 6-Module Tutorial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— 6 Modules to Job-Ready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761488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2761488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89611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533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3167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4048" y="179222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vs AuthZ · Filter Chain · Core Architecture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63824" y="896112"/>
            <a:ext cx="2761488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63824" y="896112"/>
            <a:ext cx="2761488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63824" y="89611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02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5331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0752" y="13167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291840" y="179222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SecurityFilterChain · BCrypt · Permit Rules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71616" y="896112"/>
            <a:ext cx="2761488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71616" y="896112"/>
            <a:ext cx="2761488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071616" y="89611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03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35331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38544" y="13167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199632" y="179222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@PreAuthorize · Method Security · SpEL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56032" y="2907792"/>
            <a:ext cx="2761488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256032" y="2907792"/>
            <a:ext cx="276148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256032" y="290779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04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36499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2960" y="3328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Auth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384048" y="380390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· Custom UserDetailsService · Account Status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63824" y="2907792"/>
            <a:ext cx="2761488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163824" y="2907792"/>
            <a:ext cx="2761488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163824" y="290779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05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364992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30752" y="3328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3291840" y="380390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Structure · JwtAuthFilter · Stateless APIs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071616" y="2907792"/>
            <a:ext cx="2761488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071616" y="2907792"/>
            <a:ext cx="2761488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071616" y="290779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06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364992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38544" y="3328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6199632" y="380390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· CORS · OAuth2 · Production Checklist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Authentication vs Authorization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4224528" cy="3794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45720" cy="3794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6187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24358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20624" y="181051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are you?"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" y="2121408"/>
            <a:ext cx="3895344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0624" y="2194560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identity of a user — confirming that someone is who they claim to be before granting any access to the system.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0624" y="29443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0624" y="316382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 with username + password. The system checks your identity.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" y="3639312"/>
            <a:ext cx="3895344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0624" y="3639312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Unauthorized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Identity not yet proven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0016" y="1143000"/>
            <a:ext cx="4224528" cy="379476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00016" y="1143000"/>
            <a:ext cx="45720" cy="3794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261872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49824" y="124358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864608" y="181051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can you do?"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64608" y="2121408"/>
            <a:ext cx="3895344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864608" y="2194560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an authenticated user is permitted to access, modify, or perform — their level of privilege in the system.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64608" y="29443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864608" y="316382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all users. Regular user sees only their own profile.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864608" y="3639312"/>
            <a:ext cx="3895344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864608" y="3639312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 Forbidden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Insufficient permissions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251960" y="2670048"/>
            <a:ext cx="640080" cy="640080"/>
          </a:xfrm>
          <a:prstGeom prst="ellipse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251960" y="2670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49E"/>
                </a:solidFill>
              </a:rPr>
              <a:t>VS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256032" y="4617720"/>
            <a:ext cx="8631936" cy="347472"/>
          </a:xfrm>
          <a:prstGeom prst="rect">
            <a:avLst/>
          </a:prstGeom>
          <a:solidFill>
            <a:srgbClr val="091520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347472" y="461772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 Always authenticate first, then authorize. You cannot grant permissions to someone whose identity is unknown.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The Security Filter Chain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9344" y="90220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HTTP request passes through a chain of filters before reaching your @RestController.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5303520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54864" cy="4480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25603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" y="120700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42432" y="1170432"/>
            <a:ext cx="3145536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33872" y="1207008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from browser or API client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07208" y="1618488"/>
            <a:ext cx="4572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1709928"/>
            <a:ext cx="5303520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1709928"/>
            <a:ext cx="54864" cy="4480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1801368"/>
            <a:ext cx="256032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" y="174650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SecurityContextPersistenceFilter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42432" y="1709928"/>
            <a:ext cx="3145536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33872" y="1746504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existing auth state (if session exists)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07208" y="2157984"/>
            <a:ext cx="4572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2249424"/>
            <a:ext cx="5303520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2249424"/>
            <a:ext cx="54864" cy="448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2340864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" y="228600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UsernamePasswordAuthenticationFilter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42432" y="2249424"/>
            <a:ext cx="3145536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33872" y="228600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login form submissions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07208" y="2697480"/>
            <a:ext cx="457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6032" y="2788920"/>
            <a:ext cx="5303520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2788920"/>
            <a:ext cx="54864" cy="4480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" y="2880360"/>
            <a:ext cx="2560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" y="282549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BearerTokenAuthenticationFilter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2788920"/>
            <a:ext cx="3145536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33872" y="2825496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JWT tokens on each request (custom)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07208" y="3236976"/>
            <a:ext cx="457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032" y="3328416"/>
            <a:ext cx="5303520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6032" y="3328416"/>
            <a:ext cx="54864" cy="448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7472" y="3419856"/>
            <a:ext cx="2560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747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4944" y="336499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ExceptionTranslationFilter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742432" y="3328416"/>
            <a:ext cx="3145536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33872" y="3364992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auth exceptions → 401 / 403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07208" y="3776472"/>
            <a:ext cx="457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56032" y="3867912"/>
            <a:ext cx="5303520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6032" y="3867912"/>
            <a:ext cx="54864" cy="4480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47472" y="3959352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7472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4944" y="390448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AuthorizationFilter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742432" y="3867912"/>
            <a:ext cx="3145536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833872" y="3904488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roles &amp; permissions. Final gate.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07208" y="4315968"/>
            <a:ext cx="4572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56032" y="4407408"/>
            <a:ext cx="5303520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56032" y="4407408"/>
            <a:ext cx="54864" cy="4480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47472" y="4498848"/>
            <a:ext cx="25603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7472" y="4498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94944" y="444398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742432" y="4407408"/>
            <a:ext cx="3145536" cy="4480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833872" y="4443984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executes here — you're in!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56032" y="4892040"/>
            <a:ext cx="8631936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47472" y="4901184"/>
            <a:ext cx="8449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filter rejects the request, the chain stops immediately — your controller never runs.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SecurityFilterChain &amp; BCrypt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AUTHENTICATION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5120640" cy="3822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51206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19786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19786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" y="119786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362456"/>
            <a:ext cx="486460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SecurityFilterChain filterChain(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HttpSecurity http) throws Exception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REST APIs use JWT in headers — no CSRF needed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.csrf(csrf -&gt; csrf.disable())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.authorizeHttpRequests(auth -&gt; auth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① Public — no token required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.requestMatchers("/api/auth/**").permitAll()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② Role guard — URL level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.requestMatchers("/api/admin/**").hasRole("ADMIN")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③ Deny by default — everything else needs auth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.anyRequest().authenticated()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.sessionManagement(sess -&gt; sess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.sessionCreationPolicy(STATELESS));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http.build();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PasswordEncoder passwordEncoder()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Work factor 10 ≈ 200ms/hash — safe default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BCryptPasswordEncoder();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59552" y="1143000"/>
            <a:ext cx="3328416" cy="1170432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59552" y="1143000"/>
            <a:ext cx="45720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261872"/>
            <a:ext cx="347472" cy="3474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126480" y="12435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0" y="1682496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anyRequest().authenticated() is your safety net. New endpoints you forget to configure are protected automatically.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59552" y="2423160"/>
            <a:ext cx="3328416" cy="1170432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559552" y="2423160"/>
            <a:ext cx="4572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542032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126480" y="252374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Match Top-to-Bottom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669280" y="2962656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wins. Put specific patterns before .anyRequest() or they'll never be reached — a silent bug.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559552" y="3703320"/>
            <a:ext cx="3328416" cy="1170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559552" y="3703320"/>
            <a:ext cx="45720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822192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26480" y="380390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Slow by Design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669280" y="4242816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 to hash means brute-forcing 1M passwords takes 55 hours. Imperceptible for real logins.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559552" y="3840480"/>
            <a:ext cx="3328416" cy="1042416"/>
          </a:xfrm>
          <a:prstGeom prst="rect">
            <a:avLst/>
          </a:prstGeom>
          <a:solidFill>
            <a:srgbClr val="21262D"/>
          </a:solidFill>
          <a:ln w="1270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559552" y="3840480"/>
            <a:ext cx="45720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5650992" y="387705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(same password, different salt every time):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650992" y="413308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$2a$10$N9qo8uLOickgx2ZMRZoMye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iKSaOGTzT4O3....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650992" y="453542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· Never reversible · Salt built-in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— Roles, Authorities &amp; @PreAuthorize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METHOD SECURITY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4160520" cy="199339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45720" cy="19933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216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vs Authorities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627632"/>
            <a:ext cx="3950208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16824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hasRole("ADMIN")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16824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checks "ROLE_ADMIN"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103120"/>
            <a:ext cx="3950208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21579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hasAuthority("ROLE_ADMIN")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2157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exact string match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578608"/>
            <a:ext cx="3950208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.roles("ADMIN")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26334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stores "ROLE_ADMIN"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246120"/>
            <a:ext cx="416052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246120"/>
            <a:ext cx="4572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55848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86384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84048" y="3749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on your @SpringBootApplication class. Without it, @PreAuthorize annotations are silently ignored — the app compiles fine but has zero method-level security.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84048" y="4443984"/>
            <a:ext cx="374904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84048" y="444398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@EnableMethodSecurity  ← Add to main class!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26864" y="1143000"/>
            <a:ext cx="4261104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26864" y="1143000"/>
            <a:ext cx="4261104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718304" y="119786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73752" y="119786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29200" y="119786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54880" y="1362456"/>
            <a:ext cx="400507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Simple role check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@PreAuthorize("hasRole('ADMIN')")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deleteUser(Long id) { ...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logic — either role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@PreAuthorize("hasRole('ADMIN') or hasRole('MGR')")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approveOrder(Long id) { ...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Match method param to logged-in user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authentication.principal comes from SecurityContext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"#username == authentication.principal.username")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updateProfile(String username) { ...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Owner OR admin — the IDOR protection pattern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"#owner == authentication.principal.username " +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 hasRole('ADMIN')")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Task getTask(Long id, String owner) { ...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@PostAuthorize — runs AFTER the method returns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@PostAuthorize(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"returnObject.owner == authentication.name")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Document fetchDoc(Long id) { ... }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— Database Authentication with JPA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AUTHENTICATION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1353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45720" cy="9692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117957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" y="1746504"/>
            <a:ext cx="1243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17647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9344" y="1627632"/>
            <a:ext cx="10972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82496" y="1581912"/>
            <a:ext cx="54864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19072" y="1143000"/>
            <a:ext cx="1353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19072" y="1143000"/>
            <a:ext cx="45720" cy="9692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73936" y="117957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73936" y="1746504"/>
            <a:ext cx="1243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73936" y="17647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72384" y="1627632"/>
            <a:ext cx="10972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45536" y="1581912"/>
            <a:ext cx="54864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82112" y="1143000"/>
            <a:ext cx="1353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82112" y="1143000"/>
            <a:ext cx="45720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36976" y="117957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36976" y="1746504"/>
            <a:ext cx="1243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36976" y="17647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DB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35424" y="1627632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08576" y="1581912"/>
            <a:ext cx="5486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45152" y="1143000"/>
            <a:ext cx="1353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45152" y="1143000"/>
            <a:ext cx="45720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0016" y="117957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JPA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0016" y="1746504"/>
            <a:ext cx="1243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0016" y="17647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98464" y="1627632"/>
            <a:ext cx="109728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71616" y="1581912"/>
            <a:ext cx="54864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08192" y="1143000"/>
            <a:ext cx="1353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08192" y="1143000"/>
            <a:ext cx="45720" cy="9692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63056" y="117957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.matches()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63056" y="1746504"/>
            <a:ext cx="1243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63056" y="17647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hash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61504" y="1627632"/>
            <a:ext cx="109728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534656" y="1581912"/>
            <a:ext cx="54864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571232" y="1143000"/>
            <a:ext cx="1353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571232" y="1143000"/>
            <a:ext cx="45720" cy="9692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26096" y="117957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626096" y="1746504"/>
            <a:ext cx="1243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626096" y="17647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returned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56032" y="2286000"/>
            <a:ext cx="4937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56032" y="2286000"/>
            <a:ext cx="45720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02336" y="2359152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Flags Spring Security Checks Automatically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47472" y="2834640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5488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isEnabled()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395728" y="2834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DisabledException  (account banned/deactivated)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3310128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isAccountNonLocked()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395728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LockedException  (too many attempts, admin lock)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7472" y="3785616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5488" y="3785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isAccountNonExpired()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395728" y="37856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AccountExpiredException  (trial ended)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47472" y="4261104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5488" y="4261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isCredentialsNonExpired()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395728" y="42611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CredentialsExpiredException  (must reset password)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94960" y="2286000"/>
            <a:ext cx="3493008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394960" y="2286000"/>
            <a:ext cx="3493008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486400" y="234086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641848" y="234086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797296" y="234086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522976" y="2505456"/>
            <a:ext cx="323697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UserDetailsServiceImpl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UserDetailsService {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UserDetails loadUserByUsername(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username) {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u = userRepo.findByUsername(username)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.orElseThrow(() -&gt;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Generic msg — never reveal which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field was wrong (username or password)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UsernameNotFoundException(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"Bad credentials"));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User.builder()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.username(u.getUsername())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.password(u.getPassword()) // BCrypt hash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.authorities(u.getRole())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.disabled(!u.isEnabled())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.accountLocked(!u.isNonLocked())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.build();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— JWT Structure Deep Dive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STATELESS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93976" y="914400"/>
            <a:ext cx="62118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Web Token is three Base64-encoded sections separated by dots  (header.payload.signature):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22860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HEADER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362456"/>
            <a:ext cx="2286000" cy="0"/>
          </a:xfrm>
          <a:prstGeom prst="line">
            <a:avLst/>
          </a:prstGeom>
          <a:noFill/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137160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eyJhbGciOiJIUzI1NiJ9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42032" y="114300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949E"/>
                </a:solidFill>
              </a:rPr>
              <a:t>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743200" y="1143000"/>
            <a:ext cx="347472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07208" y="114300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PAYLOAD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1362456"/>
            <a:ext cx="347472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16352" y="1371600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eyJzdWIiOiJhbGljZSIsInJvbGUiOiJST0xFX1VTRVIifQ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17920" y="114300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949E"/>
                </a:solidFill>
              </a:rPr>
              <a:t>.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419088" y="1143000"/>
            <a:ext cx="24688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83096" y="114300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SIGNATURE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19088" y="1362456"/>
            <a:ext cx="2468880" cy="0"/>
          </a:xfrm>
          <a:prstGeom prst="line">
            <a:avLst/>
          </a:prstGeom>
          <a:noFill/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13716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SflKxwRJSMeKKF2QT4fwpMeJf36P...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56032" y="1920240"/>
            <a:ext cx="2816352" cy="3017520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1920240"/>
            <a:ext cx="45720" cy="3017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" y="19933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2377440"/>
            <a:ext cx="2615184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377440"/>
            <a:ext cx="2615184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243230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" y="243230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8096" y="243230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" y="259689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"alg": "HS256",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"typ": "JWT"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384048" y="3895344"/>
            <a:ext cx="2578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signing algorithm. HS256 (HMAC-SHA256) is the most common for server-to-server tokens.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55264" y="1920240"/>
            <a:ext cx="2816352" cy="301752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55264" y="1920240"/>
            <a:ext cx="45720" cy="3017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19856" y="19933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(Claims)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64992" y="2377440"/>
            <a:ext cx="2615184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64992" y="2377440"/>
            <a:ext cx="2615184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456432" y="243230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11880" y="243230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767328" y="243230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93008" y="259689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"alice",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"ROLE_USER",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"iat": 1700000000,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"exp": 1700086400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3383280" y="3895344"/>
            <a:ext cx="2578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Base64 encoded only — NOT encrypted. Anyone can decode this. Never store passwords or sensitive data here.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54496" y="1920240"/>
            <a:ext cx="2816352" cy="301752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54496" y="1920240"/>
            <a:ext cx="45720" cy="3017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9088" y="19933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64224" y="2377440"/>
            <a:ext cx="2615184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64224" y="2377440"/>
            <a:ext cx="2615184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55664" y="243230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11112" y="243230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66560" y="243230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92240" y="259689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HMACSHA256(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base64(header) + "." +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base64(payload),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secretKey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6382512" y="3895344"/>
            <a:ext cx="2578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seal. If even one character of the payload is modified, the signature check fails and the request is rejected.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— JWT Login Flow &amp; Filter Implementation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STATELESS SECURITY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42062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  —  LOGIN &amp; TOKEN ISSUANCE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4630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POST /api/auth/login  { username, password 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67712" y="18470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19202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9202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AuthenticationManager.authenticate() called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67712" y="23042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3774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UserDetailsService loads user from MySQL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67712" y="27614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8346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BCrypt.matches(plain, hash) — password verified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67712" y="32186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2918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JwtService.generateToken(userDetails)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67712" y="36758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37490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{ "token": "eyJhbGci..." }  returned to client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681728" y="1143000"/>
            <a:ext cx="42062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81728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 —  USING THE TOKEN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14630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91456" y="14630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GET /api/tasks  Authorization: Bearer eyJ...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93408" y="18470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81728" y="19202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19202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JwtAuthFilter.doFilterInternal() runs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93408" y="23042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81728" y="23774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91456" y="23774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 token from Authorization header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93408" y="27614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81728" y="28346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91456" y="28346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Verify signature + check expiration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93408" y="32186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81728" y="32918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91456" y="32918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Load user from MySQL — confirm still active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93408" y="3675888"/>
            <a:ext cx="36576" cy="731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681728" y="374904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91456" y="37490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SecurityContext populated → controller executes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617720"/>
            <a:ext cx="8631936" cy="384048"/>
          </a:xfrm>
          <a:prstGeom prst="rect">
            <a:avLst/>
          </a:prstGeom>
          <a:solidFill>
            <a:srgbClr val="15000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7472" y="4617720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 SessionCreationPolicy.STATELESS  —  The server stores nothing. Every request is self-contained and authenticates itself via its JWT.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— CSRF &amp; CORS Explained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4261104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45720" cy="3858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16736" y="1243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Request Forgery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1609344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website tricks your browser into making an authenticated request to your server — exploiting the fact that browsers auto-send cookies.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2267712"/>
            <a:ext cx="389534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34086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enable / disable: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2688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session-based web app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45536" y="268833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 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JWT in Authorization header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45536" y="309067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" y="3493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Single-Page App (SPA)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45536" y="349300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" y="3931920"/>
            <a:ext cx="3895344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" y="3986784"/>
            <a:ext cx="3712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JWT APIs are immune to CSRF: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cannot auto-send custom Authorization headers — they can only auto-send cookies. An attacker's forged request arrives with no JWT and is immediately rejected.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26864" y="1115568"/>
            <a:ext cx="4261104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26864" y="1115568"/>
            <a:ext cx="45720" cy="3858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87568" y="1243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Resource Sharing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1609344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block JavaScript on one domain from calling another. CORS headers on the server tell the browser which origins are trusted.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18304" y="2194560"/>
            <a:ext cx="4078224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18304" y="2194560"/>
            <a:ext cx="4078224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9744" y="224942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65192" y="224942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120640" y="224942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414016"/>
            <a:ext cx="3822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config.setAllowedOrigins(List.of(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"http://localhost:3000",   // React dev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"http://localhost:4200",   // Angular dev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"https://yourapp.com"     // Production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config.setAllowedMethods(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List.of("GET","POST","PUT","DELETE"));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config.setAllowedHeaders(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List.of("Authorization", "Content-Type"));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config.setAllowCredentials(true);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NEVER with credentials: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config.setAllowedOrigins(List.of("*"))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718304" y="4818888"/>
            <a:ext cx="4078224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9744" y="484632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= protocol + domain + 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≠  localhost:8080  — different origins!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— Production Security Checklist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78992"/>
            <a:ext cx="45720" cy="18470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170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" y="1536192"/>
            <a:ext cx="24871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" y="166420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16093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with work factor ≥ 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19751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19202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or log plain-text passwords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28600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22311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 generic error messages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259689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" y="25420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strength on registration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36976" y="1078992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36976" y="1078992"/>
            <a:ext cx="45720" cy="18470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01568" y="1170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401568" y="1536192"/>
            <a:ext cx="24871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19856" y="166420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0" y="16093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key ≥ 256-bit in env variables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9856" y="197510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19202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expiry: 15 min access token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9856" y="22860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66160" y="22311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signature AND expiration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9856" y="259689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66160" y="25420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pattern for longer sessions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1078992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17920" y="1078992"/>
            <a:ext cx="45720" cy="18470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82512" y="1170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382512" y="1536192"/>
            <a:ext cx="24871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16642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47104" y="16093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 — no exceptions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197510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47104" y="19202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Strict Transport Security (HSTS)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228600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47104" y="22311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CORS origins only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259689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47104" y="25420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wildcard with allowCredentials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3072384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6032" y="3072384"/>
            <a:ext cx="45720" cy="1847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0624" y="3163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20624" y="3529584"/>
            <a:ext cx="24871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38912" y="3657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5216" y="36027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 on all endpoints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38912" y="39684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5216" y="3913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URL-level + method-level layers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8912" y="42793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5216" y="42245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 on every resource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8912" y="45902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85216" y="45354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IDOR via findByIdAndOwner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36976" y="3072384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236976" y="3072384"/>
            <a:ext cx="45720" cy="18470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401568" y="3163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3401568" y="3529584"/>
            <a:ext cx="24871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419856" y="36576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66160" y="36027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auth events (success + fail)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419856" y="396849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566160" y="3913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access-denied events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419856" y="42793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566160" y="42245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passwords or JWT tokens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19856" y="45902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566160" y="45354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spike in 401/403 responses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17920" y="3072384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9C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217920" y="3072384"/>
            <a:ext cx="45720" cy="18470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82512" y="3163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6382512" y="3529584"/>
            <a:ext cx="24871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400800" y="3657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547104" y="36027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console OFF in production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400800" y="39684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547104" y="3913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never sent to client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400800" y="427939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547104" y="42245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policy: STATELESS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400800" y="45902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547104" y="45354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endpoints secured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56032" y="4937760"/>
            <a:ext cx="8631936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47472" y="4946904"/>
            <a:ext cx="8449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discipline practiced from line one of code — not a checkbox added before deployment.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SecureTask API with MySQL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78638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modules in one app: registration, JWT auth, role-based endpoints, real MySQL database.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502920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8B949E"/>
            </a:solidFill>
            <a:prstDash val="solid"/>
          </a:ln>
          <a:effectLst>
            <a:outerShdw blurRad="38100" dist="127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54864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097280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 (Postman · React · Mobile)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42032" y="1627632"/>
            <a:ext cx="36576" cy="91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719072"/>
            <a:ext cx="50292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  <a:effectLst>
            <a:outerShdw blurRad="38100" dist="127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1719072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 →  SecurityFilterChain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42032" y="2249424"/>
            <a:ext cx="36576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340864"/>
            <a:ext cx="502920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  <a:effectLst>
            <a:outerShdw blurRad="38100" dist="127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2340864"/>
            <a:ext cx="54864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336" y="2340864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 ·  TaskController  ·  AdminController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42032" y="2871216"/>
            <a:ext cx="36576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962656"/>
            <a:ext cx="502920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  <a:effectLst>
            <a:outerShdw blurRad="38100" dist="127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962656"/>
            <a:ext cx="54864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2962656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 ·  TaskService   (@PreAuthorize)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42032" y="3493008"/>
            <a:ext cx="3657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584448"/>
            <a:ext cx="502920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3584448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2336" y="3584448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  ·  TaskRepository  (JPA)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42032" y="4114800"/>
            <a:ext cx="3657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4206240"/>
            <a:ext cx="502920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  <a:effectLst>
            <a:outerShdw blurRad="38100" dist="12700" dir="8100000" algn="bl" rotWithShape="0">
              <a:srgbClr val="9CA3A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4206240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" y="4206240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 —  users  ·  tasks  tables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22976" y="10424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522976" y="1389888"/>
            <a:ext cx="6583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22976" y="13898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36208" y="13898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12480" y="1389888"/>
            <a:ext cx="566928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12480" y="13898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2C55E"/>
                </a:solidFill>
              </a:rPr>
              <a:t>PUBLIC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522976" y="1755648"/>
            <a:ext cx="6583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22976" y="17556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36208" y="17556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412480" y="1755648"/>
            <a:ext cx="566928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1755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2C55E"/>
                </a:solidFill>
              </a:rPr>
              <a:t>PUBLIC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522976" y="2121408"/>
            <a:ext cx="6583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22976" y="21214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36208" y="21214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12480" y="2121408"/>
            <a:ext cx="566928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412480" y="21214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4B8A6"/>
                </a:solidFill>
              </a:rPr>
              <a:t>USER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22976" y="2487168"/>
            <a:ext cx="658368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22976" y="24871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36208" y="24871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12480" y="2487168"/>
            <a:ext cx="566928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412480" y="248716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4B8A6"/>
                </a:solidFill>
              </a:rPr>
              <a:t>USER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522976" y="2852928"/>
            <a:ext cx="658368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22976" y="2852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36208" y="285292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/api/tasks/{id}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412480" y="2852928"/>
            <a:ext cx="566928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412480" y="28529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4B8A6"/>
                </a:solidFill>
              </a:rPr>
              <a:t>USER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5522976" y="3218688"/>
            <a:ext cx="65836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22976" y="32186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36208" y="32186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/api/tasks/{id}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12480" y="3218688"/>
            <a:ext cx="566928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412480" y="32186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</a:rPr>
              <a:t>OWNER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522976" y="3584448"/>
            <a:ext cx="65836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522976" y="35844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DELETE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36208" y="35844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/api/tasks/{id}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412480" y="3584448"/>
            <a:ext cx="566928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412480" y="35844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</a:rPr>
              <a:t>OWNER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5522976" y="3950208"/>
            <a:ext cx="658368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522976" y="39502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236208" y="39502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/api/admin/tasks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412480" y="3950208"/>
            <a:ext cx="566928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412480" y="39502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ADMIN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522976" y="4315968"/>
            <a:ext cx="658368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522976" y="43159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236208" y="43159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412480" y="4315968"/>
            <a:ext cx="566928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12480" y="431596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ADMIN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522976" y="4681728"/>
            <a:ext cx="6583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522976" y="4681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236208" y="468172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/api/admin/users/{u}/disable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412480" y="4681728"/>
            <a:ext cx="566928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412480" y="46817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ADMIN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Edition — Key Differences from H2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5074920" cy="272491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507492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19786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19786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" y="119786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362456"/>
            <a:ext cx="481888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MySQL Connection ────────────────────────────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spring.datasource.url=jdbc:mysql://localhost:3306/securetaskdb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spring.datasource.username=root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spring.datasource.password=yourpassword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spring.datasource.driver-class-name=com.mysql.cj.jdbc.Driver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JPA / Hibernate ──────────────────────────────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spring.jpa.database-platform=org.hibernate.dialect.MySQLDialect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update: adds columns, never drops — safe for dev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create-drop: rebuilds all tables on restart (dev only)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validate: checks schema matches — use in production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spring.jpa.hibernate.ddl-auto=update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spring.jpa.show-sql=true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JWT ──────────────────────────────────────────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Production: load from environment variable, not here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jwt.secret=SecureTaskMySQLProjectSecretKeyAtLeast256Bits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jwt.expiration=86400000   # 24hr dev — use 15min in prod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541264" y="1143000"/>
            <a:ext cx="3346704" cy="272491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41264" y="1143000"/>
            <a:ext cx="3346704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32704" y="119786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88152" y="119786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119786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1362456"/>
            <a:ext cx="309067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❌ Remove H2 --&gt;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&lt;groupId&gt;com.h2database&lt;/groupId&gt;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&lt;artifactId&gt;h2&lt;/artifactId&gt;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&lt;scope&gt;runtime&lt;/scope&gt;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✅ Add MySQL Driver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&lt;groupId&gt;com.mysql&lt;/groupId&gt;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&lt;artifactId&gt;mysql-connector-j&lt;/artifactId&gt;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&lt;scope&gt;runtime&lt;/scope&gt;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56032" y="3968496"/>
            <a:ext cx="863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Setup Steps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" y="4334256"/>
            <a:ext cx="2103120" cy="67665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4334256"/>
            <a:ext cx="45720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4334256"/>
            <a:ext cx="25603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4334256"/>
            <a:ext cx="256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" y="43708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database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" y="462686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or terminal:  CREATE DATABASE securetaskdb;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50592" y="4334256"/>
            <a:ext cx="2103120" cy="67665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50592" y="4334256"/>
            <a:ext cx="45720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450592" y="4334256"/>
            <a:ext cx="25603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50592" y="4334256"/>
            <a:ext cx="256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79776" y="43708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credentials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79776" y="462686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application.properties — set your MySQL username and password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45152" y="4334256"/>
            <a:ext cx="2103120" cy="67665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45152" y="4334256"/>
            <a:ext cx="45720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45152" y="4334256"/>
            <a:ext cx="25603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45152" y="4334256"/>
            <a:ext cx="256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74336" y="43708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application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74336" y="462686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spring-boot:run  — Hibernate auto-creates tables on first start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39712" y="4334256"/>
            <a:ext cx="2103120" cy="67665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39712" y="4334256"/>
            <a:ext cx="45720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39712" y="4334256"/>
            <a:ext cx="25603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39712" y="4334256"/>
            <a:ext cx="256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68896" y="437083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MySQL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68896" y="462686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TABLES;  — should show: users, tasks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Core Spring Security Concepts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5720" cy="8961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10332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UserDetailsService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" y="136245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Spring Security calls to load a user by username from your data source. Implement this to bridge your database to the auth system.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0016" y="96012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0016" y="960120"/>
            <a:ext cx="45720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0332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UserDetails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64608" y="136245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Spring Security works with internally — wraps username, password hash, granted authorities, and account status flags.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96596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965960"/>
            <a:ext cx="45720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203911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SecurityFilterChain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" y="236829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@Bean that defines your entire security policy: URL rules, session creation, CSRF, CORS, and filter ordering.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96596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0016" y="1965960"/>
            <a:ext cx="4572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203911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AuthenticationManager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64608" y="236829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that verifies credentials. Internally calls UserDetailsService to load the user, then PasswordEncoder to compare the hash.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97180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971800"/>
            <a:ext cx="45720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04495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PasswordEncoder (BCrypt)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0624" y="337413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hashing with per-password salting. .encode() hashes, .matches() verifies. Never reversible. Slow by design.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0016" y="297180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0016" y="2971800"/>
            <a:ext cx="45720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304495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SecurityContext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64608" y="337413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store holding the current Authentication object. Set by filters after successful validation — read by @PreAuthorize.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397764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977640"/>
            <a:ext cx="45720" cy="8961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0624" y="40507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 + SpEL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" y="437997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Annotation-driven method security using Spring Expression Language. Runs before the method body. Requires @EnableMethodSecurity.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0016" y="3977640"/>
            <a:ext cx="4261104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0016" y="3977640"/>
            <a:ext cx="45720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40507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OncePerRequestFilter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64608" y="437997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class for JwtAuthFilter. Guarantees the filter runs exactly once per request regardless of how many dispatcher types fire.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743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9961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Job-Ready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1762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Masterclass — All 6 Modules Complete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47472" y="2651760"/>
            <a:ext cx="4224528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2651760"/>
            <a:ext cx="45720" cy="6035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706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706624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 authentication from scratch, not just copy-paste it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828032" y="2651760"/>
            <a:ext cx="4224528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28032" y="2651760"/>
            <a:ext cx="45720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7063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6672" y="2706624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layered access control with URL and method-level security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47472" y="3364992"/>
            <a:ext cx="4224528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47472" y="3364992"/>
            <a:ext cx="45720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8386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3419856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Spring Security to a real MySQL database via JPA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828032" y="3364992"/>
            <a:ext cx="4224528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828032" y="3364992"/>
            <a:ext cx="45720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8386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76672" y="3419856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security failures by tracing the filter chain step-by-step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347472" y="4078224"/>
            <a:ext cx="4224528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347472" y="4078224"/>
            <a:ext cx="45720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97096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6112" y="4133088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against CSRF, IDOR, weak secrets, and token vulnerabilities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828032" y="4078224"/>
            <a:ext cx="4224528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828032" y="4078224"/>
            <a:ext cx="45720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97096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76672" y="4133088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full security architecture confidently in any interview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347472" y="4718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completed: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1920240" y="4718304"/>
            <a:ext cx="11338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/>
          <p:nvPr/>
        </p:nvSpPr>
        <p:spPr>
          <a:xfrm>
            <a:off x="1920240" y="471830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B8A6"/>
                </a:solidFill>
              </a:rPr>
              <a:t>01  Foundations</a:t>
            </a:r>
            <a:endParaRPr lang="en-US" sz="750" dirty="0"/>
          </a:p>
        </p:txBody>
      </p:sp>
      <p:sp>
        <p:nvSpPr>
          <p:cNvPr id="33" name="Shape 24"/>
          <p:cNvSpPr/>
          <p:nvPr/>
        </p:nvSpPr>
        <p:spPr>
          <a:xfrm>
            <a:off x="3127248" y="4718304"/>
            <a:ext cx="11338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5"/>
          <p:cNvSpPr/>
          <p:nvPr/>
        </p:nvSpPr>
        <p:spPr>
          <a:xfrm>
            <a:off x="3127248" y="471830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</a:rPr>
              <a:t>02  Basic Auth</a:t>
            </a:r>
            <a:endParaRPr lang="en-US" sz="750" dirty="0"/>
          </a:p>
        </p:txBody>
      </p:sp>
      <p:sp>
        <p:nvSpPr>
          <p:cNvPr id="35" name="Shape 26"/>
          <p:cNvSpPr/>
          <p:nvPr/>
        </p:nvSpPr>
        <p:spPr>
          <a:xfrm>
            <a:off x="4334256" y="4718304"/>
            <a:ext cx="11338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4334256" y="471830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03  Authorization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5541264" y="4718304"/>
            <a:ext cx="11338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5541264" y="471830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04  Database</a:t>
            </a:r>
            <a:endParaRPr lang="en-US" sz="750" dirty="0"/>
          </a:p>
        </p:txBody>
      </p:sp>
      <p:sp>
        <p:nvSpPr>
          <p:cNvPr id="39" name="Shape 30"/>
          <p:cNvSpPr/>
          <p:nvPr/>
        </p:nvSpPr>
        <p:spPr>
          <a:xfrm>
            <a:off x="6748272" y="4718304"/>
            <a:ext cx="11338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6748272" y="471830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05  JWT</a:t>
            </a:r>
            <a:endParaRPr lang="en-US" sz="750" dirty="0"/>
          </a:p>
        </p:txBody>
      </p:sp>
      <p:sp>
        <p:nvSpPr>
          <p:cNvPr id="41" name="Shape 32"/>
          <p:cNvSpPr/>
          <p:nvPr/>
        </p:nvSpPr>
        <p:spPr>
          <a:xfrm>
            <a:off x="7955280" y="4718304"/>
            <a:ext cx="11338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7955280" y="471830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</a:rPr>
              <a:t>06  Advanced</a:t>
            </a:r>
            <a:endParaRPr lang="en-US" sz="750" dirty="0"/>
          </a:p>
        </p:txBody>
      </p:sp>
      <p:sp>
        <p:nvSpPr>
          <p:cNvPr id="43" name="Shape 3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Masterclass  ·  Complete Tutorial Series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2551</Words>
  <Application>Microsoft Office PowerPoint</Application>
  <PresentationFormat>On-screen Show (16:9)</PresentationFormat>
  <Paragraphs>470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Security: From Zero to Production</dc:title>
  <dc:subject>PptxGenJS Presentation</dc:subject>
  <dc:creator>PptxGenJS</dc:creator>
  <cp:lastModifiedBy>Bandenawaz Bagwan</cp:lastModifiedBy>
  <cp:revision>2</cp:revision>
  <dcterms:created xsi:type="dcterms:W3CDTF">2026-03-02T08:18:32Z</dcterms:created>
  <dcterms:modified xsi:type="dcterms:W3CDTF">2026-03-03T04:28:20Z</dcterms:modified>
</cp:coreProperties>
</file>