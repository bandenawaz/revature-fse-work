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Advanced GitHub Actions Training
8 Advanced Topics: Unit Testing, Build Artifacts, Sequential Jobs, Dependency Caching, Committing Artifacts to Repo, Reusable Workflows, Conditional Execution, Targeting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 8 advanced modules that build on the introductory session. Each module includes concept explanation, real-world diagrams, code examples, and practical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TESTING IN PIPELINE
The core argument: testing in CI is not about discipline, it's about infrastructure enforcement.
The 10× cost multiplier is from the IBM Systems Sciences Institute study — well established in software engineering literature.
GitHub Actions makes test execution mandatory by connecting test failure to PR blocking via branch protection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TESTING FLOW DIAGRAM
Every step must succeed for the pipeline to advance.
The final branch shows the two outcomes: pass (PR can merge) or fail (PR blocked).
The report step uses if:always() so test reports are visible even when tests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YAML + STRATEGIES
Left panel shows complete real workflow.
Key: 'if: always()' on test reporter ensures reports are published even when tests fail.
Right panel shows the testing pyramid mapped to GitHub Actions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ARTIFACTS — CONCEPT
The key insight: jobs run on separate machines. Artifacts are the explicit bridge.
Golden rule: Build once, share via artifacts. Never rebuild the same binary in a different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ARTIFACT DATA FLOW
This diagram shows the complete flow. The key insight is that Job 2/3 run on different machines from Job 1. Without artifacts, they have no access to the 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SEQUENTIAL MULTI-JOB
Default is parallel — ALL jobs start simultaneously on separate VMs.
needs: creates the dependency. If 'build' fails, all dependent jobs are skipped automatically.
The diamond pattern is the most efficient: parallel testing + security, then sequential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DEPENDENCY GRAPH + TIMELINE
This Gantt chart shows why the diamond pattern is optimal. Build must be first. Unit tests and security scan run in parallel (both need build). Deploy only starts when BOTH complete. Total: 8 min vs 12 min sequential.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CACHING PROBLEM &amp; SOLUTION
Real numbers: A typical Spring Boot project with 50 dependencies downloads 150-200MB per run.
20 developers × 5 pushes/day = 100 runs × 4 minutes saved = 400 minutes/day of developer wait time eliminated.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CACHING ARCHITECTURE
Run 1: Cache miss → downloads all deps → saves to GitHub cache.
Run 2+: Cache hit → restores in seconds → skips all downloads.
Cache invalidation is automatic: when pom.xml changes, hash changes, cache rebuilds.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AUTO-COMMIT TO REPO
This is a powerful but dangerous pattern if not implemented correctly.
The [skip ci] tag is the critical safety mechanism.
Also need: permissions: contents: write in the job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AUTO-COMMIT FLOW DIAGRAM
The stefanzweifel/git-auto-commit-action is the industry standard for this pattern.
Key requirements: write permissions, GITHUB_TOKEN, and [skip ci] in commit message.
Never commit binary files (JARs, images) to Git — use GitHub Artifact storage for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WORKFLOWS — WHY
The DRY principle applied to CI/CD configuration.
Key business case: 15 services, each updated independently = chaos. One template = consistency.
When the DevOps team adds a new security check, ALL 15 services get it automatically on next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WORKFLOW ARCHITECTURE
The template lives in devops-templates repo (or same repo). All 15 service repos call it with just 10 lines.
The template receives inputs (service-name, java-version) and secrets (DOCKER credentials) from each caller.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EXECUTION
always() is the most important one for test reports — without it, you lose the report when tests fail.
failure() is critical for Slack notifications — only alerts when something is wrong.
Combine conditions: if: github.ref == 'refs/heads/main' &amp;&amp; github.event_name ==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FLOW DIAGRAM
This shows how the same push event routes to different jobs based on branch/tag.
Feature branches: only CI, no deploy.
Main branch: CI + staging deploy, then failure notification if tests fail.
Release tags (v1.2.3): full production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ENVIRONMENTS
The three-tier deployment pattern: dev → staging → production.
Production is the ONLY environment that requires manual approval. This is the human gate in an otherwise automated pipeline.
Environment-scoped secrets mean a junior dev cannot access production DB credentials through a rogue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ENVIRONMENTS ARCHITECTURE
The approval gate is the key concept. The pipeline PAUSES — it literally waits with a timer. GitHub sends an email to the reviewer. They click Approve or Reject in the GitHub UI.
Environment secrets isolation: the production DB password is ONLY accessible to jobs in the production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 ARCHITECTURE
This diagram shows all 8 concepts working together in one pipeline.
This represents a production-grade pipeline that most professional engineering teams would be proud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SECRETS HIERARCHY
This is the least-privilege model applied to CI/CD secrets.
Rule: Secrets should be at the LOWEST scope that satisfies the need.
Prod credentials in environment secrets + approval gates = even if a junior dev creates a rogue workflow, they cannot access production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PITFALLS
Every one of these has occurred in real production projects.
Mistake #4 (rebuilding in every job) is particularly insidious — teams think they're being safe by rebuilding, but they're actually deploying a different binary than what was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8 points that represent the distillation of the entire advanced session.
If engineers remember nothing else from today, these 8 points will make them significantly better DevOps practitioners.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Practice assignment is non-negotiable for skill development.
Next session covers Docker integration — directly applicable to their existing microservices projects.
Final message: The best DevOps architects don't just write pipelines — they design systems that enforce team standards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217920" y="0"/>
            <a:ext cx="2926080" cy="5143500"/>
          </a:xfrm>
          <a:prstGeom prst="rect">
            <a:avLst/>
          </a:prstGeom>
          <a:solidFill>
            <a:srgbClr val="162032"/>
          </a:solidFill>
          <a:ln w="12700">
            <a:solidFill>
              <a:srgbClr val="162032"/>
            </a:solidFill>
            <a:prstDash val="solid"/>
          </a:ln>
        </p:spPr>
      </p:sp>
      <p:sp>
        <p:nvSpPr>
          <p:cNvPr id="3" name="Shape 1"/>
          <p:cNvSpPr/>
          <p:nvPr/>
        </p:nvSpPr>
        <p:spPr>
          <a:xfrm>
            <a:off x="0" y="0"/>
            <a:ext cx="9144000" cy="54864"/>
          </a:xfrm>
          <a:prstGeom prst="rect">
            <a:avLst/>
          </a:prstGeom>
          <a:solidFill>
            <a:srgbClr val="06B6D4"/>
          </a:solidFill>
          <a:ln w="12700">
            <a:solidFill>
              <a:srgbClr val="06B6D4"/>
            </a:solidFill>
            <a:prstDash val="solid"/>
          </a:ln>
        </p:spPr>
      </p:sp>
      <p:sp>
        <p:nvSpPr>
          <p:cNvPr id="4" name="Shape 2"/>
          <p:cNvSpPr/>
          <p:nvPr/>
        </p:nvSpPr>
        <p:spPr>
          <a:xfrm>
            <a:off x="0" y="5088636"/>
            <a:ext cx="9144000" cy="54864"/>
          </a:xfrm>
          <a:prstGeom prst="rect">
            <a:avLst/>
          </a:prstGeom>
          <a:solidFill>
            <a:srgbClr val="1A56DB"/>
          </a:solidFill>
          <a:ln w="12700">
            <a:solidFill>
              <a:srgbClr val="1A56DB"/>
            </a:solidFill>
            <a:prstDash val="solid"/>
          </a:ln>
        </p:spPr>
      </p:sp>
      <p:pic>
        <p:nvPicPr>
          <p:cNvPr id="5" name="Image 0" descr="preencoded.png">    </p:cNvPr>
          <p:cNvPicPr>
            <a:picLocks noChangeAspect="1"/>
          </p:cNvPicPr>
          <p:nvPr/>
        </p:nvPicPr>
        <p:blipFill>
          <a:blip r:embed="rId1"/>
          <a:stretch>
            <a:fillRect/>
          </a:stretch>
        </p:blipFill>
        <p:spPr>
          <a:xfrm>
            <a:off x="6675120" y="822960"/>
            <a:ext cx="1828800" cy="1828800"/>
          </a:xfrm>
          <a:prstGeom prst="rect">
            <a:avLst/>
          </a:prstGeom>
        </p:spPr>
      </p:pic>
      <p:sp>
        <p:nvSpPr>
          <p:cNvPr id="6" name="Shape 3"/>
          <p:cNvSpPr/>
          <p:nvPr/>
        </p:nvSpPr>
        <p:spPr>
          <a:xfrm>
            <a:off x="411480" y="868680"/>
            <a:ext cx="1920240" cy="274320"/>
          </a:xfrm>
          <a:prstGeom prst="rect">
            <a:avLst/>
          </a:prstGeom>
          <a:solidFill>
            <a:srgbClr val="06B6D4"/>
          </a:solidFill>
          <a:ln w="12700">
            <a:solidFill>
              <a:srgbClr val="06B6D4"/>
            </a:solidFill>
            <a:prstDash val="solid"/>
          </a:ln>
        </p:spPr>
      </p:sp>
      <p:sp>
        <p:nvSpPr>
          <p:cNvPr id="7" name="Text 4"/>
          <p:cNvSpPr/>
          <p:nvPr/>
        </p:nvSpPr>
        <p:spPr>
          <a:xfrm>
            <a:off x="411480" y="868680"/>
            <a:ext cx="1920240" cy="274320"/>
          </a:xfrm>
          <a:prstGeom prst="rect">
            <a:avLst/>
          </a:prstGeom>
          <a:noFill/>
          <a:ln/>
        </p:spPr>
        <p:txBody>
          <a:bodyPr wrap="square" lIns="0" tIns="0" rIns="0" bIns="0" rtlCol="0" anchor="ctr"/>
          <a:lstStyle/>
          <a:p>
            <a:pPr algn="ctr" indent="0" marL="0">
              <a:buNone/>
            </a:pPr>
            <a:r>
              <a:rPr lang="en-US" sz="850" b="1" spc="150" kern="0" dirty="0">
                <a:solidFill>
                  <a:srgbClr val="0D1B2A"/>
                </a:solidFill>
                <a:latin typeface="Calibri" pitchFamily="34" charset="0"/>
                <a:ea typeface="Calibri" pitchFamily="34" charset="-122"/>
                <a:cs typeface="Calibri" pitchFamily="34" charset="-120"/>
              </a:rPr>
              <a:t>ADVANCED TRAINING</a:t>
            </a:r>
            <a:endParaRPr lang="en-US" sz="850" dirty="0"/>
          </a:p>
        </p:txBody>
      </p:sp>
      <p:sp>
        <p:nvSpPr>
          <p:cNvPr id="8" name="Text 5"/>
          <p:cNvSpPr/>
          <p:nvPr/>
        </p:nvSpPr>
        <p:spPr>
          <a:xfrm>
            <a:off x="411480" y="1261872"/>
            <a:ext cx="5577840" cy="914400"/>
          </a:xfrm>
          <a:prstGeom prst="rect">
            <a:avLst/>
          </a:prstGeom>
          <a:noFill/>
          <a:ln/>
        </p:spPr>
        <p:txBody>
          <a:bodyPr wrap="square" lIns="0" tIns="0" rIns="0" bIns="0"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GitHub Actions</a:t>
            </a:r>
            <a:endParaRPr lang="en-US" sz="5000" dirty="0"/>
          </a:p>
        </p:txBody>
      </p:sp>
      <p:sp>
        <p:nvSpPr>
          <p:cNvPr id="9" name="Text 6"/>
          <p:cNvSpPr/>
          <p:nvPr/>
        </p:nvSpPr>
        <p:spPr>
          <a:xfrm>
            <a:off x="411480" y="2176272"/>
            <a:ext cx="5577840" cy="530352"/>
          </a:xfrm>
          <a:prstGeom prst="rect">
            <a:avLst/>
          </a:prstGeom>
          <a:noFill/>
          <a:ln/>
        </p:spPr>
        <p:txBody>
          <a:bodyPr wrap="square" lIns="0" tIns="0" rIns="0" bIns="0" rtlCol="0" anchor="ctr"/>
          <a:lstStyle/>
          <a:p>
            <a:pPr indent="0" marL="0">
              <a:buNone/>
            </a:pPr>
            <a:r>
              <a:rPr lang="en-US" sz="2500" dirty="0">
                <a:solidFill>
                  <a:srgbClr val="06B6D4"/>
                </a:solidFill>
                <a:latin typeface="Calibri" pitchFamily="34" charset="0"/>
                <a:ea typeface="Calibri" pitchFamily="34" charset="-122"/>
                <a:cs typeface="Calibri" pitchFamily="34" charset="-120"/>
              </a:rPr>
              <a:t>Advanced CI/CD Engineering</a:t>
            </a:r>
            <a:endParaRPr lang="en-US" sz="2500" dirty="0"/>
          </a:p>
        </p:txBody>
      </p:sp>
      <p:sp>
        <p:nvSpPr>
          <p:cNvPr id="10" name="Text 7"/>
          <p:cNvSpPr/>
          <p:nvPr/>
        </p:nvSpPr>
        <p:spPr>
          <a:xfrm>
            <a:off x="411480" y="2724912"/>
            <a:ext cx="557784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Unit Testing · Artifacts · Caching · Reusable Workflows · Environments</a:t>
            </a:r>
            <a:endParaRPr lang="en-US" sz="1100" dirty="0"/>
          </a:p>
        </p:txBody>
      </p:sp>
      <p:sp>
        <p:nvSpPr>
          <p:cNvPr id="11" name="Shape 8"/>
          <p:cNvSpPr/>
          <p:nvPr/>
        </p:nvSpPr>
        <p:spPr>
          <a:xfrm>
            <a:off x="411480" y="3154680"/>
            <a:ext cx="4389120" cy="36576"/>
          </a:xfrm>
          <a:prstGeom prst="rect">
            <a:avLst/>
          </a:prstGeom>
          <a:solidFill>
            <a:srgbClr val="06B6D4"/>
          </a:solidFill>
          <a:ln w="12700">
            <a:solidFill>
              <a:srgbClr val="06B6D4"/>
            </a:solidFill>
            <a:prstDash val="solid"/>
          </a:ln>
        </p:spPr>
      </p:sp>
      <p:sp>
        <p:nvSpPr>
          <p:cNvPr id="12" name="Text 9"/>
          <p:cNvSpPr/>
          <p:nvPr/>
        </p:nvSpPr>
        <p:spPr>
          <a:xfrm>
            <a:off x="411480" y="3291840"/>
            <a:ext cx="557784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Senior Java Backend &amp; DevOps Architect  |  30+ Years Industry Experience</a:t>
            </a:r>
            <a:endParaRPr lang="en-US" sz="1000" dirty="0"/>
          </a:p>
        </p:txBody>
      </p:sp>
      <p:pic>
        <p:nvPicPr>
          <p:cNvPr id="13" name="Image 1" descr="preencoded.png">    </p:cNvPr>
          <p:cNvPicPr>
            <a:picLocks noChangeAspect="1"/>
          </p:cNvPicPr>
          <p:nvPr/>
        </p:nvPicPr>
        <p:blipFill>
          <a:blip r:embed="rId2"/>
          <a:stretch>
            <a:fillRect/>
          </a:stretch>
        </p:blipFill>
        <p:spPr>
          <a:xfrm>
            <a:off x="411480" y="4160520"/>
            <a:ext cx="320040" cy="320040"/>
          </a:xfrm>
          <a:prstGeom prst="rect">
            <a:avLst/>
          </a:prstGeom>
        </p:spPr>
      </p:pic>
      <p:sp>
        <p:nvSpPr>
          <p:cNvPr id="14" name="Text 10"/>
          <p:cNvSpPr/>
          <p:nvPr/>
        </p:nvSpPr>
        <p:spPr>
          <a:xfrm>
            <a:off x="320040" y="4498848"/>
            <a:ext cx="502920" cy="164592"/>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Testing</a:t>
            </a:r>
            <a:endParaRPr lang="en-US" sz="750" dirty="0"/>
          </a:p>
        </p:txBody>
      </p:sp>
      <p:pic>
        <p:nvPicPr>
          <p:cNvPr id="15" name="Image 2" descr="preencoded.png">    </p:cNvPr>
          <p:cNvPicPr>
            <a:picLocks noChangeAspect="1"/>
          </p:cNvPicPr>
          <p:nvPr/>
        </p:nvPicPr>
        <p:blipFill>
          <a:blip r:embed="rId3"/>
          <a:stretch>
            <a:fillRect/>
          </a:stretch>
        </p:blipFill>
        <p:spPr>
          <a:xfrm>
            <a:off x="1280160" y="4160520"/>
            <a:ext cx="320040" cy="320040"/>
          </a:xfrm>
          <a:prstGeom prst="rect">
            <a:avLst/>
          </a:prstGeom>
        </p:spPr>
      </p:pic>
      <p:sp>
        <p:nvSpPr>
          <p:cNvPr id="16" name="Text 11"/>
          <p:cNvSpPr/>
          <p:nvPr/>
        </p:nvSpPr>
        <p:spPr>
          <a:xfrm>
            <a:off x="1188720" y="4498848"/>
            <a:ext cx="502920" cy="164592"/>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Artifacts</a:t>
            </a:r>
            <a:endParaRPr lang="en-US" sz="750" dirty="0"/>
          </a:p>
        </p:txBody>
      </p:sp>
      <p:pic>
        <p:nvPicPr>
          <p:cNvPr id="17" name="Image 3" descr="preencoded.png">    </p:cNvPr>
          <p:cNvPicPr>
            <a:picLocks noChangeAspect="1"/>
          </p:cNvPicPr>
          <p:nvPr/>
        </p:nvPicPr>
        <p:blipFill>
          <a:blip r:embed="rId4"/>
          <a:stretch>
            <a:fillRect/>
          </a:stretch>
        </p:blipFill>
        <p:spPr>
          <a:xfrm>
            <a:off x="2148840" y="4160520"/>
            <a:ext cx="320040" cy="320040"/>
          </a:xfrm>
          <a:prstGeom prst="rect">
            <a:avLst/>
          </a:prstGeom>
        </p:spPr>
      </p:pic>
      <p:sp>
        <p:nvSpPr>
          <p:cNvPr id="18" name="Text 12"/>
          <p:cNvSpPr/>
          <p:nvPr/>
        </p:nvSpPr>
        <p:spPr>
          <a:xfrm>
            <a:off x="2057400" y="4498848"/>
            <a:ext cx="502920" cy="164592"/>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Caching</a:t>
            </a:r>
            <a:endParaRPr lang="en-US" sz="750" dirty="0"/>
          </a:p>
        </p:txBody>
      </p:sp>
      <p:pic>
        <p:nvPicPr>
          <p:cNvPr id="19" name="Image 4" descr="preencoded.png">    </p:cNvPr>
          <p:cNvPicPr>
            <a:picLocks noChangeAspect="1"/>
          </p:cNvPicPr>
          <p:nvPr/>
        </p:nvPicPr>
        <p:blipFill>
          <a:blip r:embed="rId5"/>
          <a:stretch>
            <a:fillRect/>
          </a:stretch>
        </p:blipFill>
        <p:spPr>
          <a:xfrm>
            <a:off x="3017520" y="4160520"/>
            <a:ext cx="320040" cy="320040"/>
          </a:xfrm>
          <a:prstGeom prst="rect">
            <a:avLst/>
          </a:prstGeom>
        </p:spPr>
      </p:pic>
      <p:sp>
        <p:nvSpPr>
          <p:cNvPr id="20" name="Text 13"/>
          <p:cNvSpPr/>
          <p:nvPr/>
        </p:nvSpPr>
        <p:spPr>
          <a:xfrm>
            <a:off x="2926080" y="4498848"/>
            <a:ext cx="502920" cy="164592"/>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Reusable</a:t>
            </a:r>
            <a:endParaRPr lang="en-US" sz="750" dirty="0"/>
          </a:p>
        </p:txBody>
      </p:sp>
      <p:pic>
        <p:nvPicPr>
          <p:cNvPr id="21" name="Image 5" descr="preencoded.png">    </p:cNvPr>
          <p:cNvPicPr>
            <a:picLocks noChangeAspect="1"/>
          </p:cNvPicPr>
          <p:nvPr/>
        </p:nvPicPr>
        <p:blipFill>
          <a:blip r:embed="rId6"/>
          <a:stretch>
            <a:fillRect/>
          </a:stretch>
        </p:blipFill>
        <p:spPr>
          <a:xfrm>
            <a:off x="3886200" y="4160520"/>
            <a:ext cx="320040" cy="320040"/>
          </a:xfrm>
          <a:prstGeom prst="rect">
            <a:avLst/>
          </a:prstGeom>
        </p:spPr>
      </p:pic>
      <p:sp>
        <p:nvSpPr>
          <p:cNvPr id="22" name="Text 14"/>
          <p:cNvSpPr/>
          <p:nvPr/>
        </p:nvSpPr>
        <p:spPr>
          <a:xfrm>
            <a:off x="3794760" y="4498848"/>
            <a:ext cx="502920" cy="164592"/>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Conditions</a:t>
            </a:r>
            <a:endParaRPr lang="en-US" sz="750" dirty="0"/>
          </a:p>
        </p:txBody>
      </p:sp>
      <p:pic>
        <p:nvPicPr>
          <p:cNvPr id="23" name="Image 6" descr="preencoded.png">    </p:cNvPr>
          <p:cNvPicPr>
            <a:picLocks noChangeAspect="1"/>
          </p:cNvPicPr>
          <p:nvPr/>
        </p:nvPicPr>
        <p:blipFill>
          <a:blip r:embed="rId7"/>
          <a:stretch>
            <a:fillRect/>
          </a:stretch>
        </p:blipFill>
        <p:spPr>
          <a:xfrm>
            <a:off x="4754880" y="4160520"/>
            <a:ext cx="320040" cy="320040"/>
          </a:xfrm>
          <a:prstGeom prst="rect">
            <a:avLst/>
          </a:prstGeom>
        </p:spPr>
      </p:pic>
      <p:sp>
        <p:nvSpPr>
          <p:cNvPr id="24" name="Text 15"/>
          <p:cNvSpPr/>
          <p:nvPr/>
        </p:nvSpPr>
        <p:spPr>
          <a:xfrm>
            <a:off x="4663440" y="4498848"/>
            <a:ext cx="502920" cy="164592"/>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Environments</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B2A3B"/>
          </a:solidFill>
          <a:ln w="12700">
            <a:solidFill>
              <a:srgbClr val="1B2A3B"/>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Session Agenda — 8 Advanced Modules</a:t>
            </a:r>
            <a:endParaRPr lang="en-US" sz="2500" dirty="0"/>
          </a:p>
        </p:txBody>
      </p:sp>
      <p:sp>
        <p:nvSpPr>
          <p:cNvPr id="4" name="Shape 2"/>
          <p:cNvSpPr/>
          <p:nvPr/>
        </p:nvSpPr>
        <p:spPr>
          <a:xfrm>
            <a:off x="384048" y="731520"/>
            <a:ext cx="885139" cy="219456"/>
          </a:xfrm>
          <a:prstGeom prst="rect">
            <a:avLst/>
          </a:prstGeom>
          <a:solidFill>
            <a:srgbClr val="1A56DB"/>
          </a:solidFill>
          <a:ln w="12700">
            <a:solidFill>
              <a:srgbClr val="1A56DB"/>
            </a:solidFill>
            <a:prstDash val="solid"/>
          </a:ln>
        </p:spPr>
      </p:sp>
      <p:sp>
        <p:nvSpPr>
          <p:cNvPr id="5" name="Text 3"/>
          <p:cNvSpPr/>
          <p:nvPr/>
        </p:nvSpPr>
        <p:spPr>
          <a:xfrm>
            <a:off x="384048" y="731520"/>
            <a:ext cx="885139"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AGENDA</a:t>
            </a:r>
            <a:endParaRPr lang="en-US" sz="850" dirty="0"/>
          </a:p>
        </p:txBody>
      </p:sp>
      <p:sp>
        <p:nvSpPr>
          <p:cNvPr id="6" name="Shape 4"/>
          <p:cNvSpPr/>
          <p:nvPr/>
        </p:nvSpPr>
        <p:spPr>
          <a:xfrm>
            <a:off x="347472" y="1097280"/>
            <a:ext cx="4224528" cy="53035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47472" y="1097280"/>
            <a:ext cx="64008" cy="530352"/>
          </a:xfrm>
          <a:prstGeom prst="rect">
            <a:avLst/>
          </a:prstGeom>
          <a:solidFill>
            <a:srgbClr val="06B6D4"/>
          </a:solidFill>
          <a:ln w="12700">
            <a:solidFill>
              <a:srgbClr val="06B6D4"/>
            </a:solidFill>
            <a:prstDash val="solid"/>
          </a:ln>
        </p:spPr>
      </p:sp>
      <p:sp>
        <p:nvSpPr>
          <p:cNvPr id="8" name="Shape 6"/>
          <p:cNvSpPr/>
          <p:nvPr/>
        </p:nvSpPr>
        <p:spPr>
          <a:xfrm>
            <a:off x="475488" y="1197864"/>
            <a:ext cx="310896" cy="310896"/>
          </a:xfrm>
          <a:prstGeom prst="ellipse">
            <a:avLst/>
          </a:prstGeom>
          <a:solidFill>
            <a:srgbClr val="06B6D4"/>
          </a:solidFill>
          <a:ln w="12700">
            <a:solidFill>
              <a:srgbClr val="06B6D4"/>
            </a:solidFill>
            <a:prstDash val="solid"/>
          </a:ln>
        </p:spPr>
      </p:sp>
      <p:sp>
        <p:nvSpPr>
          <p:cNvPr id="9" name="Text 7"/>
          <p:cNvSpPr/>
          <p:nvPr/>
        </p:nvSpPr>
        <p:spPr>
          <a:xfrm>
            <a:off x="475488" y="1197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10" name="Text 8"/>
          <p:cNvSpPr/>
          <p:nvPr/>
        </p:nvSpPr>
        <p:spPr>
          <a:xfrm>
            <a:off x="877824" y="1170432"/>
            <a:ext cx="356616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Unit Testing in a Workflow</a:t>
            </a:r>
            <a:endParaRPr lang="en-US" sz="1100" dirty="0"/>
          </a:p>
        </p:txBody>
      </p:sp>
      <p:sp>
        <p:nvSpPr>
          <p:cNvPr id="11" name="Text 9"/>
          <p:cNvSpPr/>
          <p:nvPr/>
        </p:nvSpPr>
        <p:spPr>
          <a:xfrm>
            <a:off x="877824" y="1408176"/>
            <a:ext cx="356616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JUnit 5, reports, coverage enforcement</a:t>
            </a:r>
            <a:endParaRPr lang="en-US" sz="850" dirty="0"/>
          </a:p>
        </p:txBody>
      </p:sp>
      <p:sp>
        <p:nvSpPr>
          <p:cNvPr id="12" name="Shape 10"/>
          <p:cNvSpPr/>
          <p:nvPr/>
        </p:nvSpPr>
        <p:spPr>
          <a:xfrm>
            <a:off x="347472" y="1682496"/>
            <a:ext cx="4224528" cy="53035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347472" y="1682496"/>
            <a:ext cx="64008" cy="530352"/>
          </a:xfrm>
          <a:prstGeom prst="rect">
            <a:avLst/>
          </a:prstGeom>
          <a:solidFill>
            <a:srgbClr val="1A56DB"/>
          </a:solidFill>
          <a:ln w="12700">
            <a:solidFill>
              <a:srgbClr val="1A56DB"/>
            </a:solidFill>
            <a:prstDash val="solid"/>
          </a:ln>
        </p:spPr>
      </p:sp>
      <p:sp>
        <p:nvSpPr>
          <p:cNvPr id="14" name="Shape 12"/>
          <p:cNvSpPr/>
          <p:nvPr/>
        </p:nvSpPr>
        <p:spPr>
          <a:xfrm>
            <a:off x="475488" y="1783080"/>
            <a:ext cx="310896" cy="310896"/>
          </a:xfrm>
          <a:prstGeom prst="ellipse">
            <a:avLst/>
          </a:prstGeom>
          <a:solidFill>
            <a:srgbClr val="1A56DB"/>
          </a:solidFill>
          <a:ln w="12700">
            <a:solidFill>
              <a:srgbClr val="1A56DB"/>
            </a:solidFill>
            <a:prstDash val="solid"/>
          </a:ln>
        </p:spPr>
      </p:sp>
      <p:sp>
        <p:nvSpPr>
          <p:cNvPr id="15" name="Text 13"/>
          <p:cNvSpPr/>
          <p:nvPr/>
        </p:nvSpPr>
        <p:spPr>
          <a:xfrm>
            <a:off x="475488" y="178308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6" name="Text 14"/>
          <p:cNvSpPr/>
          <p:nvPr/>
        </p:nvSpPr>
        <p:spPr>
          <a:xfrm>
            <a:off x="877824" y="1755648"/>
            <a:ext cx="356616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Build Artifacts</a:t>
            </a:r>
            <a:endParaRPr lang="en-US" sz="1100" dirty="0"/>
          </a:p>
        </p:txBody>
      </p:sp>
      <p:sp>
        <p:nvSpPr>
          <p:cNvPr id="17" name="Text 15"/>
          <p:cNvSpPr/>
          <p:nvPr/>
        </p:nvSpPr>
        <p:spPr>
          <a:xfrm>
            <a:off x="877824" y="1993392"/>
            <a:ext cx="356616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Upload, download, artifact sharing</a:t>
            </a:r>
            <a:endParaRPr lang="en-US" sz="850" dirty="0"/>
          </a:p>
        </p:txBody>
      </p:sp>
      <p:sp>
        <p:nvSpPr>
          <p:cNvPr id="18" name="Shape 16"/>
          <p:cNvSpPr/>
          <p:nvPr/>
        </p:nvSpPr>
        <p:spPr>
          <a:xfrm>
            <a:off x="347472" y="2267712"/>
            <a:ext cx="4224528" cy="53035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347472" y="2267712"/>
            <a:ext cx="64008" cy="530352"/>
          </a:xfrm>
          <a:prstGeom prst="rect">
            <a:avLst/>
          </a:prstGeom>
          <a:solidFill>
            <a:srgbClr val="7C3AED"/>
          </a:solidFill>
          <a:ln w="12700">
            <a:solidFill>
              <a:srgbClr val="7C3AED"/>
            </a:solidFill>
            <a:prstDash val="solid"/>
          </a:ln>
        </p:spPr>
      </p:sp>
      <p:sp>
        <p:nvSpPr>
          <p:cNvPr id="20" name="Shape 18"/>
          <p:cNvSpPr/>
          <p:nvPr/>
        </p:nvSpPr>
        <p:spPr>
          <a:xfrm>
            <a:off x="475488" y="2368296"/>
            <a:ext cx="310896" cy="310896"/>
          </a:xfrm>
          <a:prstGeom prst="ellipse">
            <a:avLst/>
          </a:prstGeom>
          <a:solidFill>
            <a:srgbClr val="7C3AED"/>
          </a:solidFill>
          <a:ln w="12700">
            <a:solidFill>
              <a:srgbClr val="7C3AED"/>
            </a:solidFill>
            <a:prstDash val="solid"/>
          </a:ln>
        </p:spPr>
      </p:sp>
      <p:sp>
        <p:nvSpPr>
          <p:cNvPr id="21" name="Text 19"/>
          <p:cNvSpPr/>
          <p:nvPr/>
        </p:nvSpPr>
        <p:spPr>
          <a:xfrm>
            <a:off x="475488" y="23682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22" name="Text 20"/>
          <p:cNvSpPr/>
          <p:nvPr/>
        </p:nvSpPr>
        <p:spPr>
          <a:xfrm>
            <a:off x="877824" y="2340864"/>
            <a:ext cx="356616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Sequential Multi-Job Workflows</a:t>
            </a:r>
            <a:endParaRPr lang="en-US" sz="1100" dirty="0"/>
          </a:p>
        </p:txBody>
      </p:sp>
      <p:sp>
        <p:nvSpPr>
          <p:cNvPr id="23" name="Text 21"/>
          <p:cNvSpPr/>
          <p:nvPr/>
        </p:nvSpPr>
        <p:spPr>
          <a:xfrm>
            <a:off x="877824" y="2578608"/>
            <a:ext cx="356616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needs:, parallel vs sequential, graphs</a:t>
            </a:r>
            <a:endParaRPr lang="en-US" sz="850" dirty="0"/>
          </a:p>
        </p:txBody>
      </p:sp>
      <p:sp>
        <p:nvSpPr>
          <p:cNvPr id="24" name="Shape 22"/>
          <p:cNvSpPr/>
          <p:nvPr/>
        </p:nvSpPr>
        <p:spPr>
          <a:xfrm>
            <a:off x="347472" y="2852928"/>
            <a:ext cx="4224528" cy="53035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347472" y="2852928"/>
            <a:ext cx="64008" cy="530352"/>
          </a:xfrm>
          <a:prstGeom prst="rect">
            <a:avLst/>
          </a:prstGeom>
          <a:solidFill>
            <a:srgbClr val="10B981"/>
          </a:solidFill>
          <a:ln w="12700">
            <a:solidFill>
              <a:srgbClr val="10B981"/>
            </a:solidFill>
            <a:prstDash val="solid"/>
          </a:ln>
        </p:spPr>
      </p:sp>
      <p:sp>
        <p:nvSpPr>
          <p:cNvPr id="26" name="Shape 24"/>
          <p:cNvSpPr/>
          <p:nvPr/>
        </p:nvSpPr>
        <p:spPr>
          <a:xfrm>
            <a:off x="475488" y="2953512"/>
            <a:ext cx="310896" cy="310896"/>
          </a:xfrm>
          <a:prstGeom prst="ellipse">
            <a:avLst/>
          </a:prstGeom>
          <a:solidFill>
            <a:srgbClr val="10B981"/>
          </a:solidFill>
          <a:ln w="12700">
            <a:solidFill>
              <a:srgbClr val="10B981"/>
            </a:solidFill>
            <a:prstDash val="solid"/>
          </a:ln>
        </p:spPr>
      </p:sp>
      <p:sp>
        <p:nvSpPr>
          <p:cNvPr id="27" name="Text 25"/>
          <p:cNvSpPr/>
          <p:nvPr/>
        </p:nvSpPr>
        <p:spPr>
          <a:xfrm>
            <a:off x="475488" y="295351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28" name="Text 26"/>
          <p:cNvSpPr/>
          <p:nvPr/>
        </p:nvSpPr>
        <p:spPr>
          <a:xfrm>
            <a:off x="877824" y="2926080"/>
            <a:ext cx="356616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Dependency Caching</a:t>
            </a:r>
            <a:endParaRPr lang="en-US" sz="1100" dirty="0"/>
          </a:p>
        </p:txBody>
      </p:sp>
      <p:sp>
        <p:nvSpPr>
          <p:cNvPr id="29" name="Text 27"/>
          <p:cNvSpPr/>
          <p:nvPr/>
        </p:nvSpPr>
        <p:spPr>
          <a:xfrm>
            <a:off x="877824" y="3163824"/>
            <a:ext cx="356616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Maven/npm/Docker layer caching</a:t>
            </a:r>
            <a:endParaRPr lang="en-US" sz="850" dirty="0"/>
          </a:p>
        </p:txBody>
      </p:sp>
      <p:sp>
        <p:nvSpPr>
          <p:cNvPr id="30" name="Shape 28"/>
          <p:cNvSpPr/>
          <p:nvPr/>
        </p:nvSpPr>
        <p:spPr>
          <a:xfrm>
            <a:off x="4773168" y="1097280"/>
            <a:ext cx="4224528" cy="53035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4773168" y="1097280"/>
            <a:ext cx="64008" cy="530352"/>
          </a:xfrm>
          <a:prstGeom prst="rect">
            <a:avLst/>
          </a:prstGeom>
          <a:solidFill>
            <a:srgbClr val="0D9488"/>
          </a:solidFill>
          <a:ln w="12700">
            <a:solidFill>
              <a:srgbClr val="0D9488"/>
            </a:solidFill>
            <a:prstDash val="solid"/>
          </a:ln>
        </p:spPr>
      </p:sp>
      <p:sp>
        <p:nvSpPr>
          <p:cNvPr id="32" name="Shape 30"/>
          <p:cNvSpPr/>
          <p:nvPr/>
        </p:nvSpPr>
        <p:spPr>
          <a:xfrm>
            <a:off x="4901184" y="1197864"/>
            <a:ext cx="310896" cy="310896"/>
          </a:xfrm>
          <a:prstGeom prst="ellipse">
            <a:avLst/>
          </a:prstGeom>
          <a:solidFill>
            <a:srgbClr val="0D9488"/>
          </a:solidFill>
          <a:ln w="12700">
            <a:solidFill>
              <a:srgbClr val="0D9488"/>
            </a:solidFill>
            <a:prstDash val="solid"/>
          </a:ln>
        </p:spPr>
      </p:sp>
      <p:sp>
        <p:nvSpPr>
          <p:cNvPr id="33" name="Text 31"/>
          <p:cNvSpPr/>
          <p:nvPr/>
        </p:nvSpPr>
        <p:spPr>
          <a:xfrm>
            <a:off x="4901184" y="1197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34" name="Text 32"/>
          <p:cNvSpPr/>
          <p:nvPr/>
        </p:nvSpPr>
        <p:spPr>
          <a:xfrm>
            <a:off x="5303520" y="1170432"/>
            <a:ext cx="356616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Committing Artifacts to Repo</a:t>
            </a:r>
            <a:endParaRPr lang="en-US" sz="1100" dirty="0"/>
          </a:p>
        </p:txBody>
      </p:sp>
      <p:sp>
        <p:nvSpPr>
          <p:cNvPr id="35" name="Text 33"/>
          <p:cNvSpPr/>
          <p:nvPr/>
        </p:nvSpPr>
        <p:spPr>
          <a:xfrm>
            <a:off x="5303520" y="1408176"/>
            <a:ext cx="356616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Auto-commit, versioning, [skip ci]</a:t>
            </a:r>
            <a:endParaRPr lang="en-US" sz="850" dirty="0"/>
          </a:p>
        </p:txBody>
      </p:sp>
      <p:sp>
        <p:nvSpPr>
          <p:cNvPr id="36" name="Shape 34"/>
          <p:cNvSpPr/>
          <p:nvPr/>
        </p:nvSpPr>
        <p:spPr>
          <a:xfrm>
            <a:off x="4773168" y="1682496"/>
            <a:ext cx="4224528" cy="53035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37" name="Shape 35"/>
          <p:cNvSpPr/>
          <p:nvPr/>
        </p:nvSpPr>
        <p:spPr>
          <a:xfrm>
            <a:off x="4773168" y="1682496"/>
            <a:ext cx="64008" cy="530352"/>
          </a:xfrm>
          <a:prstGeom prst="rect">
            <a:avLst/>
          </a:prstGeom>
          <a:solidFill>
            <a:srgbClr val="F59E0B"/>
          </a:solidFill>
          <a:ln w="12700">
            <a:solidFill>
              <a:srgbClr val="F59E0B"/>
            </a:solidFill>
            <a:prstDash val="solid"/>
          </a:ln>
        </p:spPr>
      </p:sp>
      <p:sp>
        <p:nvSpPr>
          <p:cNvPr id="38" name="Shape 36"/>
          <p:cNvSpPr/>
          <p:nvPr/>
        </p:nvSpPr>
        <p:spPr>
          <a:xfrm>
            <a:off x="4901184" y="1783080"/>
            <a:ext cx="310896" cy="310896"/>
          </a:xfrm>
          <a:prstGeom prst="ellipse">
            <a:avLst/>
          </a:prstGeom>
          <a:solidFill>
            <a:srgbClr val="F59E0B"/>
          </a:solidFill>
          <a:ln w="12700">
            <a:solidFill>
              <a:srgbClr val="F59E0B"/>
            </a:solidFill>
            <a:prstDash val="solid"/>
          </a:ln>
        </p:spPr>
      </p:sp>
      <p:sp>
        <p:nvSpPr>
          <p:cNvPr id="39" name="Text 37"/>
          <p:cNvSpPr/>
          <p:nvPr/>
        </p:nvSpPr>
        <p:spPr>
          <a:xfrm>
            <a:off x="4901184" y="178308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40" name="Text 38"/>
          <p:cNvSpPr/>
          <p:nvPr/>
        </p:nvSpPr>
        <p:spPr>
          <a:xfrm>
            <a:off x="5303520" y="1755648"/>
            <a:ext cx="356616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Reusable Workflows</a:t>
            </a:r>
            <a:endParaRPr lang="en-US" sz="1100" dirty="0"/>
          </a:p>
        </p:txBody>
      </p:sp>
      <p:sp>
        <p:nvSpPr>
          <p:cNvPr id="41" name="Text 39"/>
          <p:cNvSpPr/>
          <p:nvPr/>
        </p:nvSpPr>
        <p:spPr>
          <a:xfrm>
            <a:off x="5303520" y="1993392"/>
            <a:ext cx="356616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workflow_call, inputs, organization DRY</a:t>
            </a:r>
            <a:endParaRPr lang="en-US" sz="850" dirty="0"/>
          </a:p>
        </p:txBody>
      </p:sp>
      <p:sp>
        <p:nvSpPr>
          <p:cNvPr id="42" name="Shape 40"/>
          <p:cNvSpPr/>
          <p:nvPr/>
        </p:nvSpPr>
        <p:spPr>
          <a:xfrm>
            <a:off x="4773168" y="2267712"/>
            <a:ext cx="4224528" cy="53035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43" name="Shape 41"/>
          <p:cNvSpPr/>
          <p:nvPr/>
        </p:nvSpPr>
        <p:spPr>
          <a:xfrm>
            <a:off x="4773168" y="2267712"/>
            <a:ext cx="64008" cy="530352"/>
          </a:xfrm>
          <a:prstGeom prst="rect">
            <a:avLst/>
          </a:prstGeom>
          <a:solidFill>
            <a:srgbClr val="EA580C"/>
          </a:solidFill>
          <a:ln w="12700">
            <a:solidFill>
              <a:srgbClr val="EA580C"/>
            </a:solidFill>
            <a:prstDash val="solid"/>
          </a:ln>
        </p:spPr>
      </p:sp>
      <p:sp>
        <p:nvSpPr>
          <p:cNvPr id="44" name="Shape 42"/>
          <p:cNvSpPr/>
          <p:nvPr/>
        </p:nvSpPr>
        <p:spPr>
          <a:xfrm>
            <a:off x="4901184" y="2368296"/>
            <a:ext cx="310896" cy="310896"/>
          </a:xfrm>
          <a:prstGeom prst="ellipse">
            <a:avLst/>
          </a:prstGeom>
          <a:solidFill>
            <a:srgbClr val="EA580C"/>
          </a:solidFill>
          <a:ln w="12700">
            <a:solidFill>
              <a:srgbClr val="EA580C"/>
            </a:solidFill>
            <a:prstDash val="solid"/>
          </a:ln>
        </p:spPr>
      </p:sp>
      <p:sp>
        <p:nvSpPr>
          <p:cNvPr id="45" name="Text 43"/>
          <p:cNvSpPr/>
          <p:nvPr/>
        </p:nvSpPr>
        <p:spPr>
          <a:xfrm>
            <a:off x="4901184" y="23682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46" name="Text 44"/>
          <p:cNvSpPr/>
          <p:nvPr/>
        </p:nvSpPr>
        <p:spPr>
          <a:xfrm>
            <a:off x="5303520" y="2340864"/>
            <a:ext cx="356616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Conditional Execution</a:t>
            </a:r>
            <a:endParaRPr lang="en-US" sz="1100" dirty="0"/>
          </a:p>
        </p:txBody>
      </p:sp>
      <p:sp>
        <p:nvSpPr>
          <p:cNvPr id="47" name="Text 45"/>
          <p:cNvSpPr/>
          <p:nvPr/>
        </p:nvSpPr>
        <p:spPr>
          <a:xfrm>
            <a:off x="5303520" y="2578608"/>
            <a:ext cx="356616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if:, always(), failure(), branch checks</a:t>
            </a:r>
            <a:endParaRPr lang="en-US" sz="850" dirty="0"/>
          </a:p>
        </p:txBody>
      </p:sp>
      <p:sp>
        <p:nvSpPr>
          <p:cNvPr id="48" name="Shape 46"/>
          <p:cNvSpPr/>
          <p:nvPr/>
        </p:nvSpPr>
        <p:spPr>
          <a:xfrm>
            <a:off x="4773168" y="2852928"/>
            <a:ext cx="4224528" cy="53035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49" name="Shape 47"/>
          <p:cNvSpPr/>
          <p:nvPr/>
        </p:nvSpPr>
        <p:spPr>
          <a:xfrm>
            <a:off x="4773168" y="2852928"/>
            <a:ext cx="64008" cy="530352"/>
          </a:xfrm>
          <a:prstGeom prst="rect">
            <a:avLst/>
          </a:prstGeom>
          <a:solidFill>
            <a:srgbClr val="EC4899"/>
          </a:solidFill>
          <a:ln w="12700">
            <a:solidFill>
              <a:srgbClr val="EC4899"/>
            </a:solidFill>
            <a:prstDash val="solid"/>
          </a:ln>
        </p:spPr>
      </p:sp>
      <p:sp>
        <p:nvSpPr>
          <p:cNvPr id="50" name="Shape 48"/>
          <p:cNvSpPr/>
          <p:nvPr/>
        </p:nvSpPr>
        <p:spPr>
          <a:xfrm>
            <a:off x="4901184" y="2953512"/>
            <a:ext cx="310896" cy="310896"/>
          </a:xfrm>
          <a:prstGeom prst="ellipse">
            <a:avLst/>
          </a:prstGeom>
          <a:solidFill>
            <a:srgbClr val="EC4899"/>
          </a:solidFill>
          <a:ln w="12700">
            <a:solidFill>
              <a:srgbClr val="EC4899"/>
            </a:solidFill>
            <a:prstDash val="solid"/>
          </a:ln>
        </p:spPr>
      </p:sp>
      <p:sp>
        <p:nvSpPr>
          <p:cNvPr id="51" name="Text 49"/>
          <p:cNvSpPr/>
          <p:nvPr/>
        </p:nvSpPr>
        <p:spPr>
          <a:xfrm>
            <a:off x="4901184" y="295351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52" name="Text 50"/>
          <p:cNvSpPr/>
          <p:nvPr/>
        </p:nvSpPr>
        <p:spPr>
          <a:xfrm>
            <a:off x="5303520" y="2926080"/>
            <a:ext cx="356616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Targeting Environments</a:t>
            </a:r>
            <a:endParaRPr lang="en-US" sz="1100" dirty="0"/>
          </a:p>
        </p:txBody>
      </p:sp>
      <p:sp>
        <p:nvSpPr>
          <p:cNvPr id="53" name="Text 51"/>
          <p:cNvSpPr/>
          <p:nvPr/>
        </p:nvSpPr>
        <p:spPr>
          <a:xfrm>
            <a:off x="5303520" y="3163824"/>
            <a:ext cx="356616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Env secrets, approvals, deployment gates</a:t>
            </a:r>
            <a:endParaRPr lang="en-US" sz="850" dirty="0"/>
          </a:p>
        </p:txBody>
      </p:sp>
      <p:sp>
        <p:nvSpPr>
          <p:cNvPr id="54" name="Shape 52"/>
          <p:cNvSpPr/>
          <p:nvPr/>
        </p:nvSpPr>
        <p:spPr>
          <a:xfrm>
            <a:off x="4553712" y="1078992"/>
            <a:ext cx="27432" cy="3657600"/>
          </a:xfrm>
          <a:prstGeom prst="rect">
            <a:avLst/>
          </a:prstGeom>
          <a:solidFill>
            <a:srgbClr val="E2E8F0"/>
          </a:solidFill>
          <a:ln w="12700">
            <a:solidFill>
              <a:srgbClr val="E2E8F0"/>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6B6D4"/>
          </a:solidFill>
          <a:ln w="12700">
            <a:solidFill>
              <a:srgbClr val="06B6D4"/>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Module 1 — Unit Testing in a Workflow</a:t>
            </a:r>
            <a:endParaRPr lang="en-US" sz="2500" dirty="0"/>
          </a:p>
        </p:txBody>
      </p:sp>
      <p:sp>
        <p:nvSpPr>
          <p:cNvPr id="4" name="Shape 2"/>
          <p:cNvSpPr/>
          <p:nvPr/>
        </p:nvSpPr>
        <p:spPr>
          <a:xfrm>
            <a:off x="384048" y="731520"/>
            <a:ext cx="1675181" cy="219456"/>
          </a:xfrm>
          <a:prstGeom prst="rect">
            <a:avLst/>
          </a:prstGeom>
          <a:solidFill>
            <a:srgbClr val="06B6D4"/>
          </a:solidFill>
          <a:ln w="12700">
            <a:solidFill>
              <a:srgbClr val="06B6D4"/>
            </a:solidFill>
            <a:prstDash val="solid"/>
          </a:ln>
        </p:spPr>
      </p:sp>
      <p:sp>
        <p:nvSpPr>
          <p:cNvPr id="5" name="Text 3"/>
          <p:cNvSpPr/>
          <p:nvPr/>
        </p:nvSpPr>
        <p:spPr>
          <a:xfrm>
            <a:off x="384048" y="731520"/>
            <a:ext cx="1675181"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WHY IT MATTERS</a:t>
            </a:r>
            <a:endParaRPr lang="en-US" sz="850" dirty="0"/>
          </a:p>
        </p:txBody>
      </p:sp>
      <p:sp>
        <p:nvSpPr>
          <p:cNvPr id="6" name="Shape 4"/>
          <p:cNvSpPr/>
          <p:nvPr/>
        </p:nvSpPr>
        <p:spPr>
          <a:xfrm>
            <a:off x="347472" y="1097280"/>
            <a:ext cx="4224528" cy="3584448"/>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47472" y="1097280"/>
            <a:ext cx="4224528" cy="457200"/>
          </a:xfrm>
          <a:prstGeom prst="rect">
            <a:avLst/>
          </a:prstGeom>
          <a:solidFill>
            <a:srgbClr val="EF4444"/>
          </a:solidFill>
          <a:ln w="12700">
            <a:solidFill>
              <a:srgbClr val="EF4444"/>
            </a:solidFill>
            <a:prstDash val="solid"/>
          </a:ln>
        </p:spPr>
      </p:sp>
      <p:pic>
        <p:nvPicPr>
          <p:cNvPr id="8" name="Image 0" descr="preencoded.png">    </p:cNvPr>
          <p:cNvPicPr>
            <a:picLocks noChangeAspect="1"/>
          </p:cNvPicPr>
          <p:nvPr/>
        </p:nvPicPr>
        <p:blipFill>
          <a:blip r:embed="rId1"/>
          <a:stretch>
            <a:fillRect/>
          </a:stretch>
        </p:blipFill>
        <p:spPr>
          <a:xfrm>
            <a:off x="484632" y="1161288"/>
            <a:ext cx="329184" cy="329184"/>
          </a:xfrm>
          <a:prstGeom prst="rect">
            <a:avLst/>
          </a:prstGeom>
        </p:spPr>
      </p:pic>
      <p:sp>
        <p:nvSpPr>
          <p:cNvPr id="9" name="Text 6"/>
          <p:cNvSpPr/>
          <p:nvPr/>
        </p:nvSpPr>
        <p:spPr>
          <a:xfrm>
            <a:off x="877824" y="1161288"/>
            <a:ext cx="356616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Without Pipeline Testing</a:t>
            </a:r>
            <a:endParaRPr lang="en-US" sz="1200" dirty="0"/>
          </a:p>
        </p:txBody>
      </p:sp>
      <p:sp>
        <p:nvSpPr>
          <p:cNvPr id="10" name="Shape 7"/>
          <p:cNvSpPr/>
          <p:nvPr/>
        </p:nvSpPr>
        <p:spPr>
          <a:xfrm>
            <a:off x="512064" y="1755648"/>
            <a:ext cx="164592" cy="164592"/>
          </a:xfrm>
          <a:prstGeom prst="ellipse">
            <a:avLst/>
          </a:prstGeom>
          <a:solidFill>
            <a:srgbClr val="EF4444"/>
          </a:solidFill>
          <a:ln w="12700">
            <a:solidFill>
              <a:srgbClr val="EF4444"/>
            </a:solidFill>
            <a:prstDash val="solid"/>
          </a:ln>
        </p:spPr>
      </p:sp>
      <p:sp>
        <p:nvSpPr>
          <p:cNvPr id="11" name="Text 8"/>
          <p:cNvSpPr/>
          <p:nvPr/>
        </p:nvSpPr>
        <p:spPr>
          <a:xfrm>
            <a:off x="749808" y="1719072"/>
            <a:ext cx="3657600" cy="402336"/>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"I'll test it later" — and later never comes</a:t>
            </a:r>
            <a:endParaRPr lang="en-US" sz="1000" dirty="0"/>
          </a:p>
        </p:txBody>
      </p:sp>
      <p:sp>
        <p:nvSpPr>
          <p:cNvPr id="12" name="Shape 9"/>
          <p:cNvSpPr/>
          <p:nvPr/>
        </p:nvSpPr>
        <p:spPr>
          <a:xfrm>
            <a:off x="512064" y="2267712"/>
            <a:ext cx="164592" cy="164592"/>
          </a:xfrm>
          <a:prstGeom prst="ellipse">
            <a:avLst/>
          </a:prstGeom>
          <a:solidFill>
            <a:srgbClr val="EF4444"/>
          </a:solidFill>
          <a:ln w="12700">
            <a:solidFill>
              <a:srgbClr val="EF4444"/>
            </a:solidFill>
            <a:prstDash val="solid"/>
          </a:ln>
        </p:spPr>
      </p:sp>
      <p:sp>
        <p:nvSpPr>
          <p:cNvPr id="13" name="Text 10"/>
          <p:cNvSpPr/>
          <p:nvPr/>
        </p:nvSpPr>
        <p:spPr>
          <a:xfrm>
            <a:off x="749808" y="2231136"/>
            <a:ext cx="3657600" cy="402336"/>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Bugs reach production, cost 10× more to fix</a:t>
            </a:r>
            <a:endParaRPr lang="en-US" sz="1000" dirty="0"/>
          </a:p>
        </p:txBody>
      </p:sp>
      <p:sp>
        <p:nvSpPr>
          <p:cNvPr id="14" name="Shape 11"/>
          <p:cNvSpPr/>
          <p:nvPr/>
        </p:nvSpPr>
        <p:spPr>
          <a:xfrm>
            <a:off x="512064" y="2779776"/>
            <a:ext cx="164592" cy="164592"/>
          </a:xfrm>
          <a:prstGeom prst="ellipse">
            <a:avLst/>
          </a:prstGeom>
          <a:solidFill>
            <a:srgbClr val="EF4444"/>
          </a:solidFill>
          <a:ln w="12700">
            <a:solidFill>
              <a:srgbClr val="EF4444"/>
            </a:solidFill>
            <a:prstDash val="solid"/>
          </a:ln>
        </p:spPr>
      </p:sp>
      <p:sp>
        <p:nvSpPr>
          <p:cNvPr id="15" name="Text 12"/>
          <p:cNvSpPr/>
          <p:nvPr/>
        </p:nvSpPr>
        <p:spPr>
          <a:xfrm>
            <a:off x="749808" y="2743200"/>
            <a:ext cx="3657600" cy="402336"/>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Team relies on discipline, not infrastructure</a:t>
            </a:r>
            <a:endParaRPr lang="en-US" sz="1000" dirty="0"/>
          </a:p>
        </p:txBody>
      </p:sp>
      <p:sp>
        <p:nvSpPr>
          <p:cNvPr id="16" name="Shape 13"/>
          <p:cNvSpPr/>
          <p:nvPr/>
        </p:nvSpPr>
        <p:spPr>
          <a:xfrm>
            <a:off x="512064" y="3291840"/>
            <a:ext cx="164592" cy="164592"/>
          </a:xfrm>
          <a:prstGeom prst="ellipse">
            <a:avLst/>
          </a:prstGeom>
          <a:solidFill>
            <a:srgbClr val="EF4444"/>
          </a:solidFill>
          <a:ln w="12700">
            <a:solidFill>
              <a:srgbClr val="EF4444"/>
            </a:solidFill>
            <a:prstDash val="solid"/>
          </a:ln>
        </p:spPr>
      </p:sp>
      <p:sp>
        <p:nvSpPr>
          <p:cNvPr id="17" name="Text 14"/>
          <p:cNvSpPr/>
          <p:nvPr/>
        </p:nvSpPr>
        <p:spPr>
          <a:xfrm>
            <a:off x="749808" y="3255264"/>
            <a:ext cx="3657600" cy="402336"/>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Inconsistent test runs across developers</a:t>
            </a:r>
            <a:endParaRPr lang="en-US" sz="1000" dirty="0"/>
          </a:p>
        </p:txBody>
      </p:sp>
      <p:sp>
        <p:nvSpPr>
          <p:cNvPr id="18" name="Shape 15"/>
          <p:cNvSpPr/>
          <p:nvPr/>
        </p:nvSpPr>
        <p:spPr>
          <a:xfrm>
            <a:off x="512064" y="3803904"/>
            <a:ext cx="164592" cy="164592"/>
          </a:xfrm>
          <a:prstGeom prst="ellipse">
            <a:avLst/>
          </a:prstGeom>
          <a:solidFill>
            <a:srgbClr val="EF4444"/>
          </a:solidFill>
          <a:ln w="12700">
            <a:solidFill>
              <a:srgbClr val="EF4444"/>
            </a:solidFill>
            <a:prstDash val="solid"/>
          </a:ln>
        </p:spPr>
      </p:sp>
      <p:sp>
        <p:nvSpPr>
          <p:cNvPr id="19" name="Text 16"/>
          <p:cNvSpPr/>
          <p:nvPr/>
        </p:nvSpPr>
        <p:spPr>
          <a:xfrm>
            <a:off x="749808" y="3767328"/>
            <a:ext cx="3657600" cy="402336"/>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No proof tests were run for each release</a:t>
            </a:r>
            <a:endParaRPr lang="en-US" sz="1000" dirty="0"/>
          </a:p>
        </p:txBody>
      </p:sp>
      <p:sp>
        <p:nvSpPr>
          <p:cNvPr id="20" name="Shape 17"/>
          <p:cNvSpPr/>
          <p:nvPr/>
        </p:nvSpPr>
        <p:spPr>
          <a:xfrm>
            <a:off x="4718304" y="1097280"/>
            <a:ext cx="4224528" cy="3584448"/>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21" name="Shape 18"/>
          <p:cNvSpPr/>
          <p:nvPr/>
        </p:nvSpPr>
        <p:spPr>
          <a:xfrm>
            <a:off x="4718304" y="1097280"/>
            <a:ext cx="4224528" cy="457200"/>
          </a:xfrm>
          <a:prstGeom prst="rect">
            <a:avLst/>
          </a:prstGeom>
          <a:solidFill>
            <a:srgbClr val="10B981"/>
          </a:solidFill>
          <a:ln w="12700">
            <a:solidFill>
              <a:srgbClr val="10B981"/>
            </a:solidFill>
            <a:prstDash val="solid"/>
          </a:ln>
        </p:spPr>
      </p:sp>
      <p:pic>
        <p:nvPicPr>
          <p:cNvPr id="22" name="Image 1" descr="preencoded.png">    </p:cNvPr>
          <p:cNvPicPr>
            <a:picLocks noChangeAspect="1"/>
          </p:cNvPicPr>
          <p:nvPr/>
        </p:nvPicPr>
        <p:blipFill>
          <a:blip r:embed="rId2"/>
          <a:stretch>
            <a:fillRect/>
          </a:stretch>
        </p:blipFill>
        <p:spPr>
          <a:xfrm>
            <a:off x="4855464" y="1161288"/>
            <a:ext cx="329184" cy="329184"/>
          </a:xfrm>
          <a:prstGeom prst="rect">
            <a:avLst/>
          </a:prstGeom>
        </p:spPr>
      </p:pic>
      <p:sp>
        <p:nvSpPr>
          <p:cNvPr id="23" name="Text 19"/>
          <p:cNvSpPr/>
          <p:nvPr/>
        </p:nvSpPr>
        <p:spPr>
          <a:xfrm>
            <a:off x="5248656" y="1161288"/>
            <a:ext cx="356616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With Pipeline Testing</a:t>
            </a:r>
            <a:endParaRPr lang="en-US" sz="1200" dirty="0"/>
          </a:p>
        </p:txBody>
      </p:sp>
      <p:sp>
        <p:nvSpPr>
          <p:cNvPr id="24" name="Shape 20"/>
          <p:cNvSpPr/>
          <p:nvPr/>
        </p:nvSpPr>
        <p:spPr>
          <a:xfrm>
            <a:off x="4882896" y="1755648"/>
            <a:ext cx="164592" cy="164592"/>
          </a:xfrm>
          <a:prstGeom prst="ellipse">
            <a:avLst/>
          </a:prstGeom>
          <a:solidFill>
            <a:srgbClr val="10B981"/>
          </a:solidFill>
          <a:ln w="12700">
            <a:solidFill>
              <a:srgbClr val="10B981"/>
            </a:solidFill>
            <a:prstDash val="solid"/>
          </a:ln>
        </p:spPr>
      </p:sp>
      <p:sp>
        <p:nvSpPr>
          <p:cNvPr id="25" name="Text 21"/>
          <p:cNvSpPr/>
          <p:nvPr/>
        </p:nvSpPr>
        <p:spPr>
          <a:xfrm>
            <a:off x="5120640" y="1719072"/>
            <a:ext cx="3657600" cy="402336"/>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Tests run automatically on every push</a:t>
            </a:r>
            <a:endParaRPr lang="en-US" sz="1000" dirty="0"/>
          </a:p>
        </p:txBody>
      </p:sp>
      <p:sp>
        <p:nvSpPr>
          <p:cNvPr id="26" name="Shape 22"/>
          <p:cNvSpPr/>
          <p:nvPr/>
        </p:nvSpPr>
        <p:spPr>
          <a:xfrm>
            <a:off x="4882896" y="2267712"/>
            <a:ext cx="164592" cy="164592"/>
          </a:xfrm>
          <a:prstGeom prst="ellipse">
            <a:avLst/>
          </a:prstGeom>
          <a:solidFill>
            <a:srgbClr val="10B981"/>
          </a:solidFill>
          <a:ln w="12700">
            <a:solidFill>
              <a:srgbClr val="10B981"/>
            </a:solidFill>
            <a:prstDash val="solid"/>
          </a:ln>
        </p:spPr>
      </p:sp>
      <p:sp>
        <p:nvSpPr>
          <p:cNvPr id="27" name="Text 23"/>
          <p:cNvSpPr/>
          <p:nvPr/>
        </p:nvSpPr>
        <p:spPr>
          <a:xfrm>
            <a:off x="5120640" y="2231136"/>
            <a:ext cx="3657600" cy="402336"/>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Broken code blocked from merging to main</a:t>
            </a:r>
            <a:endParaRPr lang="en-US" sz="1000" dirty="0"/>
          </a:p>
        </p:txBody>
      </p:sp>
      <p:sp>
        <p:nvSpPr>
          <p:cNvPr id="28" name="Shape 24"/>
          <p:cNvSpPr/>
          <p:nvPr/>
        </p:nvSpPr>
        <p:spPr>
          <a:xfrm>
            <a:off x="4882896" y="2779776"/>
            <a:ext cx="164592" cy="164592"/>
          </a:xfrm>
          <a:prstGeom prst="ellipse">
            <a:avLst/>
          </a:prstGeom>
          <a:solidFill>
            <a:srgbClr val="10B981"/>
          </a:solidFill>
          <a:ln w="12700">
            <a:solidFill>
              <a:srgbClr val="10B981"/>
            </a:solidFill>
            <a:prstDash val="solid"/>
          </a:ln>
        </p:spPr>
      </p:sp>
      <p:sp>
        <p:nvSpPr>
          <p:cNvPr id="29" name="Text 25"/>
          <p:cNvSpPr/>
          <p:nvPr/>
        </p:nvSpPr>
        <p:spPr>
          <a:xfrm>
            <a:off x="5120640" y="2743200"/>
            <a:ext cx="3657600" cy="402336"/>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Single source of truth for code health</a:t>
            </a:r>
            <a:endParaRPr lang="en-US" sz="1000" dirty="0"/>
          </a:p>
        </p:txBody>
      </p:sp>
      <p:sp>
        <p:nvSpPr>
          <p:cNvPr id="30" name="Shape 26"/>
          <p:cNvSpPr/>
          <p:nvPr/>
        </p:nvSpPr>
        <p:spPr>
          <a:xfrm>
            <a:off x="4882896" y="3291840"/>
            <a:ext cx="164592" cy="164592"/>
          </a:xfrm>
          <a:prstGeom prst="ellipse">
            <a:avLst/>
          </a:prstGeom>
          <a:solidFill>
            <a:srgbClr val="10B981"/>
          </a:solidFill>
          <a:ln w="12700">
            <a:solidFill>
              <a:srgbClr val="10B981"/>
            </a:solidFill>
            <a:prstDash val="solid"/>
          </a:ln>
        </p:spPr>
      </p:sp>
      <p:sp>
        <p:nvSpPr>
          <p:cNvPr id="31" name="Text 27"/>
          <p:cNvSpPr/>
          <p:nvPr/>
        </p:nvSpPr>
        <p:spPr>
          <a:xfrm>
            <a:off x="5120640" y="3255264"/>
            <a:ext cx="3657600" cy="402336"/>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Feedback in 3 minutes, not 3 days</a:t>
            </a:r>
            <a:endParaRPr lang="en-US" sz="1000" dirty="0"/>
          </a:p>
        </p:txBody>
      </p:sp>
      <p:sp>
        <p:nvSpPr>
          <p:cNvPr id="32" name="Shape 28"/>
          <p:cNvSpPr/>
          <p:nvPr/>
        </p:nvSpPr>
        <p:spPr>
          <a:xfrm>
            <a:off x="4882896" y="3803904"/>
            <a:ext cx="164592" cy="164592"/>
          </a:xfrm>
          <a:prstGeom prst="ellipse">
            <a:avLst/>
          </a:prstGeom>
          <a:solidFill>
            <a:srgbClr val="10B981"/>
          </a:solidFill>
          <a:ln w="12700">
            <a:solidFill>
              <a:srgbClr val="10B981"/>
            </a:solidFill>
            <a:prstDash val="solid"/>
          </a:ln>
        </p:spPr>
      </p:sp>
      <p:sp>
        <p:nvSpPr>
          <p:cNvPr id="33" name="Text 29"/>
          <p:cNvSpPr/>
          <p:nvPr/>
        </p:nvSpPr>
        <p:spPr>
          <a:xfrm>
            <a:off x="5120640" y="3767328"/>
            <a:ext cx="3657600" cy="402336"/>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Full audit trail — test results per commit</a:t>
            </a:r>
            <a:endParaRPr lang="en-US" sz="1000" dirty="0"/>
          </a:p>
        </p:txBody>
      </p:sp>
      <p:sp>
        <p:nvSpPr>
          <p:cNvPr id="34" name="Shape 30"/>
          <p:cNvSpPr/>
          <p:nvPr/>
        </p:nvSpPr>
        <p:spPr>
          <a:xfrm>
            <a:off x="347472" y="4736592"/>
            <a:ext cx="8449056" cy="347472"/>
          </a:xfrm>
          <a:prstGeom prst="rect">
            <a:avLst/>
          </a:prstGeom>
          <a:solidFill>
            <a:srgbClr val="0D1B2A"/>
          </a:solidFill>
          <a:ln w="12700">
            <a:solidFill>
              <a:srgbClr val="0D1B2A"/>
            </a:solidFill>
            <a:prstDash val="solid"/>
          </a:ln>
        </p:spPr>
      </p:sp>
      <p:sp>
        <p:nvSpPr>
          <p:cNvPr id="35" name="Text 31"/>
          <p:cNvSpPr/>
          <p:nvPr/>
        </p:nvSpPr>
        <p:spPr>
          <a:xfrm>
            <a:off x="347472" y="4736592"/>
            <a:ext cx="8449056" cy="347472"/>
          </a:xfrm>
          <a:prstGeom prst="rect">
            <a:avLst/>
          </a:prstGeom>
          <a:noFill/>
          <a:ln/>
        </p:spPr>
        <p:txBody>
          <a:bodyPr wrap="square" lIns="0" tIns="0" rIns="0" bIns="0" rtlCol="0" anchor="ctr"/>
          <a:lstStyle/>
          <a:p>
            <a:pPr algn="ctr" indent="0" marL="0">
              <a:buNone/>
            </a:pPr>
            <a:r>
              <a:rPr lang="en-US" sz="1050" dirty="0">
                <a:solidFill>
                  <a:srgbClr val="06B6D4"/>
                </a:solidFill>
                <a:latin typeface="Calibri" pitchFamily="34" charset="0"/>
                <a:ea typeface="Calibri" pitchFamily="34" charset="-122"/>
                <a:cs typeface="Calibri" pitchFamily="34" charset="-120"/>
              </a:rPr>
              <a:t>📊  IBM Study: A bug found in development costs 1×. The same bug found in production costs 10×–100× more to fix.</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6B6D4"/>
          </a:solidFill>
          <a:ln w="12700">
            <a:solidFill>
              <a:srgbClr val="06B6D4"/>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Unit Testing — End-to-End Flow Diagram</a:t>
            </a:r>
            <a:endParaRPr lang="en-US" sz="2500" dirty="0"/>
          </a:p>
        </p:txBody>
      </p:sp>
      <p:sp>
        <p:nvSpPr>
          <p:cNvPr id="4" name="Shape 2"/>
          <p:cNvSpPr/>
          <p:nvPr/>
        </p:nvSpPr>
        <p:spPr>
          <a:xfrm>
            <a:off x="384048" y="731520"/>
            <a:ext cx="1477670" cy="219456"/>
          </a:xfrm>
          <a:prstGeom prst="rect">
            <a:avLst/>
          </a:prstGeom>
          <a:solidFill>
            <a:srgbClr val="06B6D4"/>
          </a:solidFill>
          <a:ln w="12700">
            <a:solidFill>
              <a:srgbClr val="06B6D4"/>
            </a:solidFill>
            <a:prstDash val="solid"/>
          </a:ln>
        </p:spPr>
      </p:sp>
      <p:sp>
        <p:nvSpPr>
          <p:cNvPr id="5" name="Text 3"/>
          <p:cNvSpPr/>
          <p:nvPr/>
        </p:nvSpPr>
        <p:spPr>
          <a:xfrm>
            <a:off x="384048" y="731520"/>
            <a:ext cx="1477670"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FLOW DIAGRAM</a:t>
            </a:r>
            <a:endParaRPr lang="en-US" sz="850" dirty="0"/>
          </a:p>
        </p:txBody>
      </p:sp>
      <p:sp>
        <p:nvSpPr>
          <p:cNvPr id="6" name="Shape 4"/>
          <p:cNvSpPr/>
          <p:nvPr/>
        </p:nvSpPr>
        <p:spPr>
          <a:xfrm>
            <a:off x="274320" y="1371600"/>
            <a:ext cx="1097280" cy="1234440"/>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74320" y="1371600"/>
            <a:ext cx="1097280" cy="54864"/>
          </a:xfrm>
          <a:prstGeom prst="rect">
            <a:avLst/>
          </a:prstGeom>
          <a:solidFill>
            <a:srgbClr val="1A56DB"/>
          </a:solidFill>
          <a:ln w="12700">
            <a:solidFill>
              <a:srgbClr val="1A56DB"/>
            </a:solidFill>
            <a:prstDash val="solid"/>
          </a:ln>
        </p:spPr>
      </p:sp>
      <p:pic>
        <p:nvPicPr>
          <p:cNvPr id="8" name="Image 0" descr="preencoded.png">    </p:cNvPr>
          <p:cNvPicPr>
            <a:picLocks noChangeAspect="1"/>
          </p:cNvPicPr>
          <p:nvPr/>
        </p:nvPicPr>
        <p:blipFill>
          <a:blip r:embed="rId1"/>
          <a:stretch>
            <a:fillRect/>
          </a:stretch>
        </p:blipFill>
        <p:spPr>
          <a:xfrm>
            <a:off x="630936" y="1517904"/>
            <a:ext cx="384048" cy="384048"/>
          </a:xfrm>
          <a:prstGeom prst="rect">
            <a:avLst/>
          </a:prstGeom>
        </p:spPr>
      </p:pic>
      <p:sp>
        <p:nvSpPr>
          <p:cNvPr id="9" name="Text 6"/>
          <p:cNvSpPr/>
          <p:nvPr/>
        </p:nvSpPr>
        <p:spPr>
          <a:xfrm>
            <a:off x="274320" y="1975104"/>
            <a:ext cx="109728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git push</a:t>
            </a:r>
            <a:endParaRPr lang="en-US" sz="900" dirty="0"/>
          </a:p>
        </p:txBody>
      </p:sp>
      <p:sp>
        <p:nvSpPr>
          <p:cNvPr id="10" name="Text 7"/>
          <p:cNvSpPr/>
          <p:nvPr/>
        </p:nvSpPr>
        <p:spPr>
          <a:xfrm>
            <a:off x="320040" y="2267712"/>
            <a:ext cx="1005840" cy="274320"/>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Developer pushes code</a:t>
            </a:r>
            <a:endParaRPr lang="en-US" sz="750" dirty="0"/>
          </a:p>
        </p:txBody>
      </p:sp>
      <p:sp>
        <p:nvSpPr>
          <p:cNvPr id="11" name="Shape 8"/>
          <p:cNvSpPr/>
          <p:nvPr/>
        </p:nvSpPr>
        <p:spPr>
          <a:xfrm>
            <a:off x="713232" y="2532888"/>
            <a:ext cx="219456" cy="219456"/>
          </a:xfrm>
          <a:prstGeom prst="ellipse">
            <a:avLst/>
          </a:prstGeom>
          <a:solidFill>
            <a:srgbClr val="1A56DB"/>
          </a:solidFill>
          <a:ln w="12700">
            <a:solidFill>
              <a:srgbClr val="1A56DB"/>
            </a:solidFill>
            <a:prstDash val="solid"/>
          </a:ln>
        </p:spPr>
      </p:sp>
      <p:sp>
        <p:nvSpPr>
          <p:cNvPr id="12" name="Text 9"/>
          <p:cNvSpPr/>
          <p:nvPr/>
        </p:nvSpPr>
        <p:spPr>
          <a:xfrm>
            <a:off x="713232" y="253288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3" name="Shape 10"/>
          <p:cNvSpPr/>
          <p:nvPr/>
        </p:nvSpPr>
        <p:spPr>
          <a:xfrm>
            <a:off x="1371600" y="1970532"/>
            <a:ext cx="77724" cy="36576"/>
          </a:xfrm>
          <a:prstGeom prst="rect">
            <a:avLst/>
          </a:prstGeom>
          <a:solidFill>
            <a:srgbClr val="1A56DB"/>
          </a:solidFill>
          <a:ln w="12700">
            <a:solidFill>
              <a:srgbClr val="1A56DB"/>
            </a:solidFill>
            <a:prstDash val="solid"/>
          </a:ln>
        </p:spPr>
      </p:sp>
      <p:sp>
        <p:nvSpPr>
          <p:cNvPr id="14" name="Shape 11"/>
          <p:cNvSpPr/>
          <p:nvPr/>
        </p:nvSpPr>
        <p:spPr>
          <a:xfrm>
            <a:off x="1449324" y="1371600"/>
            <a:ext cx="1097280" cy="1234440"/>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15" name="Shape 12"/>
          <p:cNvSpPr/>
          <p:nvPr/>
        </p:nvSpPr>
        <p:spPr>
          <a:xfrm>
            <a:off x="1449324" y="1371600"/>
            <a:ext cx="1097280" cy="54864"/>
          </a:xfrm>
          <a:prstGeom prst="rect">
            <a:avLst/>
          </a:prstGeom>
          <a:solidFill>
            <a:srgbClr val="7C3AED"/>
          </a:solidFill>
          <a:ln w="12700">
            <a:solidFill>
              <a:srgbClr val="7C3AED"/>
            </a:solidFill>
            <a:prstDash val="solid"/>
          </a:ln>
        </p:spPr>
      </p:sp>
      <p:pic>
        <p:nvPicPr>
          <p:cNvPr id="16" name="Image 1" descr="preencoded.png">    </p:cNvPr>
          <p:cNvPicPr>
            <a:picLocks noChangeAspect="1"/>
          </p:cNvPicPr>
          <p:nvPr/>
        </p:nvPicPr>
        <p:blipFill>
          <a:blip r:embed="rId2"/>
          <a:stretch>
            <a:fillRect/>
          </a:stretch>
        </p:blipFill>
        <p:spPr>
          <a:xfrm>
            <a:off x="1805940" y="1517904"/>
            <a:ext cx="384048" cy="384048"/>
          </a:xfrm>
          <a:prstGeom prst="rect">
            <a:avLst/>
          </a:prstGeom>
        </p:spPr>
      </p:pic>
      <p:sp>
        <p:nvSpPr>
          <p:cNvPr id="17" name="Text 13"/>
          <p:cNvSpPr/>
          <p:nvPr/>
        </p:nvSpPr>
        <p:spPr>
          <a:xfrm>
            <a:off x="1449324" y="1975104"/>
            <a:ext cx="109728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Trigger</a:t>
            </a:r>
            <a:endParaRPr lang="en-US" sz="900" dirty="0"/>
          </a:p>
        </p:txBody>
      </p:sp>
      <p:sp>
        <p:nvSpPr>
          <p:cNvPr id="18" name="Text 14"/>
          <p:cNvSpPr/>
          <p:nvPr/>
        </p:nvSpPr>
        <p:spPr>
          <a:xfrm>
            <a:off x="1495044" y="2267712"/>
            <a:ext cx="1005840" cy="274320"/>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on: push / pull_request</a:t>
            </a:r>
            <a:endParaRPr lang="en-US" sz="750" dirty="0"/>
          </a:p>
        </p:txBody>
      </p:sp>
      <p:sp>
        <p:nvSpPr>
          <p:cNvPr id="19" name="Shape 15"/>
          <p:cNvSpPr/>
          <p:nvPr/>
        </p:nvSpPr>
        <p:spPr>
          <a:xfrm>
            <a:off x="1888236" y="2532888"/>
            <a:ext cx="219456" cy="219456"/>
          </a:xfrm>
          <a:prstGeom prst="ellipse">
            <a:avLst/>
          </a:prstGeom>
          <a:solidFill>
            <a:srgbClr val="7C3AED"/>
          </a:solidFill>
          <a:ln w="12700">
            <a:solidFill>
              <a:srgbClr val="7C3AED"/>
            </a:solidFill>
            <a:prstDash val="solid"/>
          </a:ln>
        </p:spPr>
      </p:sp>
      <p:sp>
        <p:nvSpPr>
          <p:cNvPr id="20" name="Text 16"/>
          <p:cNvSpPr/>
          <p:nvPr/>
        </p:nvSpPr>
        <p:spPr>
          <a:xfrm>
            <a:off x="1888236" y="253288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1" name="Shape 17"/>
          <p:cNvSpPr/>
          <p:nvPr/>
        </p:nvSpPr>
        <p:spPr>
          <a:xfrm>
            <a:off x="2546604" y="1970532"/>
            <a:ext cx="77724" cy="36576"/>
          </a:xfrm>
          <a:prstGeom prst="rect">
            <a:avLst/>
          </a:prstGeom>
          <a:solidFill>
            <a:srgbClr val="7C3AED"/>
          </a:solidFill>
          <a:ln w="12700">
            <a:solidFill>
              <a:srgbClr val="7C3AED"/>
            </a:solidFill>
            <a:prstDash val="solid"/>
          </a:ln>
        </p:spPr>
      </p:sp>
      <p:sp>
        <p:nvSpPr>
          <p:cNvPr id="22" name="Shape 18"/>
          <p:cNvSpPr/>
          <p:nvPr/>
        </p:nvSpPr>
        <p:spPr>
          <a:xfrm>
            <a:off x="2624328" y="1371600"/>
            <a:ext cx="1097280" cy="1234440"/>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23" name="Shape 19"/>
          <p:cNvSpPr/>
          <p:nvPr/>
        </p:nvSpPr>
        <p:spPr>
          <a:xfrm>
            <a:off x="2624328" y="1371600"/>
            <a:ext cx="1097280" cy="54864"/>
          </a:xfrm>
          <a:prstGeom prst="rect">
            <a:avLst/>
          </a:prstGeom>
          <a:solidFill>
            <a:srgbClr val="0D9488"/>
          </a:solidFill>
          <a:ln w="12700">
            <a:solidFill>
              <a:srgbClr val="0D9488"/>
            </a:solidFill>
            <a:prstDash val="solid"/>
          </a:ln>
        </p:spPr>
      </p:sp>
      <p:pic>
        <p:nvPicPr>
          <p:cNvPr id="24" name="Image 2" descr="preencoded.png">    </p:cNvPr>
          <p:cNvPicPr>
            <a:picLocks noChangeAspect="1"/>
          </p:cNvPicPr>
          <p:nvPr/>
        </p:nvPicPr>
        <p:blipFill>
          <a:blip r:embed="rId3"/>
          <a:stretch>
            <a:fillRect/>
          </a:stretch>
        </p:blipFill>
        <p:spPr>
          <a:xfrm>
            <a:off x="2980944" y="1517904"/>
            <a:ext cx="384048" cy="384048"/>
          </a:xfrm>
          <a:prstGeom prst="rect">
            <a:avLst/>
          </a:prstGeom>
        </p:spPr>
      </p:pic>
      <p:sp>
        <p:nvSpPr>
          <p:cNvPr id="25" name="Text 20"/>
          <p:cNvSpPr/>
          <p:nvPr/>
        </p:nvSpPr>
        <p:spPr>
          <a:xfrm>
            <a:off x="2624328" y="1975104"/>
            <a:ext cx="109728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Checkout</a:t>
            </a:r>
            <a:endParaRPr lang="en-US" sz="900" dirty="0"/>
          </a:p>
        </p:txBody>
      </p:sp>
      <p:sp>
        <p:nvSpPr>
          <p:cNvPr id="26" name="Text 21"/>
          <p:cNvSpPr/>
          <p:nvPr/>
        </p:nvSpPr>
        <p:spPr>
          <a:xfrm>
            <a:off x="2670048" y="2267712"/>
            <a:ext cx="1005840" cy="274320"/>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actions/checkout@v4</a:t>
            </a:r>
            <a:endParaRPr lang="en-US" sz="750" dirty="0"/>
          </a:p>
        </p:txBody>
      </p:sp>
      <p:sp>
        <p:nvSpPr>
          <p:cNvPr id="27" name="Shape 22"/>
          <p:cNvSpPr/>
          <p:nvPr/>
        </p:nvSpPr>
        <p:spPr>
          <a:xfrm>
            <a:off x="3063240" y="2532888"/>
            <a:ext cx="219456" cy="219456"/>
          </a:xfrm>
          <a:prstGeom prst="ellipse">
            <a:avLst/>
          </a:prstGeom>
          <a:solidFill>
            <a:srgbClr val="0D9488"/>
          </a:solidFill>
          <a:ln w="12700">
            <a:solidFill>
              <a:srgbClr val="0D9488"/>
            </a:solidFill>
            <a:prstDash val="solid"/>
          </a:ln>
        </p:spPr>
      </p:sp>
      <p:sp>
        <p:nvSpPr>
          <p:cNvPr id="28" name="Text 23"/>
          <p:cNvSpPr/>
          <p:nvPr/>
        </p:nvSpPr>
        <p:spPr>
          <a:xfrm>
            <a:off x="3063240" y="253288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9" name="Shape 24"/>
          <p:cNvSpPr/>
          <p:nvPr/>
        </p:nvSpPr>
        <p:spPr>
          <a:xfrm>
            <a:off x="3721608" y="1970532"/>
            <a:ext cx="77724" cy="36576"/>
          </a:xfrm>
          <a:prstGeom prst="rect">
            <a:avLst/>
          </a:prstGeom>
          <a:solidFill>
            <a:srgbClr val="0D9488"/>
          </a:solidFill>
          <a:ln w="12700">
            <a:solidFill>
              <a:srgbClr val="0D9488"/>
            </a:solidFill>
            <a:prstDash val="solid"/>
          </a:ln>
        </p:spPr>
      </p:sp>
      <p:sp>
        <p:nvSpPr>
          <p:cNvPr id="30" name="Shape 25"/>
          <p:cNvSpPr/>
          <p:nvPr/>
        </p:nvSpPr>
        <p:spPr>
          <a:xfrm>
            <a:off x="3799332" y="1371600"/>
            <a:ext cx="1097280" cy="1234440"/>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31" name="Shape 26"/>
          <p:cNvSpPr/>
          <p:nvPr/>
        </p:nvSpPr>
        <p:spPr>
          <a:xfrm>
            <a:off x="3799332" y="1371600"/>
            <a:ext cx="1097280" cy="54864"/>
          </a:xfrm>
          <a:prstGeom prst="rect">
            <a:avLst/>
          </a:prstGeom>
          <a:solidFill>
            <a:srgbClr val="06B6D4"/>
          </a:solidFill>
          <a:ln w="12700">
            <a:solidFill>
              <a:srgbClr val="06B6D4"/>
            </a:solidFill>
            <a:prstDash val="solid"/>
          </a:ln>
        </p:spPr>
      </p:sp>
      <p:pic>
        <p:nvPicPr>
          <p:cNvPr id="32" name="Image 3" descr="preencoded.png">    </p:cNvPr>
          <p:cNvPicPr>
            <a:picLocks noChangeAspect="1"/>
          </p:cNvPicPr>
          <p:nvPr/>
        </p:nvPicPr>
        <p:blipFill>
          <a:blip r:embed="rId4"/>
          <a:stretch>
            <a:fillRect/>
          </a:stretch>
        </p:blipFill>
        <p:spPr>
          <a:xfrm>
            <a:off x="4155948" y="1517904"/>
            <a:ext cx="384048" cy="384048"/>
          </a:xfrm>
          <a:prstGeom prst="rect">
            <a:avLst/>
          </a:prstGeom>
        </p:spPr>
      </p:pic>
      <p:sp>
        <p:nvSpPr>
          <p:cNvPr id="33" name="Text 27"/>
          <p:cNvSpPr/>
          <p:nvPr/>
        </p:nvSpPr>
        <p:spPr>
          <a:xfrm>
            <a:off x="3799332" y="1975104"/>
            <a:ext cx="109728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Setup Java 21</a:t>
            </a:r>
            <a:endParaRPr lang="en-US" sz="900" dirty="0"/>
          </a:p>
        </p:txBody>
      </p:sp>
      <p:sp>
        <p:nvSpPr>
          <p:cNvPr id="34" name="Text 28"/>
          <p:cNvSpPr/>
          <p:nvPr/>
        </p:nvSpPr>
        <p:spPr>
          <a:xfrm>
            <a:off x="3845052" y="2267712"/>
            <a:ext cx="1005840" cy="274320"/>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actions/setup-java@v4</a:t>
            </a:r>
            <a:endParaRPr lang="en-US" sz="750" dirty="0"/>
          </a:p>
        </p:txBody>
      </p:sp>
      <p:sp>
        <p:nvSpPr>
          <p:cNvPr id="35" name="Shape 29"/>
          <p:cNvSpPr/>
          <p:nvPr/>
        </p:nvSpPr>
        <p:spPr>
          <a:xfrm>
            <a:off x="4238244" y="2532888"/>
            <a:ext cx="219456" cy="219456"/>
          </a:xfrm>
          <a:prstGeom prst="ellipse">
            <a:avLst/>
          </a:prstGeom>
          <a:solidFill>
            <a:srgbClr val="06B6D4"/>
          </a:solidFill>
          <a:ln w="12700">
            <a:solidFill>
              <a:srgbClr val="06B6D4"/>
            </a:solidFill>
            <a:prstDash val="solid"/>
          </a:ln>
        </p:spPr>
      </p:sp>
      <p:sp>
        <p:nvSpPr>
          <p:cNvPr id="36" name="Text 30"/>
          <p:cNvSpPr/>
          <p:nvPr/>
        </p:nvSpPr>
        <p:spPr>
          <a:xfrm>
            <a:off x="4238244" y="253288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37" name="Shape 31"/>
          <p:cNvSpPr/>
          <p:nvPr/>
        </p:nvSpPr>
        <p:spPr>
          <a:xfrm>
            <a:off x="4896612" y="1970532"/>
            <a:ext cx="77724" cy="36576"/>
          </a:xfrm>
          <a:prstGeom prst="rect">
            <a:avLst/>
          </a:prstGeom>
          <a:solidFill>
            <a:srgbClr val="06B6D4"/>
          </a:solidFill>
          <a:ln w="12700">
            <a:solidFill>
              <a:srgbClr val="06B6D4"/>
            </a:solidFill>
            <a:prstDash val="solid"/>
          </a:ln>
        </p:spPr>
      </p:sp>
      <p:sp>
        <p:nvSpPr>
          <p:cNvPr id="38" name="Shape 32"/>
          <p:cNvSpPr/>
          <p:nvPr/>
        </p:nvSpPr>
        <p:spPr>
          <a:xfrm>
            <a:off x="4974336" y="1371600"/>
            <a:ext cx="1097280" cy="1234440"/>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39" name="Shape 33"/>
          <p:cNvSpPr/>
          <p:nvPr/>
        </p:nvSpPr>
        <p:spPr>
          <a:xfrm>
            <a:off x="4974336" y="1371600"/>
            <a:ext cx="1097280" cy="54864"/>
          </a:xfrm>
          <a:prstGeom prst="rect">
            <a:avLst/>
          </a:prstGeom>
          <a:solidFill>
            <a:srgbClr val="F59E0B"/>
          </a:solidFill>
          <a:ln w="12700">
            <a:solidFill>
              <a:srgbClr val="F59E0B"/>
            </a:solidFill>
            <a:prstDash val="solid"/>
          </a:ln>
        </p:spPr>
      </p:sp>
      <p:pic>
        <p:nvPicPr>
          <p:cNvPr id="40" name="Image 4" descr="preencoded.png">    </p:cNvPr>
          <p:cNvPicPr>
            <a:picLocks noChangeAspect="1"/>
          </p:cNvPicPr>
          <p:nvPr/>
        </p:nvPicPr>
        <p:blipFill>
          <a:blip r:embed="rId5"/>
          <a:stretch>
            <a:fillRect/>
          </a:stretch>
        </p:blipFill>
        <p:spPr>
          <a:xfrm>
            <a:off x="5330952" y="1517904"/>
            <a:ext cx="384048" cy="384048"/>
          </a:xfrm>
          <a:prstGeom prst="rect">
            <a:avLst/>
          </a:prstGeom>
        </p:spPr>
      </p:pic>
      <p:sp>
        <p:nvSpPr>
          <p:cNvPr id="41" name="Text 34"/>
          <p:cNvSpPr/>
          <p:nvPr/>
        </p:nvSpPr>
        <p:spPr>
          <a:xfrm>
            <a:off x="4974336" y="1975104"/>
            <a:ext cx="109728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mvn compile</a:t>
            </a:r>
            <a:endParaRPr lang="en-US" sz="900" dirty="0"/>
          </a:p>
        </p:txBody>
      </p:sp>
      <p:sp>
        <p:nvSpPr>
          <p:cNvPr id="42" name="Text 35"/>
          <p:cNvSpPr/>
          <p:nvPr/>
        </p:nvSpPr>
        <p:spPr>
          <a:xfrm>
            <a:off x="5020056" y="2267712"/>
            <a:ext cx="1005840" cy="274320"/>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Catch compile errors early</a:t>
            </a:r>
            <a:endParaRPr lang="en-US" sz="750" dirty="0"/>
          </a:p>
        </p:txBody>
      </p:sp>
      <p:sp>
        <p:nvSpPr>
          <p:cNvPr id="43" name="Shape 36"/>
          <p:cNvSpPr/>
          <p:nvPr/>
        </p:nvSpPr>
        <p:spPr>
          <a:xfrm>
            <a:off x="5413248" y="2532888"/>
            <a:ext cx="219456" cy="219456"/>
          </a:xfrm>
          <a:prstGeom prst="ellipse">
            <a:avLst/>
          </a:prstGeom>
          <a:solidFill>
            <a:srgbClr val="F59E0B"/>
          </a:solidFill>
          <a:ln w="12700">
            <a:solidFill>
              <a:srgbClr val="F59E0B"/>
            </a:solidFill>
            <a:prstDash val="solid"/>
          </a:ln>
        </p:spPr>
      </p:sp>
      <p:sp>
        <p:nvSpPr>
          <p:cNvPr id="44" name="Text 37"/>
          <p:cNvSpPr/>
          <p:nvPr/>
        </p:nvSpPr>
        <p:spPr>
          <a:xfrm>
            <a:off x="5413248" y="253288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45" name="Shape 38"/>
          <p:cNvSpPr/>
          <p:nvPr/>
        </p:nvSpPr>
        <p:spPr>
          <a:xfrm>
            <a:off x="6071616" y="1970532"/>
            <a:ext cx="77724" cy="36576"/>
          </a:xfrm>
          <a:prstGeom prst="rect">
            <a:avLst/>
          </a:prstGeom>
          <a:solidFill>
            <a:srgbClr val="F59E0B"/>
          </a:solidFill>
          <a:ln w="12700">
            <a:solidFill>
              <a:srgbClr val="F59E0B"/>
            </a:solidFill>
            <a:prstDash val="solid"/>
          </a:ln>
        </p:spPr>
      </p:sp>
      <p:sp>
        <p:nvSpPr>
          <p:cNvPr id="46" name="Shape 39"/>
          <p:cNvSpPr/>
          <p:nvPr/>
        </p:nvSpPr>
        <p:spPr>
          <a:xfrm>
            <a:off x="6149340" y="1371600"/>
            <a:ext cx="1097280" cy="1234440"/>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47" name="Shape 40"/>
          <p:cNvSpPr/>
          <p:nvPr/>
        </p:nvSpPr>
        <p:spPr>
          <a:xfrm>
            <a:off x="6149340" y="1371600"/>
            <a:ext cx="1097280" cy="54864"/>
          </a:xfrm>
          <a:prstGeom prst="rect">
            <a:avLst/>
          </a:prstGeom>
          <a:solidFill>
            <a:srgbClr val="EA580C"/>
          </a:solidFill>
          <a:ln w="12700">
            <a:solidFill>
              <a:srgbClr val="EA580C"/>
            </a:solidFill>
            <a:prstDash val="solid"/>
          </a:ln>
        </p:spPr>
      </p:sp>
      <p:pic>
        <p:nvPicPr>
          <p:cNvPr id="48" name="Image 5" descr="preencoded.png">    </p:cNvPr>
          <p:cNvPicPr>
            <a:picLocks noChangeAspect="1"/>
          </p:cNvPicPr>
          <p:nvPr/>
        </p:nvPicPr>
        <p:blipFill>
          <a:blip r:embed="rId6"/>
          <a:stretch>
            <a:fillRect/>
          </a:stretch>
        </p:blipFill>
        <p:spPr>
          <a:xfrm>
            <a:off x="6505956" y="1517904"/>
            <a:ext cx="384048" cy="384048"/>
          </a:xfrm>
          <a:prstGeom prst="rect">
            <a:avLst/>
          </a:prstGeom>
        </p:spPr>
      </p:pic>
      <p:sp>
        <p:nvSpPr>
          <p:cNvPr id="49" name="Text 41"/>
          <p:cNvSpPr/>
          <p:nvPr/>
        </p:nvSpPr>
        <p:spPr>
          <a:xfrm>
            <a:off x="6149340" y="1975104"/>
            <a:ext cx="109728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mvn test</a:t>
            </a:r>
            <a:endParaRPr lang="en-US" sz="900" dirty="0"/>
          </a:p>
        </p:txBody>
      </p:sp>
      <p:sp>
        <p:nvSpPr>
          <p:cNvPr id="50" name="Text 42"/>
          <p:cNvSpPr/>
          <p:nvPr/>
        </p:nvSpPr>
        <p:spPr>
          <a:xfrm>
            <a:off x="6195060" y="2267712"/>
            <a:ext cx="1005840" cy="274320"/>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JUnit 5 executes all tests</a:t>
            </a:r>
            <a:endParaRPr lang="en-US" sz="750" dirty="0"/>
          </a:p>
        </p:txBody>
      </p:sp>
      <p:sp>
        <p:nvSpPr>
          <p:cNvPr id="51" name="Shape 43"/>
          <p:cNvSpPr/>
          <p:nvPr/>
        </p:nvSpPr>
        <p:spPr>
          <a:xfrm>
            <a:off x="6588252" y="2532888"/>
            <a:ext cx="219456" cy="219456"/>
          </a:xfrm>
          <a:prstGeom prst="ellipse">
            <a:avLst/>
          </a:prstGeom>
          <a:solidFill>
            <a:srgbClr val="EA580C"/>
          </a:solidFill>
          <a:ln w="12700">
            <a:solidFill>
              <a:srgbClr val="EA580C"/>
            </a:solidFill>
            <a:prstDash val="solid"/>
          </a:ln>
        </p:spPr>
      </p:sp>
      <p:sp>
        <p:nvSpPr>
          <p:cNvPr id="52" name="Text 44"/>
          <p:cNvSpPr/>
          <p:nvPr/>
        </p:nvSpPr>
        <p:spPr>
          <a:xfrm>
            <a:off x="6588252" y="253288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53" name="Shape 45"/>
          <p:cNvSpPr/>
          <p:nvPr/>
        </p:nvSpPr>
        <p:spPr>
          <a:xfrm>
            <a:off x="7246620" y="1970532"/>
            <a:ext cx="77724" cy="36576"/>
          </a:xfrm>
          <a:prstGeom prst="rect">
            <a:avLst/>
          </a:prstGeom>
          <a:solidFill>
            <a:srgbClr val="EA580C"/>
          </a:solidFill>
          <a:ln w="12700">
            <a:solidFill>
              <a:srgbClr val="EA580C"/>
            </a:solidFill>
            <a:prstDash val="solid"/>
          </a:ln>
        </p:spPr>
      </p:sp>
      <p:sp>
        <p:nvSpPr>
          <p:cNvPr id="54" name="Shape 46"/>
          <p:cNvSpPr/>
          <p:nvPr/>
        </p:nvSpPr>
        <p:spPr>
          <a:xfrm>
            <a:off x="7324344" y="1371600"/>
            <a:ext cx="1097280" cy="1234440"/>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55" name="Shape 47"/>
          <p:cNvSpPr/>
          <p:nvPr/>
        </p:nvSpPr>
        <p:spPr>
          <a:xfrm>
            <a:off x="7324344" y="1371600"/>
            <a:ext cx="1097280" cy="54864"/>
          </a:xfrm>
          <a:prstGeom prst="rect">
            <a:avLst/>
          </a:prstGeom>
          <a:solidFill>
            <a:srgbClr val="10B981"/>
          </a:solidFill>
          <a:ln w="12700">
            <a:solidFill>
              <a:srgbClr val="10B981"/>
            </a:solidFill>
            <a:prstDash val="solid"/>
          </a:ln>
        </p:spPr>
      </p:sp>
      <p:pic>
        <p:nvPicPr>
          <p:cNvPr id="56" name="Image 6" descr="preencoded.png">    </p:cNvPr>
          <p:cNvPicPr>
            <a:picLocks noChangeAspect="1"/>
          </p:cNvPicPr>
          <p:nvPr/>
        </p:nvPicPr>
        <p:blipFill>
          <a:blip r:embed="rId7"/>
          <a:stretch>
            <a:fillRect/>
          </a:stretch>
        </p:blipFill>
        <p:spPr>
          <a:xfrm>
            <a:off x="7680960" y="1517904"/>
            <a:ext cx="384048" cy="384048"/>
          </a:xfrm>
          <a:prstGeom prst="rect">
            <a:avLst/>
          </a:prstGeom>
        </p:spPr>
      </p:pic>
      <p:sp>
        <p:nvSpPr>
          <p:cNvPr id="57" name="Text 48"/>
          <p:cNvSpPr/>
          <p:nvPr/>
        </p:nvSpPr>
        <p:spPr>
          <a:xfrm>
            <a:off x="7324344" y="1975104"/>
            <a:ext cx="1097280" cy="292608"/>
          </a:xfrm>
          <a:prstGeom prst="rect">
            <a:avLst/>
          </a:prstGeom>
          <a:noFill/>
          <a:ln/>
        </p:spPr>
        <p:txBody>
          <a:bodyPr wrap="square" lIns="0" tIns="0" rIns="0" bIns="0"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Publish Report</a:t>
            </a:r>
            <a:endParaRPr lang="en-US" sz="900" dirty="0"/>
          </a:p>
        </p:txBody>
      </p:sp>
      <p:sp>
        <p:nvSpPr>
          <p:cNvPr id="58" name="Text 49"/>
          <p:cNvSpPr/>
          <p:nvPr/>
        </p:nvSpPr>
        <p:spPr>
          <a:xfrm>
            <a:off x="7370064" y="2267712"/>
            <a:ext cx="1005840" cy="274320"/>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dorny/test-reporter@v1</a:t>
            </a:r>
            <a:endParaRPr lang="en-US" sz="750" dirty="0"/>
          </a:p>
        </p:txBody>
      </p:sp>
      <p:sp>
        <p:nvSpPr>
          <p:cNvPr id="59" name="Shape 50"/>
          <p:cNvSpPr/>
          <p:nvPr/>
        </p:nvSpPr>
        <p:spPr>
          <a:xfrm>
            <a:off x="7763256" y="2532888"/>
            <a:ext cx="219456" cy="219456"/>
          </a:xfrm>
          <a:prstGeom prst="ellipse">
            <a:avLst/>
          </a:prstGeom>
          <a:solidFill>
            <a:srgbClr val="10B981"/>
          </a:solidFill>
          <a:ln w="12700">
            <a:solidFill>
              <a:srgbClr val="10B981"/>
            </a:solidFill>
            <a:prstDash val="solid"/>
          </a:ln>
        </p:spPr>
      </p:sp>
      <p:sp>
        <p:nvSpPr>
          <p:cNvPr id="60" name="Text 51"/>
          <p:cNvSpPr/>
          <p:nvPr/>
        </p:nvSpPr>
        <p:spPr>
          <a:xfrm>
            <a:off x="7763256" y="253288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7</a:t>
            </a:r>
            <a:endParaRPr lang="en-US" sz="800" dirty="0"/>
          </a:p>
        </p:txBody>
      </p:sp>
      <p:sp>
        <p:nvSpPr>
          <p:cNvPr id="61" name="Shape 52"/>
          <p:cNvSpPr/>
          <p:nvPr/>
        </p:nvSpPr>
        <p:spPr>
          <a:xfrm>
            <a:off x="4206240" y="2606040"/>
            <a:ext cx="36576" cy="201168"/>
          </a:xfrm>
          <a:prstGeom prst="rect">
            <a:avLst/>
          </a:prstGeom>
          <a:solidFill>
            <a:srgbClr val="64748B"/>
          </a:solidFill>
          <a:ln w="12700">
            <a:solidFill>
              <a:srgbClr val="64748B"/>
            </a:solidFill>
            <a:prstDash val="solid"/>
          </a:ln>
        </p:spPr>
      </p:sp>
      <p:sp>
        <p:nvSpPr>
          <p:cNvPr id="62" name="Shape 53"/>
          <p:cNvSpPr/>
          <p:nvPr/>
        </p:nvSpPr>
        <p:spPr>
          <a:xfrm>
            <a:off x="1645920" y="2816352"/>
            <a:ext cx="5486400" cy="36576"/>
          </a:xfrm>
          <a:prstGeom prst="rect">
            <a:avLst/>
          </a:prstGeom>
          <a:solidFill>
            <a:srgbClr val="E2E8F0"/>
          </a:solidFill>
          <a:ln w="12700">
            <a:solidFill>
              <a:srgbClr val="E2E8F0"/>
            </a:solidFill>
            <a:prstDash val="solid"/>
          </a:ln>
        </p:spPr>
      </p:sp>
      <p:sp>
        <p:nvSpPr>
          <p:cNvPr id="63" name="Shape 54"/>
          <p:cNvSpPr/>
          <p:nvPr/>
        </p:nvSpPr>
        <p:spPr>
          <a:xfrm>
            <a:off x="1645920" y="2816352"/>
            <a:ext cx="36576" cy="256032"/>
          </a:xfrm>
          <a:prstGeom prst="rect">
            <a:avLst/>
          </a:prstGeom>
          <a:solidFill>
            <a:srgbClr val="10B981"/>
          </a:solidFill>
          <a:ln w="12700">
            <a:solidFill>
              <a:srgbClr val="10B981"/>
            </a:solidFill>
            <a:prstDash val="solid"/>
          </a:ln>
        </p:spPr>
      </p:sp>
      <p:sp>
        <p:nvSpPr>
          <p:cNvPr id="64" name="Shape 55"/>
          <p:cNvSpPr/>
          <p:nvPr/>
        </p:nvSpPr>
        <p:spPr>
          <a:xfrm>
            <a:off x="1645920" y="3072384"/>
            <a:ext cx="1828800" cy="566928"/>
          </a:xfrm>
          <a:prstGeom prst="rect">
            <a:avLst/>
          </a:prstGeom>
          <a:solidFill>
            <a:srgbClr val="10B981"/>
          </a:solidFill>
          <a:ln w="12700">
            <a:solidFill>
              <a:srgbClr val="10B981"/>
            </a:solidFill>
            <a:prstDash val="solid"/>
          </a:ln>
        </p:spPr>
      </p:sp>
      <p:sp>
        <p:nvSpPr>
          <p:cNvPr id="65" name="Text 56"/>
          <p:cNvSpPr/>
          <p:nvPr/>
        </p:nvSpPr>
        <p:spPr>
          <a:xfrm>
            <a:off x="1645920" y="3072384"/>
            <a:ext cx="1828800" cy="56692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TESTS PASS</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PR can be merged</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Pipeline continues</a:t>
            </a:r>
            <a:endParaRPr lang="en-US" sz="950" dirty="0"/>
          </a:p>
        </p:txBody>
      </p:sp>
      <p:sp>
        <p:nvSpPr>
          <p:cNvPr id="66" name="Shape 57"/>
          <p:cNvSpPr/>
          <p:nvPr/>
        </p:nvSpPr>
        <p:spPr>
          <a:xfrm>
            <a:off x="5943600" y="2816352"/>
            <a:ext cx="36576" cy="256032"/>
          </a:xfrm>
          <a:prstGeom prst="rect">
            <a:avLst/>
          </a:prstGeom>
          <a:solidFill>
            <a:srgbClr val="EF4444"/>
          </a:solidFill>
          <a:ln w="12700">
            <a:solidFill>
              <a:srgbClr val="EF4444"/>
            </a:solidFill>
            <a:prstDash val="solid"/>
          </a:ln>
        </p:spPr>
      </p:sp>
      <p:sp>
        <p:nvSpPr>
          <p:cNvPr id="67" name="Shape 58"/>
          <p:cNvSpPr/>
          <p:nvPr/>
        </p:nvSpPr>
        <p:spPr>
          <a:xfrm>
            <a:off x="5943600" y="3072384"/>
            <a:ext cx="1828800" cy="566928"/>
          </a:xfrm>
          <a:prstGeom prst="rect">
            <a:avLst/>
          </a:prstGeom>
          <a:solidFill>
            <a:srgbClr val="EF4444"/>
          </a:solidFill>
          <a:ln w="12700">
            <a:solidFill>
              <a:srgbClr val="EF4444"/>
            </a:solidFill>
            <a:prstDash val="solid"/>
          </a:ln>
        </p:spPr>
      </p:sp>
      <p:sp>
        <p:nvSpPr>
          <p:cNvPr id="68" name="Text 59"/>
          <p:cNvSpPr/>
          <p:nvPr/>
        </p:nvSpPr>
        <p:spPr>
          <a:xfrm>
            <a:off x="5943600" y="3072384"/>
            <a:ext cx="1828800" cy="56692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TESTS FAIL</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PR is blocked</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Pipeline stops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6B6D4"/>
          </a:solidFill>
          <a:ln w="12700">
            <a:solidFill>
              <a:srgbClr val="06B6D4"/>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Unit Testing — Workflow YAML + Test Strategies</a:t>
            </a:r>
            <a:endParaRPr lang="en-US" sz="2500" dirty="0"/>
          </a:p>
        </p:txBody>
      </p:sp>
      <p:sp>
        <p:nvSpPr>
          <p:cNvPr id="4" name="Shape 2"/>
          <p:cNvSpPr/>
          <p:nvPr/>
        </p:nvSpPr>
        <p:spPr>
          <a:xfrm>
            <a:off x="384048" y="731520"/>
            <a:ext cx="1971446" cy="219456"/>
          </a:xfrm>
          <a:prstGeom prst="rect">
            <a:avLst/>
          </a:prstGeom>
          <a:solidFill>
            <a:srgbClr val="06B6D4"/>
          </a:solidFill>
          <a:ln w="12700">
            <a:solidFill>
              <a:srgbClr val="06B6D4"/>
            </a:solidFill>
            <a:prstDash val="solid"/>
          </a:ln>
        </p:spPr>
      </p:sp>
      <p:sp>
        <p:nvSpPr>
          <p:cNvPr id="5" name="Text 3"/>
          <p:cNvSpPr/>
          <p:nvPr/>
        </p:nvSpPr>
        <p:spPr>
          <a:xfrm>
            <a:off x="384048" y="731520"/>
            <a:ext cx="1971446"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YAML + STRATEGIES</a:t>
            </a:r>
            <a:endParaRPr lang="en-US" sz="850" dirty="0"/>
          </a:p>
        </p:txBody>
      </p:sp>
      <p:sp>
        <p:nvSpPr>
          <p:cNvPr id="6" name="Shape 4"/>
          <p:cNvSpPr/>
          <p:nvPr/>
        </p:nvSpPr>
        <p:spPr>
          <a:xfrm>
            <a:off x="347472" y="1078992"/>
            <a:ext cx="4937760" cy="4005072"/>
          </a:xfrm>
          <a:prstGeom prst="rect">
            <a:avLst/>
          </a:prstGeom>
          <a:solidFill>
            <a:srgbClr val="1E1E2E"/>
          </a:solidFill>
          <a:ln w="6350">
            <a:solidFill>
              <a:srgbClr val="334155"/>
            </a:solidFill>
            <a:prstDash val="solid"/>
          </a:ln>
        </p:spPr>
      </p:sp>
      <p:sp>
        <p:nvSpPr>
          <p:cNvPr id="7" name="Shape 5"/>
          <p:cNvSpPr/>
          <p:nvPr/>
        </p:nvSpPr>
        <p:spPr>
          <a:xfrm>
            <a:off x="457200" y="1170432"/>
            <a:ext cx="118872" cy="118872"/>
          </a:xfrm>
          <a:prstGeom prst="ellipse">
            <a:avLst/>
          </a:prstGeom>
          <a:solidFill>
            <a:srgbClr val="EF4444"/>
          </a:solidFill>
          <a:ln w="12700">
            <a:solidFill>
              <a:srgbClr val="EF4444"/>
            </a:solidFill>
            <a:prstDash val="solid"/>
          </a:ln>
        </p:spPr>
      </p:sp>
      <p:sp>
        <p:nvSpPr>
          <p:cNvPr id="8" name="Shape 6"/>
          <p:cNvSpPr/>
          <p:nvPr/>
        </p:nvSpPr>
        <p:spPr>
          <a:xfrm>
            <a:off x="658368" y="1170432"/>
            <a:ext cx="118872" cy="118872"/>
          </a:xfrm>
          <a:prstGeom prst="ellipse">
            <a:avLst/>
          </a:prstGeom>
          <a:solidFill>
            <a:srgbClr val="F59E0B"/>
          </a:solidFill>
          <a:ln w="12700">
            <a:solidFill>
              <a:srgbClr val="F59E0B"/>
            </a:solidFill>
            <a:prstDash val="solid"/>
          </a:ln>
        </p:spPr>
      </p:sp>
      <p:sp>
        <p:nvSpPr>
          <p:cNvPr id="9" name="Shape 7"/>
          <p:cNvSpPr/>
          <p:nvPr/>
        </p:nvSpPr>
        <p:spPr>
          <a:xfrm>
            <a:off x="859536" y="1170432"/>
            <a:ext cx="118872" cy="118872"/>
          </a:xfrm>
          <a:prstGeom prst="ellipse">
            <a:avLst/>
          </a:prstGeom>
          <a:solidFill>
            <a:srgbClr val="10B981"/>
          </a:solidFill>
          <a:ln w="12700">
            <a:solidFill>
              <a:srgbClr val="10B981"/>
            </a:solidFill>
            <a:prstDash val="solid"/>
          </a:ln>
        </p:spPr>
      </p:sp>
      <p:sp>
        <p:nvSpPr>
          <p:cNvPr id="10" name="Text 8"/>
          <p:cNvSpPr/>
          <p:nvPr/>
        </p:nvSpPr>
        <p:spPr>
          <a:xfrm>
            <a:off x="347472" y="1143000"/>
            <a:ext cx="4937760" cy="18288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ci.yml</a:t>
            </a:r>
            <a:endParaRPr lang="en-US" sz="850" dirty="0"/>
          </a:p>
        </p:txBody>
      </p:sp>
      <p:sp>
        <p:nvSpPr>
          <p:cNvPr id="11" name="Text 9"/>
          <p:cNvSpPr/>
          <p:nvPr/>
        </p:nvSpPr>
        <p:spPr>
          <a:xfrm>
            <a:off x="457200" y="1426464"/>
            <a:ext cx="4718304" cy="150876"/>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name: CI — Build and Test</a:t>
            </a:r>
            <a:endParaRPr lang="en-US" sz="800" dirty="0"/>
          </a:p>
        </p:txBody>
      </p:sp>
      <p:sp>
        <p:nvSpPr>
          <p:cNvPr id="12" name="Text 10"/>
          <p:cNvSpPr/>
          <p:nvPr/>
        </p:nvSpPr>
        <p:spPr>
          <a:xfrm>
            <a:off x="457200" y="1577340"/>
            <a:ext cx="4718304" cy="150876"/>
          </a:xfrm>
          <a:prstGeom prst="rect">
            <a:avLst/>
          </a:prstGeom>
          <a:noFill/>
          <a:ln/>
        </p:spPr>
        <p:txBody>
          <a:bodyPr wrap="square" lIns="0" tIns="0" rIns="0" bIns="0" rtlCol="0" anchor="ctr"/>
          <a:lstStyle/>
          <a:p>
            <a:pPr indent="0" marL="0">
              <a:buNone/>
            </a:pPr>
            <a:r>
              <a:rPr lang="en-US" sz="800" dirty="0">
                <a:solidFill>
                  <a:srgbClr val="06B6D4"/>
                </a:solidFill>
                <a:latin typeface="Consolas" pitchFamily="34" charset="0"/>
                <a:ea typeface="Consolas" pitchFamily="34" charset="-122"/>
                <a:cs typeface="Consolas" pitchFamily="34" charset="-120"/>
              </a:rPr>
              <a:t>on:</a:t>
            </a:r>
            <a:endParaRPr lang="en-US" sz="800" dirty="0"/>
          </a:p>
        </p:txBody>
      </p:sp>
      <p:sp>
        <p:nvSpPr>
          <p:cNvPr id="13" name="Text 11"/>
          <p:cNvSpPr/>
          <p:nvPr/>
        </p:nvSpPr>
        <p:spPr>
          <a:xfrm>
            <a:off x="457200" y="1728216"/>
            <a:ext cx="4718304" cy="150876"/>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push:</a:t>
            </a:r>
            <a:endParaRPr lang="en-US" sz="800" dirty="0"/>
          </a:p>
        </p:txBody>
      </p:sp>
      <p:sp>
        <p:nvSpPr>
          <p:cNvPr id="14" name="Text 12"/>
          <p:cNvSpPr/>
          <p:nvPr/>
        </p:nvSpPr>
        <p:spPr>
          <a:xfrm>
            <a:off x="457200" y="1879092"/>
            <a:ext cx="4718304" cy="150876"/>
          </a:xfrm>
          <a:prstGeom prst="rect">
            <a:avLst/>
          </a:prstGeom>
          <a:noFill/>
          <a:ln/>
        </p:spPr>
        <p:txBody>
          <a:bodyPr wrap="square" lIns="0" tIns="0" rIns="0" bIns="0" rtlCol="0" anchor="ctr"/>
          <a:lstStyle/>
          <a:p>
            <a:pPr indent="0" marL="0">
              <a:buNone/>
            </a:pPr>
            <a:r>
              <a:rPr lang="en-US" sz="800" dirty="0">
                <a:solidFill>
                  <a:srgbClr val="10B981"/>
                </a:solidFill>
                <a:latin typeface="Consolas" pitchFamily="34" charset="0"/>
                <a:ea typeface="Consolas" pitchFamily="34" charset="-122"/>
                <a:cs typeface="Consolas" pitchFamily="34" charset="-120"/>
              </a:rPr>
              <a:t>    branches: [main, develop]</a:t>
            </a:r>
            <a:endParaRPr lang="en-US" sz="800" dirty="0"/>
          </a:p>
        </p:txBody>
      </p:sp>
      <p:sp>
        <p:nvSpPr>
          <p:cNvPr id="15" name="Text 13"/>
          <p:cNvSpPr/>
          <p:nvPr/>
        </p:nvSpPr>
        <p:spPr>
          <a:xfrm>
            <a:off x="457200" y="2029968"/>
            <a:ext cx="4718304" cy="150876"/>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pull_request:</a:t>
            </a:r>
            <a:endParaRPr lang="en-US" sz="800" dirty="0"/>
          </a:p>
        </p:txBody>
      </p:sp>
      <p:sp>
        <p:nvSpPr>
          <p:cNvPr id="16" name="Text 14"/>
          <p:cNvSpPr/>
          <p:nvPr/>
        </p:nvSpPr>
        <p:spPr>
          <a:xfrm>
            <a:off x="457200" y="2180844"/>
            <a:ext cx="4718304" cy="150876"/>
          </a:xfrm>
          <a:prstGeom prst="rect">
            <a:avLst/>
          </a:prstGeom>
          <a:noFill/>
          <a:ln/>
        </p:spPr>
        <p:txBody>
          <a:bodyPr wrap="square" lIns="0" tIns="0" rIns="0" bIns="0" rtlCol="0" anchor="ctr"/>
          <a:lstStyle/>
          <a:p>
            <a:pPr indent="0" marL="0">
              <a:buNone/>
            </a:pPr>
            <a:r>
              <a:rPr lang="en-US" sz="800" dirty="0">
                <a:solidFill>
                  <a:srgbClr val="10B981"/>
                </a:solidFill>
                <a:latin typeface="Consolas" pitchFamily="34" charset="0"/>
                <a:ea typeface="Consolas" pitchFamily="34" charset="-122"/>
                <a:cs typeface="Consolas" pitchFamily="34" charset="-120"/>
              </a:rPr>
              <a:t>    branches: [main]</a:t>
            </a:r>
            <a:endParaRPr lang="en-US" sz="800" dirty="0"/>
          </a:p>
        </p:txBody>
      </p:sp>
      <p:sp>
        <p:nvSpPr>
          <p:cNvPr id="17" name="Text 15"/>
          <p:cNvSpPr/>
          <p:nvPr/>
        </p:nvSpPr>
        <p:spPr>
          <a:xfrm>
            <a:off x="457200" y="2331720"/>
            <a:ext cx="4718304" cy="150876"/>
          </a:xfrm>
          <a:prstGeom prst="rect">
            <a:avLst/>
          </a:prstGeom>
          <a:noFill/>
          <a:ln/>
        </p:spPr>
        <p:txBody>
          <a:bodyPr wrap="square" lIns="0" tIns="0" rIns="0" bIns="0" rtlCol="0" anchor="ctr"/>
          <a:lstStyle/>
          <a:p>
            <a:pPr indent="0" marL="0">
              <a:buNone/>
            </a:pPr>
            <a:r>
              <a:rPr lang="en-US" sz="800" dirty="0">
                <a:solidFill>
                  <a:srgbClr val="06B6D4"/>
                </a:solidFill>
                <a:latin typeface="Consolas" pitchFamily="34" charset="0"/>
                <a:ea typeface="Consolas" pitchFamily="34" charset="-122"/>
                <a:cs typeface="Consolas" pitchFamily="34" charset="-120"/>
              </a:rPr>
              <a:t>jobs:</a:t>
            </a:r>
            <a:endParaRPr lang="en-US" sz="800" dirty="0"/>
          </a:p>
        </p:txBody>
      </p:sp>
      <p:sp>
        <p:nvSpPr>
          <p:cNvPr id="18" name="Text 16"/>
          <p:cNvSpPr/>
          <p:nvPr/>
        </p:nvSpPr>
        <p:spPr>
          <a:xfrm>
            <a:off x="457200" y="2482596"/>
            <a:ext cx="4718304" cy="150876"/>
          </a:xfrm>
          <a:prstGeom prst="rect">
            <a:avLst/>
          </a:prstGeom>
          <a:noFill/>
          <a:ln/>
        </p:spPr>
        <p:txBody>
          <a:bodyPr wrap="square" lIns="0" tIns="0" rIns="0" bIns="0" rtlCol="0" anchor="ctr"/>
          <a:lstStyle/>
          <a:p>
            <a:pPr indent="0" marL="0">
              <a:buNone/>
            </a:pPr>
            <a:r>
              <a:rPr lang="en-US" sz="800" dirty="0">
                <a:solidFill>
                  <a:srgbClr val="F59E0B"/>
                </a:solidFill>
                <a:latin typeface="Consolas" pitchFamily="34" charset="0"/>
                <a:ea typeface="Consolas" pitchFamily="34" charset="-122"/>
                <a:cs typeface="Consolas" pitchFamily="34" charset="-120"/>
              </a:rPr>
              <a:t>  test:</a:t>
            </a:r>
            <a:endParaRPr lang="en-US" sz="800" dirty="0"/>
          </a:p>
        </p:txBody>
      </p:sp>
      <p:sp>
        <p:nvSpPr>
          <p:cNvPr id="19" name="Text 17"/>
          <p:cNvSpPr/>
          <p:nvPr/>
        </p:nvSpPr>
        <p:spPr>
          <a:xfrm>
            <a:off x="457200" y="2633472"/>
            <a:ext cx="4718304" cy="150876"/>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runs-on: ubuntu-latest</a:t>
            </a:r>
            <a:endParaRPr lang="en-US" sz="800" dirty="0"/>
          </a:p>
        </p:txBody>
      </p:sp>
      <p:sp>
        <p:nvSpPr>
          <p:cNvPr id="20" name="Text 18"/>
          <p:cNvSpPr/>
          <p:nvPr/>
        </p:nvSpPr>
        <p:spPr>
          <a:xfrm>
            <a:off x="457200" y="2784348"/>
            <a:ext cx="4718304" cy="150876"/>
          </a:xfrm>
          <a:prstGeom prst="rect">
            <a:avLst/>
          </a:prstGeom>
          <a:noFill/>
          <a:ln/>
        </p:spPr>
        <p:txBody>
          <a:bodyPr wrap="square" lIns="0" tIns="0" rIns="0" bIns="0" rtlCol="0" anchor="ctr"/>
          <a:lstStyle/>
          <a:p>
            <a:pPr indent="0" marL="0">
              <a:buNone/>
            </a:pPr>
            <a:r>
              <a:rPr lang="en-US" sz="800" dirty="0">
                <a:solidFill>
                  <a:srgbClr val="06B6D4"/>
                </a:solidFill>
                <a:latin typeface="Consolas" pitchFamily="34" charset="0"/>
                <a:ea typeface="Consolas" pitchFamily="34" charset="-122"/>
                <a:cs typeface="Consolas" pitchFamily="34" charset="-120"/>
              </a:rPr>
              <a:t>    steps:</a:t>
            </a:r>
            <a:endParaRPr lang="en-US" sz="800" dirty="0"/>
          </a:p>
        </p:txBody>
      </p:sp>
      <p:sp>
        <p:nvSpPr>
          <p:cNvPr id="21" name="Text 19"/>
          <p:cNvSpPr/>
          <p:nvPr/>
        </p:nvSpPr>
        <p:spPr>
          <a:xfrm>
            <a:off x="457200" y="2935224"/>
            <a:ext cx="4718304" cy="150876"/>
          </a:xfrm>
          <a:prstGeom prst="rect">
            <a:avLst/>
          </a:prstGeom>
          <a:noFill/>
          <a:ln/>
        </p:spPr>
        <p:txBody>
          <a:bodyPr wrap="square" lIns="0" tIns="0" rIns="0" bIns="0" rtlCol="0" anchor="ctr"/>
          <a:lstStyle/>
          <a:p>
            <a:pPr indent="0" marL="0">
              <a:buNone/>
            </a:pPr>
            <a:r>
              <a:rPr lang="en-US" sz="800" dirty="0">
                <a:solidFill>
                  <a:srgbClr val="10B981"/>
                </a:solidFill>
                <a:latin typeface="Consolas" pitchFamily="34" charset="0"/>
                <a:ea typeface="Consolas" pitchFamily="34" charset="-122"/>
                <a:cs typeface="Consolas" pitchFamily="34" charset="-120"/>
              </a:rPr>
              <a:t>      - uses: actions/checkout@v4</a:t>
            </a:r>
            <a:endParaRPr lang="en-US" sz="800" dirty="0"/>
          </a:p>
        </p:txBody>
      </p:sp>
      <p:sp>
        <p:nvSpPr>
          <p:cNvPr id="22" name="Text 20"/>
          <p:cNvSpPr/>
          <p:nvPr/>
        </p:nvSpPr>
        <p:spPr>
          <a:xfrm>
            <a:off x="457200" y="3086100"/>
            <a:ext cx="4718304" cy="150876"/>
          </a:xfrm>
          <a:prstGeom prst="rect">
            <a:avLst/>
          </a:prstGeom>
          <a:noFill/>
          <a:ln/>
        </p:spPr>
        <p:txBody>
          <a:bodyPr wrap="square" lIns="0" tIns="0" rIns="0" bIns="0" rtlCol="0" anchor="ctr"/>
          <a:lstStyle/>
          <a:p>
            <a:pPr indent="0" marL="0">
              <a:buNone/>
            </a:pPr>
            <a:r>
              <a:rPr lang="en-US" sz="800" dirty="0">
                <a:solidFill>
                  <a:srgbClr val="10B981"/>
                </a:solidFill>
                <a:latin typeface="Consolas" pitchFamily="34" charset="0"/>
                <a:ea typeface="Consolas" pitchFamily="34" charset="-122"/>
                <a:cs typeface="Consolas" pitchFamily="34" charset="-120"/>
              </a:rPr>
              <a:t>      - uses: actions/setup-java@v4</a:t>
            </a:r>
            <a:endParaRPr lang="en-US" sz="800" dirty="0"/>
          </a:p>
        </p:txBody>
      </p:sp>
      <p:sp>
        <p:nvSpPr>
          <p:cNvPr id="23" name="Text 21"/>
          <p:cNvSpPr/>
          <p:nvPr/>
        </p:nvSpPr>
        <p:spPr>
          <a:xfrm>
            <a:off x="457200" y="3236976"/>
            <a:ext cx="4718304" cy="150876"/>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with:</a:t>
            </a:r>
            <a:endParaRPr lang="en-US" sz="800" dirty="0"/>
          </a:p>
        </p:txBody>
      </p:sp>
      <p:sp>
        <p:nvSpPr>
          <p:cNvPr id="24" name="Text 22"/>
          <p:cNvSpPr/>
          <p:nvPr/>
        </p:nvSpPr>
        <p:spPr>
          <a:xfrm>
            <a:off x="457200" y="3387852"/>
            <a:ext cx="4718304" cy="150876"/>
          </a:xfrm>
          <a:prstGeom prst="rect">
            <a:avLst/>
          </a:prstGeom>
          <a:noFill/>
          <a:ln/>
        </p:spPr>
        <p:txBody>
          <a:bodyPr wrap="square" lIns="0" tIns="0" rIns="0" bIns="0" rtlCol="0" anchor="ctr"/>
          <a:lstStyle/>
          <a:p>
            <a:pPr indent="0" marL="0">
              <a:buNone/>
            </a:pPr>
            <a:r>
              <a:rPr lang="en-US" sz="800" dirty="0">
                <a:solidFill>
                  <a:srgbClr val="F97316"/>
                </a:solidFill>
                <a:latin typeface="Consolas" pitchFamily="34" charset="0"/>
                <a:ea typeface="Consolas" pitchFamily="34" charset="-122"/>
                <a:cs typeface="Consolas" pitchFamily="34" charset="-120"/>
              </a:rPr>
              <a:t>          java-version: '21'</a:t>
            </a:r>
            <a:endParaRPr lang="en-US" sz="800" dirty="0"/>
          </a:p>
        </p:txBody>
      </p:sp>
      <p:sp>
        <p:nvSpPr>
          <p:cNvPr id="25" name="Text 23"/>
          <p:cNvSpPr/>
          <p:nvPr/>
        </p:nvSpPr>
        <p:spPr>
          <a:xfrm>
            <a:off x="457200" y="3538728"/>
            <a:ext cx="4718304" cy="150876"/>
          </a:xfrm>
          <a:prstGeom prst="rect">
            <a:avLst/>
          </a:prstGeom>
          <a:noFill/>
          <a:ln/>
        </p:spPr>
        <p:txBody>
          <a:bodyPr wrap="square" lIns="0" tIns="0" rIns="0" bIns="0" rtlCol="0" anchor="ctr"/>
          <a:lstStyle/>
          <a:p>
            <a:pPr indent="0" marL="0">
              <a:buNone/>
            </a:pPr>
            <a:r>
              <a:rPr lang="en-US" sz="800" dirty="0">
                <a:solidFill>
                  <a:srgbClr val="F97316"/>
                </a:solidFill>
                <a:latin typeface="Consolas" pitchFamily="34" charset="0"/>
                <a:ea typeface="Consolas" pitchFamily="34" charset="-122"/>
                <a:cs typeface="Consolas" pitchFamily="34" charset="-120"/>
              </a:rPr>
              <a:t>          cache: 'maven'</a:t>
            </a:r>
            <a:endParaRPr lang="en-US" sz="800" dirty="0"/>
          </a:p>
        </p:txBody>
      </p:sp>
      <p:sp>
        <p:nvSpPr>
          <p:cNvPr id="26" name="Text 24"/>
          <p:cNvSpPr/>
          <p:nvPr/>
        </p:nvSpPr>
        <p:spPr>
          <a:xfrm>
            <a:off x="457200" y="3689604"/>
            <a:ext cx="4718304" cy="150876"/>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 name: Run Tests</a:t>
            </a:r>
            <a:endParaRPr lang="en-US" sz="800" dirty="0"/>
          </a:p>
        </p:txBody>
      </p:sp>
      <p:sp>
        <p:nvSpPr>
          <p:cNvPr id="27" name="Text 25"/>
          <p:cNvSpPr/>
          <p:nvPr/>
        </p:nvSpPr>
        <p:spPr>
          <a:xfrm>
            <a:off x="457200" y="3840480"/>
            <a:ext cx="4718304" cy="150876"/>
          </a:xfrm>
          <a:prstGeom prst="rect">
            <a:avLst/>
          </a:prstGeom>
          <a:noFill/>
          <a:ln/>
        </p:spPr>
        <p:txBody>
          <a:bodyPr wrap="square" lIns="0" tIns="0" rIns="0" bIns="0" rtlCol="0" anchor="ctr"/>
          <a:lstStyle/>
          <a:p>
            <a:pPr indent="0" marL="0">
              <a:buNone/>
            </a:pPr>
            <a:r>
              <a:rPr lang="en-US" sz="800" dirty="0">
                <a:solidFill>
                  <a:srgbClr val="10B981"/>
                </a:solidFill>
                <a:latin typeface="Consolas" pitchFamily="34" charset="0"/>
                <a:ea typeface="Consolas" pitchFamily="34" charset="-122"/>
                <a:cs typeface="Consolas" pitchFamily="34" charset="-120"/>
              </a:rPr>
              <a:t>        run: mvn test</a:t>
            </a:r>
            <a:endParaRPr lang="en-US" sz="800" dirty="0"/>
          </a:p>
        </p:txBody>
      </p:sp>
      <p:sp>
        <p:nvSpPr>
          <p:cNvPr id="28" name="Text 26"/>
          <p:cNvSpPr/>
          <p:nvPr/>
        </p:nvSpPr>
        <p:spPr>
          <a:xfrm>
            <a:off x="457200" y="3991356"/>
            <a:ext cx="4718304" cy="150876"/>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 name: Publish Report</a:t>
            </a:r>
            <a:endParaRPr lang="en-US" sz="800" dirty="0"/>
          </a:p>
        </p:txBody>
      </p:sp>
      <p:sp>
        <p:nvSpPr>
          <p:cNvPr id="29" name="Text 27"/>
          <p:cNvSpPr/>
          <p:nvPr/>
        </p:nvSpPr>
        <p:spPr>
          <a:xfrm>
            <a:off x="457200" y="4142232"/>
            <a:ext cx="4718304" cy="150876"/>
          </a:xfrm>
          <a:prstGeom prst="rect">
            <a:avLst/>
          </a:prstGeom>
          <a:noFill/>
          <a:ln/>
        </p:spPr>
        <p:txBody>
          <a:bodyPr wrap="square" lIns="0" tIns="0" rIns="0" bIns="0" rtlCol="0" anchor="ctr"/>
          <a:lstStyle/>
          <a:p>
            <a:pPr indent="0" marL="0">
              <a:buNone/>
            </a:pPr>
            <a:r>
              <a:rPr lang="en-US" sz="800" dirty="0">
                <a:solidFill>
                  <a:srgbClr val="10B981"/>
                </a:solidFill>
                <a:latin typeface="Consolas" pitchFamily="34" charset="0"/>
                <a:ea typeface="Consolas" pitchFamily="34" charset="-122"/>
                <a:cs typeface="Consolas" pitchFamily="34" charset="-120"/>
              </a:rPr>
              <a:t>        uses: dorny/test-reporter@v1</a:t>
            </a:r>
            <a:endParaRPr lang="en-US" sz="800" dirty="0"/>
          </a:p>
        </p:txBody>
      </p:sp>
      <p:sp>
        <p:nvSpPr>
          <p:cNvPr id="30" name="Text 28"/>
          <p:cNvSpPr/>
          <p:nvPr/>
        </p:nvSpPr>
        <p:spPr>
          <a:xfrm>
            <a:off x="457200" y="4293108"/>
            <a:ext cx="4718304" cy="150876"/>
          </a:xfrm>
          <a:prstGeom prst="rect">
            <a:avLst/>
          </a:prstGeom>
          <a:noFill/>
          <a:ln/>
        </p:spPr>
        <p:txBody>
          <a:bodyPr wrap="square" lIns="0" tIns="0" rIns="0" bIns="0" rtlCol="0" anchor="ctr"/>
          <a:lstStyle/>
          <a:p>
            <a:pPr indent="0" marL="0">
              <a:buNone/>
            </a:pPr>
            <a:r>
              <a:rPr lang="en-US" sz="800" dirty="0">
                <a:solidFill>
                  <a:srgbClr val="F97316"/>
                </a:solidFill>
                <a:latin typeface="Consolas" pitchFamily="34" charset="0"/>
                <a:ea typeface="Consolas" pitchFamily="34" charset="-122"/>
                <a:cs typeface="Consolas" pitchFamily="34" charset="-120"/>
              </a:rPr>
              <a:t>        if: always()</a:t>
            </a:r>
            <a:endParaRPr lang="en-US" sz="800" dirty="0"/>
          </a:p>
        </p:txBody>
      </p:sp>
      <p:sp>
        <p:nvSpPr>
          <p:cNvPr id="31" name="Text 29"/>
          <p:cNvSpPr/>
          <p:nvPr/>
        </p:nvSpPr>
        <p:spPr>
          <a:xfrm>
            <a:off x="457200" y="4443984"/>
            <a:ext cx="4718304" cy="150876"/>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with:</a:t>
            </a:r>
            <a:endParaRPr lang="en-US" sz="800" dirty="0"/>
          </a:p>
        </p:txBody>
      </p:sp>
      <p:sp>
        <p:nvSpPr>
          <p:cNvPr id="32" name="Text 30"/>
          <p:cNvSpPr/>
          <p:nvPr/>
        </p:nvSpPr>
        <p:spPr>
          <a:xfrm>
            <a:off x="457200" y="4594860"/>
            <a:ext cx="4718304" cy="150876"/>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          name: JUnit 5 Results</a:t>
            </a:r>
            <a:endParaRPr lang="en-US" sz="800" dirty="0"/>
          </a:p>
        </p:txBody>
      </p:sp>
      <p:sp>
        <p:nvSpPr>
          <p:cNvPr id="33" name="Text 31"/>
          <p:cNvSpPr/>
          <p:nvPr/>
        </p:nvSpPr>
        <p:spPr>
          <a:xfrm>
            <a:off x="457200" y="4745736"/>
            <a:ext cx="4718304" cy="150876"/>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          path: target/surefire-reports/*.xml</a:t>
            </a:r>
            <a:endParaRPr lang="en-US" sz="800" dirty="0"/>
          </a:p>
        </p:txBody>
      </p:sp>
      <p:sp>
        <p:nvSpPr>
          <p:cNvPr id="34" name="Text 32"/>
          <p:cNvSpPr/>
          <p:nvPr/>
        </p:nvSpPr>
        <p:spPr>
          <a:xfrm>
            <a:off x="457200" y="4896612"/>
            <a:ext cx="4718304" cy="150876"/>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          reporter: java-junit</a:t>
            </a:r>
            <a:endParaRPr lang="en-US" sz="800" dirty="0"/>
          </a:p>
        </p:txBody>
      </p:sp>
      <p:sp>
        <p:nvSpPr>
          <p:cNvPr id="35" name="Shape 33"/>
          <p:cNvSpPr/>
          <p:nvPr/>
        </p:nvSpPr>
        <p:spPr>
          <a:xfrm>
            <a:off x="5440680" y="1078992"/>
            <a:ext cx="3355848" cy="859536"/>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36" name="Shape 34"/>
          <p:cNvSpPr/>
          <p:nvPr/>
        </p:nvSpPr>
        <p:spPr>
          <a:xfrm>
            <a:off x="5440680" y="1078992"/>
            <a:ext cx="3355848" cy="64008"/>
          </a:xfrm>
          <a:prstGeom prst="rect">
            <a:avLst/>
          </a:prstGeom>
          <a:solidFill>
            <a:srgbClr val="06B6D4"/>
          </a:solidFill>
          <a:ln w="12700">
            <a:solidFill>
              <a:srgbClr val="06B6D4"/>
            </a:solidFill>
            <a:prstDash val="solid"/>
          </a:ln>
        </p:spPr>
      </p:sp>
      <p:pic>
        <p:nvPicPr>
          <p:cNvPr id="37" name="Image 0" descr="preencoded.png">    </p:cNvPr>
          <p:cNvPicPr>
            <a:picLocks noChangeAspect="1"/>
          </p:cNvPicPr>
          <p:nvPr/>
        </p:nvPicPr>
        <p:blipFill>
          <a:blip r:embed="rId1"/>
          <a:stretch>
            <a:fillRect/>
          </a:stretch>
        </p:blipFill>
        <p:spPr>
          <a:xfrm>
            <a:off x="5559552" y="1261872"/>
            <a:ext cx="329184" cy="329184"/>
          </a:xfrm>
          <a:prstGeom prst="rect">
            <a:avLst/>
          </a:prstGeom>
        </p:spPr>
      </p:pic>
      <p:sp>
        <p:nvSpPr>
          <p:cNvPr id="38" name="Text 35"/>
          <p:cNvSpPr/>
          <p:nvPr/>
        </p:nvSpPr>
        <p:spPr>
          <a:xfrm>
            <a:off x="5961888" y="1170432"/>
            <a:ext cx="1508760" cy="347472"/>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Unit Tests</a:t>
            </a:r>
            <a:endParaRPr lang="en-US" sz="1000" dirty="0"/>
          </a:p>
          <a:p>
            <a:pPr indent="0" marL="0">
              <a:buNone/>
            </a:pPr>
            <a:r>
              <a:rPr lang="en-US" sz="1000" b="1" dirty="0">
                <a:solidFill>
                  <a:srgbClr val="1E293B"/>
                </a:solidFill>
                <a:latin typeface="Calibri" pitchFamily="34" charset="0"/>
                <a:ea typeface="Calibri" pitchFamily="34" charset="-122"/>
                <a:cs typeface="Calibri" pitchFamily="34" charset="-120"/>
              </a:rPr>
              <a:t>(every push)</a:t>
            </a:r>
            <a:endParaRPr lang="en-US" sz="1000" dirty="0"/>
          </a:p>
        </p:txBody>
      </p:sp>
      <p:sp>
        <p:nvSpPr>
          <p:cNvPr id="39" name="Text 36"/>
          <p:cNvSpPr/>
          <p:nvPr/>
        </p:nvSpPr>
        <p:spPr>
          <a:xfrm>
            <a:off x="5961888" y="1536192"/>
            <a:ext cx="2743200" cy="32918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mvn test</a:t>
            </a:r>
            <a:endParaRPr lang="en-US" sz="850" dirty="0"/>
          </a:p>
          <a:p>
            <a:pPr indent="0" marL="0">
              <a:buNone/>
            </a:pPr>
            <a:r>
              <a:rPr lang="en-US" sz="850" dirty="0">
                <a:solidFill>
                  <a:srgbClr val="64748B"/>
                </a:solidFill>
                <a:latin typeface="Calibri" pitchFamily="34" charset="0"/>
                <a:ea typeface="Calibri" pitchFamily="34" charset="-122"/>
                <a:cs typeface="Calibri" pitchFamily="34" charset="-120"/>
              </a:rPr>
              <a:t>Fast · Isolated · 100% coverage</a:t>
            </a:r>
            <a:endParaRPr lang="en-US" sz="850" dirty="0"/>
          </a:p>
        </p:txBody>
      </p:sp>
      <p:sp>
        <p:nvSpPr>
          <p:cNvPr id="40" name="Shape 37"/>
          <p:cNvSpPr/>
          <p:nvPr/>
        </p:nvSpPr>
        <p:spPr>
          <a:xfrm>
            <a:off x="5440680" y="2048256"/>
            <a:ext cx="3355848" cy="859536"/>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41" name="Shape 38"/>
          <p:cNvSpPr/>
          <p:nvPr/>
        </p:nvSpPr>
        <p:spPr>
          <a:xfrm>
            <a:off x="5440680" y="2048256"/>
            <a:ext cx="3355848" cy="64008"/>
          </a:xfrm>
          <a:prstGeom prst="rect">
            <a:avLst/>
          </a:prstGeom>
          <a:solidFill>
            <a:srgbClr val="1A56DB"/>
          </a:solidFill>
          <a:ln w="12700">
            <a:solidFill>
              <a:srgbClr val="1A56DB"/>
            </a:solidFill>
            <a:prstDash val="solid"/>
          </a:ln>
        </p:spPr>
      </p:sp>
      <p:pic>
        <p:nvPicPr>
          <p:cNvPr id="42" name="Image 1" descr="preencoded.png">    </p:cNvPr>
          <p:cNvPicPr>
            <a:picLocks noChangeAspect="1"/>
          </p:cNvPicPr>
          <p:nvPr/>
        </p:nvPicPr>
        <p:blipFill>
          <a:blip r:embed="rId2"/>
          <a:stretch>
            <a:fillRect/>
          </a:stretch>
        </p:blipFill>
        <p:spPr>
          <a:xfrm>
            <a:off x="5559552" y="2231136"/>
            <a:ext cx="329184" cy="329184"/>
          </a:xfrm>
          <a:prstGeom prst="rect">
            <a:avLst/>
          </a:prstGeom>
        </p:spPr>
      </p:pic>
      <p:sp>
        <p:nvSpPr>
          <p:cNvPr id="43" name="Text 39"/>
          <p:cNvSpPr/>
          <p:nvPr/>
        </p:nvSpPr>
        <p:spPr>
          <a:xfrm>
            <a:off x="5961888" y="2139696"/>
            <a:ext cx="1508760" cy="347472"/>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Integration</a:t>
            </a:r>
            <a:endParaRPr lang="en-US" sz="1000" dirty="0"/>
          </a:p>
          <a:p>
            <a:pPr indent="0" marL="0">
              <a:buNone/>
            </a:pPr>
            <a:r>
              <a:rPr lang="en-US" sz="1000" b="1" dirty="0">
                <a:solidFill>
                  <a:srgbClr val="1E293B"/>
                </a:solidFill>
                <a:latin typeface="Calibri" pitchFamily="34" charset="0"/>
                <a:ea typeface="Calibri" pitchFamily="34" charset="-122"/>
                <a:cs typeface="Calibri" pitchFamily="34" charset="-120"/>
              </a:rPr>
              <a:t>(on merge)</a:t>
            </a:r>
            <a:endParaRPr lang="en-US" sz="1000" dirty="0"/>
          </a:p>
        </p:txBody>
      </p:sp>
      <p:sp>
        <p:nvSpPr>
          <p:cNvPr id="44" name="Text 40"/>
          <p:cNvSpPr/>
          <p:nvPr/>
        </p:nvSpPr>
        <p:spPr>
          <a:xfrm>
            <a:off x="5961888" y="2505456"/>
            <a:ext cx="2743200" cy="32918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mvn verify</a:t>
            </a:r>
            <a:endParaRPr lang="en-US" sz="850" dirty="0"/>
          </a:p>
          <a:p>
            <a:pPr indent="0" marL="0">
              <a:buNone/>
            </a:pPr>
            <a:r>
              <a:rPr lang="en-US" sz="850" dirty="0">
                <a:solidFill>
                  <a:srgbClr val="64748B"/>
                </a:solidFill>
                <a:latin typeface="Calibri" pitchFamily="34" charset="0"/>
                <a:ea typeface="Calibri" pitchFamily="34" charset="-122"/>
                <a:cs typeface="Calibri" pitchFamily="34" charset="-120"/>
              </a:rPr>
              <a:t>Slower · DB/network · on main</a:t>
            </a:r>
            <a:endParaRPr lang="en-US" sz="850" dirty="0"/>
          </a:p>
        </p:txBody>
      </p:sp>
      <p:sp>
        <p:nvSpPr>
          <p:cNvPr id="45" name="Shape 41"/>
          <p:cNvSpPr/>
          <p:nvPr/>
        </p:nvSpPr>
        <p:spPr>
          <a:xfrm>
            <a:off x="5440680" y="3017520"/>
            <a:ext cx="3355848" cy="859536"/>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46" name="Shape 42"/>
          <p:cNvSpPr/>
          <p:nvPr/>
        </p:nvSpPr>
        <p:spPr>
          <a:xfrm>
            <a:off x="5440680" y="3017520"/>
            <a:ext cx="3355848" cy="64008"/>
          </a:xfrm>
          <a:prstGeom prst="rect">
            <a:avLst/>
          </a:prstGeom>
          <a:solidFill>
            <a:srgbClr val="7C3AED"/>
          </a:solidFill>
          <a:ln w="12700">
            <a:solidFill>
              <a:srgbClr val="7C3AED"/>
            </a:solidFill>
            <a:prstDash val="solid"/>
          </a:ln>
        </p:spPr>
      </p:sp>
      <p:pic>
        <p:nvPicPr>
          <p:cNvPr id="47" name="Image 2" descr="preencoded.png">    </p:cNvPr>
          <p:cNvPicPr>
            <a:picLocks noChangeAspect="1"/>
          </p:cNvPicPr>
          <p:nvPr/>
        </p:nvPicPr>
        <p:blipFill>
          <a:blip r:embed="rId3"/>
          <a:stretch>
            <a:fillRect/>
          </a:stretch>
        </p:blipFill>
        <p:spPr>
          <a:xfrm>
            <a:off x="5559552" y="3200400"/>
            <a:ext cx="329184" cy="329184"/>
          </a:xfrm>
          <a:prstGeom prst="rect">
            <a:avLst/>
          </a:prstGeom>
        </p:spPr>
      </p:pic>
      <p:sp>
        <p:nvSpPr>
          <p:cNvPr id="48" name="Text 43"/>
          <p:cNvSpPr/>
          <p:nvPr/>
        </p:nvSpPr>
        <p:spPr>
          <a:xfrm>
            <a:off x="5961888" y="3108960"/>
            <a:ext cx="1508760" cy="347472"/>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E2E Tests</a:t>
            </a:r>
            <a:endParaRPr lang="en-US" sz="1000" dirty="0"/>
          </a:p>
          <a:p>
            <a:pPr indent="0" marL="0">
              <a:buNone/>
            </a:pPr>
            <a:r>
              <a:rPr lang="en-US" sz="1000" b="1" dirty="0">
                <a:solidFill>
                  <a:srgbClr val="1E293B"/>
                </a:solidFill>
                <a:latin typeface="Calibri" pitchFamily="34" charset="0"/>
                <a:ea typeface="Calibri" pitchFamily="34" charset="-122"/>
                <a:cs typeface="Calibri" pitchFamily="34" charset="-120"/>
              </a:rPr>
              <a:t>(after staging)</a:t>
            </a:r>
            <a:endParaRPr lang="en-US" sz="1000" dirty="0"/>
          </a:p>
        </p:txBody>
      </p:sp>
      <p:sp>
        <p:nvSpPr>
          <p:cNvPr id="49" name="Text 44"/>
          <p:cNvSpPr/>
          <p:nvPr/>
        </p:nvSpPr>
        <p:spPr>
          <a:xfrm>
            <a:off x="5961888" y="3474720"/>
            <a:ext cx="2743200" cy="32918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Selenium/Playwright</a:t>
            </a:r>
            <a:endParaRPr lang="en-US" sz="850" dirty="0"/>
          </a:p>
          <a:p>
            <a:pPr indent="0" marL="0">
              <a:buNone/>
            </a:pPr>
            <a:r>
              <a:rPr lang="en-US" sz="850" dirty="0">
                <a:solidFill>
                  <a:srgbClr val="64748B"/>
                </a:solidFill>
                <a:latin typeface="Calibri" pitchFamily="34" charset="0"/>
                <a:ea typeface="Calibri" pitchFamily="34" charset="-122"/>
                <a:cs typeface="Calibri" pitchFamily="34" charset="-120"/>
              </a:rPr>
              <a:t>Real user journeys</a:t>
            </a:r>
            <a:endParaRPr lang="en-US" sz="850" dirty="0"/>
          </a:p>
        </p:txBody>
      </p:sp>
      <p:sp>
        <p:nvSpPr>
          <p:cNvPr id="50" name="Shape 45"/>
          <p:cNvSpPr/>
          <p:nvPr/>
        </p:nvSpPr>
        <p:spPr>
          <a:xfrm>
            <a:off x="5440680" y="3986784"/>
            <a:ext cx="3355848" cy="859536"/>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51" name="Shape 46"/>
          <p:cNvSpPr/>
          <p:nvPr/>
        </p:nvSpPr>
        <p:spPr>
          <a:xfrm>
            <a:off x="5440680" y="3986784"/>
            <a:ext cx="3355848" cy="64008"/>
          </a:xfrm>
          <a:prstGeom prst="rect">
            <a:avLst/>
          </a:prstGeom>
          <a:solidFill>
            <a:srgbClr val="10B981"/>
          </a:solidFill>
          <a:ln w="12700">
            <a:solidFill>
              <a:srgbClr val="10B981"/>
            </a:solidFill>
            <a:prstDash val="solid"/>
          </a:ln>
        </p:spPr>
      </p:sp>
      <p:pic>
        <p:nvPicPr>
          <p:cNvPr id="52" name="Image 3" descr="preencoded.png">    </p:cNvPr>
          <p:cNvPicPr>
            <a:picLocks noChangeAspect="1"/>
          </p:cNvPicPr>
          <p:nvPr/>
        </p:nvPicPr>
        <p:blipFill>
          <a:blip r:embed="rId4"/>
          <a:stretch>
            <a:fillRect/>
          </a:stretch>
        </p:blipFill>
        <p:spPr>
          <a:xfrm>
            <a:off x="5559552" y="4169664"/>
            <a:ext cx="329184" cy="329184"/>
          </a:xfrm>
          <a:prstGeom prst="rect">
            <a:avLst/>
          </a:prstGeom>
        </p:spPr>
      </p:pic>
      <p:sp>
        <p:nvSpPr>
          <p:cNvPr id="53" name="Text 47"/>
          <p:cNvSpPr/>
          <p:nvPr/>
        </p:nvSpPr>
        <p:spPr>
          <a:xfrm>
            <a:off x="5961888" y="4078224"/>
            <a:ext cx="1508760" cy="347472"/>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Coverage</a:t>
            </a:r>
            <a:endParaRPr lang="en-US" sz="1000" dirty="0"/>
          </a:p>
          <a:p>
            <a:pPr indent="0" marL="0">
              <a:buNone/>
            </a:pPr>
            <a:r>
              <a:rPr lang="en-US" sz="1000" b="1" dirty="0">
                <a:solidFill>
                  <a:srgbClr val="1E293B"/>
                </a:solidFill>
                <a:latin typeface="Calibri" pitchFamily="34" charset="0"/>
                <a:ea typeface="Calibri" pitchFamily="34" charset="-122"/>
                <a:cs typeface="Calibri" pitchFamily="34" charset="-120"/>
              </a:rPr>
              <a:t>(80% threshold)</a:t>
            </a:r>
            <a:endParaRPr lang="en-US" sz="1000" dirty="0"/>
          </a:p>
        </p:txBody>
      </p:sp>
      <p:sp>
        <p:nvSpPr>
          <p:cNvPr id="54" name="Text 48"/>
          <p:cNvSpPr/>
          <p:nvPr/>
        </p:nvSpPr>
        <p:spPr>
          <a:xfrm>
            <a:off x="5961888" y="4443984"/>
            <a:ext cx="2743200" cy="32918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JaCoCo</a:t>
            </a:r>
            <a:endParaRPr lang="en-US" sz="850" dirty="0"/>
          </a:p>
          <a:p>
            <a:pPr indent="0" marL="0">
              <a:buNone/>
            </a:pPr>
            <a:r>
              <a:rPr lang="en-US" sz="850" dirty="0">
                <a:solidFill>
                  <a:srgbClr val="64748B"/>
                </a:solidFill>
                <a:latin typeface="Calibri" pitchFamily="34" charset="0"/>
                <a:ea typeface="Calibri" pitchFamily="34" charset="-122"/>
                <a:cs typeface="Calibri" pitchFamily="34" charset="-120"/>
              </a:rPr>
              <a:t>Fail build if below threshold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A56DB"/>
          </a:solidFill>
          <a:ln w="12700">
            <a:solidFill>
              <a:srgbClr val="1A56DB"/>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Module 2 — Build Artifacts: What, Why &amp; How</a:t>
            </a:r>
            <a:endParaRPr lang="en-US" sz="2500" dirty="0"/>
          </a:p>
        </p:txBody>
      </p:sp>
      <p:sp>
        <p:nvSpPr>
          <p:cNvPr id="4" name="Shape 2"/>
          <p:cNvSpPr/>
          <p:nvPr/>
        </p:nvSpPr>
        <p:spPr>
          <a:xfrm>
            <a:off x="384048" y="731520"/>
            <a:ext cx="983894" cy="219456"/>
          </a:xfrm>
          <a:prstGeom prst="rect">
            <a:avLst/>
          </a:prstGeom>
          <a:solidFill>
            <a:srgbClr val="1A56DB"/>
          </a:solidFill>
          <a:ln w="12700">
            <a:solidFill>
              <a:srgbClr val="1A56DB"/>
            </a:solidFill>
            <a:prstDash val="solid"/>
          </a:ln>
        </p:spPr>
      </p:sp>
      <p:sp>
        <p:nvSpPr>
          <p:cNvPr id="5" name="Text 3"/>
          <p:cNvSpPr/>
          <p:nvPr/>
        </p:nvSpPr>
        <p:spPr>
          <a:xfrm>
            <a:off x="384048" y="731520"/>
            <a:ext cx="983894"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CONCEPT</a:t>
            </a:r>
            <a:endParaRPr lang="en-US" sz="850" dirty="0"/>
          </a:p>
        </p:txBody>
      </p:sp>
      <p:sp>
        <p:nvSpPr>
          <p:cNvPr id="6" name="Shape 4"/>
          <p:cNvSpPr/>
          <p:nvPr/>
        </p:nvSpPr>
        <p:spPr>
          <a:xfrm>
            <a:off x="347472" y="1078992"/>
            <a:ext cx="8449056" cy="457200"/>
          </a:xfrm>
          <a:prstGeom prst="rect">
            <a:avLst/>
          </a:prstGeom>
          <a:solidFill>
            <a:srgbClr val="FEF3C7"/>
          </a:solidFill>
          <a:ln w="6350">
            <a:solidFill>
              <a:srgbClr val="F59E0B"/>
            </a:solidFill>
            <a:prstDash val="solid"/>
          </a:ln>
        </p:spPr>
      </p:sp>
      <p:pic>
        <p:nvPicPr>
          <p:cNvPr id="7" name="Image 0" descr="preencoded.png">    </p:cNvPr>
          <p:cNvPicPr>
            <a:picLocks noChangeAspect="1"/>
          </p:cNvPicPr>
          <p:nvPr/>
        </p:nvPicPr>
        <p:blipFill>
          <a:blip r:embed="rId1"/>
          <a:stretch>
            <a:fillRect/>
          </a:stretch>
        </p:blipFill>
        <p:spPr>
          <a:xfrm>
            <a:off x="475488" y="1152144"/>
            <a:ext cx="292608" cy="292608"/>
          </a:xfrm>
          <a:prstGeom prst="rect">
            <a:avLst/>
          </a:prstGeom>
        </p:spPr>
      </p:pic>
      <p:sp>
        <p:nvSpPr>
          <p:cNvPr id="8" name="Text 5"/>
          <p:cNvSpPr/>
          <p:nvPr/>
        </p:nvSpPr>
        <p:spPr>
          <a:xfrm>
            <a:off x="822960" y="1115568"/>
            <a:ext cx="7863840" cy="384048"/>
          </a:xfrm>
          <a:prstGeom prst="rect">
            <a:avLst/>
          </a:prstGeom>
          <a:noFill/>
          <a:ln/>
        </p:spPr>
        <p:txBody>
          <a:bodyPr wrap="square" lIns="0" tIns="0" rIns="0" bIns="0" rtlCol="0" anchor="ctr"/>
          <a:lstStyle/>
          <a:p>
            <a:pPr indent="0" marL="0">
              <a:buNone/>
            </a:pPr>
            <a:r>
              <a:rPr lang="en-US" sz="1050" dirty="0">
                <a:solidFill>
                  <a:srgbClr val="92400E"/>
                </a:solidFill>
                <a:latin typeface="Calibri" pitchFamily="34" charset="0"/>
                <a:ea typeface="Calibri" pitchFamily="34" charset="-122"/>
                <a:cs typeface="Calibri" pitchFamily="34" charset="-120"/>
              </a:rPr>
              <a:t>PROBLEM: Every GitHub Actions job runs on a FRESH virtual machine. When the job ends, the VM is destroyed — along with every file it created.</a:t>
            </a:r>
            <a:endParaRPr lang="en-US" sz="1050" dirty="0"/>
          </a:p>
        </p:txBody>
      </p:sp>
      <p:sp>
        <p:nvSpPr>
          <p:cNvPr id="9" name="Shape 6"/>
          <p:cNvSpPr/>
          <p:nvPr/>
        </p:nvSpPr>
        <p:spPr>
          <a:xfrm>
            <a:off x="347472" y="1719072"/>
            <a:ext cx="2724912" cy="1298448"/>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10" name="Shape 7"/>
          <p:cNvSpPr/>
          <p:nvPr/>
        </p:nvSpPr>
        <p:spPr>
          <a:xfrm>
            <a:off x="347472" y="1719072"/>
            <a:ext cx="2724912" cy="438912"/>
          </a:xfrm>
          <a:prstGeom prst="rect">
            <a:avLst/>
          </a:prstGeom>
          <a:solidFill>
            <a:srgbClr val="1A56DB"/>
          </a:solidFill>
          <a:ln w="12700">
            <a:solidFill>
              <a:srgbClr val="1A56DB"/>
            </a:solidFill>
            <a:prstDash val="solid"/>
          </a:ln>
        </p:spPr>
      </p:sp>
      <p:pic>
        <p:nvPicPr>
          <p:cNvPr id="11" name="Image 1" descr="preencoded.png">    </p:cNvPr>
          <p:cNvPicPr>
            <a:picLocks noChangeAspect="1"/>
          </p:cNvPicPr>
          <p:nvPr/>
        </p:nvPicPr>
        <p:blipFill>
          <a:blip r:embed="rId2"/>
          <a:stretch>
            <a:fillRect/>
          </a:stretch>
        </p:blipFill>
        <p:spPr>
          <a:xfrm>
            <a:off x="475488" y="1801368"/>
            <a:ext cx="274320" cy="274320"/>
          </a:xfrm>
          <a:prstGeom prst="rect">
            <a:avLst/>
          </a:prstGeom>
        </p:spPr>
      </p:pic>
      <p:sp>
        <p:nvSpPr>
          <p:cNvPr id="12" name="Text 8"/>
          <p:cNvSpPr/>
          <p:nvPr/>
        </p:nvSpPr>
        <p:spPr>
          <a:xfrm>
            <a:off x="822960" y="1801368"/>
            <a:ext cx="214884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Job-to-Job Sharing</a:t>
            </a:r>
            <a:endParaRPr lang="en-US" sz="1150" dirty="0"/>
          </a:p>
        </p:txBody>
      </p:sp>
      <p:sp>
        <p:nvSpPr>
          <p:cNvPr id="13" name="Text 9"/>
          <p:cNvSpPr/>
          <p:nvPr/>
        </p:nvSpPr>
        <p:spPr>
          <a:xfrm>
            <a:off x="475488" y="2231136"/>
            <a:ext cx="2487168" cy="658368"/>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Build JAR in Job 1 → Deploy it in Job 3</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The same binary — not rebuilt</a:t>
            </a:r>
            <a:endParaRPr lang="en-US" sz="950" dirty="0"/>
          </a:p>
        </p:txBody>
      </p:sp>
      <p:sp>
        <p:nvSpPr>
          <p:cNvPr id="14" name="Shape 10"/>
          <p:cNvSpPr/>
          <p:nvPr/>
        </p:nvSpPr>
        <p:spPr>
          <a:xfrm>
            <a:off x="3200400" y="1719072"/>
            <a:ext cx="2724912" cy="1298448"/>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15" name="Shape 11"/>
          <p:cNvSpPr/>
          <p:nvPr/>
        </p:nvSpPr>
        <p:spPr>
          <a:xfrm>
            <a:off x="3200400" y="1719072"/>
            <a:ext cx="2724912" cy="438912"/>
          </a:xfrm>
          <a:prstGeom prst="rect">
            <a:avLst/>
          </a:prstGeom>
          <a:solidFill>
            <a:srgbClr val="06B6D4"/>
          </a:solidFill>
          <a:ln w="12700">
            <a:solidFill>
              <a:srgbClr val="06B6D4"/>
            </a:solidFill>
            <a:prstDash val="solid"/>
          </a:ln>
        </p:spPr>
      </p:sp>
      <p:pic>
        <p:nvPicPr>
          <p:cNvPr id="16" name="Image 2" descr="preencoded.png">    </p:cNvPr>
          <p:cNvPicPr>
            <a:picLocks noChangeAspect="1"/>
          </p:cNvPicPr>
          <p:nvPr/>
        </p:nvPicPr>
        <p:blipFill>
          <a:blip r:embed="rId3"/>
          <a:stretch>
            <a:fillRect/>
          </a:stretch>
        </p:blipFill>
        <p:spPr>
          <a:xfrm>
            <a:off x="3328416" y="1801368"/>
            <a:ext cx="274320" cy="274320"/>
          </a:xfrm>
          <a:prstGeom prst="rect">
            <a:avLst/>
          </a:prstGeom>
        </p:spPr>
      </p:pic>
      <p:sp>
        <p:nvSpPr>
          <p:cNvPr id="17" name="Text 12"/>
          <p:cNvSpPr/>
          <p:nvPr/>
        </p:nvSpPr>
        <p:spPr>
          <a:xfrm>
            <a:off x="3675888" y="1801368"/>
            <a:ext cx="214884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Human Download</a:t>
            </a:r>
            <a:endParaRPr lang="en-US" sz="1150" dirty="0"/>
          </a:p>
        </p:txBody>
      </p:sp>
      <p:sp>
        <p:nvSpPr>
          <p:cNvPr id="18" name="Text 13"/>
          <p:cNvSpPr/>
          <p:nvPr/>
        </p:nvSpPr>
        <p:spPr>
          <a:xfrm>
            <a:off x="3328416" y="2231136"/>
            <a:ext cx="2487168" cy="658368"/>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QA downloads test reports</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Auditor retrieves compliance evidence</a:t>
            </a:r>
            <a:endParaRPr lang="en-US" sz="950" dirty="0"/>
          </a:p>
        </p:txBody>
      </p:sp>
      <p:sp>
        <p:nvSpPr>
          <p:cNvPr id="19" name="Shape 14"/>
          <p:cNvSpPr/>
          <p:nvPr/>
        </p:nvSpPr>
        <p:spPr>
          <a:xfrm>
            <a:off x="6053328" y="1719072"/>
            <a:ext cx="2724912" cy="1298448"/>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20" name="Shape 15"/>
          <p:cNvSpPr/>
          <p:nvPr/>
        </p:nvSpPr>
        <p:spPr>
          <a:xfrm>
            <a:off x="6053328" y="1719072"/>
            <a:ext cx="2724912" cy="438912"/>
          </a:xfrm>
          <a:prstGeom prst="rect">
            <a:avLst/>
          </a:prstGeom>
          <a:solidFill>
            <a:srgbClr val="10B981"/>
          </a:solidFill>
          <a:ln w="12700">
            <a:solidFill>
              <a:srgbClr val="10B981"/>
            </a:solidFill>
            <a:prstDash val="solid"/>
          </a:ln>
        </p:spPr>
      </p:sp>
      <p:pic>
        <p:nvPicPr>
          <p:cNvPr id="21" name="Image 3" descr="preencoded.png">    </p:cNvPr>
          <p:cNvPicPr>
            <a:picLocks noChangeAspect="1"/>
          </p:cNvPicPr>
          <p:nvPr/>
        </p:nvPicPr>
        <p:blipFill>
          <a:blip r:embed="rId4"/>
          <a:stretch>
            <a:fillRect/>
          </a:stretch>
        </p:blipFill>
        <p:spPr>
          <a:xfrm>
            <a:off x="6181344" y="1801368"/>
            <a:ext cx="274320" cy="274320"/>
          </a:xfrm>
          <a:prstGeom prst="rect">
            <a:avLst/>
          </a:prstGeom>
        </p:spPr>
      </p:pic>
      <p:sp>
        <p:nvSpPr>
          <p:cNvPr id="22" name="Text 16"/>
          <p:cNvSpPr/>
          <p:nvPr/>
        </p:nvSpPr>
        <p:spPr>
          <a:xfrm>
            <a:off x="6528816" y="1801368"/>
            <a:ext cx="214884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Long-term Storage</a:t>
            </a:r>
            <a:endParaRPr lang="en-US" sz="1150" dirty="0"/>
          </a:p>
        </p:txBody>
      </p:sp>
      <p:sp>
        <p:nvSpPr>
          <p:cNvPr id="23" name="Text 17"/>
          <p:cNvSpPr/>
          <p:nvPr/>
        </p:nvSpPr>
        <p:spPr>
          <a:xfrm>
            <a:off x="6181344" y="2231136"/>
            <a:ext cx="2487168" cy="658368"/>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Retain deployment artifacts</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Configurable 1–90 day retention</a:t>
            </a:r>
            <a:endParaRPr lang="en-US" sz="950" dirty="0"/>
          </a:p>
        </p:txBody>
      </p:sp>
      <p:sp>
        <p:nvSpPr>
          <p:cNvPr id="24" name="Shape 18"/>
          <p:cNvSpPr/>
          <p:nvPr/>
        </p:nvSpPr>
        <p:spPr>
          <a:xfrm>
            <a:off x="347472" y="3154680"/>
            <a:ext cx="8449056" cy="1508760"/>
          </a:xfrm>
          <a:prstGeom prst="rect">
            <a:avLst/>
          </a:prstGeom>
          <a:solidFill>
            <a:srgbClr val="0D1B2A"/>
          </a:solidFill>
          <a:ln w="6350">
            <a:solidFill>
              <a:srgbClr val="334155"/>
            </a:solidFill>
            <a:prstDash val="solid"/>
          </a:ln>
        </p:spPr>
      </p:sp>
      <p:sp>
        <p:nvSpPr>
          <p:cNvPr id="25" name="Text 19"/>
          <p:cNvSpPr/>
          <p:nvPr/>
        </p:nvSpPr>
        <p:spPr>
          <a:xfrm>
            <a:off x="457200" y="3218688"/>
            <a:ext cx="8229600" cy="292608"/>
          </a:xfrm>
          <a:prstGeom prst="rect">
            <a:avLst/>
          </a:prstGeom>
          <a:noFill/>
          <a:ln/>
        </p:spPr>
        <p:txBody>
          <a:bodyPr wrap="square" lIns="0" tIns="0" rIns="0" bIns="0"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GitHub Marketplace Actions</a:t>
            </a:r>
            <a:endParaRPr lang="en-US" sz="1200" dirty="0"/>
          </a:p>
        </p:txBody>
      </p:sp>
      <p:sp>
        <p:nvSpPr>
          <p:cNvPr id="26" name="Shape 20"/>
          <p:cNvSpPr/>
          <p:nvPr/>
        </p:nvSpPr>
        <p:spPr>
          <a:xfrm>
            <a:off x="457200" y="3566160"/>
            <a:ext cx="4023360" cy="1005840"/>
          </a:xfrm>
          <a:prstGeom prst="rect">
            <a:avLst/>
          </a:prstGeom>
          <a:solidFill>
            <a:srgbClr val="1B2A3B"/>
          </a:solidFill>
          <a:ln w="6350">
            <a:solidFill>
              <a:srgbClr val="334155"/>
            </a:solidFill>
            <a:prstDash val="solid"/>
          </a:ln>
        </p:spPr>
      </p:sp>
      <p:sp>
        <p:nvSpPr>
          <p:cNvPr id="27" name="Shape 21"/>
          <p:cNvSpPr/>
          <p:nvPr/>
        </p:nvSpPr>
        <p:spPr>
          <a:xfrm>
            <a:off x="457200" y="3566160"/>
            <a:ext cx="64008" cy="1005840"/>
          </a:xfrm>
          <a:prstGeom prst="rect">
            <a:avLst/>
          </a:prstGeom>
          <a:solidFill>
            <a:srgbClr val="1A56DB"/>
          </a:solidFill>
          <a:ln w="12700">
            <a:solidFill>
              <a:srgbClr val="1A56DB"/>
            </a:solidFill>
            <a:prstDash val="solid"/>
          </a:ln>
        </p:spPr>
      </p:sp>
      <p:sp>
        <p:nvSpPr>
          <p:cNvPr id="28" name="Text 22"/>
          <p:cNvSpPr/>
          <p:nvPr/>
        </p:nvSpPr>
        <p:spPr>
          <a:xfrm>
            <a:off x="640080" y="3630168"/>
            <a:ext cx="3749040" cy="292608"/>
          </a:xfrm>
          <a:prstGeom prst="rect">
            <a:avLst/>
          </a:prstGeom>
          <a:noFill/>
          <a:ln/>
        </p:spPr>
        <p:txBody>
          <a:bodyPr wrap="square" lIns="0" tIns="0" rIns="0" bIns="0" rtlCol="0" anchor="ctr"/>
          <a:lstStyle/>
          <a:p>
            <a:pPr indent="0" marL="0">
              <a:buNone/>
            </a:pPr>
            <a:r>
              <a:rPr lang="en-US" sz="1050" b="1" dirty="0">
                <a:solidFill>
                  <a:srgbClr val="1A56DB"/>
                </a:solidFill>
                <a:latin typeface="Consolas" pitchFamily="34" charset="0"/>
                <a:ea typeface="Consolas" pitchFamily="34" charset="-122"/>
                <a:cs typeface="Consolas" pitchFamily="34" charset="-120"/>
              </a:rPr>
              <a:t>actions/upload-artifact@v4</a:t>
            </a:r>
            <a:endParaRPr lang="en-US" sz="1050" dirty="0"/>
          </a:p>
        </p:txBody>
      </p:sp>
      <p:sp>
        <p:nvSpPr>
          <p:cNvPr id="29" name="Text 23"/>
          <p:cNvSpPr/>
          <p:nvPr/>
        </p:nvSpPr>
        <p:spPr>
          <a:xfrm>
            <a:off x="640080" y="3931920"/>
            <a:ext cx="3749040" cy="548640"/>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Saves files from job to GitHub storage</a:t>
            </a:r>
            <a:endParaRPr lang="en-US" sz="950" dirty="0"/>
          </a:p>
        </p:txBody>
      </p:sp>
      <p:sp>
        <p:nvSpPr>
          <p:cNvPr id="30" name="Shape 24"/>
          <p:cNvSpPr/>
          <p:nvPr/>
        </p:nvSpPr>
        <p:spPr>
          <a:xfrm>
            <a:off x="4663440" y="3566160"/>
            <a:ext cx="4023360" cy="1005840"/>
          </a:xfrm>
          <a:prstGeom prst="rect">
            <a:avLst/>
          </a:prstGeom>
          <a:solidFill>
            <a:srgbClr val="1B2A3B"/>
          </a:solidFill>
          <a:ln w="6350">
            <a:solidFill>
              <a:srgbClr val="334155"/>
            </a:solidFill>
            <a:prstDash val="solid"/>
          </a:ln>
        </p:spPr>
      </p:sp>
      <p:sp>
        <p:nvSpPr>
          <p:cNvPr id="31" name="Shape 25"/>
          <p:cNvSpPr/>
          <p:nvPr/>
        </p:nvSpPr>
        <p:spPr>
          <a:xfrm>
            <a:off x="4663440" y="3566160"/>
            <a:ext cx="64008" cy="1005840"/>
          </a:xfrm>
          <a:prstGeom prst="rect">
            <a:avLst/>
          </a:prstGeom>
          <a:solidFill>
            <a:srgbClr val="06B6D4"/>
          </a:solidFill>
          <a:ln w="12700">
            <a:solidFill>
              <a:srgbClr val="06B6D4"/>
            </a:solidFill>
            <a:prstDash val="solid"/>
          </a:ln>
        </p:spPr>
      </p:sp>
      <p:sp>
        <p:nvSpPr>
          <p:cNvPr id="32" name="Text 26"/>
          <p:cNvSpPr/>
          <p:nvPr/>
        </p:nvSpPr>
        <p:spPr>
          <a:xfrm>
            <a:off x="4846320" y="3630168"/>
            <a:ext cx="3749040" cy="292608"/>
          </a:xfrm>
          <a:prstGeom prst="rect">
            <a:avLst/>
          </a:prstGeom>
          <a:noFill/>
          <a:ln/>
        </p:spPr>
        <p:txBody>
          <a:bodyPr wrap="square" lIns="0" tIns="0" rIns="0" bIns="0" rtlCol="0" anchor="ctr"/>
          <a:lstStyle/>
          <a:p>
            <a:pPr indent="0" marL="0">
              <a:buNone/>
            </a:pPr>
            <a:r>
              <a:rPr lang="en-US" sz="1050" b="1" dirty="0">
                <a:solidFill>
                  <a:srgbClr val="06B6D4"/>
                </a:solidFill>
                <a:latin typeface="Consolas" pitchFamily="34" charset="0"/>
                <a:ea typeface="Consolas" pitchFamily="34" charset="-122"/>
                <a:cs typeface="Consolas" pitchFamily="34" charset="-120"/>
              </a:rPr>
              <a:t>actions/download-artifact@v4</a:t>
            </a:r>
            <a:endParaRPr lang="en-US" sz="1050" dirty="0"/>
          </a:p>
        </p:txBody>
      </p:sp>
      <p:sp>
        <p:nvSpPr>
          <p:cNvPr id="33" name="Text 27"/>
          <p:cNvSpPr/>
          <p:nvPr/>
        </p:nvSpPr>
        <p:spPr>
          <a:xfrm>
            <a:off x="4846320" y="3931920"/>
            <a:ext cx="3749040" cy="548640"/>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Downloads saved artifact into another job</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A56DB"/>
          </a:solidFill>
          <a:ln w="12700">
            <a:solidFill>
              <a:srgbClr val="1A56DB"/>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Build Artifacts — Architecture &amp; Data Flow Diagram</a:t>
            </a:r>
            <a:endParaRPr lang="en-US" sz="2500" dirty="0"/>
          </a:p>
        </p:txBody>
      </p:sp>
      <p:sp>
        <p:nvSpPr>
          <p:cNvPr id="4" name="Shape 2"/>
          <p:cNvSpPr/>
          <p:nvPr/>
        </p:nvSpPr>
        <p:spPr>
          <a:xfrm>
            <a:off x="384048" y="731520"/>
            <a:ext cx="2267712" cy="219456"/>
          </a:xfrm>
          <a:prstGeom prst="rect">
            <a:avLst/>
          </a:prstGeom>
          <a:solidFill>
            <a:srgbClr val="1A56DB"/>
          </a:solidFill>
          <a:ln w="12700">
            <a:solidFill>
              <a:srgbClr val="1A56DB"/>
            </a:solidFill>
            <a:prstDash val="solid"/>
          </a:ln>
        </p:spPr>
      </p:sp>
      <p:sp>
        <p:nvSpPr>
          <p:cNvPr id="5" name="Text 3"/>
          <p:cNvSpPr/>
          <p:nvPr/>
        </p:nvSpPr>
        <p:spPr>
          <a:xfrm>
            <a:off x="384048" y="731520"/>
            <a:ext cx="2267712"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ARCHITECTURE DIAGRAM</a:t>
            </a:r>
            <a:endParaRPr lang="en-US" sz="850" dirty="0"/>
          </a:p>
        </p:txBody>
      </p:sp>
      <p:sp>
        <p:nvSpPr>
          <p:cNvPr id="6" name="Shape 4"/>
          <p:cNvSpPr/>
          <p:nvPr/>
        </p:nvSpPr>
        <p:spPr>
          <a:xfrm>
            <a:off x="320040" y="1024128"/>
            <a:ext cx="2606040" cy="3547872"/>
          </a:xfrm>
          <a:prstGeom prst="rect">
            <a:avLst/>
          </a:prstGeom>
          <a:solidFill>
            <a:srgbClr val="F8FAFC"/>
          </a:solidFill>
          <a:ln w="12700">
            <a:solidFill>
              <a:srgbClr val="1A56DB"/>
            </a:solidFill>
            <a:prstDash val="solid"/>
          </a:ln>
        </p:spPr>
      </p:sp>
      <p:sp>
        <p:nvSpPr>
          <p:cNvPr id="7" name="Shape 5"/>
          <p:cNvSpPr/>
          <p:nvPr/>
        </p:nvSpPr>
        <p:spPr>
          <a:xfrm>
            <a:off x="320040" y="1024128"/>
            <a:ext cx="2606040" cy="384048"/>
          </a:xfrm>
          <a:prstGeom prst="rect">
            <a:avLst/>
          </a:prstGeom>
          <a:solidFill>
            <a:srgbClr val="1A56DB"/>
          </a:solidFill>
          <a:ln w="12700">
            <a:solidFill>
              <a:srgbClr val="1A56DB"/>
            </a:solidFill>
            <a:prstDash val="solid"/>
          </a:ln>
        </p:spPr>
      </p:sp>
      <p:sp>
        <p:nvSpPr>
          <p:cNvPr id="8" name="Text 6"/>
          <p:cNvSpPr/>
          <p:nvPr/>
        </p:nvSpPr>
        <p:spPr>
          <a:xfrm>
            <a:off x="320040" y="1024128"/>
            <a:ext cx="2606040"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JOB 1 (build)</a:t>
            </a:r>
            <a:endParaRPr lang="en-US" sz="1050" dirty="0"/>
          </a:p>
        </p:txBody>
      </p:sp>
      <p:sp>
        <p:nvSpPr>
          <p:cNvPr id="9" name="Text 7"/>
          <p:cNvSpPr/>
          <p:nvPr/>
        </p:nvSpPr>
        <p:spPr>
          <a:xfrm>
            <a:off x="320040" y="1188720"/>
            <a:ext cx="2606040" cy="219456"/>
          </a:xfrm>
          <a:prstGeom prst="rect">
            <a:avLst/>
          </a:prstGeom>
          <a:noFill/>
          <a:ln/>
        </p:spPr>
        <p:txBody>
          <a:bodyPr wrap="square" lIns="0" tIns="0" rIns="0" bIns="0" rtlCol="0" anchor="ctr"/>
          <a:lstStyle/>
          <a:p>
            <a:pPr algn="ctr" indent="0" marL="0">
              <a:buNone/>
            </a:pPr>
            <a:r>
              <a:rPr lang="en-US" sz="850" dirty="0">
                <a:solidFill>
                  <a:srgbClr val="E0E7FF"/>
                </a:solidFill>
                <a:latin typeface="Calibri" pitchFamily="34" charset="0"/>
                <a:ea typeface="Calibri" pitchFamily="34" charset="-122"/>
                <a:cs typeface="Calibri" pitchFamily="34" charset="-120"/>
              </a:rPr>
              <a:t>ubuntu-machine-A</a:t>
            </a:r>
            <a:endParaRPr lang="en-US" sz="850" dirty="0"/>
          </a:p>
        </p:txBody>
      </p:sp>
      <p:sp>
        <p:nvSpPr>
          <p:cNvPr id="10" name="Shape 8"/>
          <p:cNvSpPr/>
          <p:nvPr/>
        </p:nvSpPr>
        <p:spPr>
          <a:xfrm>
            <a:off x="3310128" y="1024128"/>
            <a:ext cx="2606040" cy="3547872"/>
          </a:xfrm>
          <a:prstGeom prst="rect">
            <a:avLst/>
          </a:prstGeom>
          <a:solidFill>
            <a:srgbClr val="F8FAFC"/>
          </a:solidFill>
          <a:ln w="12700">
            <a:solidFill>
              <a:srgbClr val="7C3AED"/>
            </a:solidFill>
            <a:prstDash val="solid"/>
          </a:ln>
        </p:spPr>
      </p:sp>
      <p:sp>
        <p:nvSpPr>
          <p:cNvPr id="11" name="Shape 9"/>
          <p:cNvSpPr/>
          <p:nvPr/>
        </p:nvSpPr>
        <p:spPr>
          <a:xfrm>
            <a:off x="3310128" y="1024128"/>
            <a:ext cx="2606040" cy="384048"/>
          </a:xfrm>
          <a:prstGeom prst="rect">
            <a:avLst/>
          </a:prstGeom>
          <a:solidFill>
            <a:srgbClr val="7C3AED"/>
          </a:solidFill>
          <a:ln w="12700">
            <a:solidFill>
              <a:srgbClr val="7C3AED"/>
            </a:solidFill>
            <a:prstDash val="solid"/>
          </a:ln>
        </p:spPr>
      </p:sp>
      <p:sp>
        <p:nvSpPr>
          <p:cNvPr id="12" name="Text 10"/>
          <p:cNvSpPr/>
          <p:nvPr/>
        </p:nvSpPr>
        <p:spPr>
          <a:xfrm>
            <a:off x="3310128" y="1024128"/>
            <a:ext cx="2606040"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GITHUB STORAGE</a:t>
            </a:r>
            <a:endParaRPr lang="en-US" sz="1050" dirty="0"/>
          </a:p>
        </p:txBody>
      </p:sp>
      <p:sp>
        <p:nvSpPr>
          <p:cNvPr id="13" name="Text 11"/>
          <p:cNvSpPr/>
          <p:nvPr/>
        </p:nvSpPr>
        <p:spPr>
          <a:xfrm>
            <a:off x="3310128" y="1188720"/>
            <a:ext cx="2606040" cy="219456"/>
          </a:xfrm>
          <a:prstGeom prst="rect">
            <a:avLst/>
          </a:prstGeom>
          <a:noFill/>
          <a:ln/>
        </p:spPr>
        <p:txBody>
          <a:bodyPr wrap="square" lIns="0" tIns="0" rIns="0" bIns="0" rtlCol="0" anchor="ctr"/>
          <a:lstStyle/>
          <a:p>
            <a:pPr algn="ctr" indent="0" marL="0">
              <a:buNone/>
            </a:pPr>
            <a:r>
              <a:rPr lang="en-US" sz="850" dirty="0">
                <a:solidFill>
                  <a:srgbClr val="E0E7FF"/>
                </a:solidFill>
                <a:latin typeface="Calibri" pitchFamily="34" charset="0"/>
                <a:ea typeface="Calibri" pitchFamily="34" charset="-122"/>
                <a:cs typeface="Calibri" pitchFamily="34" charset="-120"/>
              </a:rPr>
              <a:t>Artifact Registry</a:t>
            </a:r>
            <a:endParaRPr lang="en-US" sz="850" dirty="0"/>
          </a:p>
        </p:txBody>
      </p:sp>
      <p:sp>
        <p:nvSpPr>
          <p:cNvPr id="14" name="Shape 12"/>
          <p:cNvSpPr/>
          <p:nvPr/>
        </p:nvSpPr>
        <p:spPr>
          <a:xfrm>
            <a:off x="6446520" y="1024128"/>
            <a:ext cx="2606040" cy="3547872"/>
          </a:xfrm>
          <a:prstGeom prst="rect">
            <a:avLst/>
          </a:prstGeom>
          <a:solidFill>
            <a:srgbClr val="F8FAFC"/>
          </a:solidFill>
          <a:ln w="12700">
            <a:solidFill>
              <a:srgbClr val="10B981"/>
            </a:solidFill>
            <a:prstDash val="solid"/>
          </a:ln>
        </p:spPr>
      </p:sp>
      <p:sp>
        <p:nvSpPr>
          <p:cNvPr id="15" name="Shape 13"/>
          <p:cNvSpPr/>
          <p:nvPr/>
        </p:nvSpPr>
        <p:spPr>
          <a:xfrm>
            <a:off x="6446520" y="1024128"/>
            <a:ext cx="2606040" cy="384048"/>
          </a:xfrm>
          <a:prstGeom prst="rect">
            <a:avLst/>
          </a:prstGeom>
          <a:solidFill>
            <a:srgbClr val="10B981"/>
          </a:solidFill>
          <a:ln w="12700">
            <a:solidFill>
              <a:srgbClr val="10B981"/>
            </a:solidFill>
            <a:prstDash val="solid"/>
          </a:ln>
        </p:spPr>
      </p:sp>
      <p:sp>
        <p:nvSpPr>
          <p:cNvPr id="16" name="Text 14"/>
          <p:cNvSpPr/>
          <p:nvPr/>
        </p:nvSpPr>
        <p:spPr>
          <a:xfrm>
            <a:off x="6446520" y="1024128"/>
            <a:ext cx="2606040"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JOB 2 / 3</a:t>
            </a:r>
            <a:endParaRPr lang="en-US" sz="1050" dirty="0"/>
          </a:p>
        </p:txBody>
      </p:sp>
      <p:sp>
        <p:nvSpPr>
          <p:cNvPr id="17" name="Text 15"/>
          <p:cNvSpPr/>
          <p:nvPr/>
        </p:nvSpPr>
        <p:spPr>
          <a:xfrm>
            <a:off x="6446520" y="1188720"/>
            <a:ext cx="2606040" cy="219456"/>
          </a:xfrm>
          <a:prstGeom prst="rect">
            <a:avLst/>
          </a:prstGeom>
          <a:noFill/>
          <a:ln/>
        </p:spPr>
        <p:txBody>
          <a:bodyPr wrap="square" lIns="0" tIns="0" rIns="0" bIns="0" rtlCol="0" anchor="ctr"/>
          <a:lstStyle/>
          <a:p>
            <a:pPr algn="ctr" indent="0" marL="0">
              <a:buNone/>
            </a:pPr>
            <a:r>
              <a:rPr lang="en-US" sz="850" dirty="0">
                <a:solidFill>
                  <a:srgbClr val="E0E7FF"/>
                </a:solidFill>
                <a:latin typeface="Calibri" pitchFamily="34" charset="0"/>
                <a:ea typeface="Calibri" pitchFamily="34" charset="-122"/>
                <a:cs typeface="Calibri" pitchFamily="34" charset="-120"/>
              </a:rPr>
              <a:t>ubuntu-machine-B/C</a:t>
            </a:r>
            <a:endParaRPr lang="en-US" sz="850" dirty="0"/>
          </a:p>
        </p:txBody>
      </p:sp>
      <p:sp>
        <p:nvSpPr>
          <p:cNvPr id="18" name="Shape 16"/>
          <p:cNvSpPr/>
          <p:nvPr/>
        </p:nvSpPr>
        <p:spPr>
          <a:xfrm>
            <a:off x="457200" y="1536192"/>
            <a:ext cx="2331720" cy="384048"/>
          </a:xfrm>
          <a:prstGeom prst="rect">
            <a:avLst/>
          </a:prstGeom>
          <a:solidFill>
            <a:srgbClr val="06B6D4"/>
          </a:solidFill>
          <a:ln w="12700">
            <a:solidFill>
              <a:srgbClr val="06B6D4"/>
            </a:solidFill>
            <a:prstDash val="solid"/>
          </a:ln>
        </p:spPr>
      </p:sp>
      <p:sp>
        <p:nvSpPr>
          <p:cNvPr id="19" name="Text 17"/>
          <p:cNvSpPr/>
          <p:nvPr/>
        </p:nvSpPr>
        <p:spPr>
          <a:xfrm>
            <a:off x="457200" y="1536192"/>
            <a:ext cx="23317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onsolas" pitchFamily="34" charset="0"/>
                <a:ea typeface="Consolas" pitchFamily="34" charset="-122"/>
                <a:cs typeface="Consolas" pitchFamily="34" charset="-120"/>
              </a:rPr>
              <a:t>actions/checkout@v4</a:t>
            </a:r>
            <a:endParaRPr lang="en-US" sz="850" dirty="0"/>
          </a:p>
        </p:txBody>
      </p:sp>
      <p:sp>
        <p:nvSpPr>
          <p:cNvPr id="20" name="Shape 18"/>
          <p:cNvSpPr/>
          <p:nvPr/>
        </p:nvSpPr>
        <p:spPr>
          <a:xfrm>
            <a:off x="457200" y="2029968"/>
            <a:ext cx="2331720" cy="384048"/>
          </a:xfrm>
          <a:prstGeom prst="rect">
            <a:avLst/>
          </a:prstGeom>
          <a:solidFill>
            <a:srgbClr val="06B6D4"/>
          </a:solidFill>
          <a:ln w="12700">
            <a:solidFill>
              <a:srgbClr val="06B6D4"/>
            </a:solidFill>
            <a:prstDash val="solid"/>
          </a:ln>
        </p:spPr>
      </p:sp>
      <p:sp>
        <p:nvSpPr>
          <p:cNvPr id="21" name="Text 19"/>
          <p:cNvSpPr/>
          <p:nvPr/>
        </p:nvSpPr>
        <p:spPr>
          <a:xfrm>
            <a:off x="457200" y="2029968"/>
            <a:ext cx="23317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onsolas" pitchFamily="34" charset="0"/>
                <a:ea typeface="Consolas" pitchFamily="34" charset="-122"/>
                <a:cs typeface="Consolas" pitchFamily="34" charset="-120"/>
              </a:rPr>
              <a:t>actions/setup-java@v4</a:t>
            </a:r>
            <a:endParaRPr lang="en-US" sz="850" dirty="0"/>
          </a:p>
        </p:txBody>
      </p:sp>
      <p:sp>
        <p:nvSpPr>
          <p:cNvPr id="22" name="Shape 20"/>
          <p:cNvSpPr/>
          <p:nvPr/>
        </p:nvSpPr>
        <p:spPr>
          <a:xfrm>
            <a:off x="457200" y="2523744"/>
            <a:ext cx="2331720" cy="384048"/>
          </a:xfrm>
          <a:prstGeom prst="rect">
            <a:avLst/>
          </a:prstGeom>
          <a:solidFill>
            <a:srgbClr val="F59E0B"/>
          </a:solidFill>
          <a:ln w="12700">
            <a:solidFill>
              <a:srgbClr val="F59E0B"/>
            </a:solidFill>
            <a:prstDash val="solid"/>
          </a:ln>
        </p:spPr>
      </p:sp>
      <p:sp>
        <p:nvSpPr>
          <p:cNvPr id="23" name="Text 21"/>
          <p:cNvSpPr/>
          <p:nvPr/>
        </p:nvSpPr>
        <p:spPr>
          <a:xfrm>
            <a:off x="457200" y="2523744"/>
            <a:ext cx="23317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onsolas" pitchFamily="34" charset="0"/>
                <a:ea typeface="Consolas" pitchFamily="34" charset="-122"/>
                <a:cs typeface="Consolas" pitchFamily="34" charset="-120"/>
              </a:rPr>
              <a:t>mvn clean package</a:t>
            </a:r>
            <a:endParaRPr lang="en-US" sz="850" dirty="0"/>
          </a:p>
        </p:txBody>
      </p:sp>
      <p:sp>
        <p:nvSpPr>
          <p:cNvPr id="24" name="Shape 22"/>
          <p:cNvSpPr/>
          <p:nvPr/>
        </p:nvSpPr>
        <p:spPr>
          <a:xfrm>
            <a:off x="457200" y="3017520"/>
            <a:ext cx="2331720" cy="384048"/>
          </a:xfrm>
          <a:prstGeom prst="rect">
            <a:avLst/>
          </a:prstGeom>
          <a:solidFill>
            <a:srgbClr val="10B981"/>
          </a:solidFill>
          <a:ln w="12700">
            <a:solidFill>
              <a:srgbClr val="10B981"/>
            </a:solidFill>
            <a:prstDash val="solid"/>
          </a:ln>
        </p:spPr>
      </p:sp>
      <p:sp>
        <p:nvSpPr>
          <p:cNvPr id="25" name="Text 23"/>
          <p:cNvSpPr/>
          <p:nvPr/>
        </p:nvSpPr>
        <p:spPr>
          <a:xfrm>
            <a:off x="457200" y="3017520"/>
            <a:ext cx="23317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onsolas" pitchFamily="34" charset="0"/>
                <a:ea typeface="Consolas" pitchFamily="34" charset="-122"/>
                <a:cs typeface="Consolas" pitchFamily="34" charset="-120"/>
              </a:rPr>
              <a:t>target/app-1.0.jar  ✅</a:t>
            </a:r>
            <a:endParaRPr lang="en-US" sz="850" dirty="0"/>
          </a:p>
        </p:txBody>
      </p:sp>
      <p:sp>
        <p:nvSpPr>
          <p:cNvPr id="26" name="Shape 24"/>
          <p:cNvSpPr/>
          <p:nvPr/>
        </p:nvSpPr>
        <p:spPr>
          <a:xfrm>
            <a:off x="457200" y="3511296"/>
            <a:ext cx="2331720" cy="384048"/>
          </a:xfrm>
          <a:prstGeom prst="rect">
            <a:avLst/>
          </a:prstGeom>
          <a:solidFill>
            <a:srgbClr val="1A56DB"/>
          </a:solidFill>
          <a:ln w="12700">
            <a:solidFill>
              <a:srgbClr val="1A56DB"/>
            </a:solidFill>
            <a:prstDash val="solid"/>
          </a:ln>
        </p:spPr>
      </p:sp>
      <p:sp>
        <p:nvSpPr>
          <p:cNvPr id="27" name="Text 25"/>
          <p:cNvSpPr/>
          <p:nvPr/>
        </p:nvSpPr>
        <p:spPr>
          <a:xfrm>
            <a:off x="457200" y="3511296"/>
            <a:ext cx="23317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onsolas" pitchFamily="34" charset="0"/>
                <a:ea typeface="Consolas" pitchFamily="34" charset="-122"/>
                <a:cs typeface="Consolas" pitchFamily="34" charset="-120"/>
              </a:rPr>
              <a:t>upload-artifact@v4</a:t>
            </a:r>
            <a:endParaRPr lang="en-US" sz="850" dirty="0"/>
          </a:p>
        </p:txBody>
      </p:sp>
      <p:sp>
        <p:nvSpPr>
          <p:cNvPr id="28" name="Shape 26"/>
          <p:cNvSpPr/>
          <p:nvPr/>
        </p:nvSpPr>
        <p:spPr>
          <a:xfrm>
            <a:off x="2816352" y="2788920"/>
            <a:ext cx="475488" cy="36576"/>
          </a:xfrm>
          <a:prstGeom prst="rect">
            <a:avLst/>
          </a:prstGeom>
          <a:solidFill>
            <a:srgbClr val="1A56DB"/>
          </a:solidFill>
          <a:ln w="12700">
            <a:solidFill>
              <a:srgbClr val="1A56DB"/>
            </a:solidFill>
            <a:prstDash val="solid"/>
          </a:ln>
        </p:spPr>
      </p:sp>
      <p:sp>
        <p:nvSpPr>
          <p:cNvPr id="29" name="Text 27"/>
          <p:cNvSpPr/>
          <p:nvPr/>
        </p:nvSpPr>
        <p:spPr>
          <a:xfrm>
            <a:off x="2788920" y="2633472"/>
            <a:ext cx="530352" cy="182880"/>
          </a:xfrm>
          <a:prstGeom prst="rect">
            <a:avLst/>
          </a:prstGeom>
          <a:noFill/>
          <a:ln/>
        </p:spPr>
        <p:txBody>
          <a:bodyPr wrap="square" lIns="0" tIns="0" rIns="0" bIns="0" rtlCol="0" anchor="ctr"/>
          <a:lstStyle/>
          <a:p>
            <a:pPr algn="ctr" indent="0" marL="0">
              <a:buNone/>
            </a:pPr>
            <a:r>
              <a:rPr lang="en-US" sz="800" dirty="0">
                <a:solidFill>
                  <a:srgbClr val="1A56DB"/>
                </a:solidFill>
                <a:latin typeface="Calibri" pitchFamily="34" charset="0"/>
                <a:ea typeface="Calibri" pitchFamily="34" charset="-122"/>
                <a:cs typeface="Calibri" pitchFamily="34" charset="-120"/>
              </a:rPr>
              <a:t>upload</a:t>
            </a:r>
            <a:endParaRPr lang="en-US" sz="800" dirty="0"/>
          </a:p>
        </p:txBody>
      </p:sp>
      <p:pic>
        <p:nvPicPr>
          <p:cNvPr id="30" name="Image 0" descr="preencoded.png">    </p:cNvPr>
          <p:cNvPicPr>
            <a:picLocks noChangeAspect="1"/>
          </p:cNvPicPr>
          <p:nvPr/>
        </p:nvPicPr>
        <p:blipFill>
          <a:blip r:embed="rId1"/>
          <a:stretch>
            <a:fillRect/>
          </a:stretch>
        </p:blipFill>
        <p:spPr>
          <a:xfrm>
            <a:off x="4224528" y="1645920"/>
            <a:ext cx="548640" cy="548640"/>
          </a:xfrm>
          <a:prstGeom prst="rect">
            <a:avLst/>
          </a:prstGeom>
        </p:spPr>
      </p:pic>
      <p:sp>
        <p:nvSpPr>
          <p:cNvPr id="31" name="Text 28"/>
          <p:cNvSpPr/>
          <p:nvPr/>
        </p:nvSpPr>
        <p:spPr>
          <a:xfrm>
            <a:off x="3401568" y="2240280"/>
            <a:ext cx="2423160" cy="384048"/>
          </a:xfrm>
          <a:prstGeom prst="rect">
            <a:avLst/>
          </a:prstGeom>
          <a:noFill/>
          <a:ln/>
        </p:spPr>
        <p:txBody>
          <a:bodyPr wrap="square" lIns="0" tIns="0" rIns="0" bIns="0" rtlCol="0" anchor="ctr"/>
          <a:lstStyle/>
          <a:p>
            <a:pPr algn="ctr" indent="0" marL="0">
              <a:buNone/>
            </a:pPr>
            <a:r>
              <a:rPr lang="en-US" sz="1050" b="1" dirty="0">
                <a:solidFill>
                  <a:srgbClr val="7C3AED"/>
                </a:solidFill>
                <a:latin typeface="Calibri" pitchFamily="34" charset="0"/>
                <a:ea typeface="Calibri" pitchFamily="34" charset="-122"/>
                <a:cs typeface="Calibri" pitchFamily="34" charset="-120"/>
              </a:rPr>
              <a:t>GitHub</a:t>
            </a:r>
            <a:endParaRPr lang="en-US" sz="1050" dirty="0"/>
          </a:p>
          <a:p>
            <a:pPr algn="ctr" indent="0" marL="0">
              <a:buNone/>
            </a:pPr>
            <a:r>
              <a:rPr lang="en-US" sz="1050" b="1" dirty="0">
                <a:solidFill>
                  <a:srgbClr val="7C3AED"/>
                </a:solidFill>
                <a:latin typeface="Calibri" pitchFamily="34" charset="0"/>
                <a:ea typeface="Calibri" pitchFamily="34" charset="-122"/>
                <a:cs typeface="Calibri" pitchFamily="34" charset="-120"/>
              </a:rPr>
              <a:t>Artifact Store</a:t>
            </a:r>
            <a:endParaRPr lang="en-US" sz="1050" dirty="0"/>
          </a:p>
        </p:txBody>
      </p:sp>
      <p:sp>
        <p:nvSpPr>
          <p:cNvPr id="32" name="Shape 29"/>
          <p:cNvSpPr/>
          <p:nvPr/>
        </p:nvSpPr>
        <p:spPr>
          <a:xfrm>
            <a:off x="3493008" y="2697480"/>
            <a:ext cx="2240280" cy="502920"/>
          </a:xfrm>
          <a:prstGeom prst="rect">
            <a:avLst/>
          </a:prstGeom>
          <a:solidFill>
            <a:srgbClr val="1B2A3B"/>
          </a:solidFill>
          <a:ln w="6350">
            <a:solidFill>
              <a:srgbClr val="4C1D95"/>
            </a:solidFill>
            <a:prstDash val="solid"/>
          </a:ln>
        </p:spPr>
      </p:sp>
      <p:sp>
        <p:nvSpPr>
          <p:cNvPr id="33" name="Text 30"/>
          <p:cNvSpPr/>
          <p:nvPr/>
        </p:nvSpPr>
        <p:spPr>
          <a:xfrm>
            <a:off x="3493008" y="2697480"/>
            <a:ext cx="2240280" cy="502920"/>
          </a:xfrm>
          <a:prstGeom prst="rect">
            <a:avLst/>
          </a:prstGeom>
          <a:noFill/>
          <a:ln/>
        </p:spPr>
        <p:txBody>
          <a:bodyPr wrap="square" lIns="0" tIns="0" rIns="0" bIns="0" rtlCol="0" anchor="ctr"/>
          <a:lstStyle/>
          <a:p>
            <a:pPr algn="ctr" indent="0" marL="0">
              <a:buNone/>
            </a:pPr>
            <a:r>
              <a:rPr lang="en-US" sz="850" dirty="0">
                <a:solidFill>
                  <a:srgbClr val="06B6D4"/>
                </a:solidFill>
                <a:latin typeface="Consolas" pitchFamily="34" charset="0"/>
                <a:ea typeface="Consolas" pitchFamily="34" charset="-122"/>
                <a:cs typeface="Consolas" pitchFamily="34" charset="-120"/>
              </a:rPr>
              <a:t>banking-service-jar</a:t>
            </a:r>
            <a:endParaRPr lang="en-US" sz="850" dirty="0"/>
          </a:p>
          <a:p>
            <a:pPr algn="ctr" indent="0" marL="0">
              <a:buNone/>
            </a:pPr>
            <a:r>
              <a:rPr lang="en-US" sz="850" dirty="0">
                <a:solidFill>
                  <a:srgbClr val="06B6D4"/>
                </a:solidFill>
                <a:latin typeface="Consolas" pitchFamily="34" charset="0"/>
                <a:ea typeface="Consolas" pitchFamily="34" charset="-122"/>
                <a:cs typeface="Consolas" pitchFamily="34" charset="-120"/>
              </a:rPr>
              <a:t>retention: 7 days</a:t>
            </a:r>
            <a:endParaRPr lang="en-US" sz="850" dirty="0"/>
          </a:p>
        </p:txBody>
      </p:sp>
      <p:sp>
        <p:nvSpPr>
          <p:cNvPr id="34" name="Shape 31"/>
          <p:cNvSpPr/>
          <p:nvPr/>
        </p:nvSpPr>
        <p:spPr>
          <a:xfrm>
            <a:off x="3493008" y="3291840"/>
            <a:ext cx="2240280" cy="502920"/>
          </a:xfrm>
          <a:prstGeom prst="rect">
            <a:avLst/>
          </a:prstGeom>
          <a:solidFill>
            <a:srgbClr val="1B2A3B"/>
          </a:solidFill>
          <a:ln w="6350">
            <a:solidFill>
              <a:srgbClr val="4C1D95"/>
            </a:solidFill>
            <a:prstDash val="solid"/>
          </a:ln>
        </p:spPr>
      </p:sp>
      <p:sp>
        <p:nvSpPr>
          <p:cNvPr id="35" name="Text 32"/>
          <p:cNvSpPr/>
          <p:nvPr/>
        </p:nvSpPr>
        <p:spPr>
          <a:xfrm>
            <a:off x="3493008" y="3291840"/>
            <a:ext cx="2240280" cy="502920"/>
          </a:xfrm>
          <a:prstGeom prst="rect">
            <a:avLst/>
          </a:prstGeom>
          <a:noFill/>
          <a:ln/>
        </p:spPr>
        <p:txBody>
          <a:bodyPr wrap="square" lIns="0" tIns="0" rIns="0" bIns="0" rtlCol="0" anchor="ctr"/>
          <a:lstStyle/>
          <a:p>
            <a:pPr algn="ctr" indent="0" marL="0">
              <a:buNone/>
            </a:pPr>
            <a:r>
              <a:rPr lang="en-US" sz="850" dirty="0">
                <a:solidFill>
                  <a:srgbClr val="06B6D4"/>
                </a:solidFill>
                <a:latin typeface="Consolas" pitchFamily="34" charset="0"/>
                <a:ea typeface="Consolas" pitchFamily="34" charset="-122"/>
                <a:cs typeface="Consolas" pitchFamily="34" charset="-120"/>
              </a:rPr>
              <a:t>test-reports</a:t>
            </a:r>
            <a:endParaRPr lang="en-US" sz="850" dirty="0"/>
          </a:p>
          <a:p>
            <a:pPr algn="ctr" indent="0" marL="0">
              <a:buNone/>
            </a:pPr>
            <a:r>
              <a:rPr lang="en-US" sz="850" dirty="0">
                <a:solidFill>
                  <a:srgbClr val="06B6D4"/>
                </a:solidFill>
                <a:latin typeface="Consolas" pitchFamily="34" charset="0"/>
                <a:ea typeface="Consolas" pitchFamily="34" charset="-122"/>
                <a:cs typeface="Consolas" pitchFamily="34" charset="-120"/>
              </a:rPr>
              <a:t>retention: 30 days</a:t>
            </a:r>
            <a:endParaRPr lang="en-US" sz="850" dirty="0"/>
          </a:p>
        </p:txBody>
      </p:sp>
      <p:sp>
        <p:nvSpPr>
          <p:cNvPr id="36" name="Shape 33"/>
          <p:cNvSpPr/>
          <p:nvPr/>
        </p:nvSpPr>
        <p:spPr>
          <a:xfrm>
            <a:off x="5897880" y="2788920"/>
            <a:ext cx="530352" cy="36576"/>
          </a:xfrm>
          <a:prstGeom prst="rect">
            <a:avLst/>
          </a:prstGeom>
          <a:solidFill>
            <a:srgbClr val="10B981"/>
          </a:solidFill>
          <a:ln w="12700">
            <a:solidFill>
              <a:srgbClr val="10B981"/>
            </a:solidFill>
            <a:prstDash val="solid"/>
          </a:ln>
        </p:spPr>
      </p:sp>
      <p:sp>
        <p:nvSpPr>
          <p:cNvPr id="37" name="Text 34"/>
          <p:cNvSpPr/>
          <p:nvPr/>
        </p:nvSpPr>
        <p:spPr>
          <a:xfrm>
            <a:off x="5870448" y="2633472"/>
            <a:ext cx="594360" cy="182880"/>
          </a:xfrm>
          <a:prstGeom prst="rect">
            <a:avLst/>
          </a:prstGeom>
          <a:noFill/>
          <a:ln/>
        </p:spPr>
        <p:txBody>
          <a:bodyPr wrap="square" lIns="0" tIns="0" rIns="0" bIns="0" rtlCol="0" anchor="ctr"/>
          <a:lstStyle/>
          <a:p>
            <a:pPr algn="ctr" indent="0" marL="0">
              <a:buNone/>
            </a:pPr>
            <a:r>
              <a:rPr lang="en-US" sz="800" dirty="0">
                <a:solidFill>
                  <a:srgbClr val="10B981"/>
                </a:solidFill>
                <a:latin typeface="Calibri" pitchFamily="34" charset="0"/>
                <a:ea typeface="Calibri" pitchFamily="34" charset="-122"/>
                <a:cs typeface="Calibri" pitchFamily="34" charset="-120"/>
              </a:rPr>
              <a:t>download</a:t>
            </a:r>
            <a:endParaRPr lang="en-US" sz="800" dirty="0"/>
          </a:p>
        </p:txBody>
      </p:sp>
      <p:sp>
        <p:nvSpPr>
          <p:cNvPr id="38" name="Shape 35"/>
          <p:cNvSpPr/>
          <p:nvPr/>
        </p:nvSpPr>
        <p:spPr>
          <a:xfrm>
            <a:off x="6583680" y="1536192"/>
            <a:ext cx="2331720" cy="384048"/>
          </a:xfrm>
          <a:prstGeom prst="rect">
            <a:avLst/>
          </a:prstGeom>
          <a:solidFill>
            <a:srgbClr val="10B981"/>
          </a:solidFill>
          <a:ln w="12700">
            <a:solidFill>
              <a:srgbClr val="10B981"/>
            </a:solidFill>
            <a:prstDash val="solid"/>
          </a:ln>
        </p:spPr>
      </p:sp>
      <p:sp>
        <p:nvSpPr>
          <p:cNvPr id="39" name="Text 36"/>
          <p:cNvSpPr/>
          <p:nvPr/>
        </p:nvSpPr>
        <p:spPr>
          <a:xfrm>
            <a:off x="6583680" y="1536192"/>
            <a:ext cx="23317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onsolas" pitchFamily="34" charset="0"/>
                <a:ea typeface="Consolas" pitchFamily="34" charset="-122"/>
                <a:cs typeface="Consolas" pitchFamily="34" charset="-120"/>
              </a:rPr>
              <a:t>download-artifact@v4</a:t>
            </a:r>
            <a:endParaRPr lang="en-US" sz="850" dirty="0"/>
          </a:p>
        </p:txBody>
      </p:sp>
      <p:sp>
        <p:nvSpPr>
          <p:cNvPr id="40" name="Shape 37"/>
          <p:cNvSpPr/>
          <p:nvPr/>
        </p:nvSpPr>
        <p:spPr>
          <a:xfrm>
            <a:off x="6583680" y="2029968"/>
            <a:ext cx="2331720" cy="384048"/>
          </a:xfrm>
          <a:prstGeom prst="rect">
            <a:avLst/>
          </a:prstGeom>
          <a:solidFill>
            <a:srgbClr val="0D9488"/>
          </a:solidFill>
          <a:ln w="12700">
            <a:solidFill>
              <a:srgbClr val="0D9488"/>
            </a:solidFill>
            <a:prstDash val="solid"/>
          </a:ln>
        </p:spPr>
      </p:sp>
      <p:sp>
        <p:nvSpPr>
          <p:cNvPr id="41" name="Text 38"/>
          <p:cNvSpPr/>
          <p:nvPr/>
        </p:nvSpPr>
        <p:spPr>
          <a:xfrm>
            <a:off x="6583680" y="2029968"/>
            <a:ext cx="23317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onsolas" pitchFamily="34" charset="0"/>
                <a:ea typeface="Consolas" pitchFamily="34" charset="-122"/>
                <a:cs typeface="Consolas" pitchFamily="34" charset="-120"/>
              </a:rPr>
              <a:t>./deploy/app-1.0.jar</a:t>
            </a:r>
            <a:endParaRPr lang="en-US" sz="850" dirty="0"/>
          </a:p>
        </p:txBody>
      </p:sp>
      <p:sp>
        <p:nvSpPr>
          <p:cNvPr id="42" name="Shape 39"/>
          <p:cNvSpPr/>
          <p:nvPr/>
        </p:nvSpPr>
        <p:spPr>
          <a:xfrm>
            <a:off x="6583680" y="2523744"/>
            <a:ext cx="2331720" cy="384048"/>
          </a:xfrm>
          <a:prstGeom prst="rect">
            <a:avLst/>
          </a:prstGeom>
          <a:solidFill>
            <a:srgbClr val="06B6D4"/>
          </a:solidFill>
          <a:ln w="12700">
            <a:solidFill>
              <a:srgbClr val="06B6D4"/>
            </a:solidFill>
            <a:prstDash val="solid"/>
          </a:ln>
        </p:spPr>
      </p:sp>
      <p:sp>
        <p:nvSpPr>
          <p:cNvPr id="43" name="Text 40"/>
          <p:cNvSpPr/>
          <p:nvPr/>
        </p:nvSpPr>
        <p:spPr>
          <a:xfrm>
            <a:off x="6583680" y="2523744"/>
            <a:ext cx="23317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onsolas" pitchFamily="34" charset="0"/>
                <a:ea typeface="Consolas" pitchFamily="34" charset="-122"/>
                <a:cs typeface="Consolas" pitchFamily="34" charset="-120"/>
              </a:rPr>
              <a:t>Docker Build</a:t>
            </a:r>
            <a:endParaRPr lang="en-US" sz="850" dirty="0"/>
          </a:p>
        </p:txBody>
      </p:sp>
      <p:sp>
        <p:nvSpPr>
          <p:cNvPr id="44" name="Shape 41"/>
          <p:cNvSpPr/>
          <p:nvPr/>
        </p:nvSpPr>
        <p:spPr>
          <a:xfrm>
            <a:off x="6583680" y="3017520"/>
            <a:ext cx="2331720" cy="384048"/>
          </a:xfrm>
          <a:prstGeom prst="rect">
            <a:avLst/>
          </a:prstGeom>
          <a:solidFill>
            <a:srgbClr val="1A56DB"/>
          </a:solidFill>
          <a:ln w="12700">
            <a:solidFill>
              <a:srgbClr val="1A56DB"/>
            </a:solidFill>
            <a:prstDash val="solid"/>
          </a:ln>
        </p:spPr>
      </p:sp>
      <p:sp>
        <p:nvSpPr>
          <p:cNvPr id="45" name="Text 42"/>
          <p:cNvSpPr/>
          <p:nvPr/>
        </p:nvSpPr>
        <p:spPr>
          <a:xfrm>
            <a:off x="6583680" y="3017520"/>
            <a:ext cx="23317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onsolas" pitchFamily="34" charset="0"/>
                <a:ea typeface="Consolas" pitchFamily="34" charset="-122"/>
                <a:cs typeface="Consolas" pitchFamily="34" charset="-120"/>
              </a:rPr>
              <a:t>SSH Deploy</a:t>
            </a:r>
            <a:endParaRPr lang="en-US" sz="850" dirty="0"/>
          </a:p>
        </p:txBody>
      </p:sp>
      <p:sp>
        <p:nvSpPr>
          <p:cNvPr id="46" name="Shape 43"/>
          <p:cNvSpPr/>
          <p:nvPr/>
        </p:nvSpPr>
        <p:spPr>
          <a:xfrm>
            <a:off x="6583680" y="3511296"/>
            <a:ext cx="2331720" cy="384048"/>
          </a:xfrm>
          <a:prstGeom prst="rect">
            <a:avLst/>
          </a:prstGeom>
          <a:solidFill>
            <a:srgbClr val="10B981"/>
          </a:solidFill>
          <a:ln w="12700">
            <a:solidFill>
              <a:srgbClr val="10B981"/>
            </a:solidFill>
            <a:prstDash val="solid"/>
          </a:ln>
        </p:spPr>
      </p:sp>
      <p:sp>
        <p:nvSpPr>
          <p:cNvPr id="47" name="Text 44"/>
          <p:cNvSpPr/>
          <p:nvPr/>
        </p:nvSpPr>
        <p:spPr>
          <a:xfrm>
            <a:off x="6583680" y="3511296"/>
            <a:ext cx="23317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onsolas" pitchFamily="34" charset="0"/>
                <a:ea typeface="Consolas" pitchFamily="34" charset="-122"/>
                <a:cs typeface="Consolas" pitchFamily="34" charset="-120"/>
              </a:rPr>
              <a:t>✅ Deployed!</a:t>
            </a:r>
            <a:endParaRPr lang="en-US" sz="850" dirty="0"/>
          </a:p>
        </p:txBody>
      </p:sp>
      <p:sp>
        <p:nvSpPr>
          <p:cNvPr id="48" name="Shape 45"/>
          <p:cNvSpPr/>
          <p:nvPr/>
        </p:nvSpPr>
        <p:spPr>
          <a:xfrm>
            <a:off x="320040" y="4709160"/>
            <a:ext cx="8503920" cy="347472"/>
          </a:xfrm>
          <a:prstGeom prst="rect">
            <a:avLst/>
          </a:prstGeom>
          <a:solidFill>
            <a:srgbClr val="EFF6FF"/>
          </a:solidFill>
          <a:ln w="6350">
            <a:solidFill>
              <a:srgbClr val="E2E8F0"/>
            </a:solidFill>
            <a:prstDash val="solid"/>
          </a:ln>
        </p:spPr>
      </p:sp>
      <p:sp>
        <p:nvSpPr>
          <p:cNvPr id="49" name="Text 46"/>
          <p:cNvSpPr/>
          <p:nvPr/>
        </p:nvSpPr>
        <p:spPr>
          <a:xfrm>
            <a:off x="320040" y="4709160"/>
            <a:ext cx="8503920" cy="347472"/>
          </a:xfrm>
          <a:prstGeom prst="rect">
            <a:avLst/>
          </a:prstGeom>
          <a:noFill/>
          <a:ln/>
        </p:spPr>
        <p:txBody>
          <a:bodyPr wrap="square" lIns="0" tIns="0" rIns="0" bIns="0" rtlCol="0" anchor="ctr"/>
          <a:lstStyle/>
          <a:p>
            <a:pPr algn="ctr" indent="0" marL="0">
              <a:buNone/>
            </a:pPr>
            <a:r>
              <a:rPr lang="en-US" sz="1000" dirty="0">
                <a:solidFill>
                  <a:srgbClr val="1A56DB"/>
                </a:solidFill>
                <a:latin typeface="Calibri" pitchFamily="34" charset="0"/>
                <a:ea typeface="Calibri" pitchFamily="34" charset="-122"/>
                <a:cs typeface="Calibri" pitchFamily="34" charset="-120"/>
              </a:rPr>
              <a:t>🏆  Golden Rule: Build ONCE in Job 1, share via artifacts. Jobs 2 &amp; 3 deploy the SAME binary that was tested — never rebuild.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7C3AED"/>
          </a:solidFill>
          <a:ln w="12700">
            <a:solidFill>
              <a:srgbClr val="7C3AED"/>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Module 3 — Sequential Multi-Job Workflows</a:t>
            </a:r>
            <a:endParaRPr lang="en-US" sz="2500" dirty="0"/>
          </a:p>
        </p:txBody>
      </p:sp>
      <p:sp>
        <p:nvSpPr>
          <p:cNvPr id="4" name="Shape 2"/>
          <p:cNvSpPr/>
          <p:nvPr/>
        </p:nvSpPr>
        <p:spPr>
          <a:xfrm>
            <a:off x="384048" y="731520"/>
            <a:ext cx="1675181" cy="219456"/>
          </a:xfrm>
          <a:prstGeom prst="rect">
            <a:avLst/>
          </a:prstGeom>
          <a:solidFill>
            <a:srgbClr val="7C3AED"/>
          </a:solidFill>
          <a:ln w="12700">
            <a:solidFill>
              <a:srgbClr val="7C3AED"/>
            </a:solidFill>
            <a:prstDash val="solid"/>
          </a:ln>
        </p:spPr>
      </p:sp>
      <p:sp>
        <p:nvSpPr>
          <p:cNvPr id="5" name="Text 3"/>
          <p:cNvSpPr/>
          <p:nvPr/>
        </p:nvSpPr>
        <p:spPr>
          <a:xfrm>
            <a:off x="384048" y="731520"/>
            <a:ext cx="1675181"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NEEDS: KEYWORD</a:t>
            </a:r>
            <a:endParaRPr lang="en-US" sz="850" dirty="0"/>
          </a:p>
        </p:txBody>
      </p:sp>
      <p:sp>
        <p:nvSpPr>
          <p:cNvPr id="6" name="Shape 4"/>
          <p:cNvSpPr/>
          <p:nvPr/>
        </p:nvSpPr>
        <p:spPr>
          <a:xfrm>
            <a:off x="347472" y="1005840"/>
            <a:ext cx="4069080" cy="2907792"/>
          </a:xfrm>
          <a:prstGeom prst="rect">
            <a:avLst/>
          </a:prstGeom>
          <a:solidFill>
            <a:srgbClr val="F5F3FF"/>
          </a:solidFill>
          <a:ln w="10160">
            <a:solidFill>
              <a:srgbClr val="7C3AED"/>
            </a:solidFill>
            <a:prstDash val="solid"/>
          </a:ln>
        </p:spPr>
      </p:sp>
      <p:sp>
        <p:nvSpPr>
          <p:cNvPr id="7" name="Shape 5"/>
          <p:cNvSpPr/>
          <p:nvPr/>
        </p:nvSpPr>
        <p:spPr>
          <a:xfrm>
            <a:off x="347472" y="1005840"/>
            <a:ext cx="4069080" cy="347472"/>
          </a:xfrm>
          <a:prstGeom prst="rect">
            <a:avLst/>
          </a:prstGeom>
          <a:solidFill>
            <a:srgbClr val="7C3AED"/>
          </a:solidFill>
          <a:ln w="12700">
            <a:solidFill>
              <a:srgbClr val="7C3AED"/>
            </a:solidFill>
            <a:prstDash val="solid"/>
          </a:ln>
        </p:spPr>
      </p:sp>
      <p:sp>
        <p:nvSpPr>
          <p:cNvPr id="8" name="Text 6"/>
          <p:cNvSpPr/>
          <p:nvPr/>
        </p:nvSpPr>
        <p:spPr>
          <a:xfrm>
            <a:off x="347472" y="1005840"/>
            <a:ext cx="406908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WITHOUT needs:  (default — all parallel)</a:t>
            </a:r>
            <a:endParaRPr lang="en-US" sz="1000" dirty="0"/>
          </a:p>
        </p:txBody>
      </p:sp>
      <p:sp>
        <p:nvSpPr>
          <p:cNvPr id="9" name="Shape 7"/>
          <p:cNvSpPr/>
          <p:nvPr/>
        </p:nvSpPr>
        <p:spPr>
          <a:xfrm>
            <a:off x="548640" y="1719072"/>
            <a:ext cx="274320" cy="36576"/>
          </a:xfrm>
          <a:prstGeom prst="rect">
            <a:avLst/>
          </a:prstGeom>
          <a:solidFill>
            <a:srgbClr val="64748B"/>
          </a:solidFill>
          <a:ln w="12700">
            <a:solidFill>
              <a:srgbClr val="64748B"/>
            </a:solidFill>
            <a:prstDash val="solid"/>
          </a:ln>
        </p:spPr>
      </p:sp>
      <p:sp>
        <p:nvSpPr>
          <p:cNvPr id="10" name="Shape 8"/>
          <p:cNvSpPr/>
          <p:nvPr/>
        </p:nvSpPr>
        <p:spPr>
          <a:xfrm>
            <a:off x="822960" y="1554480"/>
            <a:ext cx="36576" cy="402336"/>
          </a:xfrm>
          <a:prstGeom prst="rect">
            <a:avLst/>
          </a:prstGeom>
          <a:solidFill>
            <a:srgbClr val="64748B"/>
          </a:solidFill>
          <a:ln w="12700">
            <a:solidFill>
              <a:srgbClr val="64748B"/>
            </a:solidFill>
            <a:prstDash val="solid"/>
          </a:ln>
        </p:spPr>
      </p:sp>
      <p:sp>
        <p:nvSpPr>
          <p:cNvPr id="11" name="Shape 9"/>
          <p:cNvSpPr/>
          <p:nvPr/>
        </p:nvSpPr>
        <p:spPr>
          <a:xfrm>
            <a:off x="859536" y="1554480"/>
            <a:ext cx="182880" cy="36576"/>
          </a:xfrm>
          <a:prstGeom prst="rect">
            <a:avLst/>
          </a:prstGeom>
          <a:solidFill>
            <a:srgbClr val="64748B"/>
          </a:solidFill>
          <a:ln w="12700">
            <a:solidFill>
              <a:srgbClr val="64748B"/>
            </a:solidFill>
            <a:prstDash val="solid"/>
          </a:ln>
        </p:spPr>
      </p:sp>
      <p:sp>
        <p:nvSpPr>
          <p:cNvPr id="12" name="Shape 10"/>
          <p:cNvSpPr/>
          <p:nvPr/>
        </p:nvSpPr>
        <p:spPr>
          <a:xfrm>
            <a:off x="1042416" y="1463040"/>
            <a:ext cx="2651760" cy="548640"/>
          </a:xfrm>
          <a:prstGeom prst="rect">
            <a:avLst/>
          </a:prstGeom>
          <a:solidFill>
            <a:srgbClr val="1A56DB"/>
          </a:solidFill>
          <a:ln w="12700">
            <a:solidFill>
              <a:srgbClr val="1A56DB"/>
            </a:solidFill>
            <a:prstDash val="solid"/>
          </a:ln>
        </p:spPr>
      </p:sp>
      <p:sp>
        <p:nvSpPr>
          <p:cNvPr id="13" name="Text 11"/>
          <p:cNvSpPr/>
          <p:nvPr/>
        </p:nvSpPr>
        <p:spPr>
          <a:xfrm>
            <a:off x="1042416" y="1463040"/>
            <a:ext cx="26517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build</a:t>
            </a:r>
            <a:endParaRPr lang="en-US" sz="1200" dirty="0"/>
          </a:p>
        </p:txBody>
      </p:sp>
      <p:sp>
        <p:nvSpPr>
          <p:cNvPr id="14" name="Shape 12"/>
          <p:cNvSpPr/>
          <p:nvPr/>
        </p:nvSpPr>
        <p:spPr>
          <a:xfrm>
            <a:off x="859536" y="2084832"/>
            <a:ext cx="182880" cy="36576"/>
          </a:xfrm>
          <a:prstGeom prst="rect">
            <a:avLst/>
          </a:prstGeom>
          <a:solidFill>
            <a:srgbClr val="64748B"/>
          </a:solidFill>
          <a:ln w="12700">
            <a:solidFill>
              <a:srgbClr val="64748B"/>
            </a:solidFill>
            <a:prstDash val="solid"/>
          </a:ln>
        </p:spPr>
      </p:sp>
      <p:sp>
        <p:nvSpPr>
          <p:cNvPr id="15" name="Shape 13"/>
          <p:cNvSpPr/>
          <p:nvPr/>
        </p:nvSpPr>
        <p:spPr>
          <a:xfrm>
            <a:off x="1042416" y="1993392"/>
            <a:ext cx="2651760" cy="548640"/>
          </a:xfrm>
          <a:prstGeom prst="rect">
            <a:avLst/>
          </a:prstGeom>
          <a:solidFill>
            <a:srgbClr val="06B6D4"/>
          </a:solidFill>
          <a:ln w="12700">
            <a:solidFill>
              <a:srgbClr val="06B6D4"/>
            </a:solidFill>
            <a:prstDash val="solid"/>
          </a:ln>
        </p:spPr>
      </p:sp>
      <p:sp>
        <p:nvSpPr>
          <p:cNvPr id="16" name="Text 14"/>
          <p:cNvSpPr/>
          <p:nvPr/>
        </p:nvSpPr>
        <p:spPr>
          <a:xfrm>
            <a:off x="1042416" y="1993392"/>
            <a:ext cx="26517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p>
        </p:txBody>
      </p:sp>
      <p:sp>
        <p:nvSpPr>
          <p:cNvPr id="17" name="Shape 15"/>
          <p:cNvSpPr/>
          <p:nvPr/>
        </p:nvSpPr>
        <p:spPr>
          <a:xfrm>
            <a:off x="859536" y="2615184"/>
            <a:ext cx="182880" cy="36576"/>
          </a:xfrm>
          <a:prstGeom prst="rect">
            <a:avLst/>
          </a:prstGeom>
          <a:solidFill>
            <a:srgbClr val="64748B"/>
          </a:solidFill>
          <a:ln w="12700">
            <a:solidFill>
              <a:srgbClr val="64748B"/>
            </a:solidFill>
            <a:prstDash val="solid"/>
          </a:ln>
        </p:spPr>
      </p:sp>
      <p:sp>
        <p:nvSpPr>
          <p:cNvPr id="18" name="Shape 16"/>
          <p:cNvSpPr/>
          <p:nvPr/>
        </p:nvSpPr>
        <p:spPr>
          <a:xfrm>
            <a:off x="1042416" y="2523744"/>
            <a:ext cx="2651760" cy="548640"/>
          </a:xfrm>
          <a:prstGeom prst="rect">
            <a:avLst/>
          </a:prstGeom>
          <a:solidFill>
            <a:srgbClr val="10B981"/>
          </a:solidFill>
          <a:ln w="12700">
            <a:solidFill>
              <a:srgbClr val="10B981"/>
            </a:solidFill>
            <a:prstDash val="solid"/>
          </a:ln>
        </p:spPr>
      </p:sp>
      <p:sp>
        <p:nvSpPr>
          <p:cNvPr id="19" name="Text 17"/>
          <p:cNvSpPr/>
          <p:nvPr/>
        </p:nvSpPr>
        <p:spPr>
          <a:xfrm>
            <a:off x="1042416" y="2523744"/>
            <a:ext cx="26517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deploy</a:t>
            </a:r>
            <a:endParaRPr lang="en-US" sz="1200" dirty="0"/>
          </a:p>
        </p:txBody>
      </p:sp>
      <p:sp>
        <p:nvSpPr>
          <p:cNvPr id="20" name="Shape 18"/>
          <p:cNvSpPr/>
          <p:nvPr/>
        </p:nvSpPr>
        <p:spPr>
          <a:xfrm>
            <a:off x="548640" y="2029968"/>
            <a:ext cx="36576" cy="457200"/>
          </a:xfrm>
          <a:prstGeom prst="rect">
            <a:avLst/>
          </a:prstGeom>
          <a:solidFill>
            <a:srgbClr val="EF4444"/>
          </a:solidFill>
          <a:ln w="12700">
            <a:solidFill>
              <a:srgbClr val="EF4444"/>
            </a:solidFill>
            <a:prstDash val="solid"/>
          </a:ln>
        </p:spPr>
      </p:sp>
      <p:sp>
        <p:nvSpPr>
          <p:cNvPr id="21" name="Shape 19"/>
          <p:cNvSpPr/>
          <p:nvPr/>
        </p:nvSpPr>
        <p:spPr>
          <a:xfrm>
            <a:off x="502920" y="2084832"/>
            <a:ext cx="2286000" cy="384048"/>
          </a:xfrm>
          <a:prstGeom prst="rect">
            <a:avLst/>
          </a:prstGeom>
          <a:solidFill>
            <a:srgbClr val="EF4444"/>
          </a:solidFill>
          <a:ln w="12700">
            <a:solidFill>
              <a:srgbClr val="EF4444"/>
            </a:solidFill>
            <a:prstDash val="solid"/>
          </a:ln>
        </p:spPr>
      </p:sp>
      <p:sp>
        <p:nvSpPr>
          <p:cNvPr id="22" name="Text 20"/>
          <p:cNvSpPr/>
          <p:nvPr/>
        </p:nvSpPr>
        <p:spPr>
          <a:xfrm>
            <a:off x="502920" y="2084832"/>
            <a:ext cx="2286000" cy="38404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 deploy runs even if</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build or test failed!</a:t>
            </a:r>
            <a:endParaRPr lang="en-US" sz="900" dirty="0"/>
          </a:p>
        </p:txBody>
      </p:sp>
      <p:sp>
        <p:nvSpPr>
          <p:cNvPr id="23" name="Shape 21"/>
          <p:cNvSpPr/>
          <p:nvPr/>
        </p:nvSpPr>
        <p:spPr>
          <a:xfrm>
            <a:off x="4736592" y="1005840"/>
            <a:ext cx="4059936" cy="2907792"/>
          </a:xfrm>
          <a:prstGeom prst="rect">
            <a:avLst/>
          </a:prstGeom>
          <a:solidFill>
            <a:srgbClr val="F0FDF4"/>
          </a:solidFill>
          <a:ln w="10160">
            <a:solidFill>
              <a:srgbClr val="10B981"/>
            </a:solidFill>
            <a:prstDash val="solid"/>
          </a:ln>
        </p:spPr>
      </p:sp>
      <p:sp>
        <p:nvSpPr>
          <p:cNvPr id="24" name="Shape 22"/>
          <p:cNvSpPr/>
          <p:nvPr/>
        </p:nvSpPr>
        <p:spPr>
          <a:xfrm>
            <a:off x="4736592" y="1005840"/>
            <a:ext cx="4059936" cy="347472"/>
          </a:xfrm>
          <a:prstGeom prst="rect">
            <a:avLst/>
          </a:prstGeom>
          <a:solidFill>
            <a:srgbClr val="10B981"/>
          </a:solidFill>
          <a:ln w="12700">
            <a:solidFill>
              <a:srgbClr val="10B981"/>
            </a:solidFill>
            <a:prstDash val="solid"/>
          </a:ln>
        </p:spPr>
      </p:sp>
      <p:sp>
        <p:nvSpPr>
          <p:cNvPr id="25" name="Text 23"/>
          <p:cNvSpPr/>
          <p:nvPr/>
        </p:nvSpPr>
        <p:spPr>
          <a:xfrm>
            <a:off x="4736592" y="1005840"/>
            <a:ext cx="405993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WITH needs:  (sequential — correct order)</a:t>
            </a:r>
            <a:endParaRPr lang="en-US" sz="1000" dirty="0"/>
          </a:p>
        </p:txBody>
      </p:sp>
      <p:sp>
        <p:nvSpPr>
          <p:cNvPr id="26" name="Shape 24"/>
          <p:cNvSpPr/>
          <p:nvPr/>
        </p:nvSpPr>
        <p:spPr>
          <a:xfrm>
            <a:off x="4937760" y="1444752"/>
            <a:ext cx="2926080" cy="512064"/>
          </a:xfrm>
          <a:prstGeom prst="rect">
            <a:avLst/>
          </a:prstGeom>
          <a:solidFill>
            <a:srgbClr val="1A56DB"/>
          </a:solidFill>
          <a:ln w="12700">
            <a:solidFill>
              <a:srgbClr val="1A56DB"/>
            </a:solidFill>
            <a:prstDash val="solid"/>
          </a:ln>
        </p:spPr>
      </p:sp>
      <p:sp>
        <p:nvSpPr>
          <p:cNvPr id="27" name="Text 25"/>
          <p:cNvSpPr/>
          <p:nvPr/>
        </p:nvSpPr>
        <p:spPr>
          <a:xfrm>
            <a:off x="4937760" y="1444752"/>
            <a:ext cx="2926080" cy="296997"/>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p>
        </p:txBody>
      </p:sp>
      <p:sp>
        <p:nvSpPr>
          <p:cNvPr id="28" name="Text 26"/>
          <p:cNvSpPr/>
          <p:nvPr/>
        </p:nvSpPr>
        <p:spPr>
          <a:xfrm>
            <a:off x="4937760" y="1726387"/>
            <a:ext cx="2926080" cy="215067"/>
          </a:xfrm>
          <a:prstGeom prst="rect">
            <a:avLst/>
          </a:prstGeom>
          <a:noFill/>
          <a:ln/>
        </p:spPr>
        <p:txBody>
          <a:bodyPr wrap="square" lIns="0" tIns="0" rIns="0" bIns="0" rtlCol="0" anchor="ctr"/>
          <a:lstStyle/>
          <a:p>
            <a:pPr algn="ctr" indent="0" marL="0">
              <a:buNone/>
            </a:pPr>
            <a:r>
              <a:rPr lang="en-US" sz="900" dirty="0">
                <a:solidFill>
                  <a:srgbClr val="E0F2FE"/>
                </a:solidFill>
                <a:latin typeface="Calibri" pitchFamily="34" charset="0"/>
                <a:ea typeface="Calibri" pitchFamily="34" charset="-122"/>
                <a:cs typeface="Calibri" pitchFamily="34" charset="-120"/>
              </a:rPr>
              <a:t>Step 1 — runs first</a:t>
            </a:r>
            <a:endParaRPr lang="en-US" sz="900" dirty="0"/>
          </a:p>
        </p:txBody>
      </p:sp>
      <p:sp>
        <p:nvSpPr>
          <p:cNvPr id="29" name="Shape 27"/>
          <p:cNvSpPr/>
          <p:nvPr/>
        </p:nvSpPr>
        <p:spPr>
          <a:xfrm>
            <a:off x="6382512" y="1956816"/>
            <a:ext cx="36576" cy="164592"/>
          </a:xfrm>
          <a:prstGeom prst="rect">
            <a:avLst/>
          </a:prstGeom>
          <a:solidFill>
            <a:srgbClr val="06B6D4"/>
          </a:solidFill>
          <a:ln w="12700">
            <a:solidFill>
              <a:srgbClr val="06B6D4"/>
            </a:solidFill>
            <a:prstDash val="solid"/>
          </a:ln>
        </p:spPr>
      </p:sp>
      <p:sp>
        <p:nvSpPr>
          <p:cNvPr id="30" name="Shape 28"/>
          <p:cNvSpPr/>
          <p:nvPr/>
        </p:nvSpPr>
        <p:spPr>
          <a:xfrm>
            <a:off x="4937760" y="2121408"/>
            <a:ext cx="2926080" cy="512064"/>
          </a:xfrm>
          <a:prstGeom prst="rect">
            <a:avLst/>
          </a:prstGeom>
          <a:solidFill>
            <a:srgbClr val="06B6D4"/>
          </a:solidFill>
          <a:ln w="12700">
            <a:solidFill>
              <a:srgbClr val="06B6D4"/>
            </a:solidFill>
            <a:prstDash val="solid"/>
          </a:ln>
        </p:spPr>
      </p:sp>
      <p:sp>
        <p:nvSpPr>
          <p:cNvPr id="31" name="Text 29"/>
          <p:cNvSpPr/>
          <p:nvPr/>
        </p:nvSpPr>
        <p:spPr>
          <a:xfrm>
            <a:off x="4937760" y="2121408"/>
            <a:ext cx="2926080" cy="296997"/>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test</a:t>
            </a:r>
            <a:endParaRPr lang="en-US" sz="1300" dirty="0"/>
          </a:p>
        </p:txBody>
      </p:sp>
      <p:sp>
        <p:nvSpPr>
          <p:cNvPr id="32" name="Text 30"/>
          <p:cNvSpPr/>
          <p:nvPr/>
        </p:nvSpPr>
        <p:spPr>
          <a:xfrm>
            <a:off x="4937760" y="2403043"/>
            <a:ext cx="2926080" cy="215067"/>
          </a:xfrm>
          <a:prstGeom prst="rect">
            <a:avLst/>
          </a:prstGeom>
          <a:noFill/>
          <a:ln/>
        </p:spPr>
        <p:txBody>
          <a:bodyPr wrap="square" lIns="0" tIns="0" rIns="0" bIns="0" rtlCol="0" anchor="ctr"/>
          <a:lstStyle/>
          <a:p>
            <a:pPr algn="ctr" indent="0" marL="0">
              <a:buNone/>
            </a:pPr>
            <a:r>
              <a:rPr lang="en-US" sz="900" dirty="0">
                <a:solidFill>
                  <a:srgbClr val="E0F2FE"/>
                </a:solidFill>
                <a:latin typeface="Calibri" pitchFamily="34" charset="0"/>
                <a:ea typeface="Calibri" pitchFamily="34" charset="-122"/>
                <a:cs typeface="Calibri" pitchFamily="34" charset="-120"/>
              </a:rPr>
              <a:t>needs: build</a:t>
            </a:r>
            <a:endParaRPr lang="en-US" sz="900" dirty="0"/>
          </a:p>
        </p:txBody>
      </p:sp>
      <p:sp>
        <p:nvSpPr>
          <p:cNvPr id="33" name="Shape 31"/>
          <p:cNvSpPr/>
          <p:nvPr/>
        </p:nvSpPr>
        <p:spPr>
          <a:xfrm>
            <a:off x="6382512" y="2633472"/>
            <a:ext cx="36576" cy="164592"/>
          </a:xfrm>
          <a:prstGeom prst="rect">
            <a:avLst/>
          </a:prstGeom>
          <a:solidFill>
            <a:srgbClr val="10B981"/>
          </a:solidFill>
          <a:ln w="12700">
            <a:solidFill>
              <a:srgbClr val="10B981"/>
            </a:solidFill>
            <a:prstDash val="solid"/>
          </a:ln>
        </p:spPr>
      </p:sp>
      <p:sp>
        <p:nvSpPr>
          <p:cNvPr id="34" name="Shape 32"/>
          <p:cNvSpPr/>
          <p:nvPr/>
        </p:nvSpPr>
        <p:spPr>
          <a:xfrm>
            <a:off x="4937760" y="2798064"/>
            <a:ext cx="2926080" cy="512064"/>
          </a:xfrm>
          <a:prstGeom prst="rect">
            <a:avLst/>
          </a:prstGeom>
          <a:solidFill>
            <a:srgbClr val="10B981"/>
          </a:solidFill>
          <a:ln w="12700">
            <a:solidFill>
              <a:srgbClr val="10B981"/>
            </a:solidFill>
            <a:prstDash val="solid"/>
          </a:ln>
        </p:spPr>
      </p:sp>
      <p:sp>
        <p:nvSpPr>
          <p:cNvPr id="35" name="Text 33"/>
          <p:cNvSpPr/>
          <p:nvPr/>
        </p:nvSpPr>
        <p:spPr>
          <a:xfrm>
            <a:off x="4937760" y="2798064"/>
            <a:ext cx="2926080" cy="296997"/>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deploy</a:t>
            </a:r>
            <a:endParaRPr lang="en-US" sz="1300" dirty="0"/>
          </a:p>
        </p:txBody>
      </p:sp>
      <p:sp>
        <p:nvSpPr>
          <p:cNvPr id="36" name="Text 34"/>
          <p:cNvSpPr/>
          <p:nvPr/>
        </p:nvSpPr>
        <p:spPr>
          <a:xfrm>
            <a:off x="4937760" y="3079699"/>
            <a:ext cx="2926080" cy="215067"/>
          </a:xfrm>
          <a:prstGeom prst="rect">
            <a:avLst/>
          </a:prstGeom>
          <a:noFill/>
          <a:ln/>
        </p:spPr>
        <p:txBody>
          <a:bodyPr wrap="square" lIns="0" tIns="0" rIns="0" bIns="0" rtlCol="0" anchor="ctr"/>
          <a:lstStyle/>
          <a:p>
            <a:pPr algn="ctr" indent="0" marL="0">
              <a:buNone/>
            </a:pPr>
            <a:r>
              <a:rPr lang="en-US" sz="900" dirty="0">
                <a:solidFill>
                  <a:srgbClr val="E0F2FE"/>
                </a:solidFill>
                <a:latin typeface="Calibri" pitchFamily="34" charset="0"/>
                <a:ea typeface="Calibri" pitchFamily="34" charset="-122"/>
                <a:cs typeface="Calibri" pitchFamily="34" charset="-120"/>
              </a:rPr>
              <a:t>needs: test</a:t>
            </a:r>
            <a:endParaRPr lang="en-US" sz="900" dirty="0"/>
          </a:p>
        </p:txBody>
      </p:sp>
      <p:sp>
        <p:nvSpPr>
          <p:cNvPr id="37" name="Shape 35"/>
          <p:cNvSpPr/>
          <p:nvPr/>
        </p:nvSpPr>
        <p:spPr>
          <a:xfrm>
            <a:off x="7955280" y="1645920"/>
            <a:ext cx="749808" cy="1645920"/>
          </a:xfrm>
          <a:prstGeom prst="rect">
            <a:avLst/>
          </a:prstGeom>
          <a:solidFill>
            <a:srgbClr val="0D1B2A"/>
          </a:solidFill>
          <a:ln w="6350">
            <a:solidFill>
              <a:srgbClr val="334155"/>
            </a:solidFill>
            <a:prstDash val="solid"/>
          </a:ln>
        </p:spPr>
      </p:sp>
      <p:sp>
        <p:nvSpPr>
          <p:cNvPr id="38" name="Text 36"/>
          <p:cNvSpPr/>
          <p:nvPr/>
        </p:nvSpPr>
        <p:spPr>
          <a:xfrm>
            <a:off x="7955280" y="1664208"/>
            <a:ext cx="749808" cy="1600200"/>
          </a:xfrm>
          <a:prstGeom prst="rect">
            <a:avLst/>
          </a:prstGeom>
          <a:noFill/>
          <a:ln/>
        </p:spPr>
        <p:txBody>
          <a:bodyPr wrap="square" lIns="0" tIns="0" rIns="0" bIns="0"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build</a:t>
            </a:r>
            <a:endParaRPr lang="en-US" sz="750" dirty="0"/>
          </a:p>
          <a:p>
            <a:pPr algn="ctr" indent="0" marL="0">
              <a:buNone/>
            </a:pPr>
            <a:r>
              <a:rPr lang="en-US" sz="750" dirty="0">
                <a:solidFill>
                  <a:srgbClr val="94A3B8"/>
                </a:solidFill>
                <a:latin typeface="Calibri" pitchFamily="34" charset="0"/>
                <a:ea typeface="Calibri" pitchFamily="34" charset="-122"/>
                <a:cs typeface="Calibri" pitchFamily="34" charset="-120"/>
              </a:rPr>
              <a:t>fails</a:t>
            </a:r>
            <a:endParaRPr lang="en-US" sz="750" dirty="0"/>
          </a:p>
          <a:p>
            <a:pPr algn="ctr" indent="0" marL="0">
              <a:buNone/>
            </a:pPr>
            <a:r>
              <a:rPr lang="en-US" sz="750" dirty="0">
                <a:solidFill>
                  <a:srgbClr val="94A3B8"/>
                </a:solidFill>
                <a:latin typeface="Calibri" pitchFamily="34" charset="0"/>
                <a:ea typeface="Calibri" pitchFamily="34" charset="-122"/>
                <a:cs typeface="Calibri" pitchFamily="34" charset="-120"/>
              </a:rPr>
              <a:t>⬇</a:t>
            </a:r>
            <a:endParaRPr lang="en-US" sz="750" dirty="0"/>
          </a:p>
          <a:p>
            <a:pPr algn="ctr" indent="0" marL="0">
              <a:buNone/>
            </a:pPr>
            <a:r>
              <a:rPr lang="en-US" sz="750" dirty="0">
                <a:solidFill>
                  <a:srgbClr val="94A3B8"/>
                </a:solidFill>
                <a:latin typeface="Calibri" pitchFamily="34" charset="0"/>
                <a:ea typeface="Calibri" pitchFamily="34" charset="-122"/>
                <a:cs typeface="Calibri" pitchFamily="34" charset="-120"/>
              </a:rPr>
              <a:t>test</a:t>
            </a:r>
            <a:endParaRPr lang="en-US" sz="750" dirty="0"/>
          </a:p>
          <a:p>
            <a:pPr algn="ctr" indent="0" marL="0">
              <a:buNone/>
            </a:pPr>
            <a:r>
              <a:rPr lang="en-US" sz="750" dirty="0">
                <a:solidFill>
                  <a:srgbClr val="94A3B8"/>
                </a:solidFill>
                <a:latin typeface="Calibri" pitchFamily="34" charset="0"/>
                <a:ea typeface="Calibri" pitchFamily="34" charset="-122"/>
                <a:cs typeface="Calibri" pitchFamily="34" charset="-120"/>
              </a:rPr>
              <a:t>skipped</a:t>
            </a:r>
            <a:endParaRPr lang="en-US" sz="750" dirty="0"/>
          </a:p>
          <a:p>
            <a:pPr algn="ctr" indent="0" marL="0">
              <a:buNone/>
            </a:pPr>
            <a:r>
              <a:rPr lang="en-US" sz="750" dirty="0">
                <a:solidFill>
                  <a:srgbClr val="94A3B8"/>
                </a:solidFill>
                <a:latin typeface="Calibri" pitchFamily="34" charset="0"/>
                <a:ea typeface="Calibri" pitchFamily="34" charset="-122"/>
                <a:cs typeface="Calibri" pitchFamily="34" charset="-120"/>
              </a:rPr>
              <a:t>⬇</a:t>
            </a:r>
            <a:endParaRPr lang="en-US" sz="750" dirty="0"/>
          </a:p>
          <a:p>
            <a:pPr algn="ctr" indent="0" marL="0">
              <a:buNone/>
            </a:pPr>
            <a:r>
              <a:rPr lang="en-US" sz="750" dirty="0">
                <a:solidFill>
                  <a:srgbClr val="94A3B8"/>
                </a:solidFill>
                <a:latin typeface="Calibri" pitchFamily="34" charset="0"/>
                <a:ea typeface="Calibri" pitchFamily="34" charset="-122"/>
                <a:cs typeface="Calibri" pitchFamily="34" charset="-120"/>
              </a:rPr>
              <a:t>deploy</a:t>
            </a:r>
            <a:endParaRPr lang="en-US" sz="750" dirty="0"/>
          </a:p>
          <a:p>
            <a:pPr algn="ctr" indent="0" marL="0">
              <a:buNone/>
            </a:pPr>
            <a:r>
              <a:rPr lang="en-US" sz="750" dirty="0">
                <a:solidFill>
                  <a:srgbClr val="94A3B8"/>
                </a:solidFill>
                <a:latin typeface="Calibri" pitchFamily="34" charset="0"/>
                <a:ea typeface="Calibri" pitchFamily="34" charset="-122"/>
                <a:cs typeface="Calibri" pitchFamily="34" charset="-120"/>
              </a:rPr>
              <a:t>skipped</a:t>
            </a:r>
            <a:endParaRPr lang="en-US" sz="750" dirty="0"/>
          </a:p>
        </p:txBody>
      </p:sp>
      <p:sp>
        <p:nvSpPr>
          <p:cNvPr id="39" name="Shape 37"/>
          <p:cNvSpPr/>
          <p:nvPr/>
        </p:nvSpPr>
        <p:spPr>
          <a:xfrm>
            <a:off x="347472" y="4041648"/>
            <a:ext cx="8449056" cy="502920"/>
          </a:xfrm>
          <a:prstGeom prst="rect">
            <a:avLst/>
          </a:prstGeom>
          <a:solidFill>
            <a:srgbClr val="1B2A3B"/>
          </a:solidFill>
          <a:ln w="6350">
            <a:solidFill>
              <a:srgbClr val="334155"/>
            </a:solidFill>
            <a:prstDash val="solid"/>
          </a:ln>
        </p:spPr>
      </p:sp>
      <p:sp>
        <p:nvSpPr>
          <p:cNvPr id="40" name="Text 38"/>
          <p:cNvSpPr/>
          <p:nvPr/>
        </p:nvSpPr>
        <p:spPr>
          <a:xfrm>
            <a:off x="347472" y="4041648"/>
            <a:ext cx="8449056" cy="502920"/>
          </a:xfrm>
          <a:prstGeom prst="rect">
            <a:avLst/>
          </a:prstGeom>
          <a:noFill/>
          <a:ln/>
        </p:spPr>
        <p:txBody>
          <a:bodyPr wrap="square" lIns="0" tIns="0" rIns="0" bIns="0" rtlCol="0" anchor="ctr"/>
          <a:lstStyle/>
          <a:p>
            <a:pPr algn="ctr" indent="0" marL="0">
              <a:buNone/>
            </a:pPr>
            <a:r>
              <a:rPr lang="en-US" sz="1050" dirty="0">
                <a:solidFill>
                  <a:srgbClr val="06B6D4"/>
                </a:solidFill>
                <a:latin typeface="Calibri" pitchFamily="34" charset="0"/>
                <a:ea typeface="Calibri" pitchFamily="34" charset="-122"/>
                <a:cs typeface="Calibri" pitchFamily="34" charset="-120"/>
              </a:rPr>
              <a:t>💡  Diamond Pattern: build → [test + security-scan in PARALLEL] → deploy  |  needs: [test, security-scan]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7C3AED"/>
          </a:solidFill>
          <a:ln w="12700">
            <a:solidFill>
              <a:srgbClr val="7C3AED"/>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Multi-Job Workflow — Dependency Graph &amp; Execution Timeline</a:t>
            </a:r>
            <a:endParaRPr lang="en-US" sz="2500" dirty="0"/>
          </a:p>
        </p:txBody>
      </p:sp>
      <p:sp>
        <p:nvSpPr>
          <p:cNvPr id="4" name="Shape 2"/>
          <p:cNvSpPr/>
          <p:nvPr/>
        </p:nvSpPr>
        <p:spPr>
          <a:xfrm>
            <a:off x="384048" y="731520"/>
            <a:ext cx="1872691" cy="219456"/>
          </a:xfrm>
          <a:prstGeom prst="rect">
            <a:avLst/>
          </a:prstGeom>
          <a:solidFill>
            <a:srgbClr val="7C3AED"/>
          </a:solidFill>
          <a:ln w="12700">
            <a:solidFill>
              <a:srgbClr val="7C3AED"/>
            </a:solidFill>
            <a:prstDash val="solid"/>
          </a:ln>
        </p:spPr>
      </p:sp>
      <p:sp>
        <p:nvSpPr>
          <p:cNvPr id="5" name="Text 3"/>
          <p:cNvSpPr/>
          <p:nvPr/>
        </p:nvSpPr>
        <p:spPr>
          <a:xfrm>
            <a:off x="384048" y="731520"/>
            <a:ext cx="1872691"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DEPENDENCY GRAPH</a:t>
            </a:r>
            <a:endParaRPr lang="en-US" sz="850" dirty="0"/>
          </a:p>
        </p:txBody>
      </p:sp>
      <p:sp>
        <p:nvSpPr>
          <p:cNvPr id="6" name="Shape 4"/>
          <p:cNvSpPr/>
          <p:nvPr/>
        </p:nvSpPr>
        <p:spPr>
          <a:xfrm>
            <a:off x="457200" y="1371600"/>
            <a:ext cx="1828800" cy="640080"/>
          </a:xfrm>
          <a:prstGeom prst="rect">
            <a:avLst/>
          </a:prstGeom>
          <a:solidFill>
            <a:srgbClr val="1A56DB"/>
          </a:solidFill>
          <a:ln w="12700">
            <a:solidFill>
              <a:srgbClr val="1A56DB"/>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457200" y="137160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build</a:t>
            </a:r>
            <a:endParaRPr lang="en-US" sz="1000" dirty="0"/>
          </a:p>
        </p:txBody>
      </p:sp>
      <p:sp>
        <p:nvSpPr>
          <p:cNvPr id="8" name="Text 6"/>
          <p:cNvSpPr/>
          <p:nvPr/>
        </p:nvSpPr>
        <p:spPr>
          <a:xfrm>
            <a:off x="457200" y="1742846"/>
            <a:ext cx="1828800" cy="256032"/>
          </a:xfrm>
          <a:prstGeom prst="rect">
            <a:avLst/>
          </a:prstGeom>
          <a:noFill/>
          <a:ln/>
        </p:spPr>
        <p:txBody>
          <a:bodyPr wrap="square" lIns="0" tIns="0" rIns="0" bIns="0" rtlCol="0" anchor="ctr"/>
          <a:lstStyle/>
          <a:p>
            <a:pPr algn="ctr" indent="0" marL="0">
              <a:buNone/>
            </a:pPr>
            <a:r>
              <a:rPr lang="en-US" sz="850" dirty="0">
                <a:solidFill>
                  <a:srgbClr val="E0F2FE"/>
                </a:solidFill>
                <a:latin typeface="Calibri" pitchFamily="34" charset="0"/>
                <a:ea typeface="Calibri" pitchFamily="34" charset="-122"/>
                <a:cs typeface="Calibri" pitchFamily="34" charset="-120"/>
              </a:rPr>
              <a:t>⏱ 2 min</a:t>
            </a:r>
            <a:endParaRPr lang="en-US" sz="850" dirty="0"/>
          </a:p>
        </p:txBody>
      </p:sp>
      <p:sp>
        <p:nvSpPr>
          <p:cNvPr id="9" name="Shape 7"/>
          <p:cNvSpPr/>
          <p:nvPr/>
        </p:nvSpPr>
        <p:spPr>
          <a:xfrm>
            <a:off x="3017520" y="1005840"/>
            <a:ext cx="2103120" cy="640080"/>
          </a:xfrm>
          <a:prstGeom prst="rect">
            <a:avLst/>
          </a:prstGeom>
          <a:solidFill>
            <a:srgbClr val="06B6D4"/>
          </a:solidFill>
          <a:ln w="12700">
            <a:solidFill>
              <a:srgbClr val="06B6D4"/>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3017520" y="1005840"/>
            <a:ext cx="21031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unit-tests</a:t>
            </a:r>
            <a:endParaRPr lang="en-US" sz="1000" dirty="0"/>
          </a:p>
        </p:txBody>
      </p:sp>
      <p:sp>
        <p:nvSpPr>
          <p:cNvPr id="11" name="Text 9"/>
          <p:cNvSpPr/>
          <p:nvPr/>
        </p:nvSpPr>
        <p:spPr>
          <a:xfrm>
            <a:off x="3017520" y="1377086"/>
            <a:ext cx="2103120" cy="256032"/>
          </a:xfrm>
          <a:prstGeom prst="rect">
            <a:avLst/>
          </a:prstGeom>
          <a:noFill/>
          <a:ln/>
        </p:spPr>
        <p:txBody>
          <a:bodyPr wrap="square" lIns="0" tIns="0" rIns="0" bIns="0" rtlCol="0" anchor="ctr"/>
          <a:lstStyle/>
          <a:p>
            <a:pPr algn="ctr" indent="0" marL="0">
              <a:buNone/>
            </a:pPr>
            <a:r>
              <a:rPr lang="en-US" sz="850" dirty="0">
                <a:solidFill>
                  <a:srgbClr val="E0F2FE"/>
                </a:solidFill>
                <a:latin typeface="Calibri" pitchFamily="34" charset="0"/>
                <a:ea typeface="Calibri" pitchFamily="34" charset="-122"/>
                <a:cs typeface="Calibri" pitchFamily="34" charset="-120"/>
              </a:rPr>
              <a:t>⏱ 4 min</a:t>
            </a:r>
            <a:endParaRPr lang="en-US" sz="850" dirty="0"/>
          </a:p>
        </p:txBody>
      </p:sp>
      <p:sp>
        <p:nvSpPr>
          <p:cNvPr id="12" name="Shape 10"/>
          <p:cNvSpPr/>
          <p:nvPr/>
        </p:nvSpPr>
        <p:spPr>
          <a:xfrm>
            <a:off x="3017520" y="1810512"/>
            <a:ext cx="2103120" cy="640080"/>
          </a:xfrm>
          <a:prstGeom prst="rect">
            <a:avLst/>
          </a:prstGeom>
          <a:solidFill>
            <a:srgbClr val="EA580C"/>
          </a:solidFill>
          <a:ln w="12700">
            <a:solidFill>
              <a:srgbClr val="EA580C"/>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3017520" y="1810512"/>
            <a:ext cx="21031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security-scan</a:t>
            </a:r>
            <a:endParaRPr lang="en-US" sz="1000" dirty="0"/>
          </a:p>
        </p:txBody>
      </p:sp>
      <p:sp>
        <p:nvSpPr>
          <p:cNvPr id="14" name="Text 12"/>
          <p:cNvSpPr/>
          <p:nvPr/>
        </p:nvSpPr>
        <p:spPr>
          <a:xfrm>
            <a:off x="3017520" y="2181758"/>
            <a:ext cx="2103120" cy="256032"/>
          </a:xfrm>
          <a:prstGeom prst="rect">
            <a:avLst/>
          </a:prstGeom>
          <a:noFill/>
          <a:ln/>
        </p:spPr>
        <p:txBody>
          <a:bodyPr wrap="square" lIns="0" tIns="0" rIns="0" bIns="0" rtlCol="0" anchor="ctr"/>
          <a:lstStyle/>
          <a:p>
            <a:pPr algn="ctr" indent="0" marL="0">
              <a:buNone/>
            </a:pPr>
            <a:r>
              <a:rPr lang="en-US" sz="850" dirty="0">
                <a:solidFill>
                  <a:srgbClr val="E0F2FE"/>
                </a:solidFill>
                <a:latin typeface="Calibri" pitchFamily="34" charset="0"/>
                <a:ea typeface="Calibri" pitchFamily="34" charset="-122"/>
                <a:cs typeface="Calibri" pitchFamily="34" charset="-120"/>
              </a:rPr>
              <a:t>⏱ 4 min</a:t>
            </a:r>
            <a:endParaRPr lang="en-US" sz="850" dirty="0"/>
          </a:p>
        </p:txBody>
      </p:sp>
      <p:sp>
        <p:nvSpPr>
          <p:cNvPr id="15" name="Shape 13"/>
          <p:cNvSpPr/>
          <p:nvPr/>
        </p:nvSpPr>
        <p:spPr>
          <a:xfrm>
            <a:off x="6217920" y="1371600"/>
            <a:ext cx="2103120" cy="640080"/>
          </a:xfrm>
          <a:prstGeom prst="rect">
            <a:avLst/>
          </a:prstGeom>
          <a:solidFill>
            <a:srgbClr val="10B981"/>
          </a:solidFill>
          <a:ln w="12700">
            <a:solidFill>
              <a:srgbClr val="10B981"/>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6217920" y="1371600"/>
            <a:ext cx="21031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deploy-staging</a:t>
            </a:r>
            <a:endParaRPr lang="en-US" sz="1000" dirty="0"/>
          </a:p>
        </p:txBody>
      </p:sp>
      <p:sp>
        <p:nvSpPr>
          <p:cNvPr id="17" name="Text 15"/>
          <p:cNvSpPr/>
          <p:nvPr/>
        </p:nvSpPr>
        <p:spPr>
          <a:xfrm>
            <a:off x="6217920" y="1742846"/>
            <a:ext cx="2103120" cy="256032"/>
          </a:xfrm>
          <a:prstGeom prst="rect">
            <a:avLst/>
          </a:prstGeom>
          <a:noFill/>
          <a:ln/>
        </p:spPr>
        <p:txBody>
          <a:bodyPr wrap="square" lIns="0" tIns="0" rIns="0" bIns="0" rtlCol="0" anchor="ctr"/>
          <a:lstStyle/>
          <a:p>
            <a:pPr algn="ctr" indent="0" marL="0">
              <a:buNone/>
            </a:pPr>
            <a:r>
              <a:rPr lang="en-US" sz="850" dirty="0">
                <a:solidFill>
                  <a:srgbClr val="E0F2FE"/>
                </a:solidFill>
                <a:latin typeface="Calibri" pitchFamily="34" charset="0"/>
                <a:ea typeface="Calibri" pitchFamily="34" charset="-122"/>
                <a:cs typeface="Calibri" pitchFamily="34" charset="-120"/>
              </a:rPr>
              <a:t>⏱ 1 min</a:t>
            </a:r>
            <a:endParaRPr lang="en-US" sz="850" dirty="0"/>
          </a:p>
        </p:txBody>
      </p:sp>
      <p:sp>
        <p:nvSpPr>
          <p:cNvPr id="18" name="Shape 16"/>
          <p:cNvSpPr/>
          <p:nvPr/>
        </p:nvSpPr>
        <p:spPr>
          <a:xfrm>
            <a:off x="8458200" y="1371600"/>
            <a:ext cx="594360" cy="640080"/>
          </a:xfrm>
          <a:prstGeom prst="rect">
            <a:avLst/>
          </a:prstGeom>
          <a:solidFill>
            <a:srgbClr val="0D9488"/>
          </a:solidFill>
          <a:ln w="12700">
            <a:solidFill>
              <a:srgbClr val="0D9488"/>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8458200" y="1371600"/>
            <a:ext cx="59436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smoke-tests</a:t>
            </a:r>
            <a:endParaRPr lang="en-US" sz="1000" dirty="0"/>
          </a:p>
        </p:txBody>
      </p:sp>
      <p:sp>
        <p:nvSpPr>
          <p:cNvPr id="20" name="Text 18"/>
          <p:cNvSpPr/>
          <p:nvPr/>
        </p:nvSpPr>
        <p:spPr>
          <a:xfrm>
            <a:off x="8458200" y="1742846"/>
            <a:ext cx="594360" cy="256032"/>
          </a:xfrm>
          <a:prstGeom prst="rect">
            <a:avLst/>
          </a:prstGeom>
          <a:noFill/>
          <a:ln/>
        </p:spPr>
        <p:txBody>
          <a:bodyPr wrap="square" lIns="0" tIns="0" rIns="0" bIns="0" rtlCol="0" anchor="ctr"/>
          <a:lstStyle/>
          <a:p>
            <a:pPr algn="ctr" indent="0" marL="0">
              <a:buNone/>
            </a:pPr>
            <a:r>
              <a:rPr lang="en-US" sz="850" dirty="0">
                <a:solidFill>
                  <a:srgbClr val="E0F2FE"/>
                </a:solidFill>
                <a:latin typeface="Calibri" pitchFamily="34" charset="0"/>
                <a:ea typeface="Calibri" pitchFamily="34" charset="-122"/>
                <a:cs typeface="Calibri" pitchFamily="34" charset="-120"/>
              </a:rPr>
              <a:t>⏱ 1 min</a:t>
            </a:r>
            <a:endParaRPr lang="en-US" sz="850" dirty="0"/>
          </a:p>
        </p:txBody>
      </p:sp>
      <p:sp>
        <p:nvSpPr>
          <p:cNvPr id="21" name="Shape 19"/>
          <p:cNvSpPr/>
          <p:nvPr/>
        </p:nvSpPr>
        <p:spPr>
          <a:xfrm>
            <a:off x="2304288" y="1536192"/>
            <a:ext cx="713232" cy="36576"/>
          </a:xfrm>
          <a:prstGeom prst="rect">
            <a:avLst/>
          </a:prstGeom>
          <a:solidFill>
            <a:srgbClr val="06B6D4"/>
          </a:solidFill>
          <a:ln w="12700">
            <a:solidFill>
              <a:srgbClr val="06B6D4"/>
            </a:solidFill>
            <a:prstDash val="solid"/>
          </a:ln>
        </p:spPr>
      </p:sp>
      <p:sp>
        <p:nvSpPr>
          <p:cNvPr id="22" name="Shape 20"/>
          <p:cNvSpPr/>
          <p:nvPr/>
        </p:nvSpPr>
        <p:spPr>
          <a:xfrm>
            <a:off x="2304288" y="1664208"/>
            <a:ext cx="36576" cy="457200"/>
          </a:xfrm>
          <a:prstGeom prst="rect">
            <a:avLst/>
          </a:prstGeom>
          <a:solidFill>
            <a:srgbClr val="EA580C"/>
          </a:solidFill>
          <a:ln w="12700">
            <a:solidFill>
              <a:srgbClr val="EA580C"/>
            </a:solidFill>
            <a:prstDash val="solid"/>
          </a:ln>
        </p:spPr>
      </p:sp>
      <p:sp>
        <p:nvSpPr>
          <p:cNvPr id="23" name="Shape 21"/>
          <p:cNvSpPr/>
          <p:nvPr/>
        </p:nvSpPr>
        <p:spPr>
          <a:xfrm>
            <a:off x="2304288" y="2084832"/>
            <a:ext cx="713232" cy="36576"/>
          </a:xfrm>
          <a:prstGeom prst="rect">
            <a:avLst/>
          </a:prstGeom>
          <a:solidFill>
            <a:srgbClr val="EA580C"/>
          </a:solidFill>
          <a:ln w="12700">
            <a:solidFill>
              <a:srgbClr val="EA580C"/>
            </a:solidFill>
            <a:prstDash val="solid"/>
          </a:ln>
        </p:spPr>
      </p:sp>
      <p:sp>
        <p:nvSpPr>
          <p:cNvPr id="24" name="Shape 22"/>
          <p:cNvSpPr/>
          <p:nvPr/>
        </p:nvSpPr>
        <p:spPr>
          <a:xfrm>
            <a:off x="5138928" y="1325880"/>
            <a:ext cx="365760" cy="36576"/>
          </a:xfrm>
          <a:prstGeom prst="rect">
            <a:avLst/>
          </a:prstGeom>
          <a:solidFill>
            <a:srgbClr val="10B981"/>
          </a:solidFill>
          <a:ln w="12700">
            <a:solidFill>
              <a:srgbClr val="10B981"/>
            </a:solidFill>
            <a:prstDash val="solid"/>
          </a:ln>
        </p:spPr>
      </p:sp>
      <p:sp>
        <p:nvSpPr>
          <p:cNvPr id="25" name="Shape 23"/>
          <p:cNvSpPr/>
          <p:nvPr/>
        </p:nvSpPr>
        <p:spPr>
          <a:xfrm>
            <a:off x="5504688" y="1325880"/>
            <a:ext cx="36576" cy="365760"/>
          </a:xfrm>
          <a:prstGeom prst="rect">
            <a:avLst/>
          </a:prstGeom>
          <a:solidFill>
            <a:srgbClr val="10B981"/>
          </a:solidFill>
          <a:ln w="12700">
            <a:solidFill>
              <a:srgbClr val="10B981"/>
            </a:solidFill>
            <a:prstDash val="solid"/>
          </a:ln>
        </p:spPr>
      </p:sp>
      <p:sp>
        <p:nvSpPr>
          <p:cNvPr id="26" name="Shape 24"/>
          <p:cNvSpPr/>
          <p:nvPr/>
        </p:nvSpPr>
        <p:spPr>
          <a:xfrm>
            <a:off x="5138928" y="2121408"/>
            <a:ext cx="365760" cy="36576"/>
          </a:xfrm>
          <a:prstGeom prst="rect">
            <a:avLst/>
          </a:prstGeom>
          <a:solidFill>
            <a:srgbClr val="10B981"/>
          </a:solidFill>
          <a:ln w="12700">
            <a:solidFill>
              <a:srgbClr val="10B981"/>
            </a:solidFill>
            <a:prstDash val="solid"/>
          </a:ln>
        </p:spPr>
      </p:sp>
      <p:sp>
        <p:nvSpPr>
          <p:cNvPr id="27" name="Shape 25"/>
          <p:cNvSpPr/>
          <p:nvPr/>
        </p:nvSpPr>
        <p:spPr>
          <a:xfrm>
            <a:off x="5504688" y="1691640"/>
            <a:ext cx="36576" cy="466344"/>
          </a:xfrm>
          <a:prstGeom prst="rect">
            <a:avLst/>
          </a:prstGeom>
          <a:solidFill>
            <a:srgbClr val="10B981"/>
          </a:solidFill>
          <a:ln w="12700">
            <a:solidFill>
              <a:srgbClr val="10B981"/>
            </a:solidFill>
            <a:prstDash val="solid"/>
          </a:ln>
        </p:spPr>
      </p:sp>
      <p:sp>
        <p:nvSpPr>
          <p:cNvPr id="28" name="Shape 26"/>
          <p:cNvSpPr/>
          <p:nvPr/>
        </p:nvSpPr>
        <p:spPr>
          <a:xfrm>
            <a:off x="8339328" y="1664208"/>
            <a:ext cx="118872" cy="36576"/>
          </a:xfrm>
          <a:prstGeom prst="rect">
            <a:avLst/>
          </a:prstGeom>
          <a:solidFill>
            <a:srgbClr val="0D9488"/>
          </a:solidFill>
          <a:ln w="12700">
            <a:solidFill>
              <a:srgbClr val="0D9488"/>
            </a:solidFill>
            <a:prstDash val="solid"/>
          </a:ln>
        </p:spPr>
      </p:sp>
      <p:sp>
        <p:nvSpPr>
          <p:cNvPr id="29" name="Text 27"/>
          <p:cNvSpPr/>
          <p:nvPr/>
        </p:nvSpPr>
        <p:spPr>
          <a:xfrm>
            <a:off x="2359152" y="1170432"/>
            <a:ext cx="621792" cy="182880"/>
          </a:xfrm>
          <a:prstGeom prst="rect">
            <a:avLst/>
          </a:prstGeom>
          <a:noFill/>
          <a:ln/>
        </p:spPr>
        <p:txBody>
          <a:bodyPr wrap="square" lIns="0" tIns="0" rIns="0" bIns="0" rtlCol="0" anchor="ctr"/>
          <a:lstStyle/>
          <a:p>
            <a:pPr indent="0" marL="0">
              <a:buNone/>
            </a:pPr>
            <a:r>
              <a:rPr lang="en-US" sz="750" dirty="0">
                <a:solidFill>
                  <a:srgbClr val="06B6D4"/>
                </a:solidFill>
                <a:latin typeface="Consolas" pitchFamily="34" charset="0"/>
                <a:ea typeface="Consolas" pitchFamily="34" charset="-122"/>
                <a:cs typeface="Consolas" pitchFamily="34" charset="-120"/>
              </a:rPr>
              <a:t>needs: build</a:t>
            </a:r>
            <a:endParaRPr lang="en-US" sz="750" dirty="0"/>
          </a:p>
        </p:txBody>
      </p:sp>
      <p:sp>
        <p:nvSpPr>
          <p:cNvPr id="30" name="Text 28"/>
          <p:cNvSpPr/>
          <p:nvPr/>
        </p:nvSpPr>
        <p:spPr>
          <a:xfrm>
            <a:off x="2359152" y="2194560"/>
            <a:ext cx="621792" cy="182880"/>
          </a:xfrm>
          <a:prstGeom prst="rect">
            <a:avLst/>
          </a:prstGeom>
          <a:noFill/>
          <a:ln/>
        </p:spPr>
        <p:txBody>
          <a:bodyPr wrap="square" lIns="0" tIns="0" rIns="0" bIns="0" rtlCol="0" anchor="ctr"/>
          <a:lstStyle/>
          <a:p>
            <a:pPr indent="0" marL="0">
              <a:buNone/>
            </a:pPr>
            <a:r>
              <a:rPr lang="en-US" sz="750" dirty="0">
                <a:solidFill>
                  <a:srgbClr val="EA580C"/>
                </a:solidFill>
                <a:latin typeface="Consolas" pitchFamily="34" charset="0"/>
                <a:ea typeface="Consolas" pitchFamily="34" charset="-122"/>
                <a:cs typeface="Consolas" pitchFamily="34" charset="-120"/>
              </a:rPr>
              <a:t>needs: build</a:t>
            </a:r>
            <a:endParaRPr lang="en-US" sz="750" dirty="0"/>
          </a:p>
        </p:txBody>
      </p:sp>
      <p:sp>
        <p:nvSpPr>
          <p:cNvPr id="31" name="Text 29"/>
          <p:cNvSpPr/>
          <p:nvPr/>
        </p:nvSpPr>
        <p:spPr>
          <a:xfrm>
            <a:off x="5212080" y="1170432"/>
            <a:ext cx="960120" cy="182880"/>
          </a:xfrm>
          <a:prstGeom prst="rect">
            <a:avLst/>
          </a:prstGeom>
          <a:noFill/>
          <a:ln/>
        </p:spPr>
        <p:txBody>
          <a:bodyPr wrap="square" lIns="0" tIns="0" rIns="0" bIns="0" rtlCol="0" anchor="ctr"/>
          <a:lstStyle/>
          <a:p>
            <a:pPr indent="0" marL="0">
              <a:buNone/>
            </a:pPr>
            <a:r>
              <a:rPr lang="en-US" sz="700" dirty="0">
                <a:solidFill>
                  <a:srgbClr val="10B981"/>
                </a:solidFill>
                <a:latin typeface="Consolas" pitchFamily="34" charset="0"/>
                <a:ea typeface="Consolas" pitchFamily="34" charset="-122"/>
                <a:cs typeface="Consolas" pitchFamily="34" charset="-120"/>
              </a:rPr>
              <a:t>needs: [unit-tests, security-scan]</a:t>
            </a:r>
            <a:endParaRPr lang="en-US" sz="700" dirty="0"/>
          </a:p>
        </p:txBody>
      </p:sp>
      <p:sp>
        <p:nvSpPr>
          <p:cNvPr id="32" name="Shape 30"/>
          <p:cNvSpPr/>
          <p:nvPr/>
        </p:nvSpPr>
        <p:spPr>
          <a:xfrm>
            <a:off x="347472" y="2697480"/>
            <a:ext cx="8449056" cy="36576"/>
          </a:xfrm>
          <a:prstGeom prst="rect">
            <a:avLst/>
          </a:prstGeom>
          <a:solidFill>
            <a:srgbClr val="E2E8F0"/>
          </a:solidFill>
          <a:ln w="12700">
            <a:solidFill>
              <a:srgbClr val="E2E8F0"/>
            </a:solidFill>
            <a:prstDash val="solid"/>
          </a:ln>
        </p:spPr>
      </p:sp>
      <p:sp>
        <p:nvSpPr>
          <p:cNvPr id="33" name="Text 31"/>
          <p:cNvSpPr/>
          <p:nvPr/>
        </p:nvSpPr>
        <p:spPr>
          <a:xfrm>
            <a:off x="347472" y="2752344"/>
            <a:ext cx="914400" cy="201168"/>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 TIMELINE</a:t>
            </a:r>
            <a:endParaRPr lang="en-US" sz="900" dirty="0"/>
          </a:p>
        </p:txBody>
      </p:sp>
      <p:sp>
        <p:nvSpPr>
          <p:cNvPr id="34" name="Shape 32"/>
          <p:cNvSpPr/>
          <p:nvPr/>
        </p:nvSpPr>
        <p:spPr>
          <a:xfrm>
            <a:off x="347472" y="2624328"/>
            <a:ext cx="36576" cy="109728"/>
          </a:xfrm>
          <a:prstGeom prst="rect">
            <a:avLst/>
          </a:prstGeom>
          <a:solidFill>
            <a:srgbClr val="64748B"/>
          </a:solidFill>
          <a:ln w="12700">
            <a:solidFill>
              <a:srgbClr val="64748B"/>
            </a:solidFill>
            <a:prstDash val="solid"/>
          </a:ln>
        </p:spPr>
      </p:sp>
      <p:sp>
        <p:nvSpPr>
          <p:cNvPr id="35" name="Text 33"/>
          <p:cNvSpPr/>
          <p:nvPr/>
        </p:nvSpPr>
        <p:spPr>
          <a:xfrm>
            <a:off x="164592" y="2752344"/>
            <a:ext cx="457200"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 min</a:t>
            </a:r>
            <a:endParaRPr lang="en-US" sz="800" dirty="0"/>
          </a:p>
        </p:txBody>
      </p:sp>
      <p:sp>
        <p:nvSpPr>
          <p:cNvPr id="36" name="Shape 34"/>
          <p:cNvSpPr/>
          <p:nvPr/>
        </p:nvSpPr>
        <p:spPr>
          <a:xfrm>
            <a:off x="2011680" y="2624328"/>
            <a:ext cx="36576" cy="109728"/>
          </a:xfrm>
          <a:prstGeom prst="rect">
            <a:avLst/>
          </a:prstGeom>
          <a:solidFill>
            <a:srgbClr val="64748B"/>
          </a:solidFill>
          <a:ln w="12700">
            <a:solidFill>
              <a:srgbClr val="64748B"/>
            </a:solidFill>
            <a:prstDash val="solid"/>
          </a:ln>
        </p:spPr>
      </p:sp>
      <p:sp>
        <p:nvSpPr>
          <p:cNvPr id="37" name="Text 35"/>
          <p:cNvSpPr/>
          <p:nvPr/>
        </p:nvSpPr>
        <p:spPr>
          <a:xfrm>
            <a:off x="1828800" y="2752344"/>
            <a:ext cx="457200"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2 min</a:t>
            </a:r>
            <a:endParaRPr lang="en-US" sz="800" dirty="0"/>
          </a:p>
        </p:txBody>
      </p:sp>
      <p:sp>
        <p:nvSpPr>
          <p:cNvPr id="38" name="Shape 36"/>
          <p:cNvSpPr/>
          <p:nvPr/>
        </p:nvSpPr>
        <p:spPr>
          <a:xfrm>
            <a:off x="4206240" y="2624328"/>
            <a:ext cx="36576" cy="109728"/>
          </a:xfrm>
          <a:prstGeom prst="rect">
            <a:avLst/>
          </a:prstGeom>
          <a:solidFill>
            <a:srgbClr val="64748B"/>
          </a:solidFill>
          <a:ln w="12700">
            <a:solidFill>
              <a:srgbClr val="64748B"/>
            </a:solidFill>
            <a:prstDash val="solid"/>
          </a:ln>
        </p:spPr>
      </p:sp>
      <p:sp>
        <p:nvSpPr>
          <p:cNvPr id="39" name="Text 37"/>
          <p:cNvSpPr/>
          <p:nvPr/>
        </p:nvSpPr>
        <p:spPr>
          <a:xfrm>
            <a:off x="4023360" y="2752344"/>
            <a:ext cx="457200"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6 min</a:t>
            </a:r>
            <a:endParaRPr lang="en-US" sz="800" dirty="0"/>
          </a:p>
        </p:txBody>
      </p:sp>
      <p:sp>
        <p:nvSpPr>
          <p:cNvPr id="40" name="Shape 38"/>
          <p:cNvSpPr/>
          <p:nvPr/>
        </p:nvSpPr>
        <p:spPr>
          <a:xfrm>
            <a:off x="6492240" y="2624328"/>
            <a:ext cx="36576" cy="109728"/>
          </a:xfrm>
          <a:prstGeom prst="rect">
            <a:avLst/>
          </a:prstGeom>
          <a:solidFill>
            <a:srgbClr val="64748B"/>
          </a:solidFill>
          <a:ln w="12700">
            <a:solidFill>
              <a:srgbClr val="64748B"/>
            </a:solidFill>
            <a:prstDash val="solid"/>
          </a:ln>
        </p:spPr>
      </p:sp>
      <p:sp>
        <p:nvSpPr>
          <p:cNvPr id="41" name="Text 39"/>
          <p:cNvSpPr/>
          <p:nvPr/>
        </p:nvSpPr>
        <p:spPr>
          <a:xfrm>
            <a:off x="6309360" y="2752344"/>
            <a:ext cx="457200"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7 min</a:t>
            </a:r>
            <a:endParaRPr lang="en-US" sz="800" dirty="0"/>
          </a:p>
        </p:txBody>
      </p:sp>
      <p:sp>
        <p:nvSpPr>
          <p:cNvPr id="42" name="Shape 40"/>
          <p:cNvSpPr/>
          <p:nvPr/>
        </p:nvSpPr>
        <p:spPr>
          <a:xfrm>
            <a:off x="8321040" y="2624328"/>
            <a:ext cx="36576" cy="109728"/>
          </a:xfrm>
          <a:prstGeom prst="rect">
            <a:avLst/>
          </a:prstGeom>
          <a:solidFill>
            <a:srgbClr val="64748B"/>
          </a:solidFill>
          <a:ln w="12700">
            <a:solidFill>
              <a:srgbClr val="64748B"/>
            </a:solidFill>
            <a:prstDash val="solid"/>
          </a:ln>
        </p:spPr>
      </p:sp>
      <p:sp>
        <p:nvSpPr>
          <p:cNvPr id="43" name="Text 41"/>
          <p:cNvSpPr/>
          <p:nvPr/>
        </p:nvSpPr>
        <p:spPr>
          <a:xfrm>
            <a:off x="8138160" y="2752344"/>
            <a:ext cx="457200"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8 min</a:t>
            </a:r>
            <a:endParaRPr lang="en-US" sz="800" dirty="0"/>
          </a:p>
        </p:txBody>
      </p:sp>
      <p:sp>
        <p:nvSpPr>
          <p:cNvPr id="44" name="Shape 42"/>
          <p:cNvSpPr/>
          <p:nvPr/>
        </p:nvSpPr>
        <p:spPr>
          <a:xfrm>
            <a:off x="347472" y="3090672"/>
            <a:ext cx="1664208" cy="292608"/>
          </a:xfrm>
          <a:prstGeom prst="rect">
            <a:avLst/>
          </a:prstGeom>
          <a:solidFill>
            <a:srgbClr val="1A56DB"/>
          </a:solidFill>
          <a:ln w="12700">
            <a:solidFill>
              <a:srgbClr val="1A56DB"/>
            </a:solidFill>
            <a:prstDash val="solid"/>
          </a:ln>
        </p:spPr>
      </p:sp>
      <p:sp>
        <p:nvSpPr>
          <p:cNvPr id="45" name="Text 43"/>
          <p:cNvSpPr/>
          <p:nvPr/>
        </p:nvSpPr>
        <p:spPr>
          <a:xfrm>
            <a:off x="347472" y="3090672"/>
            <a:ext cx="1664208" cy="292608"/>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build</a:t>
            </a:r>
            <a:endParaRPr lang="en-US" sz="750" dirty="0"/>
          </a:p>
        </p:txBody>
      </p:sp>
      <p:sp>
        <p:nvSpPr>
          <p:cNvPr id="46" name="Shape 44"/>
          <p:cNvSpPr/>
          <p:nvPr/>
        </p:nvSpPr>
        <p:spPr>
          <a:xfrm>
            <a:off x="2011680" y="3090672"/>
            <a:ext cx="3328416" cy="292608"/>
          </a:xfrm>
          <a:prstGeom prst="rect">
            <a:avLst/>
          </a:prstGeom>
          <a:solidFill>
            <a:srgbClr val="06B6D4"/>
          </a:solidFill>
          <a:ln w="12700">
            <a:solidFill>
              <a:srgbClr val="06B6D4"/>
            </a:solidFill>
            <a:prstDash val="solid"/>
          </a:ln>
        </p:spPr>
      </p:sp>
      <p:sp>
        <p:nvSpPr>
          <p:cNvPr id="47" name="Text 45"/>
          <p:cNvSpPr/>
          <p:nvPr/>
        </p:nvSpPr>
        <p:spPr>
          <a:xfrm>
            <a:off x="2011680" y="3090672"/>
            <a:ext cx="3328416" cy="292608"/>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unit-tests</a:t>
            </a:r>
            <a:endParaRPr lang="en-US" sz="750" dirty="0"/>
          </a:p>
        </p:txBody>
      </p:sp>
      <p:sp>
        <p:nvSpPr>
          <p:cNvPr id="48" name="Shape 46"/>
          <p:cNvSpPr/>
          <p:nvPr/>
        </p:nvSpPr>
        <p:spPr>
          <a:xfrm>
            <a:off x="2011680" y="3456432"/>
            <a:ext cx="3328416" cy="292608"/>
          </a:xfrm>
          <a:prstGeom prst="rect">
            <a:avLst/>
          </a:prstGeom>
          <a:solidFill>
            <a:srgbClr val="EA580C"/>
          </a:solidFill>
          <a:ln w="12700">
            <a:solidFill>
              <a:srgbClr val="EA580C"/>
            </a:solidFill>
            <a:prstDash val="solid"/>
          </a:ln>
        </p:spPr>
      </p:sp>
      <p:sp>
        <p:nvSpPr>
          <p:cNvPr id="49" name="Text 47"/>
          <p:cNvSpPr/>
          <p:nvPr/>
        </p:nvSpPr>
        <p:spPr>
          <a:xfrm>
            <a:off x="2011680" y="3456432"/>
            <a:ext cx="3328416" cy="292608"/>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security-scan</a:t>
            </a:r>
            <a:endParaRPr lang="en-US" sz="750" dirty="0"/>
          </a:p>
        </p:txBody>
      </p:sp>
      <p:sp>
        <p:nvSpPr>
          <p:cNvPr id="50" name="Shape 48"/>
          <p:cNvSpPr/>
          <p:nvPr/>
        </p:nvSpPr>
        <p:spPr>
          <a:xfrm>
            <a:off x="5340096" y="3090672"/>
            <a:ext cx="832104" cy="292608"/>
          </a:xfrm>
          <a:prstGeom prst="rect">
            <a:avLst/>
          </a:prstGeom>
          <a:solidFill>
            <a:srgbClr val="10B981"/>
          </a:solidFill>
          <a:ln w="12700">
            <a:solidFill>
              <a:srgbClr val="10B981"/>
            </a:solidFill>
            <a:prstDash val="solid"/>
          </a:ln>
        </p:spPr>
      </p:sp>
      <p:sp>
        <p:nvSpPr>
          <p:cNvPr id="51" name="Text 49"/>
          <p:cNvSpPr/>
          <p:nvPr/>
        </p:nvSpPr>
        <p:spPr>
          <a:xfrm>
            <a:off x="5340096" y="3090672"/>
            <a:ext cx="832104" cy="292608"/>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deploy-staging</a:t>
            </a:r>
            <a:endParaRPr lang="en-US" sz="750" dirty="0"/>
          </a:p>
        </p:txBody>
      </p:sp>
      <p:sp>
        <p:nvSpPr>
          <p:cNvPr id="52" name="Shape 50"/>
          <p:cNvSpPr/>
          <p:nvPr/>
        </p:nvSpPr>
        <p:spPr>
          <a:xfrm>
            <a:off x="6172200" y="3090672"/>
            <a:ext cx="832104" cy="292608"/>
          </a:xfrm>
          <a:prstGeom prst="rect">
            <a:avLst/>
          </a:prstGeom>
          <a:solidFill>
            <a:srgbClr val="0D9488"/>
          </a:solidFill>
          <a:ln w="12700">
            <a:solidFill>
              <a:srgbClr val="0D9488"/>
            </a:solidFill>
            <a:prstDash val="solid"/>
          </a:ln>
        </p:spPr>
      </p:sp>
      <p:sp>
        <p:nvSpPr>
          <p:cNvPr id="53" name="Text 51"/>
          <p:cNvSpPr/>
          <p:nvPr/>
        </p:nvSpPr>
        <p:spPr>
          <a:xfrm>
            <a:off x="6172200" y="3090672"/>
            <a:ext cx="832104" cy="292608"/>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smoke-tests</a:t>
            </a:r>
            <a:endParaRPr lang="en-US" sz="750" dirty="0"/>
          </a:p>
        </p:txBody>
      </p:sp>
      <p:sp>
        <p:nvSpPr>
          <p:cNvPr id="54" name="Shape 52"/>
          <p:cNvSpPr/>
          <p:nvPr/>
        </p:nvSpPr>
        <p:spPr>
          <a:xfrm>
            <a:off x="347472" y="3913632"/>
            <a:ext cx="8449056" cy="457200"/>
          </a:xfrm>
          <a:prstGeom prst="rect">
            <a:avLst/>
          </a:prstGeom>
          <a:solidFill>
            <a:srgbClr val="0D1B2A"/>
          </a:solidFill>
          <a:ln w="12700">
            <a:solidFill>
              <a:srgbClr val="334155"/>
            </a:solidFill>
            <a:prstDash val="solid"/>
          </a:ln>
        </p:spPr>
      </p:sp>
      <p:sp>
        <p:nvSpPr>
          <p:cNvPr id="55" name="Text 53"/>
          <p:cNvSpPr/>
          <p:nvPr/>
        </p:nvSpPr>
        <p:spPr>
          <a:xfrm>
            <a:off x="347472" y="3913632"/>
            <a:ext cx="8449056" cy="457200"/>
          </a:xfrm>
          <a:prstGeom prst="rect">
            <a:avLst/>
          </a:prstGeom>
          <a:noFill/>
          <a:ln/>
        </p:spPr>
        <p:txBody>
          <a:bodyPr wrap="square" lIns="0" tIns="0" rIns="0" bIns="0" rtlCol="0" anchor="ctr"/>
          <a:lstStyle/>
          <a:p>
            <a:pPr algn="ctr" indent="0" marL="0">
              <a:buNone/>
            </a:pPr>
            <a:r>
              <a:rPr lang="en-US" sz="1100" b="1" dirty="0">
                <a:solidFill>
                  <a:srgbClr val="06B6D4"/>
                </a:solidFill>
                <a:latin typeface="Calibri" pitchFamily="34" charset="0"/>
                <a:ea typeface="Calibri" pitchFamily="34" charset="-122"/>
                <a:cs typeface="Calibri" pitchFamily="34" charset="-120"/>
              </a:rPr>
              <a:t>🚀  Total Time: 8 minutes  |  Fully Sequential would take: 12 minutes  |  Parallelization SAVES 4 minutes per run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0B981"/>
          </a:solidFill>
          <a:ln w="12700">
            <a:solidFill>
              <a:srgbClr val="10B981"/>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Module 4 — Dependency Caching: The Performance Problem</a:t>
            </a:r>
            <a:endParaRPr lang="en-US" sz="2500" dirty="0"/>
          </a:p>
        </p:txBody>
      </p:sp>
      <p:sp>
        <p:nvSpPr>
          <p:cNvPr id="4" name="Shape 2"/>
          <p:cNvSpPr/>
          <p:nvPr/>
        </p:nvSpPr>
        <p:spPr>
          <a:xfrm>
            <a:off x="384048" y="731520"/>
            <a:ext cx="2070202" cy="219456"/>
          </a:xfrm>
          <a:prstGeom prst="rect">
            <a:avLst/>
          </a:prstGeom>
          <a:solidFill>
            <a:srgbClr val="10B981"/>
          </a:solidFill>
          <a:ln w="12700">
            <a:solidFill>
              <a:srgbClr val="10B981"/>
            </a:solidFill>
            <a:prstDash val="solid"/>
          </a:ln>
        </p:spPr>
      </p:sp>
      <p:sp>
        <p:nvSpPr>
          <p:cNvPr id="5" name="Text 3"/>
          <p:cNvSpPr/>
          <p:nvPr/>
        </p:nvSpPr>
        <p:spPr>
          <a:xfrm>
            <a:off x="384048" y="731520"/>
            <a:ext cx="2070202"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PROBLEM &amp; SOLUTION</a:t>
            </a:r>
            <a:endParaRPr lang="en-US" sz="850" dirty="0"/>
          </a:p>
        </p:txBody>
      </p:sp>
      <p:sp>
        <p:nvSpPr>
          <p:cNvPr id="6" name="Shape 4"/>
          <p:cNvSpPr/>
          <p:nvPr/>
        </p:nvSpPr>
        <p:spPr>
          <a:xfrm>
            <a:off x="347472" y="1024128"/>
            <a:ext cx="4041648" cy="3063240"/>
          </a:xfrm>
          <a:prstGeom prst="rect">
            <a:avLst/>
          </a:prstGeom>
          <a:solidFill>
            <a:srgbClr val="FEF2F2"/>
          </a:solidFill>
          <a:ln w="7620">
            <a:solidFill>
              <a:srgbClr val="EF4444"/>
            </a:solidFill>
            <a:prstDash val="solid"/>
          </a:ln>
        </p:spPr>
      </p:sp>
      <p:sp>
        <p:nvSpPr>
          <p:cNvPr id="7" name="Shape 5"/>
          <p:cNvSpPr/>
          <p:nvPr/>
        </p:nvSpPr>
        <p:spPr>
          <a:xfrm>
            <a:off x="347472" y="1024128"/>
            <a:ext cx="4041648" cy="384048"/>
          </a:xfrm>
          <a:prstGeom prst="rect">
            <a:avLst/>
          </a:prstGeom>
          <a:solidFill>
            <a:srgbClr val="EF4444"/>
          </a:solidFill>
          <a:ln w="12700">
            <a:solidFill>
              <a:srgbClr val="EF4444"/>
            </a:solidFill>
            <a:prstDash val="solid"/>
          </a:ln>
        </p:spPr>
      </p:sp>
      <p:sp>
        <p:nvSpPr>
          <p:cNvPr id="8" name="Text 6"/>
          <p:cNvSpPr/>
          <p:nvPr/>
        </p:nvSpPr>
        <p:spPr>
          <a:xfrm>
            <a:off x="347472" y="1024128"/>
            <a:ext cx="40416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Without Caching</a:t>
            </a:r>
            <a:endParaRPr lang="en-US" sz="1200" dirty="0"/>
          </a:p>
        </p:txBody>
      </p:sp>
      <p:sp>
        <p:nvSpPr>
          <p:cNvPr id="9" name="Shape 7"/>
          <p:cNvSpPr/>
          <p:nvPr/>
        </p:nvSpPr>
        <p:spPr>
          <a:xfrm>
            <a:off x="438912" y="1508760"/>
            <a:ext cx="3383280" cy="274320"/>
          </a:xfrm>
          <a:prstGeom prst="rect">
            <a:avLst/>
          </a:prstGeom>
          <a:solidFill>
            <a:srgbClr val="FEE2E2"/>
          </a:solidFill>
          <a:ln w="12700">
            <a:solidFill>
              <a:srgbClr val="E2E8F0"/>
            </a:solidFill>
            <a:prstDash val="solid"/>
          </a:ln>
        </p:spPr>
      </p:sp>
      <p:sp>
        <p:nvSpPr>
          <p:cNvPr id="10" name="Text 8"/>
          <p:cNvSpPr/>
          <p:nvPr/>
        </p:nvSpPr>
        <p:spPr>
          <a:xfrm>
            <a:off x="502920" y="1508760"/>
            <a:ext cx="265176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Runner starts — EMPTY machine</a:t>
            </a:r>
            <a:endParaRPr lang="en-US" sz="900" dirty="0"/>
          </a:p>
        </p:txBody>
      </p:sp>
      <p:sp>
        <p:nvSpPr>
          <p:cNvPr id="11" name="Text 9"/>
          <p:cNvSpPr/>
          <p:nvPr/>
        </p:nvSpPr>
        <p:spPr>
          <a:xfrm>
            <a:off x="3154680" y="1508760"/>
            <a:ext cx="685800" cy="274320"/>
          </a:xfrm>
          <a:prstGeom prst="rect">
            <a:avLst/>
          </a:prstGeom>
          <a:noFill/>
          <a:ln/>
        </p:spPr>
        <p:txBody>
          <a:bodyPr wrap="square" lIns="0" tIns="0" rIns="0" bIns="0"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0s</a:t>
            </a:r>
            <a:endParaRPr lang="en-US" sz="900" dirty="0"/>
          </a:p>
        </p:txBody>
      </p:sp>
      <p:sp>
        <p:nvSpPr>
          <p:cNvPr id="12" name="Shape 10"/>
          <p:cNvSpPr/>
          <p:nvPr/>
        </p:nvSpPr>
        <p:spPr>
          <a:xfrm>
            <a:off x="438912" y="1828800"/>
            <a:ext cx="3383280" cy="274320"/>
          </a:xfrm>
          <a:prstGeom prst="rect">
            <a:avLst/>
          </a:prstGeom>
          <a:solidFill>
            <a:srgbClr val="FEF2F2"/>
          </a:solidFill>
          <a:ln w="12700">
            <a:solidFill>
              <a:srgbClr val="E2E8F0"/>
            </a:solidFill>
            <a:prstDash val="solid"/>
          </a:ln>
        </p:spPr>
      </p:sp>
      <p:sp>
        <p:nvSpPr>
          <p:cNvPr id="13" name="Text 11"/>
          <p:cNvSpPr/>
          <p:nvPr/>
        </p:nvSpPr>
        <p:spPr>
          <a:xfrm>
            <a:off x="502920" y="1828800"/>
            <a:ext cx="265176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Download Spring Boot (~20 MB)</a:t>
            </a:r>
            <a:endParaRPr lang="en-US" sz="900" dirty="0"/>
          </a:p>
        </p:txBody>
      </p:sp>
      <p:sp>
        <p:nvSpPr>
          <p:cNvPr id="14" name="Text 12"/>
          <p:cNvSpPr/>
          <p:nvPr/>
        </p:nvSpPr>
        <p:spPr>
          <a:xfrm>
            <a:off x="3154680" y="1828800"/>
            <a:ext cx="685800" cy="274320"/>
          </a:xfrm>
          <a:prstGeom prst="rect">
            <a:avLst/>
          </a:prstGeom>
          <a:noFill/>
          <a:ln/>
        </p:spPr>
        <p:txBody>
          <a:bodyPr wrap="square" lIns="0" tIns="0" rIns="0" bIns="0" rtlCol="0" anchor="ctr"/>
          <a:lstStyle/>
          <a:p>
            <a:pPr algn="r" indent="0" marL="0">
              <a:buNone/>
            </a:pPr>
            <a:r>
              <a:rPr lang="en-US" sz="900" b="1" dirty="0">
                <a:solidFill>
                  <a:srgbClr val="EF4444"/>
                </a:solidFill>
                <a:latin typeface="Calibri" pitchFamily="34" charset="0"/>
                <a:ea typeface="Calibri" pitchFamily="34" charset="-122"/>
                <a:cs typeface="Calibri" pitchFamily="34" charset="-120"/>
              </a:rPr>
              <a:t>45s</a:t>
            </a:r>
            <a:endParaRPr lang="en-US" sz="900" dirty="0"/>
          </a:p>
        </p:txBody>
      </p:sp>
      <p:sp>
        <p:nvSpPr>
          <p:cNvPr id="15" name="Shape 13"/>
          <p:cNvSpPr/>
          <p:nvPr/>
        </p:nvSpPr>
        <p:spPr>
          <a:xfrm>
            <a:off x="438912" y="2148840"/>
            <a:ext cx="3383280" cy="274320"/>
          </a:xfrm>
          <a:prstGeom prst="rect">
            <a:avLst/>
          </a:prstGeom>
          <a:solidFill>
            <a:srgbClr val="FEE2E2"/>
          </a:solidFill>
          <a:ln w="12700">
            <a:solidFill>
              <a:srgbClr val="E2E8F0"/>
            </a:solidFill>
            <a:prstDash val="solid"/>
          </a:ln>
        </p:spPr>
      </p:sp>
      <p:sp>
        <p:nvSpPr>
          <p:cNvPr id="16" name="Text 14"/>
          <p:cNvSpPr/>
          <p:nvPr/>
        </p:nvSpPr>
        <p:spPr>
          <a:xfrm>
            <a:off x="502920" y="2148840"/>
            <a:ext cx="265176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Download Spring Data JPA (~15 MB)</a:t>
            </a:r>
            <a:endParaRPr lang="en-US" sz="900" dirty="0"/>
          </a:p>
        </p:txBody>
      </p:sp>
      <p:sp>
        <p:nvSpPr>
          <p:cNvPr id="17" name="Text 15"/>
          <p:cNvSpPr/>
          <p:nvPr/>
        </p:nvSpPr>
        <p:spPr>
          <a:xfrm>
            <a:off x="3154680" y="2148840"/>
            <a:ext cx="685800" cy="274320"/>
          </a:xfrm>
          <a:prstGeom prst="rect">
            <a:avLst/>
          </a:prstGeom>
          <a:noFill/>
          <a:ln/>
        </p:spPr>
        <p:txBody>
          <a:bodyPr wrap="square" lIns="0" tIns="0" rIns="0" bIns="0" rtlCol="0" anchor="ctr"/>
          <a:lstStyle/>
          <a:p>
            <a:pPr algn="r" indent="0" marL="0">
              <a:buNone/>
            </a:pPr>
            <a:r>
              <a:rPr lang="en-US" sz="900" b="1" dirty="0">
                <a:solidFill>
                  <a:srgbClr val="EF4444"/>
                </a:solidFill>
                <a:latin typeface="Calibri" pitchFamily="34" charset="0"/>
                <a:ea typeface="Calibri" pitchFamily="34" charset="-122"/>
                <a:cs typeface="Calibri" pitchFamily="34" charset="-120"/>
              </a:rPr>
              <a:t>+30s</a:t>
            </a:r>
            <a:endParaRPr lang="en-US" sz="900" dirty="0"/>
          </a:p>
        </p:txBody>
      </p:sp>
      <p:sp>
        <p:nvSpPr>
          <p:cNvPr id="18" name="Shape 16"/>
          <p:cNvSpPr/>
          <p:nvPr/>
        </p:nvSpPr>
        <p:spPr>
          <a:xfrm>
            <a:off x="438912" y="2468880"/>
            <a:ext cx="3383280" cy="274320"/>
          </a:xfrm>
          <a:prstGeom prst="rect">
            <a:avLst/>
          </a:prstGeom>
          <a:solidFill>
            <a:srgbClr val="FEF2F2"/>
          </a:solidFill>
          <a:ln w="12700">
            <a:solidFill>
              <a:srgbClr val="E2E8F0"/>
            </a:solidFill>
            <a:prstDash val="solid"/>
          </a:ln>
        </p:spPr>
      </p:sp>
      <p:sp>
        <p:nvSpPr>
          <p:cNvPr id="19" name="Text 17"/>
          <p:cNvSpPr/>
          <p:nvPr/>
        </p:nvSpPr>
        <p:spPr>
          <a:xfrm>
            <a:off x="502920" y="2468880"/>
            <a:ext cx="265176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Download Hibernate (~30 MB)</a:t>
            </a:r>
            <a:endParaRPr lang="en-US" sz="900" dirty="0"/>
          </a:p>
        </p:txBody>
      </p:sp>
      <p:sp>
        <p:nvSpPr>
          <p:cNvPr id="20" name="Text 18"/>
          <p:cNvSpPr/>
          <p:nvPr/>
        </p:nvSpPr>
        <p:spPr>
          <a:xfrm>
            <a:off x="3154680" y="2468880"/>
            <a:ext cx="685800" cy="274320"/>
          </a:xfrm>
          <a:prstGeom prst="rect">
            <a:avLst/>
          </a:prstGeom>
          <a:noFill/>
          <a:ln/>
        </p:spPr>
        <p:txBody>
          <a:bodyPr wrap="square" lIns="0" tIns="0" rIns="0" bIns="0" rtlCol="0" anchor="ctr"/>
          <a:lstStyle/>
          <a:p>
            <a:pPr algn="r" indent="0" marL="0">
              <a:buNone/>
            </a:pPr>
            <a:r>
              <a:rPr lang="en-US" sz="900" b="1" dirty="0">
                <a:solidFill>
                  <a:srgbClr val="EF4444"/>
                </a:solidFill>
                <a:latin typeface="Calibri" pitchFamily="34" charset="0"/>
                <a:ea typeface="Calibri" pitchFamily="34" charset="-122"/>
                <a:cs typeface="Calibri" pitchFamily="34" charset="-120"/>
              </a:rPr>
              <a:t>+60s</a:t>
            </a:r>
            <a:endParaRPr lang="en-US" sz="900" dirty="0"/>
          </a:p>
        </p:txBody>
      </p:sp>
      <p:sp>
        <p:nvSpPr>
          <p:cNvPr id="21" name="Shape 19"/>
          <p:cNvSpPr/>
          <p:nvPr/>
        </p:nvSpPr>
        <p:spPr>
          <a:xfrm>
            <a:off x="438912" y="2788920"/>
            <a:ext cx="3383280" cy="274320"/>
          </a:xfrm>
          <a:prstGeom prst="rect">
            <a:avLst/>
          </a:prstGeom>
          <a:solidFill>
            <a:srgbClr val="FEE2E2"/>
          </a:solidFill>
          <a:ln w="12700">
            <a:solidFill>
              <a:srgbClr val="E2E8F0"/>
            </a:solidFill>
            <a:prstDash val="solid"/>
          </a:ln>
        </p:spPr>
      </p:sp>
      <p:sp>
        <p:nvSpPr>
          <p:cNvPr id="22" name="Text 20"/>
          <p:cNvSpPr/>
          <p:nvPr/>
        </p:nvSpPr>
        <p:spPr>
          <a:xfrm>
            <a:off x="502920" y="2788920"/>
            <a:ext cx="265176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Download 47 more dependencies...</a:t>
            </a:r>
            <a:endParaRPr lang="en-US" sz="900" dirty="0"/>
          </a:p>
        </p:txBody>
      </p:sp>
      <p:sp>
        <p:nvSpPr>
          <p:cNvPr id="23" name="Text 21"/>
          <p:cNvSpPr/>
          <p:nvPr/>
        </p:nvSpPr>
        <p:spPr>
          <a:xfrm>
            <a:off x="3154680" y="2788920"/>
            <a:ext cx="685800" cy="274320"/>
          </a:xfrm>
          <a:prstGeom prst="rect">
            <a:avLst/>
          </a:prstGeom>
          <a:noFill/>
          <a:ln/>
        </p:spPr>
        <p:txBody>
          <a:bodyPr wrap="square" lIns="0" tIns="0" rIns="0" bIns="0" rtlCol="0" anchor="ctr"/>
          <a:lstStyle/>
          <a:p>
            <a:pPr algn="r" indent="0" marL="0">
              <a:buNone/>
            </a:pPr>
            <a:r>
              <a:rPr lang="en-US" sz="900" b="1" dirty="0">
                <a:solidFill>
                  <a:srgbClr val="EF4444"/>
                </a:solidFill>
                <a:latin typeface="Calibri" pitchFamily="34" charset="0"/>
                <a:ea typeface="Calibri" pitchFamily="34" charset="-122"/>
                <a:cs typeface="Calibri" pitchFamily="34" charset="-120"/>
              </a:rPr>
              <a:t>+90s</a:t>
            </a:r>
            <a:endParaRPr lang="en-US" sz="900" dirty="0"/>
          </a:p>
        </p:txBody>
      </p:sp>
      <p:sp>
        <p:nvSpPr>
          <p:cNvPr id="24" name="Shape 22"/>
          <p:cNvSpPr/>
          <p:nvPr/>
        </p:nvSpPr>
        <p:spPr>
          <a:xfrm>
            <a:off x="438912" y="3108960"/>
            <a:ext cx="3383280" cy="274320"/>
          </a:xfrm>
          <a:prstGeom prst="rect">
            <a:avLst/>
          </a:prstGeom>
          <a:solidFill>
            <a:srgbClr val="FEF2F2"/>
          </a:solidFill>
          <a:ln w="12700">
            <a:solidFill>
              <a:srgbClr val="E2E8F0"/>
            </a:solidFill>
            <a:prstDash val="solid"/>
          </a:ln>
        </p:spPr>
      </p:sp>
      <p:sp>
        <p:nvSpPr>
          <p:cNvPr id="25" name="Text 23"/>
          <p:cNvSpPr/>
          <p:nvPr/>
        </p:nvSpPr>
        <p:spPr>
          <a:xfrm>
            <a:off x="502920" y="3108960"/>
            <a:ext cx="265176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mvn compile (finally!)</a:t>
            </a:r>
            <a:endParaRPr lang="en-US" sz="900" dirty="0"/>
          </a:p>
        </p:txBody>
      </p:sp>
      <p:sp>
        <p:nvSpPr>
          <p:cNvPr id="26" name="Text 24"/>
          <p:cNvSpPr/>
          <p:nvPr/>
        </p:nvSpPr>
        <p:spPr>
          <a:xfrm>
            <a:off x="3154680" y="3108960"/>
            <a:ext cx="685800" cy="274320"/>
          </a:xfrm>
          <a:prstGeom prst="rect">
            <a:avLst/>
          </a:prstGeom>
          <a:noFill/>
          <a:ln/>
        </p:spPr>
        <p:txBody>
          <a:bodyPr wrap="square" lIns="0" tIns="0" rIns="0" bIns="0" rtlCol="0" anchor="ctr"/>
          <a:lstStyle/>
          <a:p>
            <a:pPr algn="r" indent="0" marL="0">
              <a:buNone/>
            </a:pPr>
            <a:r>
              <a:rPr lang="en-US" sz="900" b="1" dirty="0">
                <a:solidFill>
                  <a:srgbClr val="F59E0B"/>
                </a:solidFill>
                <a:latin typeface="Calibri" pitchFamily="34" charset="0"/>
                <a:ea typeface="Calibri" pitchFamily="34" charset="-122"/>
                <a:cs typeface="Calibri" pitchFamily="34" charset="-120"/>
              </a:rPr>
              <a:t>4min</a:t>
            </a:r>
            <a:endParaRPr lang="en-US" sz="900" dirty="0"/>
          </a:p>
        </p:txBody>
      </p:sp>
      <p:sp>
        <p:nvSpPr>
          <p:cNvPr id="27" name="Shape 25"/>
          <p:cNvSpPr/>
          <p:nvPr/>
        </p:nvSpPr>
        <p:spPr>
          <a:xfrm>
            <a:off x="438912" y="3429000"/>
            <a:ext cx="3383280" cy="274320"/>
          </a:xfrm>
          <a:prstGeom prst="rect">
            <a:avLst/>
          </a:prstGeom>
          <a:solidFill>
            <a:srgbClr val="FEE2E2"/>
          </a:solidFill>
          <a:ln w="12700">
            <a:solidFill>
              <a:srgbClr val="E2E8F0"/>
            </a:solidFill>
            <a:prstDash val="solid"/>
          </a:ln>
        </p:spPr>
      </p:sp>
      <p:sp>
        <p:nvSpPr>
          <p:cNvPr id="28" name="Text 26"/>
          <p:cNvSpPr/>
          <p:nvPr/>
        </p:nvSpPr>
        <p:spPr>
          <a:xfrm>
            <a:off x="502920" y="3429000"/>
            <a:ext cx="265176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mvn test</a:t>
            </a:r>
            <a:endParaRPr lang="en-US" sz="900" dirty="0"/>
          </a:p>
        </p:txBody>
      </p:sp>
      <p:sp>
        <p:nvSpPr>
          <p:cNvPr id="29" name="Text 27"/>
          <p:cNvSpPr/>
          <p:nvPr/>
        </p:nvSpPr>
        <p:spPr>
          <a:xfrm>
            <a:off x="3154680" y="3429000"/>
            <a:ext cx="685800" cy="274320"/>
          </a:xfrm>
          <a:prstGeom prst="rect">
            <a:avLst/>
          </a:prstGeom>
          <a:noFill/>
          <a:ln/>
        </p:spPr>
        <p:txBody>
          <a:bodyPr wrap="square" lIns="0" tIns="0" rIns="0" bIns="0" rtlCol="0" anchor="ctr"/>
          <a:lstStyle/>
          <a:p>
            <a:pPr algn="r" indent="0" marL="0">
              <a:buNone/>
            </a:pPr>
            <a:r>
              <a:rPr lang="en-US" sz="900" b="1" dirty="0">
                <a:solidFill>
                  <a:srgbClr val="F59E0B"/>
                </a:solidFill>
                <a:latin typeface="Calibri" pitchFamily="34" charset="0"/>
                <a:ea typeface="Calibri" pitchFamily="34" charset="-122"/>
                <a:cs typeface="Calibri" pitchFamily="34" charset="-120"/>
              </a:rPr>
              <a:t>6min</a:t>
            </a:r>
            <a:endParaRPr lang="en-US" sz="900" dirty="0"/>
          </a:p>
        </p:txBody>
      </p:sp>
      <p:sp>
        <p:nvSpPr>
          <p:cNvPr id="30" name="Shape 28"/>
          <p:cNvSpPr/>
          <p:nvPr/>
        </p:nvSpPr>
        <p:spPr>
          <a:xfrm>
            <a:off x="438912" y="3749040"/>
            <a:ext cx="3383280" cy="274320"/>
          </a:xfrm>
          <a:prstGeom prst="rect">
            <a:avLst/>
          </a:prstGeom>
          <a:solidFill>
            <a:srgbClr val="FEF2F2"/>
          </a:solidFill>
          <a:ln w="12700">
            <a:solidFill>
              <a:srgbClr val="E2E8F0"/>
            </a:solidFill>
            <a:prstDash val="solid"/>
          </a:ln>
        </p:spPr>
      </p:sp>
      <p:sp>
        <p:nvSpPr>
          <p:cNvPr id="31" name="Text 29"/>
          <p:cNvSpPr/>
          <p:nvPr/>
        </p:nvSpPr>
        <p:spPr>
          <a:xfrm>
            <a:off x="502920" y="3749040"/>
            <a:ext cx="265176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TOTAL: 6+ minutes per run</a:t>
            </a:r>
            <a:endParaRPr lang="en-US" sz="900" dirty="0"/>
          </a:p>
        </p:txBody>
      </p:sp>
      <p:sp>
        <p:nvSpPr>
          <p:cNvPr id="32" name="Text 30"/>
          <p:cNvSpPr/>
          <p:nvPr/>
        </p:nvSpPr>
        <p:spPr>
          <a:xfrm>
            <a:off x="3154680" y="3749040"/>
            <a:ext cx="685800" cy="274320"/>
          </a:xfrm>
          <a:prstGeom prst="rect">
            <a:avLst/>
          </a:prstGeom>
          <a:noFill/>
          <a:ln/>
        </p:spPr>
        <p:txBody>
          <a:bodyPr wrap="square" lIns="0" tIns="0" rIns="0" bIns="0" rtlCol="0" anchor="ctr"/>
          <a:lstStyle/>
          <a:p>
            <a:pPr algn="r" indent="0" marL="0">
              <a:buNone/>
            </a:pPr>
            <a:r>
              <a:rPr lang="en-US" sz="900" b="1" dirty="0">
                <a:solidFill>
                  <a:srgbClr val="EF4444"/>
                </a:solidFill>
                <a:latin typeface="Calibri" pitchFamily="34" charset="0"/>
                <a:ea typeface="Calibri" pitchFamily="34" charset="-122"/>
                <a:cs typeface="Calibri" pitchFamily="34" charset="-120"/>
              </a:rPr>
              <a:t>❌</a:t>
            </a:r>
            <a:endParaRPr lang="en-US" sz="900" dirty="0"/>
          </a:p>
        </p:txBody>
      </p:sp>
      <p:sp>
        <p:nvSpPr>
          <p:cNvPr id="33" name="Shape 31"/>
          <p:cNvSpPr/>
          <p:nvPr/>
        </p:nvSpPr>
        <p:spPr>
          <a:xfrm>
            <a:off x="4754880" y="1024128"/>
            <a:ext cx="4041648" cy="3063240"/>
          </a:xfrm>
          <a:prstGeom prst="rect">
            <a:avLst/>
          </a:prstGeom>
          <a:solidFill>
            <a:srgbClr val="F0FDF4"/>
          </a:solidFill>
          <a:ln w="7620">
            <a:solidFill>
              <a:srgbClr val="10B981"/>
            </a:solidFill>
            <a:prstDash val="solid"/>
          </a:ln>
        </p:spPr>
      </p:sp>
      <p:sp>
        <p:nvSpPr>
          <p:cNvPr id="34" name="Shape 32"/>
          <p:cNvSpPr/>
          <p:nvPr/>
        </p:nvSpPr>
        <p:spPr>
          <a:xfrm>
            <a:off x="4754880" y="1024128"/>
            <a:ext cx="4041648" cy="384048"/>
          </a:xfrm>
          <a:prstGeom prst="rect">
            <a:avLst/>
          </a:prstGeom>
          <a:solidFill>
            <a:srgbClr val="10B981"/>
          </a:solidFill>
          <a:ln w="12700">
            <a:solidFill>
              <a:srgbClr val="10B981"/>
            </a:solidFill>
            <a:prstDash val="solid"/>
          </a:ln>
        </p:spPr>
      </p:sp>
      <p:sp>
        <p:nvSpPr>
          <p:cNvPr id="35" name="Text 33"/>
          <p:cNvSpPr/>
          <p:nvPr/>
        </p:nvSpPr>
        <p:spPr>
          <a:xfrm>
            <a:off x="4754880" y="1024128"/>
            <a:ext cx="40416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With Caching</a:t>
            </a:r>
            <a:endParaRPr lang="en-US" sz="1200" dirty="0"/>
          </a:p>
        </p:txBody>
      </p:sp>
      <p:sp>
        <p:nvSpPr>
          <p:cNvPr id="36" name="Shape 34"/>
          <p:cNvSpPr/>
          <p:nvPr/>
        </p:nvSpPr>
        <p:spPr>
          <a:xfrm>
            <a:off x="4846320" y="1508760"/>
            <a:ext cx="3383280" cy="274320"/>
          </a:xfrm>
          <a:prstGeom prst="rect">
            <a:avLst/>
          </a:prstGeom>
          <a:solidFill>
            <a:srgbClr val="DCFCE7"/>
          </a:solidFill>
          <a:ln w="12700">
            <a:solidFill>
              <a:srgbClr val="E2E8F0"/>
            </a:solidFill>
            <a:prstDash val="solid"/>
          </a:ln>
        </p:spPr>
      </p:sp>
      <p:sp>
        <p:nvSpPr>
          <p:cNvPr id="37" name="Text 35"/>
          <p:cNvSpPr/>
          <p:nvPr/>
        </p:nvSpPr>
        <p:spPr>
          <a:xfrm>
            <a:off x="4910328" y="1508760"/>
            <a:ext cx="265176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Runner starts</a:t>
            </a:r>
            <a:endParaRPr lang="en-US" sz="900" dirty="0"/>
          </a:p>
        </p:txBody>
      </p:sp>
      <p:sp>
        <p:nvSpPr>
          <p:cNvPr id="38" name="Text 36"/>
          <p:cNvSpPr/>
          <p:nvPr/>
        </p:nvSpPr>
        <p:spPr>
          <a:xfrm>
            <a:off x="7562088" y="1508760"/>
            <a:ext cx="685800" cy="274320"/>
          </a:xfrm>
          <a:prstGeom prst="rect">
            <a:avLst/>
          </a:prstGeom>
          <a:noFill/>
          <a:ln/>
        </p:spPr>
        <p:txBody>
          <a:bodyPr wrap="square" lIns="0" tIns="0" rIns="0" bIns="0"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0s</a:t>
            </a:r>
            <a:endParaRPr lang="en-US" sz="900" dirty="0"/>
          </a:p>
        </p:txBody>
      </p:sp>
      <p:sp>
        <p:nvSpPr>
          <p:cNvPr id="39" name="Shape 37"/>
          <p:cNvSpPr/>
          <p:nvPr/>
        </p:nvSpPr>
        <p:spPr>
          <a:xfrm>
            <a:off x="4846320" y="1828800"/>
            <a:ext cx="3383280" cy="274320"/>
          </a:xfrm>
          <a:prstGeom prst="rect">
            <a:avLst/>
          </a:prstGeom>
          <a:solidFill>
            <a:srgbClr val="F0FDF4"/>
          </a:solidFill>
          <a:ln w="12700">
            <a:solidFill>
              <a:srgbClr val="E2E8F0"/>
            </a:solidFill>
            <a:prstDash val="solid"/>
          </a:ln>
        </p:spPr>
      </p:sp>
      <p:sp>
        <p:nvSpPr>
          <p:cNvPr id="40" name="Text 38"/>
          <p:cNvSpPr/>
          <p:nvPr/>
        </p:nvSpPr>
        <p:spPr>
          <a:xfrm>
            <a:off x="4910328" y="1828800"/>
            <a:ext cx="265176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Cache HIT → restore ~/.m2 (fast!)</a:t>
            </a:r>
            <a:endParaRPr lang="en-US" sz="900" dirty="0"/>
          </a:p>
        </p:txBody>
      </p:sp>
      <p:sp>
        <p:nvSpPr>
          <p:cNvPr id="41" name="Text 39"/>
          <p:cNvSpPr/>
          <p:nvPr/>
        </p:nvSpPr>
        <p:spPr>
          <a:xfrm>
            <a:off x="7562088" y="1828800"/>
            <a:ext cx="685800" cy="274320"/>
          </a:xfrm>
          <a:prstGeom prst="rect">
            <a:avLst/>
          </a:prstGeom>
          <a:noFill/>
          <a:ln/>
        </p:spPr>
        <p:txBody>
          <a:bodyPr wrap="square" lIns="0" tIns="0" rIns="0" bIns="0" rtlCol="0" anchor="ctr"/>
          <a:lstStyle/>
          <a:p>
            <a:pPr algn="r" indent="0" marL="0">
              <a:buNone/>
            </a:pPr>
            <a:r>
              <a:rPr lang="en-US" sz="900" b="1" dirty="0">
                <a:solidFill>
                  <a:srgbClr val="10B981"/>
                </a:solidFill>
                <a:latin typeface="Calibri" pitchFamily="34" charset="0"/>
                <a:ea typeface="Calibri" pitchFamily="34" charset="-122"/>
                <a:cs typeface="Calibri" pitchFamily="34" charset="-120"/>
              </a:rPr>
              <a:t>8s</a:t>
            </a:r>
            <a:endParaRPr lang="en-US" sz="900" dirty="0"/>
          </a:p>
        </p:txBody>
      </p:sp>
      <p:sp>
        <p:nvSpPr>
          <p:cNvPr id="42" name="Shape 40"/>
          <p:cNvSpPr/>
          <p:nvPr/>
        </p:nvSpPr>
        <p:spPr>
          <a:xfrm>
            <a:off x="4846320" y="2148840"/>
            <a:ext cx="3383280" cy="274320"/>
          </a:xfrm>
          <a:prstGeom prst="rect">
            <a:avLst/>
          </a:prstGeom>
          <a:solidFill>
            <a:srgbClr val="DCFCE7"/>
          </a:solidFill>
          <a:ln w="12700">
            <a:solidFill>
              <a:srgbClr val="E2E8F0"/>
            </a:solidFill>
            <a:prstDash val="solid"/>
          </a:ln>
        </p:spPr>
      </p:sp>
      <p:sp>
        <p:nvSpPr>
          <p:cNvPr id="43" name="Text 41"/>
          <p:cNvSpPr/>
          <p:nvPr/>
        </p:nvSpPr>
        <p:spPr>
          <a:xfrm>
            <a:off x="4910328" y="2148840"/>
            <a:ext cx="265176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175 MB restored from GitHub cache</a:t>
            </a:r>
            <a:endParaRPr lang="en-US" sz="900" dirty="0"/>
          </a:p>
        </p:txBody>
      </p:sp>
      <p:sp>
        <p:nvSpPr>
          <p:cNvPr id="44" name="Text 42"/>
          <p:cNvSpPr/>
          <p:nvPr/>
        </p:nvSpPr>
        <p:spPr>
          <a:xfrm>
            <a:off x="7562088" y="2148840"/>
            <a:ext cx="685800" cy="274320"/>
          </a:xfrm>
          <a:prstGeom prst="rect">
            <a:avLst/>
          </a:prstGeom>
          <a:noFill/>
          <a:ln/>
        </p:spPr>
        <p:txBody>
          <a:bodyPr wrap="square" lIns="0" tIns="0" rIns="0" bIns="0" rtlCol="0" anchor="ctr"/>
          <a:lstStyle/>
          <a:p>
            <a:pPr algn="r" indent="0" marL="0">
              <a:buNone/>
            </a:pPr>
            <a:r>
              <a:rPr lang="en-US" sz="900" b="1" dirty="0">
                <a:solidFill>
                  <a:srgbClr val="10B981"/>
                </a:solidFill>
                <a:latin typeface="Calibri" pitchFamily="34" charset="0"/>
                <a:ea typeface="Calibri" pitchFamily="34" charset="-122"/>
                <a:cs typeface="Calibri" pitchFamily="34" charset="-120"/>
              </a:rPr>
              <a:t>15s</a:t>
            </a:r>
            <a:endParaRPr lang="en-US" sz="900" dirty="0"/>
          </a:p>
        </p:txBody>
      </p:sp>
      <p:sp>
        <p:nvSpPr>
          <p:cNvPr id="45" name="Shape 43"/>
          <p:cNvSpPr/>
          <p:nvPr/>
        </p:nvSpPr>
        <p:spPr>
          <a:xfrm>
            <a:off x="4846320" y="2468880"/>
            <a:ext cx="3383280" cy="274320"/>
          </a:xfrm>
          <a:prstGeom prst="rect">
            <a:avLst/>
          </a:prstGeom>
          <a:solidFill>
            <a:srgbClr val="F0FDF4"/>
          </a:solidFill>
          <a:ln w="12700">
            <a:solidFill>
              <a:srgbClr val="E2E8F0"/>
            </a:solidFill>
            <a:prstDash val="solid"/>
          </a:ln>
        </p:spPr>
      </p:sp>
      <p:sp>
        <p:nvSpPr>
          <p:cNvPr id="46" name="Text 44"/>
          <p:cNvSpPr/>
          <p:nvPr/>
        </p:nvSpPr>
        <p:spPr>
          <a:xfrm>
            <a:off x="4910328" y="2468880"/>
            <a:ext cx="265176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(No downloads needed!)</a:t>
            </a:r>
            <a:endParaRPr lang="en-US" sz="900" dirty="0"/>
          </a:p>
        </p:txBody>
      </p:sp>
      <p:sp>
        <p:nvSpPr>
          <p:cNvPr id="47" name="Text 45"/>
          <p:cNvSpPr/>
          <p:nvPr/>
        </p:nvSpPr>
        <p:spPr>
          <a:xfrm>
            <a:off x="7562088" y="2468880"/>
            <a:ext cx="685800" cy="274320"/>
          </a:xfrm>
          <a:prstGeom prst="rect">
            <a:avLst/>
          </a:prstGeom>
          <a:noFill/>
          <a:ln/>
        </p:spPr>
        <p:txBody>
          <a:bodyPr wrap="square" lIns="0" tIns="0" rIns="0" bIns="0" rtlCol="0" anchor="ctr"/>
          <a:lstStyle/>
          <a:p>
            <a:pPr algn="r" indent="0" marL="0">
              <a:buNone/>
            </a:pPr>
            <a:r>
              <a:rPr lang="en-US" sz="900" b="1" dirty="0">
                <a:solidFill>
                  <a:srgbClr val="10B981"/>
                </a:solidFill>
                <a:latin typeface="Calibri" pitchFamily="34" charset="0"/>
                <a:ea typeface="Calibri" pitchFamily="34" charset="-122"/>
                <a:cs typeface="Calibri" pitchFamily="34" charset="-120"/>
              </a:rPr>
              <a:t>0s</a:t>
            </a:r>
            <a:endParaRPr lang="en-US" sz="900" dirty="0"/>
          </a:p>
        </p:txBody>
      </p:sp>
      <p:sp>
        <p:nvSpPr>
          <p:cNvPr id="48" name="Shape 46"/>
          <p:cNvSpPr/>
          <p:nvPr/>
        </p:nvSpPr>
        <p:spPr>
          <a:xfrm>
            <a:off x="4846320" y="2788920"/>
            <a:ext cx="3383280" cy="274320"/>
          </a:xfrm>
          <a:prstGeom prst="rect">
            <a:avLst/>
          </a:prstGeom>
          <a:solidFill>
            <a:srgbClr val="DCFCE7"/>
          </a:solidFill>
          <a:ln w="12700">
            <a:solidFill>
              <a:srgbClr val="E2E8F0"/>
            </a:solidFill>
            <a:prstDash val="solid"/>
          </a:ln>
        </p:spPr>
      </p:sp>
      <p:sp>
        <p:nvSpPr>
          <p:cNvPr id="49" name="Text 47"/>
          <p:cNvSpPr/>
          <p:nvPr/>
        </p:nvSpPr>
        <p:spPr>
          <a:xfrm>
            <a:off x="4910328" y="2788920"/>
            <a:ext cx="265176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(No downloads needed!)</a:t>
            </a:r>
            <a:endParaRPr lang="en-US" sz="900" dirty="0"/>
          </a:p>
        </p:txBody>
      </p:sp>
      <p:sp>
        <p:nvSpPr>
          <p:cNvPr id="50" name="Text 48"/>
          <p:cNvSpPr/>
          <p:nvPr/>
        </p:nvSpPr>
        <p:spPr>
          <a:xfrm>
            <a:off x="7562088" y="2788920"/>
            <a:ext cx="685800" cy="274320"/>
          </a:xfrm>
          <a:prstGeom prst="rect">
            <a:avLst/>
          </a:prstGeom>
          <a:noFill/>
          <a:ln/>
        </p:spPr>
        <p:txBody>
          <a:bodyPr wrap="square" lIns="0" tIns="0" rIns="0" bIns="0" rtlCol="0" anchor="ctr"/>
          <a:lstStyle/>
          <a:p>
            <a:pPr algn="r" indent="0" marL="0">
              <a:buNone/>
            </a:pPr>
            <a:r>
              <a:rPr lang="en-US" sz="900" b="1" dirty="0">
                <a:solidFill>
                  <a:srgbClr val="10B981"/>
                </a:solidFill>
                <a:latin typeface="Calibri" pitchFamily="34" charset="0"/>
                <a:ea typeface="Calibri" pitchFamily="34" charset="-122"/>
                <a:cs typeface="Calibri" pitchFamily="34" charset="-120"/>
              </a:rPr>
              <a:t>0s</a:t>
            </a:r>
            <a:endParaRPr lang="en-US" sz="900" dirty="0"/>
          </a:p>
        </p:txBody>
      </p:sp>
      <p:sp>
        <p:nvSpPr>
          <p:cNvPr id="51" name="Shape 49"/>
          <p:cNvSpPr/>
          <p:nvPr/>
        </p:nvSpPr>
        <p:spPr>
          <a:xfrm>
            <a:off x="4846320" y="3108960"/>
            <a:ext cx="3383280" cy="274320"/>
          </a:xfrm>
          <a:prstGeom prst="rect">
            <a:avLst/>
          </a:prstGeom>
          <a:solidFill>
            <a:srgbClr val="F0FDF4"/>
          </a:solidFill>
          <a:ln w="12700">
            <a:solidFill>
              <a:srgbClr val="E2E8F0"/>
            </a:solidFill>
            <a:prstDash val="solid"/>
          </a:ln>
        </p:spPr>
      </p:sp>
      <p:sp>
        <p:nvSpPr>
          <p:cNvPr id="52" name="Text 50"/>
          <p:cNvSpPr/>
          <p:nvPr/>
        </p:nvSpPr>
        <p:spPr>
          <a:xfrm>
            <a:off x="4910328" y="3108960"/>
            <a:ext cx="265176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mvn compile</a:t>
            </a:r>
            <a:endParaRPr lang="en-US" sz="900" dirty="0"/>
          </a:p>
        </p:txBody>
      </p:sp>
      <p:sp>
        <p:nvSpPr>
          <p:cNvPr id="53" name="Text 51"/>
          <p:cNvSpPr/>
          <p:nvPr/>
        </p:nvSpPr>
        <p:spPr>
          <a:xfrm>
            <a:off x="7562088" y="3108960"/>
            <a:ext cx="685800" cy="274320"/>
          </a:xfrm>
          <a:prstGeom prst="rect">
            <a:avLst/>
          </a:prstGeom>
          <a:noFill/>
          <a:ln/>
        </p:spPr>
        <p:txBody>
          <a:bodyPr wrap="square" lIns="0" tIns="0" rIns="0" bIns="0" rtlCol="0" anchor="ctr"/>
          <a:lstStyle/>
          <a:p>
            <a:pPr algn="r" indent="0" marL="0">
              <a:buNone/>
            </a:pPr>
            <a:r>
              <a:rPr lang="en-US" sz="900" b="1" dirty="0">
                <a:solidFill>
                  <a:srgbClr val="F59E0B"/>
                </a:solidFill>
                <a:latin typeface="Calibri" pitchFamily="34" charset="0"/>
                <a:ea typeface="Calibri" pitchFamily="34" charset="-122"/>
                <a:cs typeface="Calibri" pitchFamily="34" charset="-120"/>
              </a:rPr>
              <a:t>1m30s</a:t>
            </a:r>
            <a:endParaRPr lang="en-US" sz="900" dirty="0"/>
          </a:p>
        </p:txBody>
      </p:sp>
      <p:sp>
        <p:nvSpPr>
          <p:cNvPr id="54" name="Shape 52"/>
          <p:cNvSpPr/>
          <p:nvPr/>
        </p:nvSpPr>
        <p:spPr>
          <a:xfrm>
            <a:off x="4846320" y="3429000"/>
            <a:ext cx="3383280" cy="274320"/>
          </a:xfrm>
          <a:prstGeom prst="rect">
            <a:avLst/>
          </a:prstGeom>
          <a:solidFill>
            <a:srgbClr val="DCFCE7"/>
          </a:solidFill>
          <a:ln w="12700">
            <a:solidFill>
              <a:srgbClr val="E2E8F0"/>
            </a:solidFill>
            <a:prstDash val="solid"/>
          </a:ln>
        </p:spPr>
      </p:sp>
      <p:sp>
        <p:nvSpPr>
          <p:cNvPr id="55" name="Text 53"/>
          <p:cNvSpPr/>
          <p:nvPr/>
        </p:nvSpPr>
        <p:spPr>
          <a:xfrm>
            <a:off x="4910328" y="3429000"/>
            <a:ext cx="265176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mvn test</a:t>
            </a:r>
            <a:endParaRPr lang="en-US" sz="900" dirty="0"/>
          </a:p>
        </p:txBody>
      </p:sp>
      <p:sp>
        <p:nvSpPr>
          <p:cNvPr id="56" name="Text 54"/>
          <p:cNvSpPr/>
          <p:nvPr/>
        </p:nvSpPr>
        <p:spPr>
          <a:xfrm>
            <a:off x="7562088" y="3429000"/>
            <a:ext cx="685800" cy="274320"/>
          </a:xfrm>
          <a:prstGeom prst="rect">
            <a:avLst/>
          </a:prstGeom>
          <a:noFill/>
          <a:ln/>
        </p:spPr>
        <p:txBody>
          <a:bodyPr wrap="square" lIns="0" tIns="0" rIns="0" bIns="0" rtlCol="0" anchor="ctr"/>
          <a:lstStyle/>
          <a:p>
            <a:pPr algn="r" indent="0" marL="0">
              <a:buNone/>
            </a:pPr>
            <a:r>
              <a:rPr lang="en-US" sz="900" b="1" dirty="0">
                <a:solidFill>
                  <a:srgbClr val="F59E0B"/>
                </a:solidFill>
                <a:latin typeface="Calibri" pitchFamily="34" charset="0"/>
                <a:ea typeface="Calibri" pitchFamily="34" charset="-122"/>
                <a:cs typeface="Calibri" pitchFamily="34" charset="-120"/>
              </a:rPr>
              <a:t>3min</a:t>
            </a:r>
            <a:endParaRPr lang="en-US" sz="900" dirty="0"/>
          </a:p>
        </p:txBody>
      </p:sp>
      <p:sp>
        <p:nvSpPr>
          <p:cNvPr id="57" name="Shape 55"/>
          <p:cNvSpPr/>
          <p:nvPr/>
        </p:nvSpPr>
        <p:spPr>
          <a:xfrm>
            <a:off x="4846320" y="3749040"/>
            <a:ext cx="3383280" cy="274320"/>
          </a:xfrm>
          <a:prstGeom prst="rect">
            <a:avLst/>
          </a:prstGeom>
          <a:solidFill>
            <a:srgbClr val="F0FDF4"/>
          </a:solidFill>
          <a:ln w="12700">
            <a:solidFill>
              <a:srgbClr val="E2E8F0"/>
            </a:solidFill>
            <a:prstDash val="solid"/>
          </a:ln>
        </p:spPr>
      </p:sp>
      <p:sp>
        <p:nvSpPr>
          <p:cNvPr id="58" name="Text 56"/>
          <p:cNvSpPr/>
          <p:nvPr/>
        </p:nvSpPr>
        <p:spPr>
          <a:xfrm>
            <a:off x="4910328" y="3749040"/>
            <a:ext cx="265176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TOTAL: ~2 minutes per run</a:t>
            </a:r>
            <a:endParaRPr lang="en-US" sz="900" dirty="0"/>
          </a:p>
        </p:txBody>
      </p:sp>
      <p:sp>
        <p:nvSpPr>
          <p:cNvPr id="59" name="Text 57"/>
          <p:cNvSpPr/>
          <p:nvPr/>
        </p:nvSpPr>
        <p:spPr>
          <a:xfrm>
            <a:off x="7562088" y="3749040"/>
            <a:ext cx="685800" cy="274320"/>
          </a:xfrm>
          <a:prstGeom prst="rect">
            <a:avLst/>
          </a:prstGeom>
          <a:noFill/>
          <a:ln/>
        </p:spPr>
        <p:txBody>
          <a:bodyPr wrap="square" lIns="0" tIns="0" rIns="0" bIns="0" rtlCol="0" anchor="ctr"/>
          <a:lstStyle/>
          <a:p>
            <a:pPr algn="r" indent="0" marL="0">
              <a:buNone/>
            </a:pPr>
            <a:r>
              <a:rPr lang="en-US" sz="900" b="1" dirty="0">
                <a:solidFill>
                  <a:srgbClr val="10B981"/>
                </a:solidFill>
                <a:latin typeface="Calibri" pitchFamily="34" charset="0"/>
                <a:ea typeface="Calibri" pitchFamily="34" charset="-122"/>
                <a:cs typeface="Calibri" pitchFamily="34" charset="-120"/>
              </a:rPr>
              <a:t>✅</a:t>
            </a:r>
            <a:endParaRPr lang="en-US" sz="900" dirty="0"/>
          </a:p>
        </p:txBody>
      </p:sp>
      <p:sp>
        <p:nvSpPr>
          <p:cNvPr id="60" name="Shape 58"/>
          <p:cNvSpPr/>
          <p:nvPr/>
        </p:nvSpPr>
        <p:spPr>
          <a:xfrm>
            <a:off x="347472" y="4224528"/>
            <a:ext cx="8449056" cy="804672"/>
          </a:xfrm>
          <a:prstGeom prst="rect">
            <a:avLst/>
          </a:prstGeom>
          <a:solidFill>
            <a:srgbClr val="0D1B2A"/>
          </a:solidFill>
          <a:ln w="12700">
            <a:solidFill>
              <a:srgbClr val="334155"/>
            </a:solidFill>
            <a:prstDash val="solid"/>
          </a:ln>
        </p:spPr>
      </p:sp>
      <p:sp>
        <p:nvSpPr>
          <p:cNvPr id="61" name="Text 59"/>
          <p:cNvSpPr/>
          <p:nvPr/>
        </p:nvSpPr>
        <p:spPr>
          <a:xfrm>
            <a:off x="640080" y="4251960"/>
            <a:ext cx="1828800" cy="45720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68%</a:t>
            </a:r>
            <a:endParaRPr lang="en-US" sz="2800" dirty="0"/>
          </a:p>
        </p:txBody>
      </p:sp>
      <p:sp>
        <p:nvSpPr>
          <p:cNvPr id="62" name="Text 60"/>
          <p:cNvSpPr/>
          <p:nvPr/>
        </p:nvSpPr>
        <p:spPr>
          <a:xfrm>
            <a:off x="640080" y="4663440"/>
            <a:ext cx="1828800" cy="292608"/>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Time Saved</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Per Run</a:t>
            </a:r>
            <a:endParaRPr lang="en-US" sz="850" dirty="0"/>
          </a:p>
        </p:txBody>
      </p:sp>
      <p:sp>
        <p:nvSpPr>
          <p:cNvPr id="63" name="Text 61"/>
          <p:cNvSpPr/>
          <p:nvPr/>
        </p:nvSpPr>
        <p:spPr>
          <a:xfrm>
            <a:off x="3474720" y="4251960"/>
            <a:ext cx="1828800" cy="457200"/>
          </a:xfrm>
          <a:prstGeom prst="rect">
            <a:avLst/>
          </a:prstGeom>
          <a:noFill/>
          <a:ln/>
        </p:spPr>
        <p:txBody>
          <a:bodyPr wrap="square" lIns="0" tIns="0" rIns="0" bIns="0" rtlCol="0" anchor="ctr"/>
          <a:lstStyle/>
          <a:p>
            <a:pPr algn="ctr" indent="0" marL="0">
              <a:buNone/>
            </a:pPr>
            <a:r>
              <a:rPr lang="en-US" sz="2800" b="1" dirty="0">
                <a:solidFill>
                  <a:srgbClr val="06B6D4"/>
                </a:solidFill>
                <a:latin typeface="Calibri" pitchFamily="34" charset="0"/>
                <a:ea typeface="Calibri" pitchFamily="34" charset="-122"/>
                <a:cs typeface="Calibri" pitchFamily="34" charset="-120"/>
              </a:rPr>
              <a:t>375</a:t>
            </a:r>
            <a:endParaRPr lang="en-US" sz="2800" dirty="0"/>
          </a:p>
        </p:txBody>
      </p:sp>
      <p:sp>
        <p:nvSpPr>
          <p:cNvPr id="64" name="Text 62"/>
          <p:cNvSpPr/>
          <p:nvPr/>
        </p:nvSpPr>
        <p:spPr>
          <a:xfrm>
            <a:off x="3474720" y="4663440"/>
            <a:ext cx="1828800" cy="292608"/>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Minutes Saved</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Per Day (20 devs)</a:t>
            </a:r>
            <a:endParaRPr lang="en-US" sz="850" dirty="0"/>
          </a:p>
        </p:txBody>
      </p:sp>
      <p:sp>
        <p:nvSpPr>
          <p:cNvPr id="65" name="Text 63"/>
          <p:cNvSpPr/>
          <p:nvPr/>
        </p:nvSpPr>
        <p:spPr>
          <a:xfrm>
            <a:off x="6309360" y="4251960"/>
            <a:ext cx="1828800" cy="45720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a:t>
            </a:r>
            <a:endParaRPr lang="en-US" sz="2800" dirty="0"/>
          </a:p>
        </p:txBody>
      </p:sp>
      <p:sp>
        <p:nvSpPr>
          <p:cNvPr id="66" name="Text 64"/>
          <p:cNvSpPr/>
          <p:nvPr/>
        </p:nvSpPr>
        <p:spPr>
          <a:xfrm>
            <a:off x="6309360" y="4663440"/>
            <a:ext cx="1828800" cy="292608"/>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Runner Cost</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Reduced</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0B981"/>
          </a:solidFill>
          <a:ln w="12700">
            <a:solidFill>
              <a:srgbClr val="10B981"/>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Dependency Caching — Architecture &amp; Cache Key Strategy</a:t>
            </a:r>
            <a:endParaRPr lang="en-US" sz="2500" dirty="0"/>
          </a:p>
        </p:txBody>
      </p:sp>
      <p:sp>
        <p:nvSpPr>
          <p:cNvPr id="4" name="Shape 2"/>
          <p:cNvSpPr/>
          <p:nvPr/>
        </p:nvSpPr>
        <p:spPr>
          <a:xfrm>
            <a:off x="384048" y="731520"/>
            <a:ext cx="2267712" cy="219456"/>
          </a:xfrm>
          <a:prstGeom prst="rect">
            <a:avLst/>
          </a:prstGeom>
          <a:solidFill>
            <a:srgbClr val="10B981"/>
          </a:solidFill>
          <a:ln w="12700">
            <a:solidFill>
              <a:srgbClr val="10B981"/>
            </a:solidFill>
            <a:prstDash val="solid"/>
          </a:ln>
        </p:spPr>
      </p:sp>
      <p:sp>
        <p:nvSpPr>
          <p:cNvPr id="5" name="Text 3"/>
          <p:cNvSpPr/>
          <p:nvPr/>
        </p:nvSpPr>
        <p:spPr>
          <a:xfrm>
            <a:off x="384048" y="731520"/>
            <a:ext cx="2267712"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ARCHITECTURE DIAGRAM</a:t>
            </a:r>
            <a:endParaRPr lang="en-US" sz="850" dirty="0"/>
          </a:p>
        </p:txBody>
      </p:sp>
      <p:sp>
        <p:nvSpPr>
          <p:cNvPr id="6" name="Shape 4"/>
          <p:cNvSpPr/>
          <p:nvPr/>
        </p:nvSpPr>
        <p:spPr>
          <a:xfrm>
            <a:off x="347472" y="1005840"/>
            <a:ext cx="8449056" cy="548640"/>
          </a:xfrm>
          <a:prstGeom prst="rect">
            <a:avLst/>
          </a:prstGeom>
          <a:solidFill>
            <a:srgbClr val="F0FDF4"/>
          </a:solidFill>
          <a:ln w="6350">
            <a:solidFill>
              <a:srgbClr val="10B981"/>
            </a:solidFill>
            <a:prstDash val="solid"/>
          </a:ln>
        </p:spPr>
      </p:sp>
      <p:sp>
        <p:nvSpPr>
          <p:cNvPr id="7" name="Text 5"/>
          <p:cNvSpPr/>
          <p:nvPr/>
        </p:nvSpPr>
        <p:spPr>
          <a:xfrm>
            <a:off x="347472" y="1005840"/>
            <a:ext cx="8449056" cy="347472"/>
          </a:xfrm>
          <a:prstGeom prst="rect">
            <a:avLst/>
          </a:prstGeom>
          <a:noFill/>
          <a:ln/>
        </p:spPr>
        <p:txBody>
          <a:bodyPr wrap="square" lIns="0" tIns="0" rIns="0" bIns="0" rtlCol="0" anchor="ctr"/>
          <a:lstStyle/>
          <a:p>
            <a:pPr algn="ctr" indent="0" marL="0">
              <a:buNone/>
            </a:pPr>
            <a:r>
              <a:rPr lang="en-US" sz="1300" b="1" dirty="0">
                <a:solidFill>
                  <a:srgbClr val="10B981"/>
                </a:solidFill>
                <a:latin typeface="Consolas" pitchFamily="34" charset="0"/>
                <a:ea typeface="Consolas" pitchFamily="34" charset="-122"/>
                <a:cs typeface="Consolas" pitchFamily="34" charset="-120"/>
              </a:rPr>
              <a:t>Cache Key = runner.os  +  'maven'  +  hashFiles('**/pom.xml')</a:t>
            </a:r>
            <a:endParaRPr lang="en-US" sz="1300" dirty="0"/>
          </a:p>
        </p:txBody>
      </p:sp>
      <p:sp>
        <p:nvSpPr>
          <p:cNvPr id="8" name="Text 6"/>
          <p:cNvSpPr/>
          <p:nvPr/>
        </p:nvSpPr>
        <p:spPr>
          <a:xfrm>
            <a:off x="347472" y="1316736"/>
            <a:ext cx="8449056" cy="21945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  Result: "Linux-maven-a3f4b2c1d8e9f02b..."   Same pom.xml = same hash = CACHE HIT</a:t>
            </a:r>
            <a:endParaRPr lang="en-US" sz="950" dirty="0"/>
          </a:p>
        </p:txBody>
      </p:sp>
      <p:sp>
        <p:nvSpPr>
          <p:cNvPr id="9" name="Shape 7"/>
          <p:cNvSpPr/>
          <p:nvPr/>
        </p:nvSpPr>
        <p:spPr>
          <a:xfrm>
            <a:off x="347472" y="1719072"/>
            <a:ext cx="4005072" cy="2633472"/>
          </a:xfrm>
          <a:prstGeom prst="rect">
            <a:avLst/>
          </a:prstGeom>
          <a:solidFill>
            <a:srgbClr val="F8FAFC"/>
          </a:solidFill>
          <a:ln w="6350">
            <a:solidFill>
              <a:srgbClr val="E2E8F0"/>
            </a:solidFill>
            <a:prstDash val="solid"/>
          </a:ln>
        </p:spPr>
      </p:sp>
      <p:sp>
        <p:nvSpPr>
          <p:cNvPr id="10" name="Shape 8"/>
          <p:cNvSpPr/>
          <p:nvPr/>
        </p:nvSpPr>
        <p:spPr>
          <a:xfrm>
            <a:off x="347472" y="1719072"/>
            <a:ext cx="4005072" cy="347472"/>
          </a:xfrm>
          <a:prstGeom prst="rect">
            <a:avLst/>
          </a:prstGeom>
          <a:solidFill>
            <a:srgbClr val="F59E0B"/>
          </a:solidFill>
          <a:ln w="12700">
            <a:solidFill>
              <a:srgbClr val="F59E0B"/>
            </a:solidFill>
            <a:prstDash val="solid"/>
          </a:ln>
        </p:spPr>
      </p:sp>
      <p:sp>
        <p:nvSpPr>
          <p:cNvPr id="11" name="Text 9"/>
          <p:cNvSpPr/>
          <p:nvPr/>
        </p:nvSpPr>
        <p:spPr>
          <a:xfrm>
            <a:off x="347472" y="1719072"/>
            <a:ext cx="40050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RUN 1 — Cache MISS (First Time)</a:t>
            </a:r>
            <a:endParaRPr lang="en-US" sz="1000" dirty="0"/>
          </a:p>
        </p:txBody>
      </p:sp>
      <p:sp>
        <p:nvSpPr>
          <p:cNvPr id="12" name="Shape 10"/>
          <p:cNvSpPr/>
          <p:nvPr/>
        </p:nvSpPr>
        <p:spPr>
          <a:xfrm>
            <a:off x="438912" y="2157984"/>
            <a:ext cx="1737360" cy="347472"/>
          </a:xfrm>
          <a:prstGeom prst="rect">
            <a:avLst/>
          </a:prstGeom>
          <a:solidFill>
            <a:srgbClr val="F59E0B"/>
          </a:solidFill>
          <a:ln w="12700">
            <a:solidFill>
              <a:srgbClr val="F59E0B"/>
            </a:solidFill>
            <a:prstDash val="solid"/>
          </a:ln>
        </p:spPr>
      </p:sp>
      <p:sp>
        <p:nvSpPr>
          <p:cNvPr id="13" name="Text 11"/>
          <p:cNvSpPr/>
          <p:nvPr/>
        </p:nvSpPr>
        <p:spPr>
          <a:xfrm>
            <a:off x="438912" y="2157984"/>
            <a:ext cx="173736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Check cache store</a:t>
            </a:r>
            <a:endParaRPr lang="en-US" sz="850" dirty="0"/>
          </a:p>
        </p:txBody>
      </p:sp>
      <p:sp>
        <p:nvSpPr>
          <p:cNvPr id="14" name="Shape 12"/>
          <p:cNvSpPr/>
          <p:nvPr/>
        </p:nvSpPr>
        <p:spPr>
          <a:xfrm>
            <a:off x="2194560" y="2313432"/>
            <a:ext cx="292608" cy="36576"/>
          </a:xfrm>
          <a:prstGeom prst="rect">
            <a:avLst/>
          </a:prstGeom>
          <a:solidFill>
            <a:srgbClr val="F59E0B"/>
          </a:solidFill>
          <a:ln w="12700">
            <a:solidFill>
              <a:srgbClr val="F59E0B"/>
            </a:solidFill>
            <a:prstDash val="solid"/>
          </a:ln>
        </p:spPr>
      </p:sp>
      <p:sp>
        <p:nvSpPr>
          <p:cNvPr id="15" name="Shape 13"/>
          <p:cNvSpPr/>
          <p:nvPr/>
        </p:nvSpPr>
        <p:spPr>
          <a:xfrm>
            <a:off x="2478024" y="2330806"/>
            <a:ext cx="914" cy="914"/>
          </a:xfrm>
          <a:prstGeom prst="rect">
            <a:avLst/>
          </a:prstGeom>
          <a:solidFill>
            <a:srgbClr val="F59E0B"/>
          </a:solidFill>
          <a:ln w="12700">
            <a:solidFill>
              <a:srgbClr val="F59E0B"/>
            </a:solidFill>
            <a:prstDash val="solid"/>
          </a:ln>
        </p:spPr>
      </p:sp>
      <p:sp>
        <p:nvSpPr>
          <p:cNvPr id="16" name="Text 14"/>
          <p:cNvSpPr/>
          <p:nvPr/>
        </p:nvSpPr>
        <p:spPr>
          <a:xfrm>
            <a:off x="2505456" y="2212848"/>
            <a:ext cx="1737360"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MISS — not found</a:t>
            </a:r>
            <a:endParaRPr lang="en-US" sz="850" dirty="0"/>
          </a:p>
        </p:txBody>
      </p:sp>
      <p:sp>
        <p:nvSpPr>
          <p:cNvPr id="17" name="Shape 15"/>
          <p:cNvSpPr/>
          <p:nvPr/>
        </p:nvSpPr>
        <p:spPr>
          <a:xfrm>
            <a:off x="438912" y="2596896"/>
            <a:ext cx="1737360" cy="347472"/>
          </a:xfrm>
          <a:prstGeom prst="rect">
            <a:avLst/>
          </a:prstGeom>
          <a:solidFill>
            <a:srgbClr val="EF4444"/>
          </a:solidFill>
          <a:ln w="12700">
            <a:solidFill>
              <a:srgbClr val="EF4444"/>
            </a:solidFill>
            <a:prstDash val="solid"/>
          </a:ln>
        </p:spPr>
      </p:sp>
      <p:sp>
        <p:nvSpPr>
          <p:cNvPr id="18" name="Text 16"/>
          <p:cNvSpPr/>
          <p:nvPr/>
        </p:nvSpPr>
        <p:spPr>
          <a:xfrm>
            <a:off x="438912" y="2596896"/>
            <a:ext cx="173736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Download from Maven</a:t>
            </a:r>
            <a:endParaRPr lang="en-US" sz="850" dirty="0"/>
          </a:p>
        </p:txBody>
      </p:sp>
      <p:sp>
        <p:nvSpPr>
          <p:cNvPr id="19" name="Shape 17"/>
          <p:cNvSpPr/>
          <p:nvPr/>
        </p:nvSpPr>
        <p:spPr>
          <a:xfrm>
            <a:off x="2194560" y="2752344"/>
            <a:ext cx="292608" cy="36576"/>
          </a:xfrm>
          <a:prstGeom prst="rect">
            <a:avLst/>
          </a:prstGeom>
          <a:solidFill>
            <a:srgbClr val="EF4444"/>
          </a:solidFill>
          <a:ln w="12700">
            <a:solidFill>
              <a:srgbClr val="EF4444"/>
            </a:solidFill>
            <a:prstDash val="solid"/>
          </a:ln>
        </p:spPr>
      </p:sp>
      <p:sp>
        <p:nvSpPr>
          <p:cNvPr id="20" name="Shape 18"/>
          <p:cNvSpPr/>
          <p:nvPr/>
        </p:nvSpPr>
        <p:spPr>
          <a:xfrm>
            <a:off x="2478024" y="2769718"/>
            <a:ext cx="914" cy="914"/>
          </a:xfrm>
          <a:prstGeom prst="rect">
            <a:avLst/>
          </a:prstGeom>
          <a:solidFill>
            <a:srgbClr val="EF4444"/>
          </a:solidFill>
          <a:ln w="12700">
            <a:solidFill>
              <a:srgbClr val="EF4444"/>
            </a:solidFill>
            <a:prstDash val="solid"/>
          </a:ln>
        </p:spPr>
      </p:sp>
      <p:sp>
        <p:nvSpPr>
          <p:cNvPr id="21" name="Text 19"/>
          <p:cNvSpPr/>
          <p:nvPr/>
        </p:nvSpPr>
        <p:spPr>
          <a:xfrm>
            <a:off x="2505456" y="2651760"/>
            <a:ext cx="1737360"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175 MB downloaded</a:t>
            </a:r>
            <a:endParaRPr lang="en-US" sz="850" dirty="0"/>
          </a:p>
        </p:txBody>
      </p:sp>
      <p:sp>
        <p:nvSpPr>
          <p:cNvPr id="22" name="Shape 20"/>
          <p:cNvSpPr/>
          <p:nvPr/>
        </p:nvSpPr>
        <p:spPr>
          <a:xfrm>
            <a:off x="438912" y="3035808"/>
            <a:ext cx="1737360" cy="347472"/>
          </a:xfrm>
          <a:prstGeom prst="rect">
            <a:avLst/>
          </a:prstGeom>
          <a:solidFill>
            <a:srgbClr val="1A56DB"/>
          </a:solidFill>
          <a:ln w="12700">
            <a:solidFill>
              <a:srgbClr val="1A56DB"/>
            </a:solidFill>
            <a:prstDash val="solid"/>
          </a:ln>
        </p:spPr>
      </p:sp>
      <p:sp>
        <p:nvSpPr>
          <p:cNvPr id="23" name="Text 21"/>
          <p:cNvSpPr/>
          <p:nvPr/>
        </p:nvSpPr>
        <p:spPr>
          <a:xfrm>
            <a:off x="438912" y="3035808"/>
            <a:ext cx="173736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Build &amp; test</a:t>
            </a:r>
            <a:endParaRPr lang="en-US" sz="850" dirty="0"/>
          </a:p>
        </p:txBody>
      </p:sp>
      <p:sp>
        <p:nvSpPr>
          <p:cNvPr id="24" name="Shape 22"/>
          <p:cNvSpPr/>
          <p:nvPr/>
        </p:nvSpPr>
        <p:spPr>
          <a:xfrm>
            <a:off x="2194560" y="3191256"/>
            <a:ext cx="292608" cy="36576"/>
          </a:xfrm>
          <a:prstGeom prst="rect">
            <a:avLst/>
          </a:prstGeom>
          <a:solidFill>
            <a:srgbClr val="1A56DB"/>
          </a:solidFill>
          <a:ln w="12700">
            <a:solidFill>
              <a:srgbClr val="1A56DB"/>
            </a:solidFill>
            <a:prstDash val="solid"/>
          </a:ln>
        </p:spPr>
      </p:sp>
      <p:sp>
        <p:nvSpPr>
          <p:cNvPr id="25" name="Shape 23"/>
          <p:cNvSpPr/>
          <p:nvPr/>
        </p:nvSpPr>
        <p:spPr>
          <a:xfrm>
            <a:off x="2478024" y="3208630"/>
            <a:ext cx="914" cy="914"/>
          </a:xfrm>
          <a:prstGeom prst="rect">
            <a:avLst/>
          </a:prstGeom>
          <a:solidFill>
            <a:srgbClr val="1A56DB"/>
          </a:solidFill>
          <a:ln w="12700">
            <a:solidFill>
              <a:srgbClr val="1A56DB"/>
            </a:solidFill>
            <a:prstDash val="solid"/>
          </a:ln>
        </p:spPr>
      </p:sp>
      <p:sp>
        <p:nvSpPr>
          <p:cNvPr id="26" name="Text 24"/>
          <p:cNvSpPr/>
          <p:nvPr/>
        </p:nvSpPr>
        <p:spPr>
          <a:xfrm>
            <a:off x="2505456" y="3090672"/>
            <a:ext cx="1737360"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Compile + test</a:t>
            </a:r>
            <a:endParaRPr lang="en-US" sz="850" dirty="0"/>
          </a:p>
        </p:txBody>
      </p:sp>
      <p:sp>
        <p:nvSpPr>
          <p:cNvPr id="27" name="Shape 25"/>
          <p:cNvSpPr/>
          <p:nvPr/>
        </p:nvSpPr>
        <p:spPr>
          <a:xfrm>
            <a:off x="438912" y="3474720"/>
            <a:ext cx="1737360" cy="347472"/>
          </a:xfrm>
          <a:prstGeom prst="rect">
            <a:avLst/>
          </a:prstGeom>
          <a:solidFill>
            <a:srgbClr val="10B981"/>
          </a:solidFill>
          <a:ln w="12700">
            <a:solidFill>
              <a:srgbClr val="10B981"/>
            </a:solidFill>
            <a:prstDash val="solid"/>
          </a:ln>
        </p:spPr>
      </p:sp>
      <p:sp>
        <p:nvSpPr>
          <p:cNvPr id="28" name="Text 26"/>
          <p:cNvSpPr/>
          <p:nvPr/>
        </p:nvSpPr>
        <p:spPr>
          <a:xfrm>
            <a:off x="438912" y="3474720"/>
            <a:ext cx="173736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SAVE to cache</a:t>
            </a:r>
            <a:endParaRPr lang="en-US" sz="850" dirty="0"/>
          </a:p>
        </p:txBody>
      </p:sp>
      <p:sp>
        <p:nvSpPr>
          <p:cNvPr id="29" name="Shape 27"/>
          <p:cNvSpPr/>
          <p:nvPr/>
        </p:nvSpPr>
        <p:spPr>
          <a:xfrm>
            <a:off x="2194560" y="3630168"/>
            <a:ext cx="292608" cy="36576"/>
          </a:xfrm>
          <a:prstGeom prst="rect">
            <a:avLst/>
          </a:prstGeom>
          <a:solidFill>
            <a:srgbClr val="10B981"/>
          </a:solidFill>
          <a:ln w="12700">
            <a:solidFill>
              <a:srgbClr val="10B981"/>
            </a:solidFill>
            <a:prstDash val="solid"/>
          </a:ln>
        </p:spPr>
      </p:sp>
      <p:sp>
        <p:nvSpPr>
          <p:cNvPr id="30" name="Shape 28"/>
          <p:cNvSpPr/>
          <p:nvPr/>
        </p:nvSpPr>
        <p:spPr>
          <a:xfrm>
            <a:off x="2478024" y="3647542"/>
            <a:ext cx="914" cy="914"/>
          </a:xfrm>
          <a:prstGeom prst="rect">
            <a:avLst/>
          </a:prstGeom>
          <a:solidFill>
            <a:srgbClr val="10B981"/>
          </a:solidFill>
          <a:ln w="12700">
            <a:solidFill>
              <a:srgbClr val="10B981"/>
            </a:solidFill>
            <a:prstDash val="solid"/>
          </a:ln>
        </p:spPr>
      </p:sp>
      <p:sp>
        <p:nvSpPr>
          <p:cNvPr id="31" name="Text 29"/>
          <p:cNvSpPr/>
          <p:nvPr/>
        </p:nvSpPr>
        <p:spPr>
          <a:xfrm>
            <a:off x="2505456" y="3529584"/>
            <a:ext cx="1737360"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~/.m2 → GitHub cache</a:t>
            </a:r>
            <a:endParaRPr lang="en-US" sz="850" dirty="0"/>
          </a:p>
        </p:txBody>
      </p:sp>
      <p:sp>
        <p:nvSpPr>
          <p:cNvPr id="32" name="Shape 30"/>
          <p:cNvSpPr/>
          <p:nvPr/>
        </p:nvSpPr>
        <p:spPr>
          <a:xfrm>
            <a:off x="438912" y="3913632"/>
            <a:ext cx="1737360" cy="347472"/>
          </a:xfrm>
          <a:prstGeom prst="rect">
            <a:avLst/>
          </a:prstGeom>
          <a:solidFill>
            <a:srgbClr val="EA580C"/>
          </a:solidFill>
          <a:ln w="12700">
            <a:solidFill>
              <a:srgbClr val="EA580C"/>
            </a:solidFill>
            <a:prstDash val="solid"/>
          </a:ln>
        </p:spPr>
      </p:sp>
      <p:sp>
        <p:nvSpPr>
          <p:cNvPr id="33" name="Text 31"/>
          <p:cNvSpPr/>
          <p:nvPr/>
        </p:nvSpPr>
        <p:spPr>
          <a:xfrm>
            <a:off x="438912" y="3913632"/>
            <a:ext cx="173736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Duration</a:t>
            </a:r>
            <a:endParaRPr lang="en-US" sz="850" dirty="0"/>
          </a:p>
        </p:txBody>
      </p:sp>
      <p:sp>
        <p:nvSpPr>
          <p:cNvPr id="34" name="Shape 32"/>
          <p:cNvSpPr/>
          <p:nvPr/>
        </p:nvSpPr>
        <p:spPr>
          <a:xfrm>
            <a:off x="2194560" y="4069080"/>
            <a:ext cx="292608" cy="36576"/>
          </a:xfrm>
          <a:prstGeom prst="rect">
            <a:avLst/>
          </a:prstGeom>
          <a:solidFill>
            <a:srgbClr val="EA580C"/>
          </a:solidFill>
          <a:ln w="12700">
            <a:solidFill>
              <a:srgbClr val="EA580C"/>
            </a:solidFill>
            <a:prstDash val="solid"/>
          </a:ln>
        </p:spPr>
      </p:sp>
      <p:sp>
        <p:nvSpPr>
          <p:cNvPr id="35" name="Shape 33"/>
          <p:cNvSpPr/>
          <p:nvPr/>
        </p:nvSpPr>
        <p:spPr>
          <a:xfrm>
            <a:off x="2478024" y="4086454"/>
            <a:ext cx="914" cy="914"/>
          </a:xfrm>
          <a:prstGeom prst="rect">
            <a:avLst/>
          </a:prstGeom>
          <a:solidFill>
            <a:srgbClr val="EA580C"/>
          </a:solidFill>
          <a:ln w="12700">
            <a:solidFill>
              <a:srgbClr val="EA580C"/>
            </a:solidFill>
            <a:prstDash val="solid"/>
          </a:ln>
        </p:spPr>
      </p:sp>
      <p:sp>
        <p:nvSpPr>
          <p:cNvPr id="36" name="Text 34"/>
          <p:cNvSpPr/>
          <p:nvPr/>
        </p:nvSpPr>
        <p:spPr>
          <a:xfrm>
            <a:off x="2505456" y="3968496"/>
            <a:ext cx="1737360"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~6 minutes</a:t>
            </a:r>
            <a:endParaRPr lang="en-US" sz="850" dirty="0"/>
          </a:p>
        </p:txBody>
      </p:sp>
      <p:sp>
        <p:nvSpPr>
          <p:cNvPr id="37" name="Shape 35"/>
          <p:cNvSpPr/>
          <p:nvPr/>
        </p:nvSpPr>
        <p:spPr>
          <a:xfrm>
            <a:off x="4773168" y="1719072"/>
            <a:ext cx="4005072" cy="2633472"/>
          </a:xfrm>
          <a:prstGeom prst="rect">
            <a:avLst/>
          </a:prstGeom>
          <a:solidFill>
            <a:srgbClr val="F0FDF4"/>
          </a:solidFill>
          <a:ln w="6350">
            <a:solidFill>
              <a:srgbClr val="10B981"/>
            </a:solidFill>
            <a:prstDash val="solid"/>
          </a:ln>
        </p:spPr>
      </p:sp>
      <p:sp>
        <p:nvSpPr>
          <p:cNvPr id="38" name="Shape 36"/>
          <p:cNvSpPr/>
          <p:nvPr/>
        </p:nvSpPr>
        <p:spPr>
          <a:xfrm>
            <a:off x="4773168" y="1719072"/>
            <a:ext cx="4005072" cy="347472"/>
          </a:xfrm>
          <a:prstGeom prst="rect">
            <a:avLst/>
          </a:prstGeom>
          <a:solidFill>
            <a:srgbClr val="10B981"/>
          </a:solidFill>
          <a:ln w="12700">
            <a:solidFill>
              <a:srgbClr val="10B981"/>
            </a:solidFill>
            <a:prstDash val="solid"/>
          </a:ln>
        </p:spPr>
      </p:sp>
      <p:sp>
        <p:nvSpPr>
          <p:cNvPr id="39" name="Text 37"/>
          <p:cNvSpPr/>
          <p:nvPr/>
        </p:nvSpPr>
        <p:spPr>
          <a:xfrm>
            <a:off x="4773168" y="1719072"/>
            <a:ext cx="40050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RUN 2+ — Cache HIT (Subsequent Runs)</a:t>
            </a:r>
            <a:endParaRPr lang="en-US" sz="1000" dirty="0"/>
          </a:p>
        </p:txBody>
      </p:sp>
      <p:sp>
        <p:nvSpPr>
          <p:cNvPr id="40" name="Shape 38"/>
          <p:cNvSpPr/>
          <p:nvPr/>
        </p:nvSpPr>
        <p:spPr>
          <a:xfrm>
            <a:off x="4864608" y="2157984"/>
            <a:ext cx="1737360" cy="347472"/>
          </a:xfrm>
          <a:prstGeom prst="rect">
            <a:avLst/>
          </a:prstGeom>
          <a:solidFill>
            <a:srgbClr val="10B981"/>
          </a:solidFill>
          <a:ln w="12700">
            <a:solidFill>
              <a:srgbClr val="10B981"/>
            </a:solidFill>
            <a:prstDash val="solid"/>
          </a:ln>
        </p:spPr>
      </p:sp>
      <p:sp>
        <p:nvSpPr>
          <p:cNvPr id="41" name="Text 39"/>
          <p:cNvSpPr/>
          <p:nvPr/>
        </p:nvSpPr>
        <p:spPr>
          <a:xfrm>
            <a:off x="4864608" y="2157984"/>
            <a:ext cx="173736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Check cache store</a:t>
            </a:r>
            <a:endParaRPr lang="en-US" sz="850" dirty="0"/>
          </a:p>
        </p:txBody>
      </p:sp>
      <p:sp>
        <p:nvSpPr>
          <p:cNvPr id="42" name="Shape 40"/>
          <p:cNvSpPr/>
          <p:nvPr/>
        </p:nvSpPr>
        <p:spPr>
          <a:xfrm>
            <a:off x="6620256" y="2313432"/>
            <a:ext cx="292608" cy="36576"/>
          </a:xfrm>
          <a:prstGeom prst="rect">
            <a:avLst/>
          </a:prstGeom>
          <a:solidFill>
            <a:srgbClr val="10B981"/>
          </a:solidFill>
          <a:ln w="12700">
            <a:solidFill>
              <a:srgbClr val="10B981"/>
            </a:solidFill>
            <a:prstDash val="solid"/>
          </a:ln>
        </p:spPr>
      </p:sp>
      <p:sp>
        <p:nvSpPr>
          <p:cNvPr id="43" name="Shape 41"/>
          <p:cNvSpPr/>
          <p:nvPr/>
        </p:nvSpPr>
        <p:spPr>
          <a:xfrm>
            <a:off x="6903720" y="2330806"/>
            <a:ext cx="914" cy="914"/>
          </a:xfrm>
          <a:prstGeom prst="rect">
            <a:avLst/>
          </a:prstGeom>
          <a:solidFill>
            <a:srgbClr val="10B981"/>
          </a:solidFill>
          <a:ln w="12700">
            <a:solidFill>
              <a:srgbClr val="10B981"/>
            </a:solidFill>
            <a:prstDash val="solid"/>
          </a:ln>
        </p:spPr>
      </p:sp>
      <p:sp>
        <p:nvSpPr>
          <p:cNvPr id="44" name="Text 42"/>
          <p:cNvSpPr/>
          <p:nvPr/>
        </p:nvSpPr>
        <p:spPr>
          <a:xfrm>
            <a:off x="6931152" y="2212848"/>
            <a:ext cx="1737360"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HIT — found in cache!</a:t>
            </a:r>
            <a:endParaRPr lang="en-US" sz="850" dirty="0"/>
          </a:p>
        </p:txBody>
      </p:sp>
      <p:sp>
        <p:nvSpPr>
          <p:cNvPr id="45" name="Shape 43"/>
          <p:cNvSpPr/>
          <p:nvPr/>
        </p:nvSpPr>
        <p:spPr>
          <a:xfrm>
            <a:off x="4864608" y="2596896"/>
            <a:ext cx="1737360" cy="347472"/>
          </a:xfrm>
          <a:prstGeom prst="rect">
            <a:avLst/>
          </a:prstGeom>
          <a:solidFill>
            <a:srgbClr val="06B6D4"/>
          </a:solidFill>
          <a:ln w="12700">
            <a:solidFill>
              <a:srgbClr val="06B6D4"/>
            </a:solidFill>
            <a:prstDash val="solid"/>
          </a:ln>
        </p:spPr>
      </p:sp>
      <p:sp>
        <p:nvSpPr>
          <p:cNvPr id="46" name="Text 44"/>
          <p:cNvSpPr/>
          <p:nvPr/>
        </p:nvSpPr>
        <p:spPr>
          <a:xfrm>
            <a:off x="4864608" y="2596896"/>
            <a:ext cx="173736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Restore ~/.m2</a:t>
            </a:r>
            <a:endParaRPr lang="en-US" sz="850" dirty="0"/>
          </a:p>
        </p:txBody>
      </p:sp>
      <p:sp>
        <p:nvSpPr>
          <p:cNvPr id="47" name="Shape 45"/>
          <p:cNvSpPr/>
          <p:nvPr/>
        </p:nvSpPr>
        <p:spPr>
          <a:xfrm>
            <a:off x="6620256" y="2752344"/>
            <a:ext cx="292608" cy="36576"/>
          </a:xfrm>
          <a:prstGeom prst="rect">
            <a:avLst/>
          </a:prstGeom>
          <a:solidFill>
            <a:srgbClr val="06B6D4"/>
          </a:solidFill>
          <a:ln w="12700">
            <a:solidFill>
              <a:srgbClr val="06B6D4"/>
            </a:solidFill>
            <a:prstDash val="solid"/>
          </a:ln>
        </p:spPr>
      </p:sp>
      <p:sp>
        <p:nvSpPr>
          <p:cNvPr id="48" name="Shape 46"/>
          <p:cNvSpPr/>
          <p:nvPr/>
        </p:nvSpPr>
        <p:spPr>
          <a:xfrm>
            <a:off x="6903720" y="2769718"/>
            <a:ext cx="914" cy="914"/>
          </a:xfrm>
          <a:prstGeom prst="rect">
            <a:avLst/>
          </a:prstGeom>
          <a:solidFill>
            <a:srgbClr val="06B6D4"/>
          </a:solidFill>
          <a:ln w="12700">
            <a:solidFill>
              <a:srgbClr val="06B6D4"/>
            </a:solidFill>
            <a:prstDash val="solid"/>
          </a:ln>
        </p:spPr>
      </p:sp>
      <p:sp>
        <p:nvSpPr>
          <p:cNvPr id="49" name="Text 47"/>
          <p:cNvSpPr/>
          <p:nvPr/>
        </p:nvSpPr>
        <p:spPr>
          <a:xfrm>
            <a:off x="6931152" y="2651760"/>
            <a:ext cx="1737360"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175 MB from GitHub (fast!)</a:t>
            </a:r>
            <a:endParaRPr lang="en-US" sz="850" dirty="0"/>
          </a:p>
        </p:txBody>
      </p:sp>
      <p:sp>
        <p:nvSpPr>
          <p:cNvPr id="50" name="Shape 48"/>
          <p:cNvSpPr/>
          <p:nvPr/>
        </p:nvSpPr>
        <p:spPr>
          <a:xfrm>
            <a:off x="4864608" y="3035808"/>
            <a:ext cx="1737360" cy="347472"/>
          </a:xfrm>
          <a:prstGeom prst="rect">
            <a:avLst/>
          </a:prstGeom>
          <a:solidFill>
            <a:srgbClr val="1A56DB"/>
          </a:solidFill>
          <a:ln w="12700">
            <a:solidFill>
              <a:srgbClr val="1A56DB"/>
            </a:solidFill>
            <a:prstDash val="solid"/>
          </a:ln>
        </p:spPr>
      </p:sp>
      <p:sp>
        <p:nvSpPr>
          <p:cNvPr id="51" name="Text 49"/>
          <p:cNvSpPr/>
          <p:nvPr/>
        </p:nvSpPr>
        <p:spPr>
          <a:xfrm>
            <a:off x="4864608" y="3035808"/>
            <a:ext cx="173736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Build &amp; test</a:t>
            </a:r>
            <a:endParaRPr lang="en-US" sz="850" dirty="0"/>
          </a:p>
        </p:txBody>
      </p:sp>
      <p:sp>
        <p:nvSpPr>
          <p:cNvPr id="52" name="Shape 50"/>
          <p:cNvSpPr/>
          <p:nvPr/>
        </p:nvSpPr>
        <p:spPr>
          <a:xfrm>
            <a:off x="6620256" y="3191256"/>
            <a:ext cx="292608" cy="36576"/>
          </a:xfrm>
          <a:prstGeom prst="rect">
            <a:avLst/>
          </a:prstGeom>
          <a:solidFill>
            <a:srgbClr val="1A56DB"/>
          </a:solidFill>
          <a:ln w="12700">
            <a:solidFill>
              <a:srgbClr val="1A56DB"/>
            </a:solidFill>
            <a:prstDash val="solid"/>
          </a:ln>
        </p:spPr>
      </p:sp>
      <p:sp>
        <p:nvSpPr>
          <p:cNvPr id="53" name="Shape 51"/>
          <p:cNvSpPr/>
          <p:nvPr/>
        </p:nvSpPr>
        <p:spPr>
          <a:xfrm>
            <a:off x="6903720" y="3208630"/>
            <a:ext cx="914" cy="914"/>
          </a:xfrm>
          <a:prstGeom prst="rect">
            <a:avLst/>
          </a:prstGeom>
          <a:solidFill>
            <a:srgbClr val="1A56DB"/>
          </a:solidFill>
          <a:ln w="12700">
            <a:solidFill>
              <a:srgbClr val="1A56DB"/>
            </a:solidFill>
            <a:prstDash val="solid"/>
          </a:ln>
        </p:spPr>
      </p:sp>
      <p:sp>
        <p:nvSpPr>
          <p:cNvPr id="54" name="Text 52"/>
          <p:cNvSpPr/>
          <p:nvPr/>
        </p:nvSpPr>
        <p:spPr>
          <a:xfrm>
            <a:off x="6931152" y="3090672"/>
            <a:ext cx="1737360"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Compile + test</a:t>
            </a:r>
            <a:endParaRPr lang="en-US" sz="850" dirty="0"/>
          </a:p>
        </p:txBody>
      </p:sp>
      <p:sp>
        <p:nvSpPr>
          <p:cNvPr id="55" name="Shape 53"/>
          <p:cNvSpPr/>
          <p:nvPr/>
        </p:nvSpPr>
        <p:spPr>
          <a:xfrm>
            <a:off x="4864608" y="3474720"/>
            <a:ext cx="1737360" cy="347472"/>
          </a:xfrm>
          <a:prstGeom prst="rect">
            <a:avLst/>
          </a:prstGeom>
          <a:solidFill>
            <a:srgbClr val="0D9488"/>
          </a:solidFill>
          <a:ln w="12700">
            <a:solidFill>
              <a:srgbClr val="0D9488"/>
            </a:solidFill>
            <a:prstDash val="solid"/>
          </a:ln>
        </p:spPr>
      </p:sp>
      <p:sp>
        <p:nvSpPr>
          <p:cNvPr id="56" name="Text 54"/>
          <p:cNvSpPr/>
          <p:nvPr/>
        </p:nvSpPr>
        <p:spPr>
          <a:xfrm>
            <a:off x="4864608" y="3474720"/>
            <a:ext cx="173736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NO upload needed</a:t>
            </a:r>
            <a:endParaRPr lang="en-US" sz="850" dirty="0"/>
          </a:p>
        </p:txBody>
      </p:sp>
      <p:sp>
        <p:nvSpPr>
          <p:cNvPr id="57" name="Shape 55"/>
          <p:cNvSpPr/>
          <p:nvPr/>
        </p:nvSpPr>
        <p:spPr>
          <a:xfrm>
            <a:off x="6620256" y="3630168"/>
            <a:ext cx="292608" cy="36576"/>
          </a:xfrm>
          <a:prstGeom prst="rect">
            <a:avLst/>
          </a:prstGeom>
          <a:solidFill>
            <a:srgbClr val="0D9488"/>
          </a:solidFill>
          <a:ln w="12700">
            <a:solidFill>
              <a:srgbClr val="0D9488"/>
            </a:solidFill>
            <a:prstDash val="solid"/>
          </a:ln>
        </p:spPr>
      </p:sp>
      <p:sp>
        <p:nvSpPr>
          <p:cNvPr id="58" name="Shape 56"/>
          <p:cNvSpPr/>
          <p:nvPr/>
        </p:nvSpPr>
        <p:spPr>
          <a:xfrm>
            <a:off x="6903720" y="3647542"/>
            <a:ext cx="914" cy="914"/>
          </a:xfrm>
          <a:prstGeom prst="rect">
            <a:avLst/>
          </a:prstGeom>
          <a:solidFill>
            <a:srgbClr val="0D9488"/>
          </a:solidFill>
          <a:ln w="12700">
            <a:solidFill>
              <a:srgbClr val="0D9488"/>
            </a:solidFill>
            <a:prstDash val="solid"/>
          </a:ln>
        </p:spPr>
      </p:sp>
      <p:sp>
        <p:nvSpPr>
          <p:cNvPr id="59" name="Text 57"/>
          <p:cNvSpPr/>
          <p:nvPr/>
        </p:nvSpPr>
        <p:spPr>
          <a:xfrm>
            <a:off x="6931152" y="3529584"/>
            <a:ext cx="1737360"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pom.xml unchanged → skip</a:t>
            </a:r>
            <a:endParaRPr lang="en-US" sz="850" dirty="0"/>
          </a:p>
        </p:txBody>
      </p:sp>
      <p:sp>
        <p:nvSpPr>
          <p:cNvPr id="60" name="Shape 58"/>
          <p:cNvSpPr/>
          <p:nvPr/>
        </p:nvSpPr>
        <p:spPr>
          <a:xfrm>
            <a:off x="4864608" y="3913632"/>
            <a:ext cx="1737360" cy="347472"/>
          </a:xfrm>
          <a:prstGeom prst="rect">
            <a:avLst/>
          </a:prstGeom>
          <a:solidFill>
            <a:srgbClr val="10B981"/>
          </a:solidFill>
          <a:ln w="12700">
            <a:solidFill>
              <a:srgbClr val="10B981"/>
            </a:solidFill>
            <a:prstDash val="solid"/>
          </a:ln>
        </p:spPr>
      </p:sp>
      <p:sp>
        <p:nvSpPr>
          <p:cNvPr id="61" name="Text 59"/>
          <p:cNvSpPr/>
          <p:nvPr/>
        </p:nvSpPr>
        <p:spPr>
          <a:xfrm>
            <a:off x="4864608" y="3913632"/>
            <a:ext cx="173736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Duration</a:t>
            </a:r>
            <a:endParaRPr lang="en-US" sz="850" dirty="0"/>
          </a:p>
        </p:txBody>
      </p:sp>
      <p:sp>
        <p:nvSpPr>
          <p:cNvPr id="62" name="Shape 60"/>
          <p:cNvSpPr/>
          <p:nvPr/>
        </p:nvSpPr>
        <p:spPr>
          <a:xfrm>
            <a:off x="6620256" y="4069080"/>
            <a:ext cx="292608" cy="36576"/>
          </a:xfrm>
          <a:prstGeom prst="rect">
            <a:avLst/>
          </a:prstGeom>
          <a:solidFill>
            <a:srgbClr val="10B981"/>
          </a:solidFill>
          <a:ln w="12700">
            <a:solidFill>
              <a:srgbClr val="10B981"/>
            </a:solidFill>
            <a:prstDash val="solid"/>
          </a:ln>
        </p:spPr>
      </p:sp>
      <p:sp>
        <p:nvSpPr>
          <p:cNvPr id="63" name="Shape 61"/>
          <p:cNvSpPr/>
          <p:nvPr/>
        </p:nvSpPr>
        <p:spPr>
          <a:xfrm>
            <a:off x="6903720" y="4086454"/>
            <a:ext cx="914" cy="914"/>
          </a:xfrm>
          <a:prstGeom prst="rect">
            <a:avLst/>
          </a:prstGeom>
          <a:solidFill>
            <a:srgbClr val="10B981"/>
          </a:solidFill>
          <a:ln w="12700">
            <a:solidFill>
              <a:srgbClr val="10B981"/>
            </a:solidFill>
            <a:prstDash val="solid"/>
          </a:ln>
        </p:spPr>
      </p:sp>
      <p:sp>
        <p:nvSpPr>
          <p:cNvPr id="64" name="Text 62"/>
          <p:cNvSpPr/>
          <p:nvPr/>
        </p:nvSpPr>
        <p:spPr>
          <a:xfrm>
            <a:off x="6931152" y="3968496"/>
            <a:ext cx="1737360"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~2 minutes  (68% faster!)</a:t>
            </a:r>
            <a:endParaRPr lang="en-US" sz="850" dirty="0"/>
          </a:p>
        </p:txBody>
      </p:sp>
      <p:sp>
        <p:nvSpPr>
          <p:cNvPr id="65" name="Shape 63"/>
          <p:cNvSpPr/>
          <p:nvPr/>
        </p:nvSpPr>
        <p:spPr>
          <a:xfrm>
            <a:off x="347472" y="4480560"/>
            <a:ext cx="8449056" cy="530352"/>
          </a:xfrm>
          <a:prstGeom prst="rect">
            <a:avLst/>
          </a:prstGeom>
          <a:solidFill>
            <a:srgbClr val="1B2A3B"/>
          </a:solidFill>
          <a:ln w="6350">
            <a:solidFill>
              <a:srgbClr val="334155"/>
            </a:solidFill>
            <a:prstDash val="solid"/>
          </a:ln>
        </p:spPr>
      </p:sp>
      <p:sp>
        <p:nvSpPr>
          <p:cNvPr id="66" name="Text 64"/>
          <p:cNvSpPr/>
          <p:nvPr/>
        </p:nvSpPr>
        <p:spPr>
          <a:xfrm>
            <a:off x="457200" y="4498848"/>
            <a:ext cx="8229600" cy="475488"/>
          </a:xfrm>
          <a:prstGeom prst="rect">
            <a:avLst/>
          </a:prstGeom>
          <a:noFill/>
          <a:ln/>
        </p:spPr>
        <p:txBody>
          <a:bodyPr wrap="square" lIns="0" tIns="0" rIns="0" bIns="0" rtlCol="0" anchor="ctr"/>
          <a:lstStyle/>
          <a:p>
            <a:pPr indent="0" marL="0">
              <a:buNone/>
            </a:pPr>
            <a:r>
              <a:rPr lang="en-US" sz="950" dirty="0">
                <a:solidFill>
                  <a:srgbClr val="06B6D4"/>
                </a:solidFill>
                <a:latin typeface="Consolas" pitchFamily="34" charset="0"/>
                <a:ea typeface="Consolas" pitchFamily="34" charset="-122"/>
                <a:cs typeface="Consolas" pitchFamily="34" charset="-120"/>
              </a:rPr>
              <a:t>- uses: actions/setup-java@v4    with:    java-version: '21'    distribution: 'temurin'    cache: 'maven'   ← ONE LINE enables automatic Maven caching</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Module 5 — Committing Build Artifacts to Repository</a:t>
            </a:r>
            <a:endParaRPr lang="en-US" sz="2500" dirty="0"/>
          </a:p>
        </p:txBody>
      </p:sp>
      <p:sp>
        <p:nvSpPr>
          <p:cNvPr id="4" name="Shape 2"/>
          <p:cNvSpPr/>
          <p:nvPr/>
        </p:nvSpPr>
        <p:spPr>
          <a:xfrm>
            <a:off x="384048" y="731520"/>
            <a:ext cx="2168957" cy="219456"/>
          </a:xfrm>
          <a:prstGeom prst="rect">
            <a:avLst/>
          </a:prstGeom>
          <a:solidFill>
            <a:srgbClr val="0D9488"/>
          </a:solidFill>
          <a:ln w="12700">
            <a:solidFill>
              <a:srgbClr val="0D9488"/>
            </a:solidFill>
            <a:prstDash val="solid"/>
          </a:ln>
        </p:spPr>
      </p:sp>
      <p:sp>
        <p:nvSpPr>
          <p:cNvPr id="5" name="Text 3"/>
          <p:cNvSpPr/>
          <p:nvPr/>
        </p:nvSpPr>
        <p:spPr>
          <a:xfrm>
            <a:off x="384048" y="731520"/>
            <a:ext cx="2168957"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AUTO-COMMIT PATTERN</a:t>
            </a:r>
            <a:endParaRPr lang="en-US" sz="850" dirty="0"/>
          </a:p>
        </p:txBody>
      </p:sp>
      <p:sp>
        <p:nvSpPr>
          <p:cNvPr id="6" name="Shape 4"/>
          <p:cNvSpPr/>
          <p:nvPr/>
        </p:nvSpPr>
        <p:spPr>
          <a:xfrm>
            <a:off x="347472" y="1005840"/>
            <a:ext cx="4187952" cy="1207008"/>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47472" y="1005840"/>
            <a:ext cx="4187952" cy="54864"/>
          </a:xfrm>
          <a:prstGeom prst="rect">
            <a:avLst/>
          </a:prstGeom>
          <a:solidFill>
            <a:srgbClr val="0D9488"/>
          </a:solidFill>
          <a:ln w="12700">
            <a:solidFill>
              <a:srgbClr val="0D9488"/>
            </a:solidFill>
            <a:prstDash val="solid"/>
          </a:ln>
        </p:spPr>
      </p:sp>
      <p:pic>
        <p:nvPicPr>
          <p:cNvPr id="8" name="Image 0" descr="preencoded.png">    </p:cNvPr>
          <p:cNvPicPr>
            <a:picLocks noChangeAspect="1"/>
          </p:cNvPicPr>
          <p:nvPr/>
        </p:nvPicPr>
        <p:blipFill>
          <a:blip r:embed="rId1"/>
          <a:stretch>
            <a:fillRect/>
          </a:stretch>
        </p:blipFill>
        <p:spPr>
          <a:xfrm>
            <a:off x="475488" y="1207008"/>
            <a:ext cx="365760" cy="365760"/>
          </a:xfrm>
          <a:prstGeom prst="rect">
            <a:avLst/>
          </a:prstGeom>
        </p:spPr>
      </p:pic>
      <p:sp>
        <p:nvSpPr>
          <p:cNvPr id="9" name="Text 6"/>
          <p:cNvSpPr/>
          <p:nvPr/>
        </p:nvSpPr>
        <p:spPr>
          <a:xfrm>
            <a:off x="932688" y="1152144"/>
            <a:ext cx="347472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Auto Version Bumping</a:t>
            </a:r>
            <a:endParaRPr lang="en-US" sz="1200" dirty="0"/>
          </a:p>
        </p:txBody>
      </p:sp>
      <p:sp>
        <p:nvSpPr>
          <p:cNvPr id="10" name="Text 7"/>
          <p:cNvSpPr/>
          <p:nvPr/>
        </p:nvSpPr>
        <p:spPr>
          <a:xfrm>
            <a:off x="932688" y="1463040"/>
            <a:ext cx="3474720" cy="5486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Automatically increment pom.xml</a:t>
            </a:r>
            <a:endParaRPr lang="en-US" sz="950" dirty="0"/>
          </a:p>
          <a:p>
            <a:pPr indent="0" marL="0">
              <a:buNone/>
            </a:pPr>
            <a:r>
              <a:rPr lang="en-US" sz="950" dirty="0">
                <a:solidFill>
                  <a:srgbClr val="64748B"/>
                </a:solidFill>
                <a:latin typeface="Calibri" pitchFamily="34" charset="0"/>
                <a:ea typeface="Calibri" pitchFamily="34" charset="-122"/>
                <a:cs typeface="Calibri" pitchFamily="34" charset="-120"/>
              </a:rPr>
              <a:t>from 1.2.3 → 1.2.4 on every merge to main</a:t>
            </a:r>
            <a:endParaRPr lang="en-US" sz="950" dirty="0"/>
          </a:p>
        </p:txBody>
      </p:sp>
      <p:sp>
        <p:nvSpPr>
          <p:cNvPr id="11" name="Shape 8"/>
          <p:cNvSpPr/>
          <p:nvPr/>
        </p:nvSpPr>
        <p:spPr>
          <a:xfrm>
            <a:off x="4718304" y="1005840"/>
            <a:ext cx="4187952" cy="1207008"/>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12" name="Shape 9"/>
          <p:cNvSpPr/>
          <p:nvPr/>
        </p:nvSpPr>
        <p:spPr>
          <a:xfrm>
            <a:off x="4718304" y="1005840"/>
            <a:ext cx="4187952" cy="54864"/>
          </a:xfrm>
          <a:prstGeom prst="rect">
            <a:avLst/>
          </a:prstGeom>
          <a:solidFill>
            <a:srgbClr val="1A56DB"/>
          </a:solidFill>
          <a:ln w="12700">
            <a:solidFill>
              <a:srgbClr val="1A56DB"/>
            </a:solidFill>
            <a:prstDash val="solid"/>
          </a:ln>
        </p:spPr>
      </p:sp>
      <p:pic>
        <p:nvPicPr>
          <p:cNvPr id="13" name="Image 1" descr="preencoded.png">    </p:cNvPr>
          <p:cNvPicPr>
            <a:picLocks noChangeAspect="1"/>
          </p:cNvPicPr>
          <p:nvPr/>
        </p:nvPicPr>
        <p:blipFill>
          <a:blip r:embed="rId2"/>
          <a:stretch>
            <a:fillRect/>
          </a:stretch>
        </p:blipFill>
        <p:spPr>
          <a:xfrm>
            <a:off x="4846320" y="1207008"/>
            <a:ext cx="365760" cy="365760"/>
          </a:xfrm>
          <a:prstGeom prst="rect">
            <a:avLst/>
          </a:prstGeom>
        </p:spPr>
      </p:pic>
      <p:sp>
        <p:nvSpPr>
          <p:cNvPr id="14" name="Text 10"/>
          <p:cNvSpPr/>
          <p:nvPr/>
        </p:nvSpPr>
        <p:spPr>
          <a:xfrm>
            <a:off x="5303520" y="1152144"/>
            <a:ext cx="347472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Generated API Docs</a:t>
            </a:r>
            <a:endParaRPr lang="en-US" sz="1200" dirty="0"/>
          </a:p>
        </p:txBody>
      </p:sp>
      <p:sp>
        <p:nvSpPr>
          <p:cNvPr id="15" name="Text 11"/>
          <p:cNvSpPr/>
          <p:nvPr/>
        </p:nvSpPr>
        <p:spPr>
          <a:xfrm>
            <a:off x="5303520" y="1463040"/>
            <a:ext cx="3474720" cy="5486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Regenerate openapi.json after build</a:t>
            </a:r>
            <a:endParaRPr lang="en-US" sz="950" dirty="0"/>
          </a:p>
          <a:p>
            <a:pPr indent="0" marL="0">
              <a:buNone/>
            </a:pPr>
            <a:r>
              <a:rPr lang="en-US" sz="950" dirty="0">
                <a:solidFill>
                  <a:srgbClr val="64748B"/>
                </a:solidFill>
                <a:latin typeface="Calibri" pitchFamily="34" charset="0"/>
                <a:ea typeface="Calibri" pitchFamily="34" charset="-122"/>
                <a:cs typeface="Calibri" pitchFamily="34" charset="-120"/>
              </a:rPr>
              <a:t>Front-end teams always have latest spec</a:t>
            </a:r>
            <a:endParaRPr lang="en-US" sz="950" dirty="0"/>
          </a:p>
        </p:txBody>
      </p:sp>
      <p:sp>
        <p:nvSpPr>
          <p:cNvPr id="16" name="Shape 12"/>
          <p:cNvSpPr/>
          <p:nvPr/>
        </p:nvSpPr>
        <p:spPr>
          <a:xfrm>
            <a:off x="347472" y="2331720"/>
            <a:ext cx="4187952" cy="1207008"/>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17" name="Shape 13"/>
          <p:cNvSpPr/>
          <p:nvPr/>
        </p:nvSpPr>
        <p:spPr>
          <a:xfrm>
            <a:off x="347472" y="2331720"/>
            <a:ext cx="4187952" cy="54864"/>
          </a:xfrm>
          <a:prstGeom prst="rect">
            <a:avLst/>
          </a:prstGeom>
          <a:solidFill>
            <a:srgbClr val="7C3AED"/>
          </a:solidFill>
          <a:ln w="12700">
            <a:solidFill>
              <a:srgbClr val="7C3AED"/>
            </a:solidFill>
            <a:prstDash val="solid"/>
          </a:ln>
        </p:spPr>
      </p:sp>
      <p:pic>
        <p:nvPicPr>
          <p:cNvPr id="18" name="Image 2" descr="preencoded.png">    </p:cNvPr>
          <p:cNvPicPr>
            <a:picLocks noChangeAspect="1"/>
          </p:cNvPicPr>
          <p:nvPr/>
        </p:nvPicPr>
        <p:blipFill>
          <a:blip r:embed="rId3"/>
          <a:stretch>
            <a:fillRect/>
          </a:stretch>
        </p:blipFill>
        <p:spPr>
          <a:xfrm>
            <a:off x="475488" y="2532888"/>
            <a:ext cx="365760" cy="365760"/>
          </a:xfrm>
          <a:prstGeom prst="rect">
            <a:avLst/>
          </a:prstGeom>
        </p:spPr>
      </p:pic>
      <p:sp>
        <p:nvSpPr>
          <p:cNvPr id="19" name="Text 14"/>
          <p:cNvSpPr/>
          <p:nvPr/>
        </p:nvSpPr>
        <p:spPr>
          <a:xfrm>
            <a:off x="932688" y="2478024"/>
            <a:ext cx="347472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Code Auto-Formatting</a:t>
            </a:r>
            <a:endParaRPr lang="en-US" sz="1200" dirty="0"/>
          </a:p>
        </p:txBody>
      </p:sp>
      <p:sp>
        <p:nvSpPr>
          <p:cNvPr id="20" name="Text 15"/>
          <p:cNvSpPr/>
          <p:nvPr/>
        </p:nvSpPr>
        <p:spPr>
          <a:xfrm>
            <a:off x="932688" y="2788920"/>
            <a:ext cx="3474720" cy="5486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Run Google Java Format</a:t>
            </a:r>
            <a:endParaRPr lang="en-US" sz="950" dirty="0"/>
          </a:p>
          <a:p>
            <a:pPr indent="0" marL="0">
              <a:buNone/>
            </a:pPr>
            <a:r>
              <a:rPr lang="en-US" sz="950" dirty="0">
                <a:solidFill>
                  <a:srgbClr val="64748B"/>
                </a:solidFill>
                <a:latin typeface="Calibri" pitchFamily="34" charset="0"/>
                <a:ea typeface="Calibri" pitchFamily="34" charset="-122"/>
                <a:cs typeface="Calibri" pitchFamily="34" charset="-120"/>
              </a:rPr>
              <a:t>Commit fixed files back to the PR</a:t>
            </a:r>
            <a:endParaRPr lang="en-US" sz="950" dirty="0"/>
          </a:p>
        </p:txBody>
      </p:sp>
      <p:sp>
        <p:nvSpPr>
          <p:cNvPr id="21" name="Shape 16"/>
          <p:cNvSpPr/>
          <p:nvPr/>
        </p:nvSpPr>
        <p:spPr>
          <a:xfrm>
            <a:off x="4718304" y="2331720"/>
            <a:ext cx="4187952" cy="1207008"/>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22" name="Shape 17"/>
          <p:cNvSpPr/>
          <p:nvPr/>
        </p:nvSpPr>
        <p:spPr>
          <a:xfrm>
            <a:off x="4718304" y="2331720"/>
            <a:ext cx="4187952" cy="54864"/>
          </a:xfrm>
          <a:prstGeom prst="rect">
            <a:avLst/>
          </a:prstGeom>
          <a:solidFill>
            <a:srgbClr val="F59E0B"/>
          </a:solidFill>
          <a:ln w="12700">
            <a:solidFill>
              <a:srgbClr val="F59E0B"/>
            </a:solidFill>
            <a:prstDash val="solid"/>
          </a:ln>
        </p:spPr>
      </p:sp>
      <p:pic>
        <p:nvPicPr>
          <p:cNvPr id="23" name="Image 3" descr="preencoded.png">    </p:cNvPr>
          <p:cNvPicPr>
            <a:picLocks noChangeAspect="1"/>
          </p:cNvPicPr>
          <p:nvPr/>
        </p:nvPicPr>
        <p:blipFill>
          <a:blip r:embed="rId4"/>
          <a:stretch>
            <a:fillRect/>
          </a:stretch>
        </p:blipFill>
        <p:spPr>
          <a:xfrm>
            <a:off x="4846320" y="2532888"/>
            <a:ext cx="365760" cy="365760"/>
          </a:xfrm>
          <a:prstGeom prst="rect">
            <a:avLst/>
          </a:prstGeom>
        </p:spPr>
      </p:pic>
      <p:sp>
        <p:nvSpPr>
          <p:cNvPr id="24" name="Text 18"/>
          <p:cNvSpPr/>
          <p:nvPr/>
        </p:nvSpPr>
        <p:spPr>
          <a:xfrm>
            <a:off x="5303520" y="2478024"/>
            <a:ext cx="347472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Changelog Generation</a:t>
            </a:r>
            <a:endParaRPr lang="en-US" sz="1200" dirty="0"/>
          </a:p>
        </p:txBody>
      </p:sp>
      <p:sp>
        <p:nvSpPr>
          <p:cNvPr id="25" name="Text 19"/>
          <p:cNvSpPr/>
          <p:nvPr/>
        </p:nvSpPr>
        <p:spPr>
          <a:xfrm>
            <a:off x="5303520" y="2788920"/>
            <a:ext cx="3474720" cy="5486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Auto-update CHANGELOG.md</a:t>
            </a:r>
            <a:endParaRPr lang="en-US" sz="950" dirty="0"/>
          </a:p>
          <a:p>
            <a:pPr indent="0" marL="0">
              <a:buNone/>
            </a:pPr>
            <a:r>
              <a:rPr lang="en-US" sz="950" dirty="0">
                <a:solidFill>
                  <a:srgbClr val="64748B"/>
                </a:solidFill>
                <a:latin typeface="Calibri" pitchFamily="34" charset="0"/>
                <a:ea typeface="Calibri" pitchFamily="34" charset="-122"/>
                <a:cs typeface="Calibri" pitchFamily="34" charset="-120"/>
              </a:rPr>
              <a:t>Based on commit messages since last release</a:t>
            </a:r>
            <a:endParaRPr lang="en-US" sz="950" dirty="0"/>
          </a:p>
        </p:txBody>
      </p:sp>
      <p:sp>
        <p:nvSpPr>
          <p:cNvPr id="26" name="Shape 20"/>
          <p:cNvSpPr/>
          <p:nvPr/>
        </p:nvSpPr>
        <p:spPr>
          <a:xfrm>
            <a:off x="347472" y="3730752"/>
            <a:ext cx="8449056" cy="914400"/>
          </a:xfrm>
          <a:prstGeom prst="rect">
            <a:avLst/>
          </a:prstGeom>
          <a:solidFill>
            <a:srgbClr val="FEF3C7"/>
          </a:solidFill>
          <a:ln w="10160">
            <a:solidFill>
              <a:srgbClr val="F59E0B"/>
            </a:solidFill>
            <a:prstDash val="solid"/>
          </a:ln>
        </p:spPr>
      </p:sp>
      <p:pic>
        <p:nvPicPr>
          <p:cNvPr id="27" name="Image 4" descr="preencoded.png">    </p:cNvPr>
          <p:cNvPicPr>
            <a:picLocks noChangeAspect="1"/>
          </p:cNvPicPr>
          <p:nvPr/>
        </p:nvPicPr>
        <p:blipFill>
          <a:blip r:embed="rId5"/>
          <a:stretch>
            <a:fillRect/>
          </a:stretch>
        </p:blipFill>
        <p:spPr>
          <a:xfrm>
            <a:off x="475488" y="3840480"/>
            <a:ext cx="384048" cy="384048"/>
          </a:xfrm>
          <a:prstGeom prst="rect">
            <a:avLst/>
          </a:prstGeom>
        </p:spPr>
      </p:pic>
      <p:sp>
        <p:nvSpPr>
          <p:cNvPr id="28" name="Text 21"/>
          <p:cNvSpPr/>
          <p:nvPr/>
        </p:nvSpPr>
        <p:spPr>
          <a:xfrm>
            <a:off x="950976" y="3785616"/>
            <a:ext cx="3657600" cy="292608"/>
          </a:xfrm>
          <a:prstGeom prst="rect">
            <a:avLst/>
          </a:prstGeom>
          <a:noFill/>
          <a:ln/>
        </p:spPr>
        <p:txBody>
          <a:bodyPr wrap="square" lIns="0" tIns="0" rIns="0" bIns="0" rtlCol="0" anchor="ctr"/>
          <a:lstStyle/>
          <a:p>
            <a:pPr indent="0" marL="0">
              <a:buNone/>
            </a:pPr>
            <a:r>
              <a:rPr lang="en-US" sz="1200" b="1" dirty="0">
                <a:solidFill>
                  <a:srgbClr val="92400E"/>
                </a:solidFill>
                <a:latin typeface="Calibri" pitchFamily="34" charset="0"/>
                <a:ea typeface="Calibri" pitchFamily="34" charset="-122"/>
                <a:cs typeface="Calibri" pitchFamily="34" charset="-120"/>
              </a:rPr>
              <a:t>⚠️  INFINITE LOOP DANGER</a:t>
            </a:r>
            <a:endParaRPr lang="en-US" sz="1200" dirty="0"/>
          </a:p>
        </p:txBody>
      </p:sp>
      <p:sp>
        <p:nvSpPr>
          <p:cNvPr id="29" name="Text 22"/>
          <p:cNvSpPr/>
          <p:nvPr/>
        </p:nvSpPr>
        <p:spPr>
          <a:xfrm>
            <a:off x="950976" y="4059936"/>
            <a:ext cx="7726680" cy="237744"/>
          </a:xfrm>
          <a:prstGeom prst="rect">
            <a:avLst/>
          </a:prstGeom>
          <a:noFill/>
          <a:ln/>
        </p:spPr>
        <p:txBody>
          <a:bodyPr wrap="square" lIns="0" tIns="0" rIns="0" bIns="0" rtlCol="0" anchor="ctr"/>
          <a:lstStyle/>
          <a:p>
            <a:pPr indent="0" marL="0">
              <a:buNone/>
            </a:pPr>
            <a:r>
              <a:rPr lang="en-US" sz="950" dirty="0">
                <a:solidFill>
                  <a:srgbClr val="92400E"/>
                </a:solidFill>
                <a:latin typeface="Calibri" pitchFamily="34" charset="0"/>
                <a:ea typeface="Calibri" pitchFamily="34" charset="-122"/>
                <a:cs typeface="Calibri" pitchFamily="34" charset="-120"/>
              </a:rPr>
              <a:t>Without [skip ci]: commit → push event → workflow runs → commits → push event → workflow runs → ♾️ infinite loop!</a:t>
            </a:r>
            <a:endParaRPr lang="en-US" sz="950" dirty="0"/>
          </a:p>
        </p:txBody>
      </p:sp>
      <p:sp>
        <p:nvSpPr>
          <p:cNvPr id="30" name="Shape 23"/>
          <p:cNvSpPr/>
          <p:nvPr/>
        </p:nvSpPr>
        <p:spPr>
          <a:xfrm>
            <a:off x="950976" y="4334256"/>
            <a:ext cx="7726680" cy="219456"/>
          </a:xfrm>
          <a:prstGeom prst="rect">
            <a:avLst/>
          </a:prstGeom>
          <a:solidFill>
            <a:srgbClr val="FDE68A"/>
          </a:solidFill>
          <a:ln w="12700">
            <a:solidFill>
              <a:srgbClr val="F59E0B"/>
            </a:solidFill>
            <a:prstDash val="solid"/>
          </a:ln>
        </p:spPr>
      </p:sp>
      <p:sp>
        <p:nvSpPr>
          <p:cNvPr id="31" name="Text 24"/>
          <p:cNvSpPr/>
          <p:nvPr/>
        </p:nvSpPr>
        <p:spPr>
          <a:xfrm>
            <a:off x="950976" y="4334256"/>
            <a:ext cx="7726680" cy="219456"/>
          </a:xfrm>
          <a:prstGeom prst="rect">
            <a:avLst/>
          </a:prstGeom>
          <a:noFill/>
          <a:ln/>
        </p:spPr>
        <p:txBody>
          <a:bodyPr wrap="square" lIns="0" tIns="0" rIns="0" bIns="0" rtlCol="0" anchor="ctr"/>
          <a:lstStyle/>
          <a:p>
            <a:pPr algn="ctr" indent="0" marL="0">
              <a:buNone/>
            </a:pPr>
            <a:r>
              <a:rPr lang="en-US" sz="900" dirty="0">
                <a:solidFill>
                  <a:srgbClr val="92400E"/>
                </a:solidFill>
                <a:latin typeface="Consolas" pitchFamily="34" charset="0"/>
                <a:ea typeface="Consolas" pitchFamily="34" charset="-122"/>
                <a:cs typeface="Consolas" pitchFamily="34" charset="-120"/>
              </a:rPr>
              <a:t>✅  FIX: Add  "[skip ci]"  to your bot commit message  →  commit_message: "chore: bump version [skip ci]"</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Auto-Commit Pattern — Flow Diagram &amp; Safe Implementation</a:t>
            </a:r>
            <a:endParaRPr lang="en-US" sz="2500" dirty="0"/>
          </a:p>
        </p:txBody>
      </p:sp>
      <p:sp>
        <p:nvSpPr>
          <p:cNvPr id="4" name="Shape 2"/>
          <p:cNvSpPr/>
          <p:nvPr/>
        </p:nvSpPr>
        <p:spPr>
          <a:xfrm>
            <a:off x="384048" y="731520"/>
            <a:ext cx="1477670" cy="219456"/>
          </a:xfrm>
          <a:prstGeom prst="rect">
            <a:avLst/>
          </a:prstGeom>
          <a:solidFill>
            <a:srgbClr val="0D9488"/>
          </a:solidFill>
          <a:ln w="12700">
            <a:solidFill>
              <a:srgbClr val="0D9488"/>
            </a:solidFill>
            <a:prstDash val="solid"/>
          </a:ln>
        </p:spPr>
      </p:sp>
      <p:sp>
        <p:nvSpPr>
          <p:cNvPr id="5" name="Text 3"/>
          <p:cNvSpPr/>
          <p:nvPr/>
        </p:nvSpPr>
        <p:spPr>
          <a:xfrm>
            <a:off x="384048" y="731520"/>
            <a:ext cx="1477670"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FLOW DIAGRAM</a:t>
            </a:r>
            <a:endParaRPr lang="en-US" sz="850" dirty="0"/>
          </a:p>
        </p:txBody>
      </p:sp>
      <p:sp>
        <p:nvSpPr>
          <p:cNvPr id="6" name="Shape 4"/>
          <p:cNvSpPr/>
          <p:nvPr/>
        </p:nvSpPr>
        <p:spPr>
          <a:xfrm>
            <a:off x="320040" y="1078992"/>
            <a:ext cx="1188720" cy="1280160"/>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20040" y="1078992"/>
            <a:ext cx="1188720" cy="54864"/>
          </a:xfrm>
          <a:prstGeom prst="rect">
            <a:avLst/>
          </a:prstGeom>
          <a:solidFill>
            <a:srgbClr val="1A56DB"/>
          </a:solidFill>
          <a:ln w="12700">
            <a:solidFill>
              <a:srgbClr val="1A56DB"/>
            </a:solidFill>
            <a:prstDash val="solid"/>
          </a:ln>
        </p:spPr>
      </p:sp>
      <p:pic>
        <p:nvPicPr>
          <p:cNvPr id="8" name="Image 0" descr="preencoded.png">    </p:cNvPr>
          <p:cNvPicPr>
            <a:picLocks noChangeAspect="1"/>
          </p:cNvPicPr>
          <p:nvPr/>
        </p:nvPicPr>
        <p:blipFill>
          <a:blip r:embed="rId1"/>
          <a:stretch>
            <a:fillRect/>
          </a:stretch>
        </p:blipFill>
        <p:spPr>
          <a:xfrm>
            <a:off x="731520" y="1225296"/>
            <a:ext cx="365760" cy="365760"/>
          </a:xfrm>
          <a:prstGeom prst="rect">
            <a:avLst/>
          </a:prstGeom>
        </p:spPr>
      </p:pic>
      <p:sp>
        <p:nvSpPr>
          <p:cNvPr id="9" name="Text 6"/>
          <p:cNvSpPr/>
          <p:nvPr/>
        </p:nvSpPr>
        <p:spPr>
          <a:xfrm>
            <a:off x="320040" y="1682496"/>
            <a:ext cx="1188720" cy="585216"/>
          </a:xfrm>
          <a:prstGeom prst="rect">
            <a:avLst/>
          </a:prstGeom>
          <a:noFill/>
          <a:ln/>
        </p:spPr>
        <p:txBody>
          <a:bodyPr wrap="square" lIns="0" tIns="0" rIns="0" bIns="0"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Developer</a:t>
            </a:r>
            <a:endParaRPr lang="en-US" sz="900" dirty="0"/>
          </a:p>
          <a:p>
            <a:pPr algn="ctr" indent="0" marL="0">
              <a:buNone/>
            </a:pPr>
            <a:r>
              <a:rPr lang="en-US" sz="900" b="1" dirty="0">
                <a:solidFill>
                  <a:srgbClr val="1E293B"/>
                </a:solidFill>
                <a:latin typeface="Calibri" pitchFamily="34" charset="0"/>
                <a:ea typeface="Calibri" pitchFamily="34" charset="-122"/>
                <a:cs typeface="Calibri" pitchFamily="34" charset="-120"/>
              </a:rPr>
              <a:t>pushes code</a:t>
            </a:r>
            <a:endParaRPr lang="en-US" sz="900" dirty="0"/>
          </a:p>
        </p:txBody>
      </p:sp>
      <p:sp>
        <p:nvSpPr>
          <p:cNvPr id="10" name="Shape 7"/>
          <p:cNvSpPr/>
          <p:nvPr/>
        </p:nvSpPr>
        <p:spPr>
          <a:xfrm>
            <a:off x="1508760" y="1700784"/>
            <a:ext cx="91440" cy="36576"/>
          </a:xfrm>
          <a:prstGeom prst="rect">
            <a:avLst/>
          </a:prstGeom>
          <a:solidFill>
            <a:srgbClr val="1A56DB"/>
          </a:solidFill>
          <a:ln w="12700">
            <a:solidFill>
              <a:srgbClr val="1A56DB"/>
            </a:solidFill>
            <a:prstDash val="solid"/>
          </a:ln>
        </p:spPr>
      </p:sp>
      <p:sp>
        <p:nvSpPr>
          <p:cNvPr id="11" name="Shape 8"/>
          <p:cNvSpPr/>
          <p:nvPr/>
        </p:nvSpPr>
        <p:spPr>
          <a:xfrm>
            <a:off x="1600200" y="1078992"/>
            <a:ext cx="1188720" cy="1280160"/>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12" name="Shape 9"/>
          <p:cNvSpPr/>
          <p:nvPr/>
        </p:nvSpPr>
        <p:spPr>
          <a:xfrm>
            <a:off x="1600200" y="1078992"/>
            <a:ext cx="1188720" cy="54864"/>
          </a:xfrm>
          <a:prstGeom prst="rect">
            <a:avLst/>
          </a:prstGeom>
          <a:solidFill>
            <a:srgbClr val="7C3AED"/>
          </a:solidFill>
          <a:ln w="12700">
            <a:solidFill>
              <a:srgbClr val="7C3AED"/>
            </a:solidFill>
            <a:prstDash val="solid"/>
          </a:ln>
        </p:spPr>
      </p:sp>
      <p:pic>
        <p:nvPicPr>
          <p:cNvPr id="13" name="Image 1" descr="preencoded.png">    </p:cNvPr>
          <p:cNvPicPr>
            <a:picLocks noChangeAspect="1"/>
          </p:cNvPicPr>
          <p:nvPr/>
        </p:nvPicPr>
        <p:blipFill>
          <a:blip r:embed="rId2"/>
          <a:stretch>
            <a:fillRect/>
          </a:stretch>
        </p:blipFill>
        <p:spPr>
          <a:xfrm>
            <a:off x="2011680" y="1225296"/>
            <a:ext cx="365760" cy="365760"/>
          </a:xfrm>
          <a:prstGeom prst="rect">
            <a:avLst/>
          </a:prstGeom>
        </p:spPr>
      </p:pic>
      <p:sp>
        <p:nvSpPr>
          <p:cNvPr id="14" name="Text 10"/>
          <p:cNvSpPr/>
          <p:nvPr/>
        </p:nvSpPr>
        <p:spPr>
          <a:xfrm>
            <a:off x="1600200" y="1682496"/>
            <a:ext cx="1188720" cy="585216"/>
          </a:xfrm>
          <a:prstGeom prst="rect">
            <a:avLst/>
          </a:prstGeom>
          <a:noFill/>
          <a:ln/>
        </p:spPr>
        <p:txBody>
          <a:bodyPr wrap="square" lIns="0" tIns="0" rIns="0" bIns="0"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Workflow</a:t>
            </a:r>
            <a:endParaRPr lang="en-US" sz="900" dirty="0"/>
          </a:p>
          <a:p>
            <a:pPr algn="ctr" indent="0" marL="0">
              <a:buNone/>
            </a:pPr>
            <a:r>
              <a:rPr lang="en-US" sz="900" b="1" dirty="0">
                <a:solidFill>
                  <a:srgbClr val="1E293B"/>
                </a:solidFill>
                <a:latin typeface="Calibri" pitchFamily="34" charset="0"/>
                <a:ea typeface="Calibri" pitchFamily="34" charset="-122"/>
                <a:cs typeface="Calibri" pitchFamily="34" charset="-120"/>
              </a:rPr>
              <a:t>triggered</a:t>
            </a:r>
            <a:endParaRPr lang="en-US" sz="900" dirty="0"/>
          </a:p>
        </p:txBody>
      </p:sp>
      <p:sp>
        <p:nvSpPr>
          <p:cNvPr id="15" name="Shape 11"/>
          <p:cNvSpPr/>
          <p:nvPr/>
        </p:nvSpPr>
        <p:spPr>
          <a:xfrm>
            <a:off x="2788920" y="1700784"/>
            <a:ext cx="91440" cy="36576"/>
          </a:xfrm>
          <a:prstGeom prst="rect">
            <a:avLst/>
          </a:prstGeom>
          <a:solidFill>
            <a:srgbClr val="7C3AED"/>
          </a:solidFill>
          <a:ln w="12700">
            <a:solidFill>
              <a:srgbClr val="7C3AED"/>
            </a:solidFill>
            <a:prstDash val="solid"/>
          </a:ln>
        </p:spPr>
      </p:sp>
      <p:sp>
        <p:nvSpPr>
          <p:cNvPr id="16" name="Shape 12"/>
          <p:cNvSpPr/>
          <p:nvPr/>
        </p:nvSpPr>
        <p:spPr>
          <a:xfrm>
            <a:off x="2880360" y="1078992"/>
            <a:ext cx="1188720" cy="1280160"/>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17" name="Shape 13"/>
          <p:cNvSpPr/>
          <p:nvPr/>
        </p:nvSpPr>
        <p:spPr>
          <a:xfrm>
            <a:off x="2880360" y="1078992"/>
            <a:ext cx="1188720" cy="54864"/>
          </a:xfrm>
          <a:prstGeom prst="rect">
            <a:avLst/>
          </a:prstGeom>
          <a:solidFill>
            <a:srgbClr val="F59E0B"/>
          </a:solidFill>
          <a:ln w="12700">
            <a:solidFill>
              <a:srgbClr val="F59E0B"/>
            </a:solidFill>
            <a:prstDash val="solid"/>
          </a:ln>
        </p:spPr>
      </p:sp>
      <p:pic>
        <p:nvPicPr>
          <p:cNvPr id="18" name="Image 2" descr="preencoded.png">    </p:cNvPr>
          <p:cNvPicPr>
            <a:picLocks noChangeAspect="1"/>
          </p:cNvPicPr>
          <p:nvPr/>
        </p:nvPicPr>
        <p:blipFill>
          <a:blip r:embed="rId3"/>
          <a:stretch>
            <a:fillRect/>
          </a:stretch>
        </p:blipFill>
        <p:spPr>
          <a:xfrm>
            <a:off x="3291840" y="1225296"/>
            <a:ext cx="365760" cy="365760"/>
          </a:xfrm>
          <a:prstGeom prst="rect">
            <a:avLst/>
          </a:prstGeom>
        </p:spPr>
      </p:pic>
      <p:sp>
        <p:nvSpPr>
          <p:cNvPr id="19" name="Text 14"/>
          <p:cNvSpPr/>
          <p:nvPr/>
        </p:nvSpPr>
        <p:spPr>
          <a:xfrm>
            <a:off x="2880360" y="1682496"/>
            <a:ext cx="1188720" cy="585216"/>
          </a:xfrm>
          <a:prstGeom prst="rect">
            <a:avLst/>
          </a:prstGeom>
          <a:noFill/>
          <a:ln/>
        </p:spPr>
        <p:txBody>
          <a:bodyPr wrap="square" lIns="0" tIns="0" rIns="0" bIns="0"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Build &amp;</a:t>
            </a:r>
            <a:endParaRPr lang="en-US" sz="900" dirty="0"/>
          </a:p>
          <a:p>
            <a:pPr algn="ctr" indent="0" marL="0">
              <a:buNone/>
            </a:pPr>
            <a:r>
              <a:rPr lang="en-US" sz="900" b="1" dirty="0">
                <a:solidFill>
                  <a:srgbClr val="1E293B"/>
                </a:solidFill>
                <a:latin typeface="Calibri" pitchFamily="34" charset="0"/>
                <a:ea typeface="Calibri" pitchFamily="34" charset="-122"/>
                <a:cs typeface="Calibri" pitchFamily="34" charset="-120"/>
              </a:rPr>
              <a:t>Generate</a:t>
            </a:r>
            <a:endParaRPr lang="en-US" sz="900" dirty="0"/>
          </a:p>
        </p:txBody>
      </p:sp>
      <p:sp>
        <p:nvSpPr>
          <p:cNvPr id="20" name="Shape 15"/>
          <p:cNvSpPr/>
          <p:nvPr/>
        </p:nvSpPr>
        <p:spPr>
          <a:xfrm>
            <a:off x="4069080" y="1700784"/>
            <a:ext cx="91440" cy="36576"/>
          </a:xfrm>
          <a:prstGeom prst="rect">
            <a:avLst/>
          </a:prstGeom>
          <a:solidFill>
            <a:srgbClr val="F59E0B"/>
          </a:solidFill>
          <a:ln w="12700">
            <a:solidFill>
              <a:srgbClr val="F59E0B"/>
            </a:solidFill>
            <a:prstDash val="solid"/>
          </a:ln>
        </p:spPr>
      </p:sp>
      <p:sp>
        <p:nvSpPr>
          <p:cNvPr id="21" name="Shape 16"/>
          <p:cNvSpPr/>
          <p:nvPr/>
        </p:nvSpPr>
        <p:spPr>
          <a:xfrm>
            <a:off x="4160520" y="1078992"/>
            <a:ext cx="1188720" cy="1280160"/>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22" name="Shape 17"/>
          <p:cNvSpPr/>
          <p:nvPr/>
        </p:nvSpPr>
        <p:spPr>
          <a:xfrm>
            <a:off x="4160520" y="1078992"/>
            <a:ext cx="1188720" cy="54864"/>
          </a:xfrm>
          <a:prstGeom prst="rect">
            <a:avLst/>
          </a:prstGeom>
          <a:solidFill>
            <a:srgbClr val="EA580C"/>
          </a:solidFill>
          <a:ln w="12700">
            <a:solidFill>
              <a:srgbClr val="EA580C"/>
            </a:solidFill>
            <a:prstDash val="solid"/>
          </a:ln>
        </p:spPr>
      </p:sp>
      <p:pic>
        <p:nvPicPr>
          <p:cNvPr id="23" name="Image 3" descr="preencoded.png">    </p:cNvPr>
          <p:cNvPicPr>
            <a:picLocks noChangeAspect="1"/>
          </p:cNvPicPr>
          <p:nvPr/>
        </p:nvPicPr>
        <p:blipFill>
          <a:blip r:embed="rId4"/>
          <a:stretch>
            <a:fillRect/>
          </a:stretch>
        </p:blipFill>
        <p:spPr>
          <a:xfrm>
            <a:off x="4572000" y="1225296"/>
            <a:ext cx="365760" cy="365760"/>
          </a:xfrm>
          <a:prstGeom prst="rect">
            <a:avLst/>
          </a:prstGeom>
        </p:spPr>
      </p:pic>
      <p:sp>
        <p:nvSpPr>
          <p:cNvPr id="24" name="Text 18"/>
          <p:cNvSpPr/>
          <p:nvPr/>
        </p:nvSpPr>
        <p:spPr>
          <a:xfrm>
            <a:off x="4160520" y="1682496"/>
            <a:ext cx="1188720" cy="585216"/>
          </a:xfrm>
          <a:prstGeom prst="rect">
            <a:avLst/>
          </a:prstGeom>
          <a:noFill/>
          <a:ln/>
        </p:spPr>
        <p:txBody>
          <a:bodyPr wrap="square" lIns="0" tIns="0" rIns="0" bIns="0"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File changed</a:t>
            </a:r>
            <a:endParaRPr lang="en-US" sz="900" dirty="0"/>
          </a:p>
          <a:p>
            <a:pPr algn="ctr" indent="0" marL="0">
              <a:buNone/>
            </a:pPr>
            <a:r>
              <a:rPr lang="en-US" sz="900" b="1" dirty="0">
                <a:solidFill>
                  <a:srgbClr val="1E293B"/>
                </a:solidFill>
                <a:latin typeface="Calibri" pitchFamily="34" charset="0"/>
                <a:ea typeface="Calibri" pitchFamily="34" charset="-122"/>
                <a:cs typeface="Calibri" pitchFamily="34" charset="-120"/>
              </a:rPr>
              <a:t>(pom.xml etc)</a:t>
            </a:r>
            <a:endParaRPr lang="en-US" sz="900" dirty="0"/>
          </a:p>
        </p:txBody>
      </p:sp>
      <p:sp>
        <p:nvSpPr>
          <p:cNvPr id="25" name="Shape 19"/>
          <p:cNvSpPr/>
          <p:nvPr/>
        </p:nvSpPr>
        <p:spPr>
          <a:xfrm>
            <a:off x="5349240" y="1700784"/>
            <a:ext cx="91440" cy="36576"/>
          </a:xfrm>
          <a:prstGeom prst="rect">
            <a:avLst/>
          </a:prstGeom>
          <a:solidFill>
            <a:srgbClr val="EA580C"/>
          </a:solidFill>
          <a:ln w="12700">
            <a:solidFill>
              <a:srgbClr val="EA580C"/>
            </a:solidFill>
            <a:prstDash val="solid"/>
          </a:ln>
        </p:spPr>
      </p:sp>
      <p:sp>
        <p:nvSpPr>
          <p:cNvPr id="26" name="Shape 20"/>
          <p:cNvSpPr/>
          <p:nvPr/>
        </p:nvSpPr>
        <p:spPr>
          <a:xfrm>
            <a:off x="5440680" y="1078992"/>
            <a:ext cx="1188720" cy="1280160"/>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27" name="Shape 21"/>
          <p:cNvSpPr/>
          <p:nvPr/>
        </p:nvSpPr>
        <p:spPr>
          <a:xfrm>
            <a:off x="5440680" y="1078992"/>
            <a:ext cx="1188720" cy="54864"/>
          </a:xfrm>
          <a:prstGeom prst="rect">
            <a:avLst/>
          </a:prstGeom>
          <a:solidFill>
            <a:srgbClr val="0D9488"/>
          </a:solidFill>
          <a:ln w="12700">
            <a:solidFill>
              <a:srgbClr val="0D9488"/>
            </a:solidFill>
            <a:prstDash val="solid"/>
          </a:ln>
        </p:spPr>
      </p:sp>
      <p:pic>
        <p:nvPicPr>
          <p:cNvPr id="28" name="Image 4" descr="preencoded.png">    </p:cNvPr>
          <p:cNvPicPr>
            <a:picLocks noChangeAspect="1"/>
          </p:cNvPicPr>
          <p:nvPr/>
        </p:nvPicPr>
        <p:blipFill>
          <a:blip r:embed="rId5"/>
          <a:stretch>
            <a:fillRect/>
          </a:stretch>
        </p:blipFill>
        <p:spPr>
          <a:xfrm>
            <a:off x="5852160" y="1225296"/>
            <a:ext cx="365760" cy="365760"/>
          </a:xfrm>
          <a:prstGeom prst="rect">
            <a:avLst/>
          </a:prstGeom>
        </p:spPr>
      </p:pic>
      <p:sp>
        <p:nvSpPr>
          <p:cNvPr id="29" name="Text 22"/>
          <p:cNvSpPr/>
          <p:nvPr/>
        </p:nvSpPr>
        <p:spPr>
          <a:xfrm>
            <a:off x="5440680" y="1682496"/>
            <a:ext cx="1188720" cy="585216"/>
          </a:xfrm>
          <a:prstGeom prst="rect">
            <a:avLst/>
          </a:prstGeom>
          <a:noFill/>
          <a:ln/>
        </p:spPr>
        <p:txBody>
          <a:bodyPr wrap="square" lIns="0" tIns="0" rIns="0" bIns="0"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git-auto-commit</a:t>
            </a:r>
            <a:endParaRPr lang="en-US" sz="900" dirty="0"/>
          </a:p>
          <a:p>
            <a:pPr algn="ctr" indent="0" marL="0">
              <a:buNone/>
            </a:pPr>
            <a:r>
              <a:rPr lang="en-US" sz="900" b="1" dirty="0">
                <a:solidFill>
                  <a:srgbClr val="1E293B"/>
                </a:solidFill>
                <a:latin typeface="Calibri" pitchFamily="34" charset="0"/>
                <a:ea typeface="Calibri" pitchFamily="34" charset="-122"/>
                <a:cs typeface="Calibri" pitchFamily="34" charset="-120"/>
              </a:rPr>
              <a:t>[skip ci]</a:t>
            </a:r>
            <a:endParaRPr lang="en-US" sz="900" dirty="0"/>
          </a:p>
        </p:txBody>
      </p:sp>
      <p:sp>
        <p:nvSpPr>
          <p:cNvPr id="30" name="Shape 23"/>
          <p:cNvSpPr/>
          <p:nvPr/>
        </p:nvSpPr>
        <p:spPr>
          <a:xfrm>
            <a:off x="6629400" y="1700784"/>
            <a:ext cx="91440" cy="36576"/>
          </a:xfrm>
          <a:prstGeom prst="rect">
            <a:avLst/>
          </a:prstGeom>
          <a:solidFill>
            <a:srgbClr val="0D9488"/>
          </a:solidFill>
          <a:ln w="12700">
            <a:solidFill>
              <a:srgbClr val="0D9488"/>
            </a:solidFill>
            <a:prstDash val="solid"/>
          </a:ln>
        </p:spPr>
      </p:sp>
      <p:sp>
        <p:nvSpPr>
          <p:cNvPr id="31" name="Shape 24"/>
          <p:cNvSpPr/>
          <p:nvPr/>
        </p:nvSpPr>
        <p:spPr>
          <a:xfrm>
            <a:off x="6720840" y="1078992"/>
            <a:ext cx="1188720" cy="1280160"/>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32" name="Shape 25"/>
          <p:cNvSpPr/>
          <p:nvPr/>
        </p:nvSpPr>
        <p:spPr>
          <a:xfrm>
            <a:off x="6720840" y="1078992"/>
            <a:ext cx="1188720" cy="54864"/>
          </a:xfrm>
          <a:prstGeom prst="rect">
            <a:avLst/>
          </a:prstGeom>
          <a:solidFill>
            <a:srgbClr val="10B981"/>
          </a:solidFill>
          <a:ln w="12700">
            <a:solidFill>
              <a:srgbClr val="10B981"/>
            </a:solidFill>
            <a:prstDash val="solid"/>
          </a:ln>
        </p:spPr>
      </p:sp>
      <p:pic>
        <p:nvPicPr>
          <p:cNvPr id="33" name="Image 5" descr="preencoded.png">    </p:cNvPr>
          <p:cNvPicPr>
            <a:picLocks noChangeAspect="1"/>
          </p:cNvPicPr>
          <p:nvPr/>
        </p:nvPicPr>
        <p:blipFill>
          <a:blip r:embed="rId6"/>
          <a:stretch>
            <a:fillRect/>
          </a:stretch>
        </p:blipFill>
        <p:spPr>
          <a:xfrm>
            <a:off x="7132320" y="1225296"/>
            <a:ext cx="365760" cy="365760"/>
          </a:xfrm>
          <a:prstGeom prst="rect">
            <a:avLst/>
          </a:prstGeom>
        </p:spPr>
      </p:pic>
      <p:sp>
        <p:nvSpPr>
          <p:cNvPr id="34" name="Text 26"/>
          <p:cNvSpPr/>
          <p:nvPr/>
        </p:nvSpPr>
        <p:spPr>
          <a:xfrm>
            <a:off x="6720840" y="1682496"/>
            <a:ext cx="1188720" cy="585216"/>
          </a:xfrm>
          <a:prstGeom prst="rect">
            <a:avLst/>
          </a:prstGeom>
          <a:noFill/>
          <a:ln/>
        </p:spPr>
        <p:txBody>
          <a:bodyPr wrap="square" lIns="0" tIns="0" rIns="0" bIns="0"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Repo updated</a:t>
            </a:r>
            <a:endParaRPr lang="en-US" sz="900" dirty="0"/>
          </a:p>
          <a:p>
            <a:pPr algn="ctr" indent="0" marL="0">
              <a:buNone/>
            </a:pPr>
            <a:r>
              <a:rPr lang="en-US" sz="900" b="1" dirty="0">
                <a:solidFill>
                  <a:srgbClr val="1E293B"/>
                </a:solidFill>
                <a:latin typeface="Calibri" pitchFamily="34" charset="0"/>
                <a:ea typeface="Calibri" pitchFamily="34" charset="-122"/>
                <a:cs typeface="Calibri" pitchFamily="34" charset="-120"/>
              </a:rPr>
              <a:t>no re-trigger</a:t>
            </a:r>
            <a:endParaRPr lang="en-US" sz="900" dirty="0"/>
          </a:p>
        </p:txBody>
      </p:sp>
      <p:sp>
        <p:nvSpPr>
          <p:cNvPr id="35" name="Shape 27"/>
          <p:cNvSpPr/>
          <p:nvPr/>
        </p:nvSpPr>
        <p:spPr>
          <a:xfrm>
            <a:off x="347472" y="2487168"/>
            <a:ext cx="5303520" cy="2542032"/>
          </a:xfrm>
          <a:prstGeom prst="rect">
            <a:avLst/>
          </a:prstGeom>
          <a:solidFill>
            <a:srgbClr val="1E1E2E"/>
          </a:solidFill>
          <a:ln w="6350">
            <a:solidFill>
              <a:srgbClr val="334155"/>
            </a:solidFill>
            <a:prstDash val="solid"/>
          </a:ln>
        </p:spPr>
      </p:sp>
      <p:sp>
        <p:nvSpPr>
          <p:cNvPr id="36" name="Shape 28"/>
          <p:cNvSpPr/>
          <p:nvPr/>
        </p:nvSpPr>
        <p:spPr>
          <a:xfrm>
            <a:off x="457200" y="2578608"/>
            <a:ext cx="118872" cy="118872"/>
          </a:xfrm>
          <a:prstGeom prst="ellipse">
            <a:avLst/>
          </a:prstGeom>
          <a:solidFill>
            <a:srgbClr val="EF4444"/>
          </a:solidFill>
          <a:ln w="12700">
            <a:solidFill>
              <a:srgbClr val="EF4444"/>
            </a:solidFill>
            <a:prstDash val="solid"/>
          </a:ln>
        </p:spPr>
      </p:sp>
      <p:sp>
        <p:nvSpPr>
          <p:cNvPr id="37" name="Shape 29"/>
          <p:cNvSpPr/>
          <p:nvPr/>
        </p:nvSpPr>
        <p:spPr>
          <a:xfrm>
            <a:off x="658368" y="2578608"/>
            <a:ext cx="118872" cy="118872"/>
          </a:xfrm>
          <a:prstGeom prst="ellipse">
            <a:avLst/>
          </a:prstGeom>
          <a:solidFill>
            <a:srgbClr val="F59E0B"/>
          </a:solidFill>
          <a:ln w="12700">
            <a:solidFill>
              <a:srgbClr val="F59E0B"/>
            </a:solidFill>
            <a:prstDash val="solid"/>
          </a:ln>
        </p:spPr>
      </p:sp>
      <p:sp>
        <p:nvSpPr>
          <p:cNvPr id="38" name="Shape 30"/>
          <p:cNvSpPr/>
          <p:nvPr/>
        </p:nvSpPr>
        <p:spPr>
          <a:xfrm>
            <a:off x="859536" y="2578608"/>
            <a:ext cx="118872" cy="118872"/>
          </a:xfrm>
          <a:prstGeom prst="ellipse">
            <a:avLst/>
          </a:prstGeom>
          <a:solidFill>
            <a:srgbClr val="10B981"/>
          </a:solidFill>
          <a:ln w="12700">
            <a:solidFill>
              <a:srgbClr val="10B981"/>
            </a:solidFill>
            <a:prstDash val="solid"/>
          </a:ln>
        </p:spPr>
      </p:sp>
      <p:sp>
        <p:nvSpPr>
          <p:cNvPr id="39" name="Text 31"/>
          <p:cNvSpPr/>
          <p:nvPr/>
        </p:nvSpPr>
        <p:spPr>
          <a:xfrm>
            <a:off x="347472" y="2551176"/>
            <a:ext cx="5303520" cy="18288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auto-version.yml</a:t>
            </a:r>
            <a:endParaRPr lang="en-US" sz="850" dirty="0"/>
          </a:p>
        </p:txBody>
      </p:sp>
      <p:sp>
        <p:nvSpPr>
          <p:cNvPr id="40" name="Text 32"/>
          <p:cNvSpPr/>
          <p:nvPr/>
        </p:nvSpPr>
        <p:spPr>
          <a:xfrm>
            <a:off x="457200" y="2834640"/>
            <a:ext cx="5084064" cy="134874"/>
          </a:xfrm>
          <a:prstGeom prst="rect">
            <a:avLst/>
          </a:prstGeom>
          <a:noFill/>
          <a:ln/>
        </p:spPr>
        <p:txBody>
          <a:bodyPr wrap="square" lIns="0" tIns="0" rIns="0" bIns="0" rtlCol="0" anchor="ctr"/>
          <a:lstStyle/>
          <a:p>
            <a:pPr indent="0" marL="0">
              <a:buNone/>
            </a:pPr>
            <a:r>
              <a:rPr lang="en-US" sz="800" dirty="0">
                <a:solidFill>
                  <a:srgbClr val="06B6D4"/>
                </a:solidFill>
                <a:latin typeface="Consolas" pitchFamily="34" charset="0"/>
                <a:ea typeface="Consolas" pitchFamily="34" charset="-122"/>
                <a:cs typeface="Consolas" pitchFamily="34" charset="-120"/>
              </a:rPr>
              <a:t>jobs:</a:t>
            </a:r>
            <a:endParaRPr lang="en-US" sz="800" dirty="0"/>
          </a:p>
        </p:txBody>
      </p:sp>
      <p:sp>
        <p:nvSpPr>
          <p:cNvPr id="41" name="Text 33"/>
          <p:cNvSpPr/>
          <p:nvPr/>
        </p:nvSpPr>
        <p:spPr>
          <a:xfrm>
            <a:off x="457200" y="2969514"/>
            <a:ext cx="5084064" cy="134874"/>
          </a:xfrm>
          <a:prstGeom prst="rect">
            <a:avLst/>
          </a:prstGeom>
          <a:noFill/>
          <a:ln/>
        </p:spPr>
        <p:txBody>
          <a:bodyPr wrap="square" lIns="0" tIns="0" rIns="0" bIns="0" rtlCol="0" anchor="ctr"/>
          <a:lstStyle/>
          <a:p>
            <a:pPr indent="0" marL="0">
              <a:buNone/>
            </a:pPr>
            <a:r>
              <a:rPr lang="en-US" sz="800" dirty="0">
                <a:solidFill>
                  <a:srgbClr val="F59E0B"/>
                </a:solidFill>
                <a:latin typeface="Consolas" pitchFamily="34" charset="0"/>
                <a:ea typeface="Consolas" pitchFamily="34" charset="-122"/>
                <a:cs typeface="Consolas" pitchFamily="34" charset="-120"/>
              </a:rPr>
              <a:t>  auto-version:</a:t>
            </a:r>
            <a:endParaRPr lang="en-US" sz="800" dirty="0"/>
          </a:p>
        </p:txBody>
      </p:sp>
      <p:sp>
        <p:nvSpPr>
          <p:cNvPr id="42" name="Text 34"/>
          <p:cNvSpPr/>
          <p:nvPr/>
        </p:nvSpPr>
        <p:spPr>
          <a:xfrm>
            <a:off x="457200" y="3104388"/>
            <a:ext cx="5084064" cy="134874"/>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runs-on: ubuntu-latest</a:t>
            </a:r>
            <a:endParaRPr lang="en-US" sz="800" dirty="0"/>
          </a:p>
        </p:txBody>
      </p:sp>
      <p:sp>
        <p:nvSpPr>
          <p:cNvPr id="43" name="Text 35"/>
          <p:cNvSpPr/>
          <p:nvPr/>
        </p:nvSpPr>
        <p:spPr>
          <a:xfrm>
            <a:off x="457200" y="3239262"/>
            <a:ext cx="5084064" cy="134874"/>
          </a:xfrm>
          <a:prstGeom prst="rect">
            <a:avLst/>
          </a:prstGeom>
          <a:noFill/>
          <a:ln/>
        </p:spPr>
        <p:txBody>
          <a:bodyPr wrap="square" lIns="0" tIns="0" rIns="0" bIns="0" rtlCol="0" anchor="ctr"/>
          <a:lstStyle/>
          <a:p>
            <a:pPr indent="0" marL="0">
              <a:buNone/>
            </a:pPr>
            <a:r>
              <a:rPr lang="en-US" sz="800" dirty="0">
                <a:solidFill>
                  <a:srgbClr val="06B6D4"/>
                </a:solidFill>
                <a:latin typeface="Consolas" pitchFamily="34" charset="0"/>
                <a:ea typeface="Consolas" pitchFamily="34" charset="-122"/>
                <a:cs typeface="Consolas" pitchFamily="34" charset="-120"/>
              </a:rPr>
              <a:t>    permissions:</a:t>
            </a:r>
            <a:endParaRPr lang="en-US" sz="800" dirty="0"/>
          </a:p>
        </p:txBody>
      </p:sp>
      <p:sp>
        <p:nvSpPr>
          <p:cNvPr id="44" name="Text 36"/>
          <p:cNvSpPr/>
          <p:nvPr/>
        </p:nvSpPr>
        <p:spPr>
          <a:xfrm>
            <a:off x="457200" y="3374136"/>
            <a:ext cx="5084064" cy="134874"/>
          </a:xfrm>
          <a:prstGeom prst="rect">
            <a:avLst/>
          </a:prstGeom>
          <a:noFill/>
          <a:ln/>
        </p:spPr>
        <p:txBody>
          <a:bodyPr wrap="square" lIns="0" tIns="0" rIns="0" bIns="0" rtlCol="0" anchor="ctr"/>
          <a:lstStyle/>
          <a:p>
            <a:pPr indent="0" marL="0">
              <a:buNone/>
            </a:pPr>
            <a:r>
              <a:rPr lang="en-US" sz="800" dirty="0">
                <a:solidFill>
                  <a:srgbClr val="10B981"/>
                </a:solidFill>
                <a:latin typeface="Consolas" pitchFamily="34" charset="0"/>
                <a:ea typeface="Consolas" pitchFamily="34" charset="-122"/>
                <a:cs typeface="Consolas" pitchFamily="34" charset="-120"/>
              </a:rPr>
              <a:t>      contents: write   # REQUIRED for commits</a:t>
            </a:r>
            <a:endParaRPr lang="en-US" sz="800" dirty="0"/>
          </a:p>
        </p:txBody>
      </p:sp>
      <p:sp>
        <p:nvSpPr>
          <p:cNvPr id="45" name="Text 37"/>
          <p:cNvSpPr/>
          <p:nvPr/>
        </p:nvSpPr>
        <p:spPr>
          <a:xfrm>
            <a:off x="457200" y="3509010"/>
            <a:ext cx="5084064" cy="134874"/>
          </a:xfrm>
          <a:prstGeom prst="rect">
            <a:avLst/>
          </a:prstGeom>
          <a:noFill/>
          <a:ln/>
        </p:spPr>
        <p:txBody>
          <a:bodyPr wrap="square" lIns="0" tIns="0" rIns="0" bIns="0" rtlCol="0" anchor="ctr"/>
          <a:lstStyle/>
          <a:p>
            <a:pPr indent="0" marL="0">
              <a:buNone/>
            </a:pPr>
            <a:r>
              <a:rPr lang="en-US" sz="800" dirty="0">
                <a:solidFill>
                  <a:srgbClr val="06B6D4"/>
                </a:solidFill>
                <a:latin typeface="Consolas" pitchFamily="34" charset="0"/>
                <a:ea typeface="Consolas" pitchFamily="34" charset="-122"/>
                <a:cs typeface="Consolas" pitchFamily="34" charset="-120"/>
              </a:rPr>
              <a:t>    steps:</a:t>
            </a:r>
            <a:endParaRPr lang="en-US" sz="800" dirty="0"/>
          </a:p>
        </p:txBody>
      </p:sp>
      <p:sp>
        <p:nvSpPr>
          <p:cNvPr id="46" name="Text 38"/>
          <p:cNvSpPr/>
          <p:nvPr/>
        </p:nvSpPr>
        <p:spPr>
          <a:xfrm>
            <a:off x="457200" y="3643884"/>
            <a:ext cx="5084064" cy="134874"/>
          </a:xfrm>
          <a:prstGeom prst="rect">
            <a:avLst/>
          </a:prstGeom>
          <a:noFill/>
          <a:ln/>
        </p:spPr>
        <p:txBody>
          <a:bodyPr wrap="square" lIns="0" tIns="0" rIns="0" bIns="0" rtlCol="0" anchor="ctr"/>
          <a:lstStyle/>
          <a:p>
            <a:pPr indent="0" marL="0">
              <a:buNone/>
            </a:pPr>
            <a:r>
              <a:rPr lang="en-US" sz="800" dirty="0">
                <a:solidFill>
                  <a:srgbClr val="10B981"/>
                </a:solidFill>
                <a:latin typeface="Consolas" pitchFamily="34" charset="0"/>
                <a:ea typeface="Consolas" pitchFamily="34" charset="-122"/>
                <a:cs typeface="Consolas" pitchFamily="34" charset="-120"/>
              </a:rPr>
              <a:t>      - uses: actions/checkout@v4</a:t>
            </a:r>
            <a:endParaRPr lang="en-US" sz="800" dirty="0"/>
          </a:p>
        </p:txBody>
      </p:sp>
      <p:sp>
        <p:nvSpPr>
          <p:cNvPr id="47" name="Text 39"/>
          <p:cNvSpPr/>
          <p:nvPr/>
        </p:nvSpPr>
        <p:spPr>
          <a:xfrm>
            <a:off x="457200" y="3778758"/>
            <a:ext cx="5084064" cy="134874"/>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with: { token: ${{ secrets.GITHUB_TOKEN }} }</a:t>
            </a:r>
            <a:endParaRPr lang="en-US" sz="800" dirty="0"/>
          </a:p>
        </p:txBody>
      </p:sp>
      <p:sp>
        <p:nvSpPr>
          <p:cNvPr id="48" name="Text 40"/>
          <p:cNvSpPr/>
          <p:nvPr/>
        </p:nvSpPr>
        <p:spPr>
          <a:xfrm>
            <a:off x="457200" y="3913632"/>
            <a:ext cx="5084064" cy="134874"/>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 name: Bump pom.xml version</a:t>
            </a:r>
            <a:endParaRPr lang="en-US" sz="800" dirty="0"/>
          </a:p>
        </p:txBody>
      </p:sp>
      <p:sp>
        <p:nvSpPr>
          <p:cNvPr id="49" name="Text 41"/>
          <p:cNvSpPr/>
          <p:nvPr/>
        </p:nvSpPr>
        <p:spPr>
          <a:xfrm>
            <a:off x="457200" y="4048506"/>
            <a:ext cx="5084064" cy="134874"/>
          </a:xfrm>
          <a:prstGeom prst="rect">
            <a:avLst/>
          </a:prstGeom>
          <a:noFill/>
          <a:ln/>
        </p:spPr>
        <p:txBody>
          <a:bodyPr wrap="square" lIns="0" tIns="0" rIns="0" bIns="0" rtlCol="0" anchor="ctr"/>
          <a:lstStyle/>
          <a:p>
            <a:pPr indent="0" marL="0">
              <a:buNone/>
            </a:pPr>
            <a:r>
              <a:rPr lang="en-US" sz="800" dirty="0">
                <a:solidFill>
                  <a:srgbClr val="10B981"/>
                </a:solidFill>
                <a:latin typeface="Consolas" pitchFamily="34" charset="0"/>
                <a:ea typeface="Consolas" pitchFamily="34" charset="-122"/>
                <a:cs typeface="Consolas" pitchFamily="34" charset="-120"/>
              </a:rPr>
              <a:t>        run: mvn versions:set -DnewVersion=1.2.4</a:t>
            </a:r>
            <a:endParaRPr lang="en-US" sz="800" dirty="0"/>
          </a:p>
        </p:txBody>
      </p:sp>
      <p:sp>
        <p:nvSpPr>
          <p:cNvPr id="50" name="Text 42"/>
          <p:cNvSpPr/>
          <p:nvPr/>
        </p:nvSpPr>
        <p:spPr>
          <a:xfrm>
            <a:off x="457200" y="4183380"/>
            <a:ext cx="5084064" cy="134874"/>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 name: Auto Commit</a:t>
            </a:r>
            <a:endParaRPr lang="en-US" sz="800" dirty="0"/>
          </a:p>
        </p:txBody>
      </p:sp>
      <p:sp>
        <p:nvSpPr>
          <p:cNvPr id="51" name="Text 43"/>
          <p:cNvSpPr/>
          <p:nvPr/>
        </p:nvSpPr>
        <p:spPr>
          <a:xfrm>
            <a:off x="457200" y="4318254"/>
            <a:ext cx="5084064" cy="134874"/>
          </a:xfrm>
          <a:prstGeom prst="rect">
            <a:avLst/>
          </a:prstGeom>
          <a:noFill/>
          <a:ln/>
        </p:spPr>
        <p:txBody>
          <a:bodyPr wrap="square" lIns="0" tIns="0" rIns="0" bIns="0" rtlCol="0" anchor="ctr"/>
          <a:lstStyle/>
          <a:p>
            <a:pPr indent="0" marL="0">
              <a:buNone/>
            </a:pPr>
            <a:r>
              <a:rPr lang="en-US" sz="800" dirty="0">
                <a:solidFill>
                  <a:srgbClr val="10B981"/>
                </a:solidFill>
                <a:latin typeface="Consolas" pitchFamily="34" charset="0"/>
                <a:ea typeface="Consolas" pitchFamily="34" charset="-122"/>
                <a:cs typeface="Consolas" pitchFamily="34" charset="-120"/>
              </a:rPr>
              <a:t>        uses: stefanzweifel/git-auto-commit-action@v5</a:t>
            </a:r>
            <a:endParaRPr lang="en-US" sz="800" dirty="0"/>
          </a:p>
        </p:txBody>
      </p:sp>
      <p:sp>
        <p:nvSpPr>
          <p:cNvPr id="52" name="Text 44"/>
          <p:cNvSpPr/>
          <p:nvPr/>
        </p:nvSpPr>
        <p:spPr>
          <a:xfrm>
            <a:off x="457200" y="4453128"/>
            <a:ext cx="5084064" cy="134874"/>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with:</a:t>
            </a:r>
            <a:endParaRPr lang="en-US" sz="800" dirty="0"/>
          </a:p>
        </p:txBody>
      </p:sp>
      <p:sp>
        <p:nvSpPr>
          <p:cNvPr id="53" name="Text 45"/>
          <p:cNvSpPr/>
          <p:nvPr/>
        </p:nvSpPr>
        <p:spPr>
          <a:xfrm>
            <a:off x="457200" y="4588002"/>
            <a:ext cx="5084064" cy="134874"/>
          </a:xfrm>
          <a:prstGeom prst="rect">
            <a:avLst/>
          </a:prstGeom>
          <a:noFill/>
          <a:ln/>
        </p:spPr>
        <p:txBody>
          <a:bodyPr wrap="square" lIns="0" tIns="0" rIns="0" bIns="0" rtlCol="0" anchor="ctr"/>
          <a:lstStyle/>
          <a:p>
            <a:pPr indent="0" marL="0">
              <a:buNone/>
            </a:pPr>
            <a:r>
              <a:rPr lang="en-US" sz="800" dirty="0">
                <a:solidFill>
                  <a:srgbClr val="F97316"/>
                </a:solidFill>
                <a:latin typeface="Consolas" pitchFamily="34" charset="0"/>
                <a:ea typeface="Consolas" pitchFamily="34" charset="-122"/>
                <a:cs typeface="Consolas" pitchFamily="34" charset="-120"/>
              </a:rPr>
              <a:t>          commit_message: 'chore: bump version [skip ci]'</a:t>
            </a:r>
            <a:endParaRPr lang="en-US" sz="800" dirty="0"/>
          </a:p>
        </p:txBody>
      </p:sp>
      <p:sp>
        <p:nvSpPr>
          <p:cNvPr id="54" name="Text 46"/>
          <p:cNvSpPr/>
          <p:nvPr/>
        </p:nvSpPr>
        <p:spPr>
          <a:xfrm>
            <a:off x="457200" y="4722876"/>
            <a:ext cx="5084064" cy="134874"/>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          file_pattern: pom.xml</a:t>
            </a:r>
            <a:endParaRPr lang="en-US" sz="800" dirty="0"/>
          </a:p>
        </p:txBody>
      </p:sp>
      <p:sp>
        <p:nvSpPr>
          <p:cNvPr id="55" name="Text 47"/>
          <p:cNvSpPr/>
          <p:nvPr/>
        </p:nvSpPr>
        <p:spPr>
          <a:xfrm>
            <a:off x="457200" y="4857750"/>
            <a:ext cx="5084064" cy="134874"/>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          commit_user_name: Release Bot</a:t>
            </a:r>
            <a:endParaRPr lang="en-US" sz="800" dirty="0"/>
          </a:p>
        </p:txBody>
      </p:sp>
      <p:sp>
        <p:nvSpPr>
          <p:cNvPr id="56" name="Shape 48"/>
          <p:cNvSpPr/>
          <p:nvPr/>
        </p:nvSpPr>
        <p:spPr>
          <a:xfrm>
            <a:off x="5833872" y="2487168"/>
            <a:ext cx="2962656" cy="2542032"/>
          </a:xfrm>
          <a:prstGeom prst="rect">
            <a:avLst/>
          </a:prstGeom>
          <a:solidFill>
            <a:srgbClr val="0D1B2A"/>
          </a:solidFill>
          <a:ln w="6350">
            <a:solidFill>
              <a:srgbClr val="334155"/>
            </a:solidFill>
            <a:prstDash val="solid"/>
          </a:ln>
        </p:spPr>
      </p:sp>
      <p:sp>
        <p:nvSpPr>
          <p:cNvPr id="57" name="Text 49"/>
          <p:cNvSpPr/>
          <p:nvPr/>
        </p:nvSpPr>
        <p:spPr>
          <a:xfrm>
            <a:off x="5833872" y="2542032"/>
            <a:ext cx="2962656" cy="292608"/>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  Implementation Checklist</a:t>
            </a:r>
            <a:endParaRPr lang="en-US" sz="1100" dirty="0"/>
          </a:p>
        </p:txBody>
      </p:sp>
      <p:sp>
        <p:nvSpPr>
          <p:cNvPr id="58" name="Text 50"/>
          <p:cNvSpPr/>
          <p:nvPr/>
        </p:nvSpPr>
        <p:spPr>
          <a:xfrm>
            <a:off x="5943600" y="2907792"/>
            <a:ext cx="2743200" cy="274320"/>
          </a:xfrm>
          <a:prstGeom prst="rect">
            <a:avLst/>
          </a:prstGeom>
          <a:noFill/>
          <a:ln/>
        </p:spPr>
        <p:txBody>
          <a:bodyPr wrap="square" lIns="0" tIns="0" rIns="0" bIns="0" rtlCol="0" anchor="ctr"/>
          <a:lstStyle/>
          <a:p>
            <a:pPr indent="0" marL="0">
              <a:buNone/>
            </a:pPr>
            <a:r>
              <a:rPr lang="en-US" sz="900" dirty="0">
                <a:solidFill>
                  <a:srgbClr val="10B981"/>
                </a:solidFill>
                <a:latin typeface="Calibri" pitchFamily="34" charset="0"/>
                <a:ea typeface="Calibri" pitchFamily="34" charset="-122"/>
                <a:cs typeface="Calibri" pitchFamily="34" charset="-120"/>
              </a:rPr>
              <a:t>✅  permissions: contents: write</a:t>
            </a:r>
            <a:endParaRPr lang="en-US" sz="900" dirty="0"/>
          </a:p>
        </p:txBody>
      </p:sp>
      <p:sp>
        <p:nvSpPr>
          <p:cNvPr id="59" name="Text 51"/>
          <p:cNvSpPr/>
          <p:nvPr/>
        </p:nvSpPr>
        <p:spPr>
          <a:xfrm>
            <a:off x="5943600" y="3200400"/>
            <a:ext cx="2743200" cy="274320"/>
          </a:xfrm>
          <a:prstGeom prst="rect">
            <a:avLst/>
          </a:prstGeom>
          <a:noFill/>
          <a:ln/>
        </p:spPr>
        <p:txBody>
          <a:bodyPr wrap="square" lIns="0" tIns="0" rIns="0" bIns="0" rtlCol="0" anchor="ctr"/>
          <a:lstStyle/>
          <a:p>
            <a:pPr indent="0" marL="0">
              <a:buNone/>
            </a:pPr>
            <a:r>
              <a:rPr lang="en-US" sz="900" dirty="0">
                <a:solidFill>
                  <a:srgbClr val="10B981"/>
                </a:solidFill>
                <a:latin typeface="Calibri" pitchFamily="34" charset="0"/>
                <a:ea typeface="Calibri" pitchFamily="34" charset="-122"/>
                <a:cs typeface="Calibri" pitchFamily="34" charset="-120"/>
              </a:rPr>
              <a:t>✅  token: ${{ secrets.GITHUB_TOKEN }}</a:t>
            </a:r>
            <a:endParaRPr lang="en-US" sz="900" dirty="0"/>
          </a:p>
        </p:txBody>
      </p:sp>
      <p:sp>
        <p:nvSpPr>
          <p:cNvPr id="60" name="Text 52"/>
          <p:cNvSpPr/>
          <p:nvPr/>
        </p:nvSpPr>
        <p:spPr>
          <a:xfrm>
            <a:off x="5943600" y="3493008"/>
            <a:ext cx="2743200" cy="274320"/>
          </a:xfrm>
          <a:prstGeom prst="rect">
            <a:avLst/>
          </a:prstGeom>
          <a:noFill/>
          <a:ln/>
        </p:spPr>
        <p:txBody>
          <a:bodyPr wrap="square" lIns="0" tIns="0" rIns="0" bIns="0" rtlCol="0" anchor="ctr"/>
          <a:lstStyle/>
          <a:p>
            <a:pPr indent="0" marL="0">
              <a:buNone/>
            </a:pPr>
            <a:r>
              <a:rPr lang="en-US" sz="900" dirty="0">
                <a:solidFill>
                  <a:srgbClr val="10B981"/>
                </a:solidFill>
                <a:latin typeface="Calibri" pitchFamily="34" charset="0"/>
                <a:ea typeface="Calibri" pitchFamily="34" charset="-122"/>
                <a:cs typeface="Calibri" pitchFamily="34" charset="-120"/>
              </a:rPr>
              <a:t>✅  [skip ci] in commit_message</a:t>
            </a:r>
            <a:endParaRPr lang="en-US" sz="900" dirty="0"/>
          </a:p>
        </p:txBody>
      </p:sp>
      <p:sp>
        <p:nvSpPr>
          <p:cNvPr id="61" name="Text 53"/>
          <p:cNvSpPr/>
          <p:nvPr/>
        </p:nvSpPr>
        <p:spPr>
          <a:xfrm>
            <a:off x="5943600" y="3785616"/>
            <a:ext cx="2743200" cy="274320"/>
          </a:xfrm>
          <a:prstGeom prst="rect">
            <a:avLst/>
          </a:prstGeom>
          <a:noFill/>
          <a:ln/>
        </p:spPr>
        <p:txBody>
          <a:bodyPr wrap="square" lIns="0" tIns="0" rIns="0" bIns="0" rtlCol="0" anchor="ctr"/>
          <a:lstStyle/>
          <a:p>
            <a:pPr indent="0" marL="0">
              <a:buNone/>
            </a:pPr>
            <a:r>
              <a:rPr lang="en-US" sz="900" dirty="0">
                <a:solidFill>
                  <a:srgbClr val="10B981"/>
                </a:solidFill>
                <a:latin typeface="Calibri" pitchFamily="34" charset="0"/>
                <a:ea typeface="Calibri" pitchFamily="34" charset="-122"/>
                <a:cs typeface="Calibri" pitchFamily="34" charset="-120"/>
              </a:rPr>
              <a:t>✅  stefanzweifel/git-auto-commit@v5</a:t>
            </a:r>
            <a:endParaRPr lang="en-US" sz="900" dirty="0"/>
          </a:p>
        </p:txBody>
      </p:sp>
      <p:sp>
        <p:nvSpPr>
          <p:cNvPr id="62" name="Text 54"/>
          <p:cNvSpPr/>
          <p:nvPr/>
        </p:nvSpPr>
        <p:spPr>
          <a:xfrm>
            <a:off x="5943600" y="4078224"/>
            <a:ext cx="2743200" cy="274320"/>
          </a:xfrm>
          <a:prstGeom prst="rect">
            <a:avLst/>
          </a:prstGeom>
          <a:noFill/>
          <a:ln/>
        </p:spPr>
        <p:txBody>
          <a:bodyPr wrap="square" lIns="0" tIns="0" rIns="0" bIns="0" rtlCol="0" anchor="ctr"/>
          <a:lstStyle/>
          <a:p>
            <a:pPr indent="0" marL="0">
              <a:buNone/>
            </a:pPr>
            <a:r>
              <a:rPr lang="en-US" sz="900" dirty="0">
                <a:solidFill>
                  <a:srgbClr val="EF4444"/>
                </a:solidFill>
                <a:latin typeface="Calibri" pitchFamily="34" charset="0"/>
                <a:ea typeface="Calibri" pitchFamily="34" charset="-122"/>
                <a:cs typeface="Calibri" pitchFamily="34" charset="-120"/>
              </a:rPr>
              <a:t>❌  Committing binary files (use uploads)</a:t>
            </a:r>
            <a:endParaRPr lang="en-US" sz="900" dirty="0"/>
          </a:p>
        </p:txBody>
      </p:sp>
      <p:sp>
        <p:nvSpPr>
          <p:cNvPr id="63" name="Text 55"/>
          <p:cNvSpPr/>
          <p:nvPr/>
        </p:nvSpPr>
        <p:spPr>
          <a:xfrm>
            <a:off x="5943600" y="4370832"/>
            <a:ext cx="2743200" cy="274320"/>
          </a:xfrm>
          <a:prstGeom prst="rect">
            <a:avLst/>
          </a:prstGeom>
          <a:noFill/>
          <a:ln/>
        </p:spPr>
        <p:txBody>
          <a:bodyPr wrap="square" lIns="0" tIns="0" rIns="0" bIns="0" rtlCol="0" anchor="ctr"/>
          <a:lstStyle/>
          <a:p>
            <a:pPr indent="0" marL="0">
              <a:buNone/>
            </a:pPr>
            <a:r>
              <a:rPr lang="en-US" sz="900" dirty="0">
                <a:solidFill>
                  <a:srgbClr val="EF4444"/>
                </a:solidFill>
                <a:latin typeface="Calibri" pitchFamily="34" charset="0"/>
                <a:ea typeface="Calibri" pitchFamily="34" charset="-122"/>
                <a:cs typeface="Calibri" pitchFamily="34" charset="-120"/>
              </a:rPr>
              <a:t>❌  Missing [skip ci] → infinite loop!</a:t>
            </a:r>
            <a:endParaRPr lang="en-US" sz="900" dirty="0"/>
          </a:p>
        </p:txBody>
      </p:sp>
      <p:sp>
        <p:nvSpPr>
          <p:cNvPr id="64" name="Text 56"/>
          <p:cNvSpPr/>
          <p:nvPr/>
        </p:nvSpPr>
        <p:spPr>
          <a:xfrm>
            <a:off x="5943600" y="4663440"/>
            <a:ext cx="2743200" cy="274320"/>
          </a:xfrm>
          <a:prstGeom prst="rect">
            <a:avLst/>
          </a:prstGeom>
          <a:noFill/>
          <a:ln/>
        </p:spPr>
        <p:txBody>
          <a:bodyPr wrap="square" lIns="0" tIns="0" rIns="0" bIns="0" rtlCol="0" anchor="ctr"/>
          <a:lstStyle/>
          <a:p>
            <a:pPr indent="0" marL="0">
              <a:buNone/>
            </a:pPr>
            <a:r>
              <a:rPr lang="en-US" sz="900" dirty="0">
                <a:solidFill>
                  <a:srgbClr val="EF4444"/>
                </a:solidFill>
                <a:latin typeface="Calibri" pitchFamily="34" charset="0"/>
                <a:ea typeface="Calibri" pitchFamily="34" charset="-122"/>
                <a:cs typeface="Calibri" pitchFamily="34" charset="-120"/>
              </a:rPr>
              <a:t>❌  No permissions block → action fails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9E0B"/>
          </a:solidFill>
          <a:ln w="12700">
            <a:solidFill>
              <a:srgbClr val="F59E0B"/>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Module 6 — Reusable Workflows: DRY Pipelines</a:t>
            </a:r>
            <a:endParaRPr lang="en-US" sz="2500" dirty="0"/>
          </a:p>
        </p:txBody>
      </p:sp>
      <p:sp>
        <p:nvSpPr>
          <p:cNvPr id="4" name="Shape 2"/>
          <p:cNvSpPr/>
          <p:nvPr/>
        </p:nvSpPr>
        <p:spPr>
          <a:xfrm>
            <a:off x="384048" y="731520"/>
            <a:ext cx="2070202" cy="219456"/>
          </a:xfrm>
          <a:prstGeom prst="rect">
            <a:avLst/>
          </a:prstGeom>
          <a:solidFill>
            <a:srgbClr val="F59E0B"/>
          </a:solidFill>
          <a:ln w="12700">
            <a:solidFill>
              <a:srgbClr val="F59E0B"/>
            </a:solidFill>
            <a:prstDash val="solid"/>
          </a:ln>
        </p:spPr>
      </p:sp>
      <p:sp>
        <p:nvSpPr>
          <p:cNvPr id="5" name="Text 3"/>
          <p:cNvSpPr/>
          <p:nvPr/>
        </p:nvSpPr>
        <p:spPr>
          <a:xfrm>
            <a:off x="384048" y="731520"/>
            <a:ext cx="2070202"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REUSABLE WORKFLOWS</a:t>
            </a:r>
            <a:endParaRPr lang="en-US" sz="850" dirty="0"/>
          </a:p>
        </p:txBody>
      </p:sp>
      <p:sp>
        <p:nvSpPr>
          <p:cNvPr id="6" name="Shape 4"/>
          <p:cNvSpPr/>
          <p:nvPr/>
        </p:nvSpPr>
        <p:spPr>
          <a:xfrm>
            <a:off x="347472" y="1005840"/>
            <a:ext cx="4069080" cy="1901952"/>
          </a:xfrm>
          <a:prstGeom prst="rect">
            <a:avLst/>
          </a:prstGeom>
          <a:solidFill>
            <a:srgbClr val="FEF2F2"/>
          </a:solidFill>
          <a:ln w="7620">
            <a:solidFill>
              <a:srgbClr val="EF4444"/>
            </a:solidFill>
            <a:prstDash val="solid"/>
          </a:ln>
        </p:spPr>
      </p:sp>
      <p:sp>
        <p:nvSpPr>
          <p:cNvPr id="7" name="Shape 5"/>
          <p:cNvSpPr/>
          <p:nvPr/>
        </p:nvSpPr>
        <p:spPr>
          <a:xfrm>
            <a:off x="347472" y="1005840"/>
            <a:ext cx="4069080" cy="347472"/>
          </a:xfrm>
          <a:prstGeom prst="rect">
            <a:avLst/>
          </a:prstGeom>
          <a:solidFill>
            <a:srgbClr val="EF4444"/>
          </a:solidFill>
          <a:ln w="12700">
            <a:solidFill>
              <a:srgbClr val="EF4444"/>
            </a:solidFill>
            <a:prstDash val="solid"/>
          </a:ln>
        </p:spPr>
      </p:sp>
      <p:sp>
        <p:nvSpPr>
          <p:cNvPr id="8" name="Text 6"/>
          <p:cNvSpPr/>
          <p:nvPr/>
        </p:nvSpPr>
        <p:spPr>
          <a:xfrm>
            <a:off x="347472" y="1005840"/>
            <a:ext cx="40690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WITHOUT Reusable Workflows</a:t>
            </a:r>
            <a:endParaRPr lang="en-US" sz="1100" dirty="0"/>
          </a:p>
        </p:txBody>
      </p:sp>
      <p:sp>
        <p:nvSpPr>
          <p:cNvPr id="9" name="Shape 7"/>
          <p:cNvSpPr/>
          <p:nvPr/>
        </p:nvSpPr>
        <p:spPr>
          <a:xfrm>
            <a:off x="502920" y="1426464"/>
            <a:ext cx="3749040" cy="237744"/>
          </a:xfrm>
          <a:prstGeom prst="rect">
            <a:avLst/>
          </a:prstGeom>
          <a:solidFill>
            <a:srgbClr val="FEE2E2"/>
          </a:solidFill>
          <a:ln w="12700">
            <a:solidFill>
              <a:srgbClr val="E2E8F0"/>
            </a:solidFill>
            <a:prstDash val="solid"/>
          </a:ln>
        </p:spPr>
      </p:sp>
      <p:sp>
        <p:nvSpPr>
          <p:cNvPr id="10" name="Text 8"/>
          <p:cNvSpPr/>
          <p:nvPr/>
        </p:nvSpPr>
        <p:spPr>
          <a:xfrm>
            <a:off x="548640" y="1444752"/>
            <a:ext cx="3657600" cy="201168"/>
          </a:xfrm>
          <a:prstGeom prst="rect">
            <a:avLst/>
          </a:prstGeom>
          <a:noFill/>
          <a:ln/>
        </p:spPr>
        <p:txBody>
          <a:bodyPr wrap="square" lIns="0" tIns="0" rIns="0" bIns="0" rtlCol="0" anchor="ctr"/>
          <a:lstStyle/>
          <a:p>
            <a:pPr indent="0" marL="0">
              <a:buNone/>
            </a:pPr>
            <a:r>
              <a:rPr lang="en-US" sz="900" dirty="0">
                <a:solidFill>
                  <a:srgbClr val="EF4444"/>
                </a:solidFill>
                <a:latin typeface="Calibri" pitchFamily="34" charset="0"/>
                <a:ea typeface="Calibri" pitchFamily="34" charset="-122"/>
                <a:cs typeface="Calibri" pitchFamily="34" charset="-120"/>
              </a:rPr>
              <a:t>📄 account-service/ci.yml (100+ lines each)</a:t>
            </a:r>
            <a:endParaRPr lang="en-US" sz="900" dirty="0"/>
          </a:p>
        </p:txBody>
      </p:sp>
      <p:sp>
        <p:nvSpPr>
          <p:cNvPr id="11" name="Shape 9"/>
          <p:cNvSpPr/>
          <p:nvPr/>
        </p:nvSpPr>
        <p:spPr>
          <a:xfrm>
            <a:off x="502920" y="1700784"/>
            <a:ext cx="3749040" cy="237744"/>
          </a:xfrm>
          <a:prstGeom prst="rect">
            <a:avLst/>
          </a:prstGeom>
          <a:solidFill>
            <a:srgbClr val="FEF2F2"/>
          </a:solidFill>
          <a:ln w="12700">
            <a:solidFill>
              <a:srgbClr val="E2E8F0"/>
            </a:solidFill>
            <a:prstDash val="solid"/>
          </a:ln>
        </p:spPr>
      </p:sp>
      <p:sp>
        <p:nvSpPr>
          <p:cNvPr id="12" name="Text 10"/>
          <p:cNvSpPr/>
          <p:nvPr/>
        </p:nvSpPr>
        <p:spPr>
          <a:xfrm>
            <a:off x="548640" y="1719072"/>
            <a:ext cx="3657600" cy="201168"/>
          </a:xfrm>
          <a:prstGeom prst="rect">
            <a:avLst/>
          </a:prstGeom>
          <a:noFill/>
          <a:ln/>
        </p:spPr>
        <p:txBody>
          <a:bodyPr wrap="square" lIns="0" tIns="0" rIns="0" bIns="0" rtlCol="0" anchor="ctr"/>
          <a:lstStyle/>
          <a:p>
            <a:pPr indent="0" marL="0">
              <a:buNone/>
            </a:pPr>
            <a:r>
              <a:rPr lang="en-US" sz="900" dirty="0">
                <a:solidFill>
                  <a:srgbClr val="EF4444"/>
                </a:solidFill>
                <a:latin typeface="Calibri" pitchFamily="34" charset="0"/>
                <a:ea typeface="Calibri" pitchFamily="34" charset="-122"/>
                <a:cs typeface="Calibri" pitchFamily="34" charset="-120"/>
              </a:rPr>
              <a:t>📄 transaction-service/ci.yml (100+ lines each)</a:t>
            </a:r>
            <a:endParaRPr lang="en-US" sz="900" dirty="0"/>
          </a:p>
        </p:txBody>
      </p:sp>
      <p:sp>
        <p:nvSpPr>
          <p:cNvPr id="13" name="Shape 11"/>
          <p:cNvSpPr/>
          <p:nvPr/>
        </p:nvSpPr>
        <p:spPr>
          <a:xfrm>
            <a:off x="502920" y="1975104"/>
            <a:ext cx="3749040" cy="237744"/>
          </a:xfrm>
          <a:prstGeom prst="rect">
            <a:avLst/>
          </a:prstGeom>
          <a:solidFill>
            <a:srgbClr val="FEE2E2"/>
          </a:solidFill>
          <a:ln w="12700">
            <a:solidFill>
              <a:srgbClr val="E2E8F0"/>
            </a:solidFill>
            <a:prstDash val="solid"/>
          </a:ln>
        </p:spPr>
      </p:sp>
      <p:sp>
        <p:nvSpPr>
          <p:cNvPr id="14" name="Text 12"/>
          <p:cNvSpPr/>
          <p:nvPr/>
        </p:nvSpPr>
        <p:spPr>
          <a:xfrm>
            <a:off x="548640" y="1993392"/>
            <a:ext cx="3657600" cy="201168"/>
          </a:xfrm>
          <a:prstGeom prst="rect">
            <a:avLst/>
          </a:prstGeom>
          <a:noFill/>
          <a:ln/>
        </p:spPr>
        <p:txBody>
          <a:bodyPr wrap="square" lIns="0" tIns="0" rIns="0" bIns="0" rtlCol="0" anchor="ctr"/>
          <a:lstStyle/>
          <a:p>
            <a:pPr indent="0" marL="0">
              <a:buNone/>
            </a:pPr>
            <a:r>
              <a:rPr lang="en-US" sz="900" dirty="0">
                <a:solidFill>
                  <a:srgbClr val="EF4444"/>
                </a:solidFill>
                <a:latin typeface="Calibri" pitchFamily="34" charset="0"/>
                <a:ea typeface="Calibri" pitchFamily="34" charset="-122"/>
                <a:cs typeface="Calibri" pitchFamily="34" charset="-120"/>
              </a:rPr>
              <a:t>📄 loan-service/ci.yml (100+ lines each)</a:t>
            </a:r>
            <a:endParaRPr lang="en-US" sz="900" dirty="0"/>
          </a:p>
        </p:txBody>
      </p:sp>
      <p:sp>
        <p:nvSpPr>
          <p:cNvPr id="15" name="Shape 13"/>
          <p:cNvSpPr/>
          <p:nvPr/>
        </p:nvSpPr>
        <p:spPr>
          <a:xfrm>
            <a:off x="502920" y="2249424"/>
            <a:ext cx="3749040" cy="237744"/>
          </a:xfrm>
          <a:prstGeom prst="rect">
            <a:avLst/>
          </a:prstGeom>
          <a:solidFill>
            <a:srgbClr val="FEF2F2"/>
          </a:solidFill>
          <a:ln w="12700">
            <a:solidFill>
              <a:srgbClr val="E2E8F0"/>
            </a:solidFill>
            <a:prstDash val="solid"/>
          </a:ln>
        </p:spPr>
      </p:sp>
      <p:sp>
        <p:nvSpPr>
          <p:cNvPr id="16" name="Text 14"/>
          <p:cNvSpPr/>
          <p:nvPr/>
        </p:nvSpPr>
        <p:spPr>
          <a:xfrm>
            <a:off x="548640" y="2267712"/>
            <a:ext cx="3657600" cy="201168"/>
          </a:xfrm>
          <a:prstGeom prst="rect">
            <a:avLst/>
          </a:prstGeom>
          <a:noFill/>
          <a:ln/>
        </p:spPr>
        <p:txBody>
          <a:bodyPr wrap="square" lIns="0" tIns="0" rIns="0" bIns="0" rtlCol="0" anchor="ctr"/>
          <a:lstStyle/>
          <a:p>
            <a:pPr indent="0" marL="0">
              <a:buNone/>
            </a:pPr>
            <a:r>
              <a:rPr lang="en-US" sz="900" dirty="0">
                <a:solidFill>
                  <a:srgbClr val="EF4444"/>
                </a:solidFill>
                <a:latin typeface="Calibri" pitchFamily="34" charset="0"/>
                <a:ea typeface="Calibri" pitchFamily="34" charset="-122"/>
                <a:cs typeface="Calibri" pitchFamily="34" charset="-120"/>
              </a:rPr>
              <a:t>📄 notification-service/ci.yml (100+ lines each)</a:t>
            </a:r>
            <a:endParaRPr lang="en-US" sz="900" dirty="0"/>
          </a:p>
        </p:txBody>
      </p:sp>
      <p:sp>
        <p:nvSpPr>
          <p:cNvPr id="17" name="Shape 15"/>
          <p:cNvSpPr/>
          <p:nvPr/>
        </p:nvSpPr>
        <p:spPr>
          <a:xfrm>
            <a:off x="502920" y="2523744"/>
            <a:ext cx="3749040" cy="237744"/>
          </a:xfrm>
          <a:prstGeom prst="rect">
            <a:avLst/>
          </a:prstGeom>
          <a:solidFill>
            <a:srgbClr val="FEE2E2"/>
          </a:solidFill>
          <a:ln w="12700">
            <a:solidFill>
              <a:srgbClr val="E2E8F0"/>
            </a:solidFill>
            <a:prstDash val="solid"/>
          </a:ln>
        </p:spPr>
      </p:sp>
      <p:sp>
        <p:nvSpPr>
          <p:cNvPr id="18" name="Text 16"/>
          <p:cNvSpPr/>
          <p:nvPr/>
        </p:nvSpPr>
        <p:spPr>
          <a:xfrm>
            <a:off x="548640" y="2542032"/>
            <a:ext cx="3657600" cy="201168"/>
          </a:xfrm>
          <a:prstGeom prst="rect">
            <a:avLst/>
          </a:prstGeom>
          <a:noFill/>
          <a:ln/>
        </p:spPr>
        <p:txBody>
          <a:bodyPr wrap="square" lIns="0" tIns="0" rIns="0" bIns="0" rtlCol="0" anchor="ctr"/>
          <a:lstStyle/>
          <a:p>
            <a:pPr indent="0" marL="0">
              <a:buNone/>
            </a:pPr>
            <a:r>
              <a:rPr lang="en-US" sz="900" dirty="0">
                <a:solidFill>
                  <a:srgbClr val="EF4444"/>
                </a:solidFill>
                <a:latin typeface="Calibri" pitchFamily="34" charset="0"/>
                <a:ea typeface="Calibri" pitchFamily="34" charset="-122"/>
                <a:cs typeface="Calibri" pitchFamily="34" charset="-120"/>
              </a:rPr>
              <a:t>📄 + 11 more... (100+ lines each)</a:t>
            </a:r>
            <a:endParaRPr lang="en-US" sz="900" dirty="0"/>
          </a:p>
        </p:txBody>
      </p:sp>
      <p:sp>
        <p:nvSpPr>
          <p:cNvPr id="19" name="Text 17"/>
          <p:cNvSpPr/>
          <p:nvPr/>
        </p:nvSpPr>
        <p:spPr>
          <a:xfrm>
            <a:off x="384048" y="2834640"/>
            <a:ext cx="3977640" cy="201168"/>
          </a:xfrm>
          <a:prstGeom prst="rect">
            <a:avLst/>
          </a:prstGeom>
          <a:noFill/>
          <a:ln/>
        </p:spPr>
        <p:txBody>
          <a:bodyPr wrap="square" lIns="0" tIns="0" rIns="0" bIns="0" rtlCol="0" anchor="ctr"/>
          <a:lstStyle/>
          <a:p>
            <a:pPr algn="ctr" indent="0" marL="0">
              <a:buNone/>
            </a:pPr>
            <a:r>
              <a:rPr lang="en-US" sz="850" dirty="0">
                <a:solidFill>
                  <a:srgbClr val="991B1B"/>
                </a:solidFill>
                <a:latin typeface="Calibri" pitchFamily="34" charset="0"/>
                <a:ea typeface="Calibri" pitchFamily="34" charset="-122"/>
                <a:cs typeface="Calibri" pitchFamily="34" charset="-120"/>
              </a:rPr>
              <a:t>Total: 15 files × 100 lines = 1,500 lines of duplicated YAML</a:t>
            </a:r>
            <a:endParaRPr lang="en-US" sz="850" dirty="0"/>
          </a:p>
        </p:txBody>
      </p:sp>
      <p:sp>
        <p:nvSpPr>
          <p:cNvPr id="20" name="Shape 18"/>
          <p:cNvSpPr/>
          <p:nvPr/>
        </p:nvSpPr>
        <p:spPr>
          <a:xfrm>
            <a:off x="4754880" y="1005840"/>
            <a:ext cx="4041648" cy="1901952"/>
          </a:xfrm>
          <a:prstGeom prst="rect">
            <a:avLst/>
          </a:prstGeom>
          <a:solidFill>
            <a:srgbClr val="F0FDF4"/>
          </a:solidFill>
          <a:ln w="7620">
            <a:solidFill>
              <a:srgbClr val="10B981"/>
            </a:solidFill>
            <a:prstDash val="solid"/>
          </a:ln>
        </p:spPr>
      </p:sp>
      <p:sp>
        <p:nvSpPr>
          <p:cNvPr id="21" name="Shape 19"/>
          <p:cNvSpPr/>
          <p:nvPr/>
        </p:nvSpPr>
        <p:spPr>
          <a:xfrm>
            <a:off x="4754880" y="1005840"/>
            <a:ext cx="4041648" cy="347472"/>
          </a:xfrm>
          <a:prstGeom prst="rect">
            <a:avLst/>
          </a:prstGeom>
          <a:solidFill>
            <a:srgbClr val="10B981"/>
          </a:solidFill>
          <a:ln w="12700">
            <a:solidFill>
              <a:srgbClr val="10B981"/>
            </a:solidFill>
            <a:prstDash val="solid"/>
          </a:ln>
        </p:spPr>
      </p:sp>
      <p:sp>
        <p:nvSpPr>
          <p:cNvPr id="22" name="Text 20"/>
          <p:cNvSpPr/>
          <p:nvPr/>
        </p:nvSpPr>
        <p:spPr>
          <a:xfrm>
            <a:off x="4754880" y="1005840"/>
            <a:ext cx="404164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WITH Reusable Workflows</a:t>
            </a:r>
            <a:endParaRPr lang="en-US" sz="1100" dirty="0"/>
          </a:p>
        </p:txBody>
      </p:sp>
      <p:sp>
        <p:nvSpPr>
          <p:cNvPr id="23" name="Shape 21"/>
          <p:cNvSpPr/>
          <p:nvPr/>
        </p:nvSpPr>
        <p:spPr>
          <a:xfrm>
            <a:off x="4919472" y="1426464"/>
            <a:ext cx="3547872" cy="438912"/>
          </a:xfrm>
          <a:prstGeom prst="rect">
            <a:avLst/>
          </a:prstGeom>
          <a:solidFill>
            <a:srgbClr val="10B981"/>
          </a:solidFill>
          <a:ln w="12700">
            <a:solidFill>
              <a:srgbClr val="10B981"/>
            </a:solidFill>
            <a:prstDash val="solid"/>
          </a:ln>
        </p:spPr>
      </p:sp>
      <p:sp>
        <p:nvSpPr>
          <p:cNvPr id="24" name="Text 22"/>
          <p:cNvSpPr/>
          <p:nvPr/>
        </p:nvSpPr>
        <p:spPr>
          <a:xfrm>
            <a:off x="4919472" y="1426464"/>
            <a:ext cx="3547872"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devops-templates/reusable-pipeline.yml</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(100 lines — defined ONCE)</a:t>
            </a:r>
            <a:endParaRPr lang="en-US" sz="900" dirty="0"/>
          </a:p>
        </p:txBody>
      </p:sp>
      <p:sp>
        <p:nvSpPr>
          <p:cNvPr id="25" name="Shape 23"/>
          <p:cNvSpPr/>
          <p:nvPr/>
        </p:nvSpPr>
        <p:spPr>
          <a:xfrm>
            <a:off x="4919472" y="1956816"/>
            <a:ext cx="3547872" cy="201168"/>
          </a:xfrm>
          <a:prstGeom prst="rect">
            <a:avLst/>
          </a:prstGeom>
          <a:solidFill>
            <a:srgbClr val="DCFCE7"/>
          </a:solidFill>
          <a:ln w="12700">
            <a:solidFill>
              <a:srgbClr val="E2E8F0"/>
            </a:solidFill>
            <a:prstDash val="solid"/>
          </a:ln>
        </p:spPr>
      </p:sp>
      <p:sp>
        <p:nvSpPr>
          <p:cNvPr id="26" name="Text 24"/>
          <p:cNvSpPr/>
          <p:nvPr/>
        </p:nvSpPr>
        <p:spPr>
          <a:xfrm>
            <a:off x="4956048" y="1975104"/>
            <a:ext cx="3474720" cy="18288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 account-service/ci.yml (10 lines)</a:t>
            </a:r>
            <a:endParaRPr lang="en-US" sz="850" dirty="0"/>
          </a:p>
        </p:txBody>
      </p:sp>
      <p:sp>
        <p:nvSpPr>
          <p:cNvPr id="27" name="Shape 25"/>
          <p:cNvSpPr/>
          <p:nvPr/>
        </p:nvSpPr>
        <p:spPr>
          <a:xfrm>
            <a:off x="4919472" y="2194560"/>
            <a:ext cx="3547872" cy="201168"/>
          </a:xfrm>
          <a:prstGeom prst="rect">
            <a:avLst/>
          </a:prstGeom>
          <a:solidFill>
            <a:srgbClr val="F0FDF4"/>
          </a:solidFill>
          <a:ln w="12700">
            <a:solidFill>
              <a:srgbClr val="E2E8F0"/>
            </a:solidFill>
            <a:prstDash val="solid"/>
          </a:ln>
        </p:spPr>
      </p:sp>
      <p:sp>
        <p:nvSpPr>
          <p:cNvPr id="28" name="Text 26"/>
          <p:cNvSpPr/>
          <p:nvPr/>
        </p:nvSpPr>
        <p:spPr>
          <a:xfrm>
            <a:off x="4956048" y="2212848"/>
            <a:ext cx="3474720" cy="18288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 transaction-service/ci.yml (10 lines)</a:t>
            </a:r>
            <a:endParaRPr lang="en-US" sz="850" dirty="0"/>
          </a:p>
        </p:txBody>
      </p:sp>
      <p:sp>
        <p:nvSpPr>
          <p:cNvPr id="29" name="Shape 27"/>
          <p:cNvSpPr/>
          <p:nvPr/>
        </p:nvSpPr>
        <p:spPr>
          <a:xfrm>
            <a:off x="4919472" y="2432304"/>
            <a:ext cx="3547872" cy="201168"/>
          </a:xfrm>
          <a:prstGeom prst="rect">
            <a:avLst/>
          </a:prstGeom>
          <a:solidFill>
            <a:srgbClr val="DCFCE7"/>
          </a:solidFill>
          <a:ln w="12700">
            <a:solidFill>
              <a:srgbClr val="E2E8F0"/>
            </a:solidFill>
            <a:prstDash val="solid"/>
          </a:ln>
        </p:spPr>
      </p:sp>
      <p:sp>
        <p:nvSpPr>
          <p:cNvPr id="30" name="Text 28"/>
          <p:cNvSpPr/>
          <p:nvPr/>
        </p:nvSpPr>
        <p:spPr>
          <a:xfrm>
            <a:off x="4956048" y="2450592"/>
            <a:ext cx="3474720" cy="18288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 loan-service/ci.yml (10 lines)</a:t>
            </a:r>
            <a:endParaRPr lang="en-US" sz="850" dirty="0"/>
          </a:p>
        </p:txBody>
      </p:sp>
      <p:sp>
        <p:nvSpPr>
          <p:cNvPr id="31" name="Shape 29"/>
          <p:cNvSpPr/>
          <p:nvPr/>
        </p:nvSpPr>
        <p:spPr>
          <a:xfrm>
            <a:off x="4919472" y="2670048"/>
            <a:ext cx="3547872" cy="201168"/>
          </a:xfrm>
          <a:prstGeom prst="rect">
            <a:avLst/>
          </a:prstGeom>
          <a:solidFill>
            <a:srgbClr val="F0FDF4"/>
          </a:solidFill>
          <a:ln w="12700">
            <a:solidFill>
              <a:srgbClr val="E2E8F0"/>
            </a:solidFill>
            <a:prstDash val="solid"/>
          </a:ln>
        </p:spPr>
      </p:sp>
      <p:sp>
        <p:nvSpPr>
          <p:cNvPr id="32" name="Text 30"/>
          <p:cNvSpPr/>
          <p:nvPr/>
        </p:nvSpPr>
        <p:spPr>
          <a:xfrm>
            <a:off x="4956048" y="2688336"/>
            <a:ext cx="3474720" cy="18288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 14 more services (10 lines each)</a:t>
            </a:r>
            <a:endParaRPr lang="en-US" sz="850" dirty="0"/>
          </a:p>
        </p:txBody>
      </p:sp>
      <p:sp>
        <p:nvSpPr>
          <p:cNvPr id="33" name="Text 31"/>
          <p:cNvSpPr/>
          <p:nvPr/>
        </p:nvSpPr>
        <p:spPr>
          <a:xfrm>
            <a:off x="4791456" y="2834640"/>
            <a:ext cx="3931920" cy="201168"/>
          </a:xfrm>
          <a:prstGeom prst="rect">
            <a:avLst/>
          </a:prstGeom>
          <a:noFill/>
          <a:ln/>
        </p:spPr>
        <p:txBody>
          <a:bodyPr wrap="square" lIns="0" tIns="0" rIns="0" bIns="0" rtlCol="0" anchor="ctr"/>
          <a:lstStyle/>
          <a:p>
            <a:pPr algn="ctr" indent="0" marL="0">
              <a:buNone/>
            </a:pPr>
            <a:r>
              <a:rPr lang="en-US" sz="850" dirty="0">
                <a:solidFill>
                  <a:srgbClr val="14532D"/>
                </a:solidFill>
                <a:latin typeface="Calibri" pitchFamily="34" charset="0"/>
                <a:ea typeface="Calibri" pitchFamily="34" charset="-122"/>
                <a:cs typeface="Calibri" pitchFamily="34" charset="-120"/>
              </a:rPr>
              <a:t>Total: 100 lines once + 15 × 10 = 250 lines total</a:t>
            </a:r>
            <a:endParaRPr lang="en-US" sz="850" dirty="0"/>
          </a:p>
        </p:txBody>
      </p:sp>
      <p:sp>
        <p:nvSpPr>
          <p:cNvPr id="34" name="Shape 32"/>
          <p:cNvSpPr/>
          <p:nvPr/>
        </p:nvSpPr>
        <p:spPr>
          <a:xfrm>
            <a:off x="347472" y="3090672"/>
            <a:ext cx="4187952" cy="62179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35" name="Shape 33"/>
          <p:cNvSpPr/>
          <p:nvPr/>
        </p:nvSpPr>
        <p:spPr>
          <a:xfrm>
            <a:off x="347472" y="3090672"/>
            <a:ext cx="64008" cy="621792"/>
          </a:xfrm>
          <a:prstGeom prst="rect">
            <a:avLst/>
          </a:prstGeom>
          <a:solidFill>
            <a:srgbClr val="F59E0B"/>
          </a:solidFill>
          <a:ln w="12700">
            <a:solidFill>
              <a:srgbClr val="F59E0B"/>
            </a:solidFill>
            <a:prstDash val="solid"/>
          </a:ln>
        </p:spPr>
      </p:sp>
      <p:pic>
        <p:nvPicPr>
          <p:cNvPr id="36" name="Image 0" descr="preencoded.png">    </p:cNvPr>
          <p:cNvPicPr>
            <a:picLocks noChangeAspect="1"/>
          </p:cNvPicPr>
          <p:nvPr/>
        </p:nvPicPr>
        <p:blipFill>
          <a:blip r:embed="rId1"/>
          <a:stretch>
            <a:fillRect/>
          </a:stretch>
        </p:blipFill>
        <p:spPr>
          <a:xfrm>
            <a:off x="530352" y="3218688"/>
            <a:ext cx="347472" cy="347472"/>
          </a:xfrm>
          <a:prstGeom prst="rect">
            <a:avLst/>
          </a:prstGeom>
        </p:spPr>
      </p:pic>
      <p:sp>
        <p:nvSpPr>
          <p:cNvPr id="37" name="Text 34"/>
          <p:cNvSpPr/>
          <p:nvPr/>
        </p:nvSpPr>
        <p:spPr>
          <a:xfrm>
            <a:off x="987552" y="3182112"/>
            <a:ext cx="2560320" cy="25603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Single Source of Truth</a:t>
            </a:r>
            <a:endParaRPr lang="en-US" sz="1050" dirty="0"/>
          </a:p>
        </p:txBody>
      </p:sp>
      <p:sp>
        <p:nvSpPr>
          <p:cNvPr id="38" name="Text 35"/>
          <p:cNvSpPr/>
          <p:nvPr/>
        </p:nvSpPr>
        <p:spPr>
          <a:xfrm>
            <a:off x="987552" y="3438144"/>
            <a:ext cx="338328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One change updates ALL services</a:t>
            </a:r>
            <a:endParaRPr lang="en-US" sz="900" dirty="0"/>
          </a:p>
        </p:txBody>
      </p:sp>
      <p:sp>
        <p:nvSpPr>
          <p:cNvPr id="39" name="Shape 36"/>
          <p:cNvSpPr/>
          <p:nvPr/>
        </p:nvSpPr>
        <p:spPr>
          <a:xfrm>
            <a:off x="4718304" y="3090672"/>
            <a:ext cx="4187952" cy="62179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40" name="Shape 37"/>
          <p:cNvSpPr/>
          <p:nvPr/>
        </p:nvSpPr>
        <p:spPr>
          <a:xfrm>
            <a:off x="4718304" y="3090672"/>
            <a:ext cx="64008" cy="621792"/>
          </a:xfrm>
          <a:prstGeom prst="rect">
            <a:avLst/>
          </a:prstGeom>
          <a:solidFill>
            <a:srgbClr val="1A56DB"/>
          </a:solidFill>
          <a:ln w="12700">
            <a:solidFill>
              <a:srgbClr val="1A56DB"/>
            </a:solidFill>
            <a:prstDash val="solid"/>
          </a:ln>
        </p:spPr>
      </p:sp>
      <p:pic>
        <p:nvPicPr>
          <p:cNvPr id="41" name="Image 1" descr="preencoded.png">    </p:cNvPr>
          <p:cNvPicPr>
            <a:picLocks noChangeAspect="1"/>
          </p:cNvPicPr>
          <p:nvPr/>
        </p:nvPicPr>
        <p:blipFill>
          <a:blip r:embed="rId2"/>
          <a:stretch>
            <a:fillRect/>
          </a:stretch>
        </p:blipFill>
        <p:spPr>
          <a:xfrm>
            <a:off x="4901184" y="3218688"/>
            <a:ext cx="347472" cy="347472"/>
          </a:xfrm>
          <a:prstGeom prst="rect">
            <a:avLst/>
          </a:prstGeom>
        </p:spPr>
      </p:pic>
      <p:sp>
        <p:nvSpPr>
          <p:cNvPr id="42" name="Text 38"/>
          <p:cNvSpPr/>
          <p:nvPr/>
        </p:nvSpPr>
        <p:spPr>
          <a:xfrm>
            <a:off x="5358384" y="3182112"/>
            <a:ext cx="2560320" cy="25603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Consistent Security</a:t>
            </a:r>
            <a:endParaRPr lang="en-US" sz="1050" dirty="0"/>
          </a:p>
        </p:txBody>
      </p:sp>
      <p:sp>
        <p:nvSpPr>
          <p:cNvPr id="43" name="Text 39"/>
          <p:cNvSpPr/>
          <p:nvPr/>
        </p:nvSpPr>
        <p:spPr>
          <a:xfrm>
            <a:off x="5358384" y="3438144"/>
            <a:ext cx="338328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OWASP scan added once, runs everywhere</a:t>
            </a:r>
            <a:endParaRPr lang="en-US" sz="900" dirty="0"/>
          </a:p>
        </p:txBody>
      </p:sp>
      <p:sp>
        <p:nvSpPr>
          <p:cNvPr id="44" name="Shape 40"/>
          <p:cNvSpPr/>
          <p:nvPr/>
        </p:nvSpPr>
        <p:spPr>
          <a:xfrm>
            <a:off x="347472" y="3803904"/>
            <a:ext cx="4187952" cy="62179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45" name="Shape 41"/>
          <p:cNvSpPr/>
          <p:nvPr/>
        </p:nvSpPr>
        <p:spPr>
          <a:xfrm>
            <a:off x="347472" y="3803904"/>
            <a:ext cx="64008" cy="621792"/>
          </a:xfrm>
          <a:prstGeom prst="rect">
            <a:avLst/>
          </a:prstGeom>
          <a:solidFill>
            <a:srgbClr val="7C3AED"/>
          </a:solidFill>
          <a:ln w="12700">
            <a:solidFill>
              <a:srgbClr val="7C3AED"/>
            </a:solidFill>
            <a:prstDash val="solid"/>
          </a:ln>
        </p:spPr>
      </p:sp>
      <p:pic>
        <p:nvPicPr>
          <p:cNvPr id="46" name="Image 2" descr="preencoded.png">    </p:cNvPr>
          <p:cNvPicPr>
            <a:picLocks noChangeAspect="1"/>
          </p:cNvPicPr>
          <p:nvPr/>
        </p:nvPicPr>
        <p:blipFill>
          <a:blip r:embed="rId3"/>
          <a:stretch>
            <a:fillRect/>
          </a:stretch>
        </p:blipFill>
        <p:spPr>
          <a:xfrm>
            <a:off x="530352" y="3931920"/>
            <a:ext cx="347472" cy="347472"/>
          </a:xfrm>
          <a:prstGeom prst="rect">
            <a:avLst/>
          </a:prstGeom>
        </p:spPr>
      </p:pic>
      <p:sp>
        <p:nvSpPr>
          <p:cNvPr id="47" name="Text 42"/>
          <p:cNvSpPr/>
          <p:nvPr/>
        </p:nvSpPr>
        <p:spPr>
          <a:xfrm>
            <a:off x="987552" y="3895344"/>
            <a:ext cx="2560320" cy="25603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Team Separation</a:t>
            </a:r>
            <a:endParaRPr lang="en-US" sz="1050" dirty="0"/>
          </a:p>
        </p:txBody>
      </p:sp>
      <p:sp>
        <p:nvSpPr>
          <p:cNvPr id="48" name="Text 43"/>
          <p:cNvSpPr/>
          <p:nvPr/>
        </p:nvSpPr>
        <p:spPr>
          <a:xfrm>
            <a:off x="987552" y="4151376"/>
            <a:ext cx="338328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DevOps owns template; devs own service</a:t>
            </a:r>
            <a:endParaRPr lang="en-US" sz="900" dirty="0"/>
          </a:p>
        </p:txBody>
      </p:sp>
      <p:sp>
        <p:nvSpPr>
          <p:cNvPr id="49" name="Shape 44"/>
          <p:cNvSpPr/>
          <p:nvPr/>
        </p:nvSpPr>
        <p:spPr>
          <a:xfrm>
            <a:off x="4718304" y="3803904"/>
            <a:ext cx="4187952" cy="62179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50" name="Shape 45"/>
          <p:cNvSpPr/>
          <p:nvPr/>
        </p:nvSpPr>
        <p:spPr>
          <a:xfrm>
            <a:off x="4718304" y="3803904"/>
            <a:ext cx="64008" cy="621792"/>
          </a:xfrm>
          <a:prstGeom prst="rect">
            <a:avLst/>
          </a:prstGeom>
          <a:solidFill>
            <a:srgbClr val="0D9488"/>
          </a:solidFill>
          <a:ln w="12700">
            <a:solidFill>
              <a:srgbClr val="0D9488"/>
            </a:solidFill>
            <a:prstDash val="solid"/>
          </a:ln>
        </p:spPr>
      </p:sp>
      <p:pic>
        <p:nvPicPr>
          <p:cNvPr id="51" name="Image 3" descr="preencoded.png">    </p:cNvPr>
          <p:cNvPicPr>
            <a:picLocks noChangeAspect="1"/>
          </p:cNvPicPr>
          <p:nvPr/>
        </p:nvPicPr>
        <p:blipFill>
          <a:blip r:embed="rId4"/>
          <a:stretch>
            <a:fillRect/>
          </a:stretch>
        </p:blipFill>
        <p:spPr>
          <a:xfrm>
            <a:off x="4901184" y="3931920"/>
            <a:ext cx="347472" cy="347472"/>
          </a:xfrm>
          <a:prstGeom prst="rect">
            <a:avLst/>
          </a:prstGeom>
        </p:spPr>
      </p:pic>
      <p:sp>
        <p:nvSpPr>
          <p:cNvPr id="52" name="Text 46"/>
          <p:cNvSpPr/>
          <p:nvPr/>
        </p:nvSpPr>
        <p:spPr>
          <a:xfrm>
            <a:off x="5358384" y="3895344"/>
            <a:ext cx="2560320" cy="25603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Parameterized</a:t>
            </a:r>
            <a:endParaRPr lang="en-US" sz="1050" dirty="0"/>
          </a:p>
        </p:txBody>
      </p:sp>
      <p:sp>
        <p:nvSpPr>
          <p:cNvPr id="53" name="Text 47"/>
          <p:cNvSpPr/>
          <p:nvPr/>
        </p:nvSpPr>
        <p:spPr>
          <a:xfrm>
            <a:off x="5358384" y="4151376"/>
            <a:ext cx="338328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service-name, java-version as inputs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9E0B"/>
          </a:solidFill>
          <a:ln w="12700">
            <a:solidFill>
              <a:srgbClr val="F59E0B"/>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Reusable Workflows — Architecture &amp; workflow_call Pattern</a:t>
            </a:r>
            <a:endParaRPr lang="en-US" sz="2500" dirty="0"/>
          </a:p>
        </p:txBody>
      </p:sp>
      <p:sp>
        <p:nvSpPr>
          <p:cNvPr id="4" name="Shape 2"/>
          <p:cNvSpPr/>
          <p:nvPr/>
        </p:nvSpPr>
        <p:spPr>
          <a:xfrm>
            <a:off x="384048" y="731520"/>
            <a:ext cx="2267712" cy="219456"/>
          </a:xfrm>
          <a:prstGeom prst="rect">
            <a:avLst/>
          </a:prstGeom>
          <a:solidFill>
            <a:srgbClr val="F59E0B"/>
          </a:solidFill>
          <a:ln w="12700">
            <a:solidFill>
              <a:srgbClr val="F59E0B"/>
            </a:solidFill>
            <a:prstDash val="solid"/>
          </a:ln>
        </p:spPr>
      </p:sp>
      <p:sp>
        <p:nvSpPr>
          <p:cNvPr id="5" name="Text 3"/>
          <p:cNvSpPr/>
          <p:nvPr/>
        </p:nvSpPr>
        <p:spPr>
          <a:xfrm>
            <a:off x="384048" y="731520"/>
            <a:ext cx="2267712"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ARCHITECTURE DIAGRAM</a:t>
            </a:r>
            <a:endParaRPr lang="en-US" sz="850" dirty="0"/>
          </a:p>
        </p:txBody>
      </p:sp>
      <p:sp>
        <p:nvSpPr>
          <p:cNvPr id="6" name="Shape 4"/>
          <p:cNvSpPr/>
          <p:nvPr/>
        </p:nvSpPr>
        <p:spPr>
          <a:xfrm>
            <a:off x="320040" y="1005840"/>
            <a:ext cx="2377440" cy="4069080"/>
          </a:xfrm>
          <a:prstGeom prst="rect">
            <a:avLst/>
          </a:prstGeom>
          <a:solidFill>
            <a:srgbClr val="FFFBEB"/>
          </a:solidFill>
          <a:ln w="10160">
            <a:solidFill>
              <a:srgbClr val="F59E0B"/>
            </a:solidFill>
            <a:prstDash val="solid"/>
          </a:ln>
        </p:spPr>
      </p:sp>
      <p:sp>
        <p:nvSpPr>
          <p:cNvPr id="7" name="Shape 5"/>
          <p:cNvSpPr/>
          <p:nvPr/>
        </p:nvSpPr>
        <p:spPr>
          <a:xfrm>
            <a:off x="320040" y="1005840"/>
            <a:ext cx="2377440" cy="384048"/>
          </a:xfrm>
          <a:prstGeom prst="rect">
            <a:avLst/>
          </a:prstGeom>
          <a:solidFill>
            <a:srgbClr val="F59E0B"/>
          </a:solidFill>
          <a:ln w="12700">
            <a:solidFill>
              <a:srgbClr val="F59E0B"/>
            </a:solidFill>
            <a:prstDash val="solid"/>
          </a:ln>
        </p:spPr>
      </p:sp>
      <p:sp>
        <p:nvSpPr>
          <p:cNvPr id="8" name="Text 6"/>
          <p:cNvSpPr/>
          <p:nvPr/>
        </p:nvSpPr>
        <p:spPr>
          <a:xfrm>
            <a:off x="320040" y="1005840"/>
            <a:ext cx="237744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Caller Repositories</a:t>
            </a:r>
            <a:endParaRPr lang="en-US" sz="1000" dirty="0"/>
          </a:p>
        </p:txBody>
      </p:sp>
      <p:sp>
        <p:nvSpPr>
          <p:cNvPr id="9" name="Shape 7"/>
          <p:cNvSpPr/>
          <p:nvPr/>
        </p:nvSpPr>
        <p:spPr>
          <a:xfrm>
            <a:off x="438912" y="1517904"/>
            <a:ext cx="2139696" cy="475488"/>
          </a:xfrm>
          <a:prstGeom prst="rect">
            <a:avLst/>
          </a:prstGeom>
          <a:solidFill>
            <a:srgbClr val="1B2A3B"/>
          </a:solidFill>
          <a:ln w="6350">
            <a:solidFill>
              <a:srgbClr val="334155"/>
            </a:solidFill>
            <a:prstDash val="solid"/>
          </a:ln>
        </p:spPr>
      </p:sp>
      <p:sp>
        <p:nvSpPr>
          <p:cNvPr id="10" name="Shape 8"/>
          <p:cNvSpPr/>
          <p:nvPr/>
        </p:nvSpPr>
        <p:spPr>
          <a:xfrm>
            <a:off x="438912" y="1517904"/>
            <a:ext cx="64008" cy="475488"/>
          </a:xfrm>
          <a:prstGeom prst="rect">
            <a:avLst/>
          </a:prstGeom>
          <a:solidFill>
            <a:srgbClr val="1A56DB"/>
          </a:solidFill>
          <a:ln w="12700">
            <a:solidFill>
              <a:srgbClr val="1A56DB"/>
            </a:solidFill>
            <a:prstDash val="solid"/>
          </a:ln>
        </p:spPr>
      </p:sp>
      <p:sp>
        <p:nvSpPr>
          <p:cNvPr id="11" name="Text 9"/>
          <p:cNvSpPr/>
          <p:nvPr/>
        </p:nvSpPr>
        <p:spPr>
          <a:xfrm>
            <a:off x="576072" y="1591056"/>
            <a:ext cx="1920240" cy="201168"/>
          </a:xfrm>
          <a:prstGeom prst="rect">
            <a:avLst/>
          </a:prstGeom>
          <a:noFill/>
          <a:ln/>
        </p:spPr>
        <p:txBody>
          <a:bodyPr wrap="square" lIns="0" tIns="0" rIns="0" bIns="0" rtlCol="0" anchor="ctr"/>
          <a:lstStyle/>
          <a:p>
            <a:pPr indent="0" marL="0">
              <a:buNone/>
            </a:pPr>
            <a:r>
              <a:rPr lang="en-US" sz="900" b="1" dirty="0">
                <a:solidFill>
                  <a:srgbClr val="CBD5E1"/>
                </a:solidFill>
                <a:latin typeface="Calibri" pitchFamily="34" charset="0"/>
                <a:ea typeface="Calibri" pitchFamily="34" charset="-122"/>
                <a:cs typeface="Calibri" pitchFamily="34" charset="-120"/>
              </a:rPr>
              <a:t>account-service</a:t>
            </a:r>
            <a:endParaRPr lang="en-US" sz="900" dirty="0"/>
          </a:p>
        </p:txBody>
      </p:sp>
      <p:sp>
        <p:nvSpPr>
          <p:cNvPr id="12" name="Text 10"/>
          <p:cNvSpPr/>
          <p:nvPr/>
        </p:nvSpPr>
        <p:spPr>
          <a:xfrm>
            <a:off x="576072" y="1792224"/>
            <a:ext cx="1920240" cy="164592"/>
          </a:xfrm>
          <a:prstGeom prst="rect">
            <a:avLst/>
          </a:prstGeom>
          <a:noFill/>
          <a:ln/>
        </p:spPr>
        <p:txBody>
          <a:bodyPr wrap="square" lIns="0" tIns="0" rIns="0" bIns="0"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ci.yml (10 lines)</a:t>
            </a:r>
            <a:endParaRPr lang="en-US" sz="750" dirty="0"/>
          </a:p>
        </p:txBody>
      </p:sp>
      <p:sp>
        <p:nvSpPr>
          <p:cNvPr id="13" name="Shape 11"/>
          <p:cNvSpPr/>
          <p:nvPr/>
        </p:nvSpPr>
        <p:spPr>
          <a:xfrm>
            <a:off x="438912" y="2121408"/>
            <a:ext cx="2139696" cy="475488"/>
          </a:xfrm>
          <a:prstGeom prst="rect">
            <a:avLst/>
          </a:prstGeom>
          <a:solidFill>
            <a:srgbClr val="1B2A3B"/>
          </a:solidFill>
          <a:ln w="6350">
            <a:solidFill>
              <a:srgbClr val="334155"/>
            </a:solidFill>
            <a:prstDash val="solid"/>
          </a:ln>
        </p:spPr>
      </p:sp>
      <p:sp>
        <p:nvSpPr>
          <p:cNvPr id="14" name="Shape 12"/>
          <p:cNvSpPr/>
          <p:nvPr/>
        </p:nvSpPr>
        <p:spPr>
          <a:xfrm>
            <a:off x="438912" y="2121408"/>
            <a:ext cx="64008" cy="475488"/>
          </a:xfrm>
          <a:prstGeom prst="rect">
            <a:avLst/>
          </a:prstGeom>
          <a:solidFill>
            <a:srgbClr val="06B6D4"/>
          </a:solidFill>
          <a:ln w="12700">
            <a:solidFill>
              <a:srgbClr val="06B6D4"/>
            </a:solidFill>
            <a:prstDash val="solid"/>
          </a:ln>
        </p:spPr>
      </p:sp>
      <p:sp>
        <p:nvSpPr>
          <p:cNvPr id="15" name="Text 13"/>
          <p:cNvSpPr/>
          <p:nvPr/>
        </p:nvSpPr>
        <p:spPr>
          <a:xfrm>
            <a:off x="576072" y="2194560"/>
            <a:ext cx="1920240" cy="201168"/>
          </a:xfrm>
          <a:prstGeom prst="rect">
            <a:avLst/>
          </a:prstGeom>
          <a:noFill/>
          <a:ln/>
        </p:spPr>
        <p:txBody>
          <a:bodyPr wrap="square" lIns="0" tIns="0" rIns="0" bIns="0" rtlCol="0" anchor="ctr"/>
          <a:lstStyle/>
          <a:p>
            <a:pPr indent="0" marL="0">
              <a:buNone/>
            </a:pPr>
            <a:r>
              <a:rPr lang="en-US" sz="900" b="1" dirty="0">
                <a:solidFill>
                  <a:srgbClr val="CBD5E1"/>
                </a:solidFill>
                <a:latin typeface="Calibri" pitchFamily="34" charset="0"/>
                <a:ea typeface="Calibri" pitchFamily="34" charset="-122"/>
                <a:cs typeface="Calibri" pitchFamily="34" charset="-120"/>
              </a:rPr>
              <a:t>transaction-service</a:t>
            </a:r>
            <a:endParaRPr lang="en-US" sz="900" dirty="0"/>
          </a:p>
        </p:txBody>
      </p:sp>
      <p:sp>
        <p:nvSpPr>
          <p:cNvPr id="16" name="Text 14"/>
          <p:cNvSpPr/>
          <p:nvPr/>
        </p:nvSpPr>
        <p:spPr>
          <a:xfrm>
            <a:off x="576072" y="2395728"/>
            <a:ext cx="1920240" cy="164592"/>
          </a:xfrm>
          <a:prstGeom prst="rect">
            <a:avLst/>
          </a:prstGeom>
          <a:noFill/>
          <a:ln/>
        </p:spPr>
        <p:txBody>
          <a:bodyPr wrap="square" lIns="0" tIns="0" rIns="0" bIns="0"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ci.yml (10 lines)</a:t>
            </a:r>
            <a:endParaRPr lang="en-US" sz="750" dirty="0"/>
          </a:p>
        </p:txBody>
      </p:sp>
      <p:sp>
        <p:nvSpPr>
          <p:cNvPr id="17" name="Shape 15"/>
          <p:cNvSpPr/>
          <p:nvPr/>
        </p:nvSpPr>
        <p:spPr>
          <a:xfrm>
            <a:off x="438912" y="2724912"/>
            <a:ext cx="2139696" cy="475488"/>
          </a:xfrm>
          <a:prstGeom prst="rect">
            <a:avLst/>
          </a:prstGeom>
          <a:solidFill>
            <a:srgbClr val="1B2A3B"/>
          </a:solidFill>
          <a:ln w="6350">
            <a:solidFill>
              <a:srgbClr val="334155"/>
            </a:solidFill>
            <a:prstDash val="solid"/>
          </a:ln>
        </p:spPr>
      </p:sp>
      <p:sp>
        <p:nvSpPr>
          <p:cNvPr id="18" name="Shape 16"/>
          <p:cNvSpPr/>
          <p:nvPr/>
        </p:nvSpPr>
        <p:spPr>
          <a:xfrm>
            <a:off x="438912" y="2724912"/>
            <a:ext cx="64008" cy="475488"/>
          </a:xfrm>
          <a:prstGeom prst="rect">
            <a:avLst/>
          </a:prstGeom>
          <a:solidFill>
            <a:srgbClr val="7C3AED"/>
          </a:solidFill>
          <a:ln w="12700">
            <a:solidFill>
              <a:srgbClr val="7C3AED"/>
            </a:solidFill>
            <a:prstDash val="solid"/>
          </a:ln>
        </p:spPr>
      </p:sp>
      <p:sp>
        <p:nvSpPr>
          <p:cNvPr id="19" name="Text 17"/>
          <p:cNvSpPr/>
          <p:nvPr/>
        </p:nvSpPr>
        <p:spPr>
          <a:xfrm>
            <a:off x="576072" y="2798064"/>
            <a:ext cx="1920240" cy="201168"/>
          </a:xfrm>
          <a:prstGeom prst="rect">
            <a:avLst/>
          </a:prstGeom>
          <a:noFill/>
          <a:ln/>
        </p:spPr>
        <p:txBody>
          <a:bodyPr wrap="square" lIns="0" tIns="0" rIns="0" bIns="0" rtlCol="0" anchor="ctr"/>
          <a:lstStyle/>
          <a:p>
            <a:pPr indent="0" marL="0">
              <a:buNone/>
            </a:pPr>
            <a:r>
              <a:rPr lang="en-US" sz="900" b="1" dirty="0">
                <a:solidFill>
                  <a:srgbClr val="CBD5E1"/>
                </a:solidFill>
                <a:latin typeface="Calibri" pitchFamily="34" charset="0"/>
                <a:ea typeface="Calibri" pitchFamily="34" charset="-122"/>
                <a:cs typeface="Calibri" pitchFamily="34" charset="-120"/>
              </a:rPr>
              <a:t>loan-service</a:t>
            </a:r>
            <a:endParaRPr lang="en-US" sz="900" dirty="0"/>
          </a:p>
        </p:txBody>
      </p:sp>
      <p:sp>
        <p:nvSpPr>
          <p:cNvPr id="20" name="Text 18"/>
          <p:cNvSpPr/>
          <p:nvPr/>
        </p:nvSpPr>
        <p:spPr>
          <a:xfrm>
            <a:off x="576072" y="2999232"/>
            <a:ext cx="1920240" cy="164592"/>
          </a:xfrm>
          <a:prstGeom prst="rect">
            <a:avLst/>
          </a:prstGeom>
          <a:noFill/>
          <a:ln/>
        </p:spPr>
        <p:txBody>
          <a:bodyPr wrap="square" lIns="0" tIns="0" rIns="0" bIns="0"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ci.yml (10 lines)</a:t>
            </a:r>
            <a:endParaRPr lang="en-US" sz="750" dirty="0"/>
          </a:p>
        </p:txBody>
      </p:sp>
      <p:sp>
        <p:nvSpPr>
          <p:cNvPr id="21" name="Shape 19"/>
          <p:cNvSpPr/>
          <p:nvPr/>
        </p:nvSpPr>
        <p:spPr>
          <a:xfrm>
            <a:off x="438912" y="3328416"/>
            <a:ext cx="2139696" cy="475488"/>
          </a:xfrm>
          <a:prstGeom prst="rect">
            <a:avLst/>
          </a:prstGeom>
          <a:solidFill>
            <a:srgbClr val="1B2A3B"/>
          </a:solidFill>
          <a:ln w="6350">
            <a:solidFill>
              <a:srgbClr val="334155"/>
            </a:solidFill>
            <a:prstDash val="solid"/>
          </a:ln>
        </p:spPr>
      </p:sp>
      <p:sp>
        <p:nvSpPr>
          <p:cNvPr id="22" name="Shape 20"/>
          <p:cNvSpPr/>
          <p:nvPr/>
        </p:nvSpPr>
        <p:spPr>
          <a:xfrm>
            <a:off x="438912" y="3328416"/>
            <a:ext cx="64008" cy="475488"/>
          </a:xfrm>
          <a:prstGeom prst="rect">
            <a:avLst/>
          </a:prstGeom>
          <a:solidFill>
            <a:srgbClr val="0D9488"/>
          </a:solidFill>
          <a:ln w="12700">
            <a:solidFill>
              <a:srgbClr val="0D9488"/>
            </a:solidFill>
            <a:prstDash val="solid"/>
          </a:ln>
        </p:spPr>
      </p:sp>
      <p:sp>
        <p:nvSpPr>
          <p:cNvPr id="23" name="Text 21"/>
          <p:cNvSpPr/>
          <p:nvPr/>
        </p:nvSpPr>
        <p:spPr>
          <a:xfrm>
            <a:off x="576072" y="3401568"/>
            <a:ext cx="1920240" cy="201168"/>
          </a:xfrm>
          <a:prstGeom prst="rect">
            <a:avLst/>
          </a:prstGeom>
          <a:noFill/>
          <a:ln/>
        </p:spPr>
        <p:txBody>
          <a:bodyPr wrap="square" lIns="0" tIns="0" rIns="0" bIns="0" rtlCol="0" anchor="ctr"/>
          <a:lstStyle/>
          <a:p>
            <a:pPr indent="0" marL="0">
              <a:buNone/>
            </a:pPr>
            <a:r>
              <a:rPr lang="en-US" sz="900" b="1" dirty="0">
                <a:solidFill>
                  <a:srgbClr val="CBD5E1"/>
                </a:solidFill>
                <a:latin typeface="Calibri" pitchFamily="34" charset="0"/>
                <a:ea typeface="Calibri" pitchFamily="34" charset="-122"/>
                <a:cs typeface="Calibri" pitchFamily="34" charset="-120"/>
              </a:rPr>
              <a:t>notification-service</a:t>
            </a:r>
            <a:endParaRPr lang="en-US" sz="900" dirty="0"/>
          </a:p>
        </p:txBody>
      </p:sp>
      <p:sp>
        <p:nvSpPr>
          <p:cNvPr id="24" name="Text 22"/>
          <p:cNvSpPr/>
          <p:nvPr/>
        </p:nvSpPr>
        <p:spPr>
          <a:xfrm>
            <a:off x="576072" y="3602736"/>
            <a:ext cx="1920240" cy="164592"/>
          </a:xfrm>
          <a:prstGeom prst="rect">
            <a:avLst/>
          </a:prstGeom>
          <a:noFill/>
          <a:ln/>
        </p:spPr>
        <p:txBody>
          <a:bodyPr wrap="square" lIns="0" tIns="0" rIns="0" bIns="0"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ci.yml (10 lines)</a:t>
            </a:r>
            <a:endParaRPr lang="en-US" sz="750" dirty="0"/>
          </a:p>
        </p:txBody>
      </p:sp>
      <p:sp>
        <p:nvSpPr>
          <p:cNvPr id="25" name="Shape 23"/>
          <p:cNvSpPr/>
          <p:nvPr/>
        </p:nvSpPr>
        <p:spPr>
          <a:xfrm>
            <a:off x="438912" y="3931920"/>
            <a:ext cx="2139696" cy="475488"/>
          </a:xfrm>
          <a:prstGeom prst="rect">
            <a:avLst/>
          </a:prstGeom>
          <a:solidFill>
            <a:srgbClr val="1B2A3B"/>
          </a:solidFill>
          <a:ln w="6350">
            <a:solidFill>
              <a:srgbClr val="334155"/>
            </a:solidFill>
            <a:prstDash val="solid"/>
          </a:ln>
        </p:spPr>
      </p:sp>
      <p:sp>
        <p:nvSpPr>
          <p:cNvPr id="26" name="Shape 24"/>
          <p:cNvSpPr/>
          <p:nvPr/>
        </p:nvSpPr>
        <p:spPr>
          <a:xfrm>
            <a:off x="438912" y="3931920"/>
            <a:ext cx="64008" cy="475488"/>
          </a:xfrm>
          <a:prstGeom prst="rect">
            <a:avLst/>
          </a:prstGeom>
          <a:solidFill>
            <a:srgbClr val="64748B"/>
          </a:solidFill>
          <a:ln w="12700">
            <a:solidFill>
              <a:srgbClr val="64748B"/>
            </a:solidFill>
            <a:prstDash val="solid"/>
          </a:ln>
        </p:spPr>
      </p:sp>
      <p:sp>
        <p:nvSpPr>
          <p:cNvPr id="27" name="Text 25"/>
          <p:cNvSpPr/>
          <p:nvPr/>
        </p:nvSpPr>
        <p:spPr>
          <a:xfrm>
            <a:off x="576072" y="4005072"/>
            <a:ext cx="1920240" cy="201168"/>
          </a:xfrm>
          <a:prstGeom prst="rect">
            <a:avLst/>
          </a:prstGeom>
          <a:noFill/>
          <a:ln/>
        </p:spPr>
        <p:txBody>
          <a:bodyPr wrap="square" lIns="0" tIns="0" rIns="0" bIns="0" rtlCol="0" anchor="ctr"/>
          <a:lstStyle/>
          <a:p>
            <a:pPr indent="0" marL="0">
              <a:buNone/>
            </a:pPr>
            <a:r>
              <a:rPr lang="en-US" sz="900" b="1" dirty="0">
                <a:solidFill>
                  <a:srgbClr val="CBD5E1"/>
                </a:solidFill>
                <a:latin typeface="Calibri" pitchFamily="34" charset="0"/>
                <a:ea typeface="Calibri" pitchFamily="34" charset="-122"/>
                <a:cs typeface="Calibri" pitchFamily="34" charset="-120"/>
              </a:rPr>
              <a:t>14 more services...</a:t>
            </a:r>
            <a:endParaRPr lang="en-US" sz="900" dirty="0"/>
          </a:p>
        </p:txBody>
      </p:sp>
      <p:sp>
        <p:nvSpPr>
          <p:cNvPr id="28" name="Text 26"/>
          <p:cNvSpPr/>
          <p:nvPr/>
        </p:nvSpPr>
        <p:spPr>
          <a:xfrm>
            <a:off x="576072" y="4206240"/>
            <a:ext cx="1920240" cy="164592"/>
          </a:xfrm>
          <a:prstGeom prst="rect">
            <a:avLst/>
          </a:prstGeom>
          <a:noFill/>
          <a:ln/>
        </p:spPr>
        <p:txBody>
          <a:bodyPr wrap="square" lIns="0" tIns="0" rIns="0" bIns="0"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ci.yml (10 lines)</a:t>
            </a:r>
            <a:endParaRPr lang="en-US" sz="750" dirty="0"/>
          </a:p>
        </p:txBody>
      </p:sp>
      <p:sp>
        <p:nvSpPr>
          <p:cNvPr id="29" name="Shape 27"/>
          <p:cNvSpPr/>
          <p:nvPr/>
        </p:nvSpPr>
        <p:spPr>
          <a:xfrm>
            <a:off x="2596896" y="1719072"/>
            <a:ext cx="621792" cy="36576"/>
          </a:xfrm>
          <a:prstGeom prst="rect">
            <a:avLst/>
          </a:prstGeom>
          <a:solidFill>
            <a:srgbClr val="F59E0B"/>
          </a:solidFill>
          <a:ln w="12700">
            <a:solidFill>
              <a:srgbClr val="F59E0B"/>
            </a:solidFill>
            <a:prstDash val="solid"/>
          </a:ln>
        </p:spPr>
      </p:sp>
      <p:sp>
        <p:nvSpPr>
          <p:cNvPr id="30" name="Shape 28"/>
          <p:cNvSpPr/>
          <p:nvPr/>
        </p:nvSpPr>
        <p:spPr>
          <a:xfrm>
            <a:off x="2596896" y="2322576"/>
            <a:ext cx="621792" cy="36576"/>
          </a:xfrm>
          <a:prstGeom prst="rect">
            <a:avLst/>
          </a:prstGeom>
          <a:solidFill>
            <a:srgbClr val="F59E0B"/>
          </a:solidFill>
          <a:ln w="12700">
            <a:solidFill>
              <a:srgbClr val="F59E0B"/>
            </a:solidFill>
            <a:prstDash val="solid"/>
          </a:ln>
        </p:spPr>
      </p:sp>
      <p:sp>
        <p:nvSpPr>
          <p:cNvPr id="31" name="Shape 29"/>
          <p:cNvSpPr/>
          <p:nvPr/>
        </p:nvSpPr>
        <p:spPr>
          <a:xfrm>
            <a:off x="2596896" y="2926080"/>
            <a:ext cx="621792" cy="36576"/>
          </a:xfrm>
          <a:prstGeom prst="rect">
            <a:avLst/>
          </a:prstGeom>
          <a:solidFill>
            <a:srgbClr val="F59E0B"/>
          </a:solidFill>
          <a:ln w="12700">
            <a:solidFill>
              <a:srgbClr val="F59E0B"/>
            </a:solidFill>
            <a:prstDash val="solid"/>
          </a:ln>
        </p:spPr>
      </p:sp>
      <p:sp>
        <p:nvSpPr>
          <p:cNvPr id="32" name="Shape 30"/>
          <p:cNvSpPr/>
          <p:nvPr/>
        </p:nvSpPr>
        <p:spPr>
          <a:xfrm>
            <a:off x="2596896" y="3529584"/>
            <a:ext cx="621792" cy="36576"/>
          </a:xfrm>
          <a:prstGeom prst="rect">
            <a:avLst/>
          </a:prstGeom>
          <a:solidFill>
            <a:srgbClr val="F59E0B"/>
          </a:solidFill>
          <a:ln w="12700">
            <a:solidFill>
              <a:srgbClr val="F59E0B"/>
            </a:solidFill>
            <a:prstDash val="solid"/>
          </a:ln>
        </p:spPr>
      </p:sp>
      <p:sp>
        <p:nvSpPr>
          <p:cNvPr id="33" name="Text 31"/>
          <p:cNvSpPr/>
          <p:nvPr/>
        </p:nvSpPr>
        <p:spPr>
          <a:xfrm>
            <a:off x="2615184" y="2450592"/>
            <a:ext cx="566928" cy="365760"/>
          </a:xfrm>
          <a:prstGeom prst="rect">
            <a:avLst/>
          </a:prstGeom>
          <a:noFill/>
          <a:ln/>
        </p:spPr>
        <p:txBody>
          <a:bodyPr wrap="square" lIns="0" tIns="0" rIns="0" bIns="0" rtlCol="0" anchor="ctr"/>
          <a:lstStyle/>
          <a:p>
            <a:pPr algn="ctr" indent="0" marL="0">
              <a:buNone/>
            </a:pPr>
            <a:r>
              <a:rPr lang="en-US" sz="750" dirty="0">
                <a:solidFill>
                  <a:srgbClr val="F59E0B"/>
                </a:solidFill>
                <a:latin typeface="Calibri" pitchFamily="34" charset="0"/>
                <a:ea typeface="Calibri" pitchFamily="34" charset="-122"/>
                <a:cs typeface="Calibri" pitchFamily="34" charset="-120"/>
              </a:rPr>
              <a:t>uses:</a:t>
            </a:r>
            <a:endParaRPr lang="en-US" sz="750" dirty="0"/>
          </a:p>
          <a:p>
            <a:pPr algn="ctr" indent="0" marL="0">
              <a:buNone/>
            </a:pPr>
            <a:r>
              <a:rPr lang="en-US" sz="750" dirty="0">
                <a:solidFill>
                  <a:srgbClr val="F59E0B"/>
                </a:solidFill>
                <a:latin typeface="Calibri" pitchFamily="34" charset="0"/>
                <a:ea typeface="Calibri" pitchFamily="34" charset="-122"/>
                <a:cs typeface="Calibri" pitchFamily="34" charset="-120"/>
              </a:rPr>
              <a:t>calls</a:t>
            </a:r>
            <a:endParaRPr lang="en-US" sz="750" dirty="0"/>
          </a:p>
        </p:txBody>
      </p:sp>
      <p:sp>
        <p:nvSpPr>
          <p:cNvPr id="34" name="Shape 32"/>
          <p:cNvSpPr/>
          <p:nvPr/>
        </p:nvSpPr>
        <p:spPr>
          <a:xfrm>
            <a:off x="3246120" y="1005840"/>
            <a:ext cx="2907792" cy="4069080"/>
          </a:xfrm>
          <a:prstGeom prst="rect">
            <a:avLst/>
          </a:prstGeom>
          <a:solidFill>
            <a:srgbClr val="FFFBEB"/>
          </a:solidFill>
          <a:ln w="15240">
            <a:solidFill>
              <a:srgbClr val="F59E0B"/>
            </a:solidFill>
            <a:prstDash val="solid"/>
          </a:ln>
        </p:spPr>
      </p:sp>
      <p:sp>
        <p:nvSpPr>
          <p:cNvPr id="35" name="Shape 33"/>
          <p:cNvSpPr/>
          <p:nvPr/>
        </p:nvSpPr>
        <p:spPr>
          <a:xfrm>
            <a:off x="3246120" y="1005840"/>
            <a:ext cx="2907792" cy="384048"/>
          </a:xfrm>
          <a:prstGeom prst="rect">
            <a:avLst/>
          </a:prstGeom>
          <a:solidFill>
            <a:srgbClr val="EA580C"/>
          </a:solidFill>
          <a:ln w="12700">
            <a:solidFill>
              <a:srgbClr val="EA580C"/>
            </a:solidFill>
            <a:prstDash val="solid"/>
          </a:ln>
        </p:spPr>
      </p:sp>
      <p:sp>
        <p:nvSpPr>
          <p:cNvPr id="36" name="Text 34"/>
          <p:cNvSpPr/>
          <p:nvPr/>
        </p:nvSpPr>
        <p:spPr>
          <a:xfrm>
            <a:off x="3246120" y="1005840"/>
            <a:ext cx="2907792"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devops-templates repo</a:t>
            </a:r>
            <a:endParaRPr lang="en-US" sz="1000" dirty="0"/>
          </a:p>
        </p:txBody>
      </p:sp>
      <p:sp>
        <p:nvSpPr>
          <p:cNvPr id="37" name="Shape 35"/>
          <p:cNvSpPr/>
          <p:nvPr/>
        </p:nvSpPr>
        <p:spPr>
          <a:xfrm>
            <a:off x="3364992" y="1481328"/>
            <a:ext cx="2670048" cy="329184"/>
          </a:xfrm>
          <a:prstGeom prst="rect">
            <a:avLst/>
          </a:prstGeom>
          <a:solidFill>
            <a:srgbClr val="F59E0B"/>
          </a:solidFill>
          <a:ln w="12700">
            <a:solidFill>
              <a:srgbClr val="F59E0B"/>
            </a:solidFill>
            <a:prstDash val="solid"/>
          </a:ln>
        </p:spPr>
      </p:sp>
      <p:sp>
        <p:nvSpPr>
          <p:cNvPr id="38" name="Text 36"/>
          <p:cNvSpPr/>
          <p:nvPr/>
        </p:nvSpPr>
        <p:spPr>
          <a:xfrm>
            <a:off x="3364992" y="1481328"/>
            <a:ext cx="2670048" cy="329184"/>
          </a:xfrm>
          <a:prstGeom prst="rect">
            <a:avLst/>
          </a:prstGeom>
          <a:noFill/>
          <a:ln/>
        </p:spPr>
        <p:txBody>
          <a:bodyPr wrap="square" lIns="0" tIns="0" rIns="0" bIns="0" rtlCol="0" anchor="ctr"/>
          <a:lstStyle/>
          <a:p>
            <a:pPr algn="ctr" indent="0" marL="0">
              <a:buNone/>
            </a:pPr>
            <a:r>
              <a:rPr lang="en-US" sz="1100" dirty="0">
                <a:solidFill>
                  <a:srgbClr val="0D1B2A"/>
                </a:solidFill>
                <a:latin typeface="Consolas" pitchFamily="34" charset="0"/>
                <a:ea typeface="Consolas" pitchFamily="34" charset="-122"/>
                <a:cs typeface="Consolas" pitchFamily="34" charset="-120"/>
              </a:rPr>
              <a:t>on: workflow_call:</a:t>
            </a:r>
            <a:endParaRPr lang="en-US" sz="1100" dirty="0"/>
          </a:p>
        </p:txBody>
      </p:sp>
      <p:sp>
        <p:nvSpPr>
          <p:cNvPr id="39" name="Shape 37"/>
          <p:cNvSpPr/>
          <p:nvPr/>
        </p:nvSpPr>
        <p:spPr>
          <a:xfrm>
            <a:off x="3364992" y="1920240"/>
            <a:ext cx="2670048" cy="256032"/>
          </a:xfrm>
          <a:prstGeom prst="rect">
            <a:avLst/>
          </a:prstGeom>
          <a:solidFill>
            <a:srgbClr val="06B6D4"/>
          </a:solidFill>
          <a:ln w="12700">
            <a:solidFill>
              <a:srgbClr val="06B6D4"/>
            </a:solidFill>
            <a:prstDash val="solid"/>
          </a:ln>
        </p:spPr>
      </p:sp>
      <p:sp>
        <p:nvSpPr>
          <p:cNvPr id="40" name="Text 38"/>
          <p:cNvSpPr/>
          <p:nvPr/>
        </p:nvSpPr>
        <p:spPr>
          <a:xfrm>
            <a:off x="3401568" y="1920240"/>
            <a:ext cx="2633472" cy="256032"/>
          </a:xfrm>
          <a:prstGeom prst="rect">
            <a:avLst/>
          </a:prstGeom>
          <a:noFill/>
          <a:ln/>
        </p:spPr>
        <p:txBody>
          <a:bodyPr wrap="square" lIns="0" tIns="0" rIns="0" bIns="0"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inputs:</a:t>
            </a:r>
            <a:endParaRPr lang="en-US" sz="950" dirty="0"/>
          </a:p>
        </p:txBody>
      </p:sp>
      <p:sp>
        <p:nvSpPr>
          <p:cNvPr id="41" name="Shape 39"/>
          <p:cNvSpPr/>
          <p:nvPr/>
        </p:nvSpPr>
        <p:spPr>
          <a:xfrm>
            <a:off x="3364992" y="2176272"/>
            <a:ext cx="2670048" cy="256032"/>
          </a:xfrm>
          <a:prstGeom prst="rect">
            <a:avLst/>
          </a:prstGeom>
          <a:solidFill>
            <a:srgbClr val="1B2A3B"/>
          </a:solidFill>
          <a:ln w="3810">
            <a:solidFill>
              <a:srgbClr val="334155"/>
            </a:solidFill>
            <a:prstDash val="solid"/>
          </a:ln>
        </p:spPr>
      </p:sp>
      <p:sp>
        <p:nvSpPr>
          <p:cNvPr id="42" name="Text 40"/>
          <p:cNvSpPr/>
          <p:nvPr/>
        </p:nvSpPr>
        <p:spPr>
          <a:xfrm>
            <a:off x="3401568" y="2176272"/>
            <a:ext cx="2633472" cy="256032"/>
          </a:xfrm>
          <a:prstGeom prst="rect">
            <a:avLst/>
          </a:prstGeom>
          <a:noFill/>
          <a:ln/>
        </p:spPr>
        <p:txBody>
          <a:bodyPr wrap="square" lIns="0" tIns="0" rIns="0" bIns="0" rtlCol="0" anchor="ctr"/>
          <a:lstStyle/>
          <a:p>
            <a:pPr indent="0" marL="0">
              <a:buNone/>
            </a:pPr>
            <a:r>
              <a:rPr lang="en-US" sz="850" dirty="0">
                <a:solidFill>
                  <a:srgbClr val="06B6D4"/>
                </a:solidFill>
                <a:latin typeface="Consolas" pitchFamily="34" charset="0"/>
                <a:ea typeface="Consolas" pitchFamily="34" charset="-122"/>
                <a:cs typeface="Consolas" pitchFamily="34" charset="-120"/>
              </a:rPr>
              <a:t>  service-name: string</a:t>
            </a:r>
            <a:endParaRPr lang="en-US" sz="850" dirty="0"/>
          </a:p>
        </p:txBody>
      </p:sp>
      <p:sp>
        <p:nvSpPr>
          <p:cNvPr id="43" name="Shape 41"/>
          <p:cNvSpPr/>
          <p:nvPr/>
        </p:nvSpPr>
        <p:spPr>
          <a:xfrm>
            <a:off x="3364992" y="2432304"/>
            <a:ext cx="2670048" cy="256032"/>
          </a:xfrm>
          <a:prstGeom prst="rect">
            <a:avLst/>
          </a:prstGeom>
          <a:solidFill>
            <a:srgbClr val="1B2A3B"/>
          </a:solidFill>
          <a:ln w="3810">
            <a:solidFill>
              <a:srgbClr val="334155"/>
            </a:solidFill>
            <a:prstDash val="solid"/>
          </a:ln>
        </p:spPr>
      </p:sp>
      <p:sp>
        <p:nvSpPr>
          <p:cNvPr id="44" name="Text 42"/>
          <p:cNvSpPr/>
          <p:nvPr/>
        </p:nvSpPr>
        <p:spPr>
          <a:xfrm>
            <a:off x="3401568" y="2432304"/>
            <a:ext cx="2633472" cy="256032"/>
          </a:xfrm>
          <a:prstGeom prst="rect">
            <a:avLst/>
          </a:prstGeom>
          <a:noFill/>
          <a:ln/>
        </p:spPr>
        <p:txBody>
          <a:bodyPr wrap="square" lIns="0" tIns="0" rIns="0" bIns="0" rtlCol="0" anchor="ctr"/>
          <a:lstStyle/>
          <a:p>
            <a:pPr indent="0" marL="0">
              <a:buNone/>
            </a:pPr>
            <a:r>
              <a:rPr lang="en-US" sz="850" dirty="0">
                <a:solidFill>
                  <a:srgbClr val="06B6D4"/>
                </a:solidFill>
                <a:latin typeface="Consolas" pitchFamily="34" charset="0"/>
                <a:ea typeface="Consolas" pitchFamily="34" charset="-122"/>
                <a:cs typeface="Consolas" pitchFamily="34" charset="-120"/>
              </a:rPr>
              <a:t>  java-version: '21'</a:t>
            </a:r>
            <a:endParaRPr lang="en-US" sz="850" dirty="0"/>
          </a:p>
        </p:txBody>
      </p:sp>
      <p:sp>
        <p:nvSpPr>
          <p:cNvPr id="45" name="Shape 43"/>
          <p:cNvSpPr/>
          <p:nvPr/>
        </p:nvSpPr>
        <p:spPr>
          <a:xfrm>
            <a:off x="3364992" y="2688336"/>
            <a:ext cx="2670048" cy="256032"/>
          </a:xfrm>
          <a:prstGeom prst="rect">
            <a:avLst/>
          </a:prstGeom>
          <a:solidFill>
            <a:srgbClr val="1B2A3B"/>
          </a:solidFill>
          <a:ln w="3810">
            <a:solidFill>
              <a:srgbClr val="334155"/>
            </a:solidFill>
            <a:prstDash val="solid"/>
          </a:ln>
        </p:spPr>
      </p:sp>
      <p:sp>
        <p:nvSpPr>
          <p:cNvPr id="46" name="Text 44"/>
          <p:cNvSpPr/>
          <p:nvPr/>
        </p:nvSpPr>
        <p:spPr>
          <a:xfrm>
            <a:off x="3401568" y="2688336"/>
            <a:ext cx="2633472" cy="256032"/>
          </a:xfrm>
          <a:prstGeom prst="rect">
            <a:avLst/>
          </a:prstGeom>
          <a:noFill/>
          <a:ln/>
        </p:spPr>
        <p:txBody>
          <a:bodyPr wrap="square" lIns="0" tIns="0" rIns="0" bIns="0" rtlCol="0" anchor="ctr"/>
          <a:lstStyle/>
          <a:p>
            <a:pPr indent="0" marL="0">
              <a:buNone/>
            </a:pPr>
            <a:r>
              <a:rPr lang="en-US" sz="850" dirty="0">
                <a:solidFill>
                  <a:srgbClr val="06B6D4"/>
                </a:solidFill>
                <a:latin typeface="Consolas" pitchFamily="34" charset="0"/>
                <a:ea typeface="Consolas" pitchFamily="34" charset="-122"/>
                <a:cs typeface="Consolas" pitchFamily="34" charset="-120"/>
              </a:rPr>
              <a:t>  run-integration-tests: bool</a:t>
            </a:r>
            <a:endParaRPr lang="en-US" sz="850" dirty="0"/>
          </a:p>
        </p:txBody>
      </p:sp>
      <p:sp>
        <p:nvSpPr>
          <p:cNvPr id="47" name="Shape 45"/>
          <p:cNvSpPr/>
          <p:nvPr/>
        </p:nvSpPr>
        <p:spPr>
          <a:xfrm>
            <a:off x="3364992" y="2990088"/>
            <a:ext cx="2670048" cy="256032"/>
          </a:xfrm>
          <a:prstGeom prst="rect">
            <a:avLst/>
          </a:prstGeom>
          <a:solidFill>
            <a:srgbClr val="EF4444"/>
          </a:solidFill>
          <a:ln w="12700">
            <a:solidFill>
              <a:srgbClr val="EF4444"/>
            </a:solidFill>
            <a:prstDash val="solid"/>
          </a:ln>
        </p:spPr>
      </p:sp>
      <p:sp>
        <p:nvSpPr>
          <p:cNvPr id="48" name="Text 46"/>
          <p:cNvSpPr/>
          <p:nvPr/>
        </p:nvSpPr>
        <p:spPr>
          <a:xfrm>
            <a:off x="3401568" y="2990088"/>
            <a:ext cx="2633472" cy="256032"/>
          </a:xfrm>
          <a:prstGeom prst="rect">
            <a:avLst/>
          </a:prstGeom>
          <a:noFill/>
          <a:ln/>
        </p:spPr>
        <p:txBody>
          <a:bodyPr wrap="square" lIns="0" tIns="0" rIns="0" bIns="0"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secrets:</a:t>
            </a:r>
            <a:endParaRPr lang="en-US" sz="950" dirty="0"/>
          </a:p>
        </p:txBody>
      </p:sp>
      <p:sp>
        <p:nvSpPr>
          <p:cNvPr id="49" name="Shape 47"/>
          <p:cNvSpPr/>
          <p:nvPr/>
        </p:nvSpPr>
        <p:spPr>
          <a:xfrm>
            <a:off x="3364992" y="3246120"/>
            <a:ext cx="2670048" cy="256032"/>
          </a:xfrm>
          <a:prstGeom prst="rect">
            <a:avLst/>
          </a:prstGeom>
          <a:solidFill>
            <a:srgbClr val="1B2A3B"/>
          </a:solidFill>
          <a:ln w="3810">
            <a:solidFill>
              <a:srgbClr val="334155"/>
            </a:solidFill>
            <a:prstDash val="solid"/>
          </a:ln>
        </p:spPr>
      </p:sp>
      <p:sp>
        <p:nvSpPr>
          <p:cNvPr id="50" name="Text 48"/>
          <p:cNvSpPr/>
          <p:nvPr/>
        </p:nvSpPr>
        <p:spPr>
          <a:xfrm>
            <a:off x="3401568" y="3246120"/>
            <a:ext cx="2633472" cy="256032"/>
          </a:xfrm>
          <a:prstGeom prst="rect">
            <a:avLst/>
          </a:prstGeom>
          <a:noFill/>
          <a:ln/>
        </p:spPr>
        <p:txBody>
          <a:bodyPr wrap="square" lIns="0" tIns="0" rIns="0" bIns="0" rtlCol="0" anchor="ctr"/>
          <a:lstStyle/>
          <a:p>
            <a:pPr indent="0" marL="0">
              <a:buNone/>
            </a:pPr>
            <a:r>
              <a:rPr lang="en-US" sz="850" dirty="0">
                <a:solidFill>
                  <a:srgbClr val="06B6D4"/>
                </a:solidFill>
                <a:latin typeface="Consolas" pitchFamily="34" charset="0"/>
                <a:ea typeface="Consolas" pitchFamily="34" charset="-122"/>
                <a:cs typeface="Consolas" pitchFamily="34" charset="-120"/>
              </a:rPr>
              <a:t>  DOCKER_USERNAME</a:t>
            </a:r>
            <a:endParaRPr lang="en-US" sz="850" dirty="0"/>
          </a:p>
        </p:txBody>
      </p:sp>
      <p:sp>
        <p:nvSpPr>
          <p:cNvPr id="51" name="Shape 49"/>
          <p:cNvSpPr/>
          <p:nvPr/>
        </p:nvSpPr>
        <p:spPr>
          <a:xfrm>
            <a:off x="3364992" y="3502152"/>
            <a:ext cx="2670048" cy="256032"/>
          </a:xfrm>
          <a:prstGeom prst="rect">
            <a:avLst/>
          </a:prstGeom>
          <a:solidFill>
            <a:srgbClr val="1B2A3B"/>
          </a:solidFill>
          <a:ln w="3810">
            <a:solidFill>
              <a:srgbClr val="334155"/>
            </a:solidFill>
            <a:prstDash val="solid"/>
          </a:ln>
        </p:spPr>
      </p:sp>
      <p:sp>
        <p:nvSpPr>
          <p:cNvPr id="52" name="Text 50"/>
          <p:cNvSpPr/>
          <p:nvPr/>
        </p:nvSpPr>
        <p:spPr>
          <a:xfrm>
            <a:off x="3401568" y="3502152"/>
            <a:ext cx="2633472" cy="256032"/>
          </a:xfrm>
          <a:prstGeom prst="rect">
            <a:avLst/>
          </a:prstGeom>
          <a:noFill/>
          <a:ln/>
        </p:spPr>
        <p:txBody>
          <a:bodyPr wrap="square" lIns="0" tIns="0" rIns="0" bIns="0" rtlCol="0" anchor="ctr"/>
          <a:lstStyle/>
          <a:p>
            <a:pPr indent="0" marL="0">
              <a:buNone/>
            </a:pPr>
            <a:r>
              <a:rPr lang="en-US" sz="850" dirty="0">
                <a:solidFill>
                  <a:srgbClr val="06B6D4"/>
                </a:solidFill>
                <a:latin typeface="Consolas" pitchFamily="34" charset="0"/>
                <a:ea typeface="Consolas" pitchFamily="34" charset="-122"/>
                <a:cs typeface="Consolas" pitchFamily="34" charset="-120"/>
              </a:rPr>
              <a:t>  DOCKER_PASSWORD</a:t>
            </a:r>
            <a:endParaRPr lang="en-US" sz="850" dirty="0"/>
          </a:p>
        </p:txBody>
      </p:sp>
      <p:sp>
        <p:nvSpPr>
          <p:cNvPr id="53" name="Shape 51"/>
          <p:cNvSpPr/>
          <p:nvPr/>
        </p:nvSpPr>
        <p:spPr>
          <a:xfrm>
            <a:off x="3364992" y="3758184"/>
            <a:ext cx="2670048" cy="256032"/>
          </a:xfrm>
          <a:prstGeom prst="rect">
            <a:avLst/>
          </a:prstGeom>
          <a:solidFill>
            <a:srgbClr val="1B2A3B"/>
          </a:solidFill>
          <a:ln w="3810">
            <a:solidFill>
              <a:srgbClr val="334155"/>
            </a:solidFill>
            <a:prstDash val="solid"/>
          </a:ln>
        </p:spPr>
      </p:sp>
      <p:sp>
        <p:nvSpPr>
          <p:cNvPr id="54" name="Text 52"/>
          <p:cNvSpPr/>
          <p:nvPr/>
        </p:nvSpPr>
        <p:spPr>
          <a:xfrm>
            <a:off x="3401568" y="3758184"/>
            <a:ext cx="2633472" cy="256032"/>
          </a:xfrm>
          <a:prstGeom prst="rect">
            <a:avLst/>
          </a:prstGeom>
          <a:noFill/>
          <a:ln/>
        </p:spPr>
        <p:txBody>
          <a:bodyPr wrap="square" lIns="0" tIns="0" rIns="0" bIns="0" rtlCol="0" anchor="ctr"/>
          <a:lstStyle/>
          <a:p>
            <a:pPr indent="0" marL="0">
              <a:buNone/>
            </a:pPr>
            <a:r>
              <a:rPr lang="en-US" sz="850" dirty="0">
                <a:solidFill>
                  <a:srgbClr val="06B6D4"/>
                </a:solidFill>
                <a:latin typeface="Consolas" pitchFamily="34" charset="0"/>
                <a:ea typeface="Consolas" pitchFamily="34" charset="-122"/>
                <a:cs typeface="Consolas" pitchFamily="34" charset="-120"/>
              </a:rPr>
              <a:t>  PROD_SSH_KEY</a:t>
            </a:r>
            <a:endParaRPr lang="en-US" sz="850" dirty="0"/>
          </a:p>
        </p:txBody>
      </p:sp>
      <p:sp>
        <p:nvSpPr>
          <p:cNvPr id="55" name="Shape 53"/>
          <p:cNvSpPr/>
          <p:nvPr/>
        </p:nvSpPr>
        <p:spPr>
          <a:xfrm>
            <a:off x="3364992" y="4059936"/>
            <a:ext cx="2670048" cy="256032"/>
          </a:xfrm>
          <a:prstGeom prst="rect">
            <a:avLst/>
          </a:prstGeom>
          <a:solidFill>
            <a:srgbClr val="1A56DB"/>
          </a:solidFill>
          <a:ln w="12700">
            <a:solidFill>
              <a:srgbClr val="1A56DB"/>
            </a:solidFill>
            <a:prstDash val="solid"/>
          </a:ln>
        </p:spPr>
      </p:sp>
      <p:sp>
        <p:nvSpPr>
          <p:cNvPr id="56" name="Text 54"/>
          <p:cNvSpPr/>
          <p:nvPr/>
        </p:nvSpPr>
        <p:spPr>
          <a:xfrm>
            <a:off x="3401568" y="4059936"/>
            <a:ext cx="2633472" cy="256032"/>
          </a:xfrm>
          <a:prstGeom prst="rect">
            <a:avLst/>
          </a:prstGeom>
          <a:noFill/>
          <a:ln/>
        </p:spPr>
        <p:txBody>
          <a:bodyPr wrap="square" lIns="0" tIns="0" rIns="0" bIns="0"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jobs:</a:t>
            </a:r>
            <a:endParaRPr lang="en-US" sz="950" dirty="0"/>
          </a:p>
        </p:txBody>
      </p:sp>
      <p:sp>
        <p:nvSpPr>
          <p:cNvPr id="57" name="Shape 55"/>
          <p:cNvSpPr/>
          <p:nvPr/>
        </p:nvSpPr>
        <p:spPr>
          <a:xfrm>
            <a:off x="3364992" y="4315968"/>
            <a:ext cx="2670048" cy="256032"/>
          </a:xfrm>
          <a:prstGeom prst="rect">
            <a:avLst/>
          </a:prstGeom>
          <a:solidFill>
            <a:srgbClr val="1B2A3B"/>
          </a:solidFill>
          <a:ln w="3810">
            <a:solidFill>
              <a:srgbClr val="334155"/>
            </a:solidFill>
            <a:prstDash val="solid"/>
          </a:ln>
        </p:spPr>
      </p:sp>
      <p:sp>
        <p:nvSpPr>
          <p:cNvPr id="58" name="Text 56"/>
          <p:cNvSpPr/>
          <p:nvPr/>
        </p:nvSpPr>
        <p:spPr>
          <a:xfrm>
            <a:off x="3401568" y="4315968"/>
            <a:ext cx="2633472" cy="256032"/>
          </a:xfrm>
          <a:prstGeom prst="rect">
            <a:avLst/>
          </a:prstGeom>
          <a:noFill/>
          <a:ln/>
        </p:spPr>
        <p:txBody>
          <a:bodyPr wrap="square" lIns="0" tIns="0" rIns="0" bIns="0" rtlCol="0" anchor="ctr"/>
          <a:lstStyle/>
          <a:p>
            <a:pPr indent="0" marL="0">
              <a:buNone/>
            </a:pPr>
            <a:r>
              <a:rPr lang="en-US" sz="850" dirty="0">
                <a:solidFill>
                  <a:srgbClr val="06B6D4"/>
                </a:solidFill>
                <a:latin typeface="Consolas" pitchFamily="34" charset="0"/>
                <a:ea typeface="Consolas" pitchFamily="34" charset="-122"/>
                <a:cs typeface="Consolas" pitchFamily="34" charset="-120"/>
              </a:rPr>
              <a:t>  build</a:t>
            </a:r>
            <a:endParaRPr lang="en-US" sz="850" dirty="0"/>
          </a:p>
        </p:txBody>
      </p:sp>
      <p:sp>
        <p:nvSpPr>
          <p:cNvPr id="59" name="Shape 57"/>
          <p:cNvSpPr/>
          <p:nvPr/>
        </p:nvSpPr>
        <p:spPr>
          <a:xfrm>
            <a:off x="3364992" y="4572000"/>
            <a:ext cx="2670048" cy="256032"/>
          </a:xfrm>
          <a:prstGeom prst="rect">
            <a:avLst/>
          </a:prstGeom>
          <a:solidFill>
            <a:srgbClr val="1B2A3B"/>
          </a:solidFill>
          <a:ln w="3810">
            <a:solidFill>
              <a:srgbClr val="334155"/>
            </a:solidFill>
            <a:prstDash val="solid"/>
          </a:ln>
        </p:spPr>
      </p:sp>
      <p:sp>
        <p:nvSpPr>
          <p:cNvPr id="60" name="Text 58"/>
          <p:cNvSpPr/>
          <p:nvPr/>
        </p:nvSpPr>
        <p:spPr>
          <a:xfrm>
            <a:off x="3401568" y="4572000"/>
            <a:ext cx="2633472" cy="256032"/>
          </a:xfrm>
          <a:prstGeom prst="rect">
            <a:avLst/>
          </a:prstGeom>
          <a:noFill/>
          <a:ln/>
        </p:spPr>
        <p:txBody>
          <a:bodyPr wrap="square" lIns="0" tIns="0" rIns="0" bIns="0" rtlCol="0" anchor="ctr"/>
          <a:lstStyle/>
          <a:p>
            <a:pPr indent="0" marL="0">
              <a:buNone/>
            </a:pPr>
            <a:r>
              <a:rPr lang="en-US" sz="850" dirty="0">
                <a:solidFill>
                  <a:srgbClr val="06B6D4"/>
                </a:solidFill>
                <a:latin typeface="Consolas" pitchFamily="34" charset="0"/>
                <a:ea typeface="Consolas" pitchFamily="34" charset="-122"/>
                <a:cs typeface="Consolas" pitchFamily="34" charset="-120"/>
              </a:rPr>
              <a:t>  unit-tests</a:t>
            </a:r>
            <a:endParaRPr lang="en-US" sz="850" dirty="0"/>
          </a:p>
        </p:txBody>
      </p:sp>
      <p:sp>
        <p:nvSpPr>
          <p:cNvPr id="61" name="Shape 59"/>
          <p:cNvSpPr/>
          <p:nvPr/>
        </p:nvSpPr>
        <p:spPr>
          <a:xfrm>
            <a:off x="3364992" y="4828032"/>
            <a:ext cx="2670048" cy="256032"/>
          </a:xfrm>
          <a:prstGeom prst="rect">
            <a:avLst/>
          </a:prstGeom>
          <a:solidFill>
            <a:srgbClr val="1B2A3B"/>
          </a:solidFill>
          <a:ln w="3810">
            <a:solidFill>
              <a:srgbClr val="334155"/>
            </a:solidFill>
            <a:prstDash val="solid"/>
          </a:ln>
        </p:spPr>
      </p:sp>
      <p:sp>
        <p:nvSpPr>
          <p:cNvPr id="62" name="Text 60"/>
          <p:cNvSpPr/>
          <p:nvPr/>
        </p:nvSpPr>
        <p:spPr>
          <a:xfrm>
            <a:off x="3401568" y="4828032"/>
            <a:ext cx="2633472" cy="256032"/>
          </a:xfrm>
          <a:prstGeom prst="rect">
            <a:avLst/>
          </a:prstGeom>
          <a:noFill/>
          <a:ln/>
        </p:spPr>
        <p:txBody>
          <a:bodyPr wrap="square" lIns="0" tIns="0" rIns="0" bIns="0" rtlCol="0" anchor="ctr"/>
          <a:lstStyle/>
          <a:p>
            <a:pPr indent="0" marL="0">
              <a:buNone/>
            </a:pPr>
            <a:r>
              <a:rPr lang="en-US" sz="850" dirty="0">
                <a:solidFill>
                  <a:srgbClr val="06B6D4"/>
                </a:solidFill>
                <a:latin typeface="Consolas" pitchFamily="34" charset="0"/>
                <a:ea typeface="Consolas" pitchFamily="34" charset="-122"/>
                <a:cs typeface="Consolas" pitchFamily="34" charset="-120"/>
              </a:rPr>
              <a:t>  docker</a:t>
            </a:r>
            <a:endParaRPr lang="en-US" sz="850" dirty="0"/>
          </a:p>
        </p:txBody>
      </p:sp>
      <p:sp>
        <p:nvSpPr>
          <p:cNvPr id="63" name="Shape 61"/>
          <p:cNvSpPr/>
          <p:nvPr/>
        </p:nvSpPr>
        <p:spPr>
          <a:xfrm>
            <a:off x="3364992" y="5084064"/>
            <a:ext cx="2670048" cy="256032"/>
          </a:xfrm>
          <a:prstGeom prst="rect">
            <a:avLst/>
          </a:prstGeom>
          <a:solidFill>
            <a:srgbClr val="1B2A3B"/>
          </a:solidFill>
          <a:ln w="3810">
            <a:solidFill>
              <a:srgbClr val="334155"/>
            </a:solidFill>
            <a:prstDash val="solid"/>
          </a:ln>
        </p:spPr>
      </p:sp>
      <p:sp>
        <p:nvSpPr>
          <p:cNvPr id="64" name="Text 62"/>
          <p:cNvSpPr/>
          <p:nvPr/>
        </p:nvSpPr>
        <p:spPr>
          <a:xfrm>
            <a:off x="3401568" y="5084064"/>
            <a:ext cx="2633472" cy="256032"/>
          </a:xfrm>
          <a:prstGeom prst="rect">
            <a:avLst/>
          </a:prstGeom>
          <a:noFill/>
          <a:ln/>
        </p:spPr>
        <p:txBody>
          <a:bodyPr wrap="square" lIns="0" tIns="0" rIns="0" bIns="0" rtlCol="0" anchor="ctr"/>
          <a:lstStyle/>
          <a:p>
            <a:pPr indent="0" marL="0">
              <a:buNone/>
            </a:pPr>
            <a:r>
              <a:rPr lang="en-US" sz="850" dirty="0">
                <a:solidFill>
                  <a:srgbClr val="06B6D4"/>
                </a:solidFill>
                <a:latin typeface="Consolas" pitchFamily="34" charset="0"/>
                <a:ea typeface="Consolas" pitchFamily="34" charset="-122"/>
                <a:cs typeface="Consolas" pitchFamily="34" charset="-120"/>
              </a:rPr>
              <a:t>  deploy</a:t>
            </a:r>
            <a:endParaRPr lang="en-US" sz="850" dirty="0"/>
          </a:p>
        </p:txBody>
      </p:sp>
      <p:sp>
        <p:nvSpPr>
          <p:cNvPr id="65" name="Text 63"/>
          <p:cNvSpPr/>
          <p:nvPr/>
        </p:nvSpPr>
        <p:spPr>
          <a:xfrm>
            <a:off x="3364992" y="4041648"/>
            <a:ext cx="2670048" cy="256032"/>
          </a:xfrm>
          <a:prstGeom prst="rect">
            <a:avLst/>
          </a:prstGeom>
          <a:noFill/>
          <a:ln/>
        </p:spPr>
        <p:txBody>
          <a:bodyPr wrap="square" lIns="0" tIns="0" rIns="0" bIns="0" rtlCol="0" anchor="ctr"/>
          <a:lstStyle/>
          <a:p>
            <a:pPr indent="0" marL="0">
              <a:buNone/>
            </a:pPr>
            <a:r>
              <a:rPr lang="en-US" sz="850" dirty="0">
                <a:solidFill>
                  <a:srgbClr val="F59E0B"/>
                </a:solidFill>
                <a:latin typeface="Consolas" pitchFamily="34" charset="0"/>
                <a:ea typeface="Consolas" pitchFamily="34" charset="-122"/>
                <a:cs typeface="Consolas" pitchFamily="34" charset="-120"/>
              </a:rPr>
              <a:t>outputs: artifact-name</a:t>
            </a:r>
            <a:endParaRPr lang="en-US" sz="850" dirty="0"/>
          </a:p>
        </p:txBody>
      </p:sp>
      <p:sp>
        <p:nvSpPr>
          <p:cNvPr id="66" name="Shape 64"/>
          <p:cNvSpPr/>
          <p:nvPr/>
        </p:nvSpPr>
        <p:spPr>
          <a:xfrm>
            <a:off x="3493008" y="4681728"/>
            <a:ext cx="2377440" cy="274320"/>
          </a:xfrm>
          <a:prstGeom prst="rect">
            <a:avLst/>
          </a:prstGeom>
          <a:solidFill>
            <a:srgbClr val="EA580C"/>
          </a:solidFill>
          <a:ln w="12700">
            <a:solidFill>
              <a:srgbClr val="EA580C"/>
            </a:solidFill>
            <a:prstDash val="solid"/>
          </a:ln>
        </p:spPr>
      </p:sp>
      <p:sp>
        <p:nvSpPr>
          <p:cNvPr id="67" name="Text 65"/>
          <p:cNvSpPr/>
          <p:nvPr/>
        </p:nvSpPr>
        <p:spPr>
          <a:xfrm>
            <a:off x="3493008" y="4681728"/>
            <a:ext cx="2377440" cy="27432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Owned by: DevOps Architect</a:t>
            </a:r>
            <a:endParaRPr lang="en-US" sz="850" dirty="0"/>
          </a:p>
        </p:txBody>
      </p:sp>
      <p:sp>
        <p:nvSpPr>
          <p:cNvPr id="68" name="Shape 66"/>
          <p:cNvSpPr/>
          <p:nvPr/>
        </p:nvSpPr>
        <p:spPr>
          <a:xfrm>
            <a:off x="6291072" y="1005840"/>
            <a:ext cx="2487168" cy="4069080"/>
          </a:xfrm>
          <a:prstGeom prst="rect">
            <a:avLst/>
          </a:prstGeom>
          <a:solidFill>
            <a:srgbClr val="F0FDF4"/>
          </a:solidFill>
          <a:ln w="10160">
            <a:solidFill>
              <a:srgbClr val="10B981"/>
            </a:solidFill>
            <a:prstDash val="solid"/>
          </a:ln>
        </p:spPr>
      </p:sp>
      <p:sp>
        <p:nvSpPr>
          <p:cNvPr id="69" name="Shape 67"/>
          <p:cNvSpPr/>
          <p:nvPr/>
        </p:nvSpPr>
        <p:spPr>
          <a:xfrm>
            <a:off x="6291072" y="1005840"/>
            <a:ext cx="2487168" cy="384048"/>
          </a:xfrm>
          <a:prstGeom prst="rect">
            <a:avLst/>
          </a:prstGeom>
          <a:solidFill>
            <a:srgbClr val="10B981"/>
          </a:solidFill>
          <a:ln w="12700">
            <a:solidFill>
              <a:srgbClr val="10B981"/>
            </a:solidFill>
            <a:prstDash val="solid"/>
          </a:ln>
        </p:spPr>
      </p:sp>
      <p:sp>
        <p:nvSpPr>
          <p:cNvPr id="70" name="Text 68"/>
          <p:cNvSpPr/>
          <p:nvPr/>
        </p:nvSpPr>
        <p:spPr>
          <a:xfrm>
            <a:off x="6291072" y="1005840"/>
            <a:ext cx="248716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Execution Results</a:t>
            </a:r>
            <a:endParaRPr lang="en-US" sz="1000" dirty="0"/>
          </a:p>
        </p:txBody>
      </p:sp>
      <p:sp>
        <p:nvSpPr>
          <p:cNvPr id="71" name="Shape 69"/>
          <p:cNvSpPr/>
          <p:nvPr/>
        </p:nvSpPr>
        <p:spPr>
          <a:xfrm>
            <a:off x="6400800" y="1554480"/>
            <a:ext cx="2267712" cy="475488"/>
          </a:xfrm>
          <a:prstGeom prst="rect">
            <a:avLst/>
          </a:prstGeom>
          <a:solidFill>
            <a:srgbClr val="1A56DB"/>
          </a:solidFill>
          <a:ln w="12700">
            <a:solidFill>
              <a:srgbClr val="1A56DB"/>
            </a:solidFill>
            <a:prstDash val="solid"/>
          </a:ln>
        </p:spPr>
      </p:sp>
      <p:sp>
        <p:nvSpPr>
          <p:cNvPr id="72" name="Text 70"/>
          <p:cNvSpPr/>
          <p:nvPr/>
        </p:nvSpPr>
        <p:spPr>
          <a:xfrm>
            <a:off x="6400800" y="1554480"/>
            <a:ext cx="2267712"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Build</a:t>
            </a:r>
            <a:endParaRPr lang="en-US" sz="1050" dirty="0"/>
          </a:p>
        </p:txBody>
      </p:sp>
      <p:sp>
        <p:nvSpPr>
          <p:cNvPr id="73" name="Shape 71"/>
          <p:cNvSpPr/>
          <p:nvPr/>
        </p:nvSpPr>
        <p:spPr>
          <a:xfrm>
            <a:off x="6400800" y="2157984"/>
            <a:ext cx="2267712" cy="475488"/>
          </a:xfrm>
          <a:prstGeom prst="rect">
            <a:avLst/>
          </a:prstGeom>
          <a:solidFill>
            <a:srgbClr val="06B6D4"/>
          </a:solidFill>
          <a:ln w="12700">
            <a:solidFill>
              <a:srgbClr val="06B6D4"/>
            </a:solidFill>
            <a:prstDash val="solid"/>
          </a:ln>
        </p:spPr>
      </p:sp>
      <p:sp>
        <p:nvSpPr>
          <p:cNvPr id="74" name="Text 72"/>
          <p:cNvSpPr/>
          <p:nvPr/>
        </p:nvSpPr>
        <p:spPr>
          <a:xfrm>
            <a:off x="6400800" y="2157984"/>
            <a:ext cx="2267712"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Tests</a:t>
            </a:r>
            <a:endParaRPr lang="en-US" sz="1050" dirty="0"/>
          </a:p>
        </p:txBody>
      </p:sp>
      <p:sp>
        <p:nvSpPr>
          <p:cNvPr id="75" name="Shape 73"/>
          <p:cNvSpPr/>
          <p:nvPr/>
        </p:nvSpPr>
        <p:spPr>
          <a:xfrm>
            <a:off x="6400800" y="2761488"/>
            <a:ext cx="2267712" cy="475488"/>
          </a:xfrm>
          <a:prstGeom prst="rect">
            <a:avLst/>
          </a:prstGeom>
          <a:solidFill>
            <a:srgbClr val="EA580C"/>
          </a:solidFill>
          <a:ln w="12700">
            <a:solidFill>
              <a:srgbClr val="EA580C"/>
            </a:solidFill>
            <a:prstDash val="solid"/>
          </a:ln>
        </p:spPr>
      </p:sp>
      <p:sp>
        <p:nvSpPr>
          <p:cNvPr id="76" name="Text 74"/>
          <p:cNvSpPr/>
          <p:nvPr/>
        </p:nvSpPr>
        <p:spPr>
          <a:xfrm>
            <a:off x="6400800" y="2761488"/>
            <a:ext cx="2267712"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OWASP Scan</a:t>
            </a:r>
            <a:endParaRPr lang="en-US" sz="1050" dirty="0"/>
          </a:p>
        </p:txBody>
      </p:sp>
      <p:sp>
        <p:nvSpPr>
          <p:cNvPr id="77" name="Shape 75"/>
          <p:cNvSpPr/>
          <p:nvPr/>
        </p:nvSpPr>
        <p:spPr>
          <a:xfrm>
            <a:off x="6400800" y="3364992"/>
            <a:ext cx="2267712" cy="475488"/>
          </a:xfrm>
          <a:prstGeom prst="rect">
            <a:avLst/>
          </a:prstGeom>
          <a:solidFill>
            <a:srgbClr val="0D9488"/>
          </a:solidFill>
          <a:ln w="12700">
            <a:solidFill>
              <a:srgbClr val="0D9488"/>
            </a:solidFill>
            <a:prstDash val="solid"/>
          </a:ln>
        </p:spPr>
      </p:sp>
      <p:sp>
        <p:nvSpPr>
          <p:cNvPr id="78" name="Text 76"/>
          <p:cNvSpPr/>
          <p:nvPr/>
        </p:nvSpPr>
        <p:spPr>
          <a:xfrm>
            <a:off x="6400800" y="3364992"/>
            <a:ext cx="2267712"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Docker Push</a:t>
            </a:r>
            <a:endParaRPr lang="en-US" sz="1050" dirty="0"/>
          </a:p>
        </p:txBody>
      </p:sp>
      <p:sp>
        <p:nvSpPr>
          <p:cNvPr id="79" name="Shape 77"/>
          <p:cNvSpPr/>
          <p:nvPr/>
        </p:nvSpPr>
        <p:spPr>
          <a:xfrm>
            <a:off x="6400800" y="3968496"/>
            <a:ext cx="2267712" cy="475488"/>
          </a:xfrm>
          <a:prstGeom prst="rect">
            <a:avLst/>
          </a:prstGeom>
          <a:solidFill>
            <a:srgbClr val="10B981"/>
          </a:solidFill>
          <a:ln w="12700">
            <a:solidFill>
              <a:srgbClr val="10B981"/>
            </a:solidFill>
            <a:prstDash val="solid"/>
          </a:ln>
        </p:spPr>
      </p:sp>
      <p:sp>
        <p:nvSpPr>
          <p:cNvPr id="80" name="Text 78"/>
          <p:cNvSpPr/>
          <p:nvPr/>
        </p:nvSpPr>
        <p:spPr>
          <a:xfrm>
            <a:off x="6400800" y="3968496"/>
            <a:ext cx="2267712"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Deploy</a:t>
            </a:r>
            <a:endParaRPr lang="en-US" sz="1050" dirty="0"/>
          </a:p>
        </p:txBody>
      </p:sp>
      <p:sp>
        <p:nvSpPr>
          <p:cNvPr id="81" name="Shape 79"/>
          <p:cNvSpPr/>
          <p:nvPr/>
        </p:nvSpPr>
        <p:spPr>
          <a:xfrm>
            <a:off x="6172200" y="1764792"/>
            <a:ext cx="109728" cy="36576"/>
          </a:xfrm>
          <a:prstGeom prst="rect">
            <a:avLst/>
          </a:prstGeom>
          <a:solidFill>
            <a:srgbClr val="10B981"/>
          </a:solidFill>
          <a:ln w="12700">
            <a:solidFill>
              <a:srgbClr val="10B981"/>
            </a:solidFill>
            <a:prstDash val="solid"/>
          </a:ln>
        </p:spPr>
      </p:sp>
      <p:sp>
        <p:nvSpPr>
          <p:cNvPr id="82" name="Shape 80"/>
          <p:cNvSpPr/>
          <p:nvPr/>
        </p:nvSpPr>
        <p:spPr>
          <a:xfrm>
            <a:off x="6172200" y="2368296"/>
            <a:ext cx="109728" cy="36576"/>
          </a:xfrm>
          <a:prstGeom prst="rect">
            <a:avLst/>
          </a:prstGeom>
          <a:solidFill>
            <a:srgbClr val="10B981"/>
          </a:solidFill>
          <a:ln w="12700">
            <a:solidFill>
              <a:srgbClr val="10B981"/>
            </a:solidFill>
            <a:prstDash val="solid"/>
          </a:ln>
        </p:spPr>
      </p:sp>
      <p:sp>
        <p:nvSpPr>
          <p:cNvPr id="83" name="Shape 81"/>
          <p:cNvSpPr/>
          <p:nvPr/>
        </p:nvSpPr>
        <p:spPr>
          <a:xfrm>
            <a:off x="6172200" y="2971800"/>
            <a:ext cx="109728" cy="36576"/>
          </a:xfrm>
          <a:prstGeom prst="rect">
            <a:avLst/>
          </a:prstGeom>
          <a:solidFill>
            <a:srgbClr val="10B981"/>
          </a:solidFill>
          <a:ln w="12700">
            <a:solidFill>
              <a:srgbClr val="10B981"/>
            </a:solidFill>
            <a:prstDash val="solid"/>
          </a:ln>
        </p:spPr>
      </p:sp>
      <p:sp>
        <p:nvSpPr>
          <p:cNvPr id="84" name="Shape 82"/>
          <p:cNvSpPr/>
          <p:nvPr/>
        </p:nvSpPr>
        <p:spPr>
          <a:xfrm>
            <a:off x="6172200" y="3575304"/>
            <a:ext cx="109728" cy="36576"/>
          </a:xfrm>
          <a:prstGeom prst="rect">
            <a:avLst/>
          </a:prstGeom>
          <a:solidFill>
            <a:srgbClr val="10B981"/>
          </a:solidFill>
          <a:ln w="12700">
            <a:solidFill>
              <a:srgbClr val="10B981"/>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A580C"/>
          </a:solidFill>
          <a:ln w="12700">
            <a:solidFill>
              <a:srgbClr val="EA580C"/>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Module 7 — Conditional Execution with if:</a:t>
            </a:r>
            <a:endParaRPr lang="en-US" sz="2500" dirty="0"/>
          </a:p>
        </p:txBody>
      </p:sp>
      <p:sp>
        <p:nvSpPr>
          <p:cNvPr id="4" name="Shape 2"/>
          <p:cNvSpPr/>
          <p:nvPr/>
        </p:nvSpPr>
        <p:spPr>
          <a:xfrm>
            <a:off x="384048" y="731520"/>
            <a:ext cx="1971446" cy="219456"/>
          </a:xfrm>
          <a:prstGeom prst="rect">
            <a:avLst/>
          </a:prstGeom>
          <a:solidFill>
            <a:srgbClr val="EA580C"/>
          </a:solidFill>
          <a:ln w="12700">
            <a:solidFill>
              <a:srgbClr val="EA580C"/>
            </a:solidFill>
            <a:prstDash val="solid"/>
          </a:ln>
        </p:spPr>
      </p:sp>
      <p:sp>
        <p:nvSpPr>
          <p:cNvPr id="5" name="Text 3"/>
          <p:cNvSpPr/>
          <p:nvPr/>
        </p:nvSpPr>
        <p:spPr>
          <a:xfrm>
            <a:off x="384048" y="731520"/>
            <a:ext cx="1971446"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CONDITIONAL LOGIC</a:t>
            </a:r>
            <a:endParaRPr lang="en-US" sz="850" dirty="0"/>
          </a:p>
        </p:txBody>
      </p:sp>
      <p:sp>
        <p:nvSpPr>
          <p:cNvPr id="6" name="Shape 4"/>
          <p:cNvSpPr/>
          <p:nvPr/>
        </p:nvSpPr>
        <p:spPr>
          <a:xfrm>
            <a:off x="347472" y="1005840"/>
            <a:ext cx="8449056" cy="676656"/>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47472" y="1005840"/>
            <a:ext cx="2103120" cy="676656"/>
          </a:xfrm>
          <a:prstGeom prst="rect">
            <a:avLst/>
          </a:prstGeom>
          <a:solidFill>
            <a:srgbClr val="1A56DB"/>
          </a:solidFill>
          <a:ln w="12700">
            <a:solidFill>
              <a:srgbClr val="1A56DB"/>
            </a:solidFill>
            <a:prstDash val="solid"/>
          </a:ln>
        </p:spPr>
      </p:sp>
      <p:sp>
        <p:nvSpPr>
          <p:cNvPr id="8" name="Text 6"/>
          <p:cNvSpPr/>
          <p:nvPr/>
        </p:nvSpPr>
        <p:spPr>
          <a:xfrm>
            <a:off x="347472" y="1005840"/>
            <a:ext cx="2103120" cy="676656"/>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if: always()</a:t>
            </a:r>
            <a:endParaRPr lang="en-US" sz="1200" dirty="0"/>
          </a:p>
        </p:txBody>
      </p:sp>
      <p:sp>
        <p:nvSpPr>
          <p:cNvPr id="9" name="Text 7"/>
          <p:cNvSpPr/>
          <p:nvPr/>
        </p:nvSpPr>
        <p:spPr>
          <a:xfrm>
            <a:off x="2578608" y="1115568"/>
            <a:ext cx="6089904"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Step/job ALWAYS runs — even if previous step failed. Use for: cleanup, test report upload, notifications</a:t>
            </a:r>
            <a:endParaRPr lang="en-US" sz="1050" dirty="0"/>
          </a:p>
        </p:txBody>
      </p:sp>
      <p:sp>
        <p:nvSpPr>
          <p:cNvPr id="10" name="Shape 8"/>
          <p:cNvSpPr/>
          <p:nvPr/>
        </p:nvSpPr>
        <p:spPr>
          <a:xfrm>
            <a:off x="347472" y="1755648"/>
            <a:ext cx="8449056" cy="676656"/>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47472" y="1755648"/>
            <a:ext cx="2103120" cy="676656"/>
          </a:xfrm>
          <a:prstGeom prst="rect">
            <a:avLst/>
          </a:prstGeom>
          <a:solidFill>
            <a:srgbClr val="10B981"/>
          </a:solidFill>
          <a:ln w="12700">
            <a:solidFill>
              <a:srgbClr val="10B981"/>
            </a:solidFill>
            <a:prstDash val="solid"/>
          </a:ln>
        </p:spPr>
      </p:sp>
      <p:sp>
        <p:nvSpPr>
          <p:cNvPr id="12" name="Text 10"/>
          <p:cNvSpPr/>
          <p:nvPr/>
        </p:nvSpPr>
        <p:spPr>
          <a:xfrm>
            <a:off x="347472" y="1755648"/>
            <a:ext cx="2103120" cy="676656"/>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if: success()</a:t>
            </a:r>
            <a:endParaRPr lang="en-US" sz="1200" dirty="0"/>
          </a:p>
        </p:txBody>
      </p:sp>
      <p:sp>
        <p:nvSpPr>
          <p:cNvPr id="13" name="Text 11"/>
          <p:cNvSpPr/>
          <p:nvPr/>
        </p:nvSpPr>
        <p:spPr>
          <a:xfrm>
            <a:off x="2578608" y="1865376"/>
            <a:ext cx="6089904"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Default — only runs if all previous steps SUCCEEDED. Don't need to write this explicitly (it's the default)</a:t>
            </a:r>
            <a:endParaRPr lang="en-US" sz="1050" dirty="0"/>
          </a:p>
        </p:txBody>
      </p:sp>
      <p:sp>
        <p:nvSpPr>
          <p:cNvPr id="14" name="Shape 12"/>
          <p:cNvSpPr/>
          <p:nvPr/>
        </p:nvSpPr>
        <p:spPr>
          <a:xfrm>
            <a:off x="347472" y="2505456"/>
            <a:ext cx="8449056" cy="676656"/>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347472" y="2505456"/>
            <a:ext cx="2103120" cy="676656"/>
          </a:xfrm>
          <a:prstGeom prst="rect">
            <a:avLst/>
          </a:prstGeom>
          <a:solidFill>
            <a:srgbClr val="EF4444"/>
          </a:solidFill>
          <a:ln w="12700">
            <a:solidFill>
              <a:srgbClr val="EF4444"/>
            </a:solidFill>
            <a:prstDash val="solid"/>
          </a:ln>
        </p:spPr>
      </p:sp>
      <p:sp>
        <p:nvSpPr>
          <p:cNvPr id="16" name="Text 14"/>
          <p:cNvSpPr/>
          <p:nvPr/>
        </p:nvSpPr>
        <p:spPr>
          <a:xfrm>
            <a:off x="347472" y="2505456"/>
            <a:ext cx="2103120" cy="676656"/>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if: failure()</a:t>
            </a:r>
            <a:endParaRPr lang="en-US" sz="1200" dirty="0"/>
          </a:p>
        </p:txBody>
      </p:sp>
      <p:sp>
        <p:nvSpPr>
          <p:cNvPr id="17" name="Text 15"/>
          <p:cNvSpPr/>
          <p:nvPr/>
        </p:nvSpPr>
        <p:spPr>
          <a:xfrm>
            <a:off x="2578608" y="2615184"/>
            <a:ext cx="6089904"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Runs ONLY when a previous step FAILED. Use for: Slack failure alerts, rollback scripts</a:t>
            </a:r>
            <a:endParaRPr lang="en-US" sz="1050" dirty="0"/>
          </a:p>
        </p:txBody>
      </p:sp>
      <p:sp>
        <p:nvSpPr>
          <p:cNvPr id="18" name="Shape 16"/>
          <p:cNvSpPr/>
          <p:nvPr/>
        </p:nvSpPr>
        <p:spPr>
          <a:xfrm>
            <a:off x="347472" y="3255264"/>
            <a:ext cx="8449056" cy="676656"/>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347472" y="3255264"/>
            <a:ext cx="2103120" cy="676656"/>
          </a:xfrm>
          <a:prstGeom prst="rect">
            <a:avLst/>
          </a:prstGeom>
          <a:solidFill>
            <a:srgbClr val="64748B"/>
          </a:solidFill>
          <a:ln w="12700">
            <a:solidFill>
              <a:srgbClr val="64748B"/>
            </a:solidFill>
            <a:prstDash val="solid"/>
          </a:ln>
        </p:spPr>
      </p:sp>
      <p:sp>
        <p:nvSpPr>
          <p:cNvPr id="20" name="Text 18"/>
          <p:cNvSpPr/>
          <p:nvPr/>
        </p:nvSpPr>
        <p:spPr>
          <a:xfrm>
            <a:off x="347472" y="3255264"/>
            <a:ext cx="2103120" cy="676656"/>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if: cancelled()</a:t>
            </a:r>
            <a:endParaRPr lang="en-US" sz="1200" dirty="0"/>
          </a:p>
        </p:txBody>
      </p:sp>
      <p:sp>
        <p:nvSpPr>
          <p:cNvPr id="21" name="Text 19"/>
          <p:cNvSpPr/>
          <p:nvPr/>
        </p:nvSpPr>
        <p:spPr>
          <a:xfrm>
            <a:off x="2578608" y="3364992"/>
            <a:ext cx="6089904"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Runs only when the workflow was manually cancelled. Rarely used but available for cleanup.</a:t>
            </a:r>
            <a:endParaRPr lang="en-US" sz="1050" dirty="0"/>
          </a:p>
        </p:txBody>
      </p:sp>
      <p:sp>
        <p:nvSpPr>
          <p:cNvPr id="22" name="Shape 20"/>
          <p:cNvSpPr/>
          <p:nvPr/>
        </p:nvSpPr>
        <p:spPr>
          <a:xfrm>
            <a:off x="347472" y="4041648"/>
            <a:ext cx="8449056" cy="1024128"/>
          </a:xfrm>
          <a:prstGeom prst="rect">
            <a:avLst/>
          </a:prstGeom>
          <a:solidFill>
            <a:srgbClr val="1B2A3B"/>
          </a:solidFill>
          <a:ln w="6350">
            <a:solidFill>
              <a:srgbClr val="334155"/>
            </a:solidFill>
            <a:prstDash val="solid"/>
          </a:ln>
        </p:spPr>
      </p:sp>
      <p:sp>
        <p:nvSpPr>
          <p:cNvPr id="23" name="Text 21"/>
          <p:cNvSpPr/>
          <p:nvPr/>
        </p:nvSpPr>
        <p:spPr>
          <a:xfrm>
            <a:off x="457200" y="4087368"/>
            <a:ext cx="8229600" cy="256032"/>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Common Condition Expressions</a:t>
            </a:r>
            <a:endParaRPr lang="en-US" sz="1100" dirty="0"/>
          </a:p>
        </p:txBody>
      </p:sp>
      <p:sp>
        <p:nvSpPr>
          <p:cNvPr id="24" name="Text 22"/>
          <p:cNvSpPr/>
          <p:nvPr/>
        </p:nvSpPr>
        <p:spPr>
          <a:xfrm>
            <a:off x="475488" y="4407408"/>
            <a:ext cx="274320" cy="256032"/>
          </a:xfrm>
          <a:prstGeom prst="rect">
            <a:avLst/>
          </a:prstGeom>
          <a:noFill/>
          <a:ln/>
        </p:spPr>
        <p:txBody>
          <a:bodyPr wrap="square" lIns="0" tIns="0" rIns="0" bIns="0" rtlCol="0" anchor="ctr"/>
          <a:lstStyle/>
          <a:p>
            <a:pPr indent="0" marL="0">
              <a:buNone/>
            </a:pPr>
            <a:r>
              <a:rPr lang="en-US" sz="900" dirty="0">
                <a:solidFill>
                  <a:srgbClr val="06B6D4"/>
                </a:solidFill>
                <a:latin typeface="Calibri" pitchFamily="34" charset="0"/>
                <a:ea typeface="Calibri" pitchFamily="34" charset="-122"/>
                <a:cs typeface="Calibri" pitchFamily="34" charset="-120"/>
              </a:rPr>
              <a:t>→  </a:t>
            </a:r>
            <a:endParaRPr lang="en-US" sz="900" dirty="0"/>
          </a:p>
        </p:txBody>
      </p:sp>
      <p:sp>
        <p:nvSpPr>
          <p:cNvPr id="25" name="Text 23"/>
          <p:cNvSpPr/>
          <p:nvPr/>
        </p:nvSpPr>
        <p:spPr>
          <a:xfrm>
            <a:off x="731520" y="4407408"/>
            <a:ext cx="2560320" cy="256032"/>
          </a:xfrm>
          <a:prstGeom prst="rect">
            <a:avLst/>
          </a:prstGeom>
          <a:noFill/>
          <a:ln/>
        </p:spPr>
        <p:txBody>
          <a:bodyPr wrap="square" lIns="0" tIns="0" rIns="0" bIns="0" rtlCol="0" anchor="ctr"/>
          <a:lstStyle/>
          <a:p>
            <a:pPr indent="0" marL="0">
              <a:buNone/>
            </a:pPr>
            <a:r>
              <a:rPr lang="en-US" sz="850" dirty="0">
                <a:solidFill>
                  <a:srgbClr val="F97316"/>
                </a:solidFill>
                <a:latin typeface="Consolas" pitchFamily="34" charset="0"/>
                <a:ea typeface="Consolas" pitchFamily="34" charset="-122"/>
                <a:cs typeface="Consolas" pitchFamily="34" charset="-120"/>
              </a:rPr>
              <a:t>github.ref == 'refs/heads/main'</a:t>
            </a:r>
            <a:endParaRPr lang="en-US" sz="850" dirty="0"/>
          </a:p>
        </p:txBody>
      </p:sp>
      <p:sp>
        <p:nvSpPr>
          <p:cNvPr id="26" name="Text 24"/>
          <p:cNvSpPr/>
          <p:nvPr/>
        </p:nvSpPr>
        <p:spPr>
          <a:xfrm>
            <a:off x="3328416" y="4407408"/>
            <a:ext cx="1234440" cy="2560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Only run on main branch</a:t>
            </a:r>
            <a:endParaRPr lang="en-US" sz="850" dirty="0"/>
          </a:p>
        </p:txBody>
      </p:sp>
      <p:sp>
        <p:nvSpPr>
          <p:cNvPr id="27" name="Text 25"/>
          <p:cNvSpPr/>
          <p:nvPr/>
        </p:nvSpPr>
        <p:spPr>
          <a:xfrm>
            <a:off x="475488" y="4700016"/>
            <a:ext cx="274320" cy="256032"/>
          </a:xfrm>
          <a:prstGeom prst="rect">
            <a:avLst/>
          </a:prstGeom>
          <a:noFill/>
          <a:ln/>
        </p:spPr>
        <p:txBody>
          <a:bodyPr wrap="square" lIns="0" tIns="0" rIns="0" bIns="0" rtlCol="0" anchor="ctr"/>
          <a:lstStyle/>
          <a:p>
            <a:pPr indent="0" marL="0">
              <a:buNone/>
            </a:pPr>
            <a:r>
              <a:rPr lang="en-US" sz="900" dirty="0">
                <a:solidFill>
                  <a:srgbClr val="06B6D4"/>
                </a:solidFill>
                <a:latin typeface="Calibri" pitchFamily="34" charset="0"/>
                <a:ea typeface="Calibri" pitchFamily="34" charset="-122"/>
                <a:cs typeface="Calibri" pitchFamily="34" charset="-120"/>
              </a:rPr>
              <a:t>→  </a:t>
            </a:r>
            <a:endParaRPr lang="en-US" sz="900" dirty="0"/>
          </a:p>
        </p:txBody>
      </p:sp>
      <p:sp>
        <p:nvSpPr>
          <p:cNvPr id="28" name="Text 26"/>
          <p:cNvSpPr/>
          <p:nvPr/>
        </p:nvSpPr>
        <p:spPr>
          <a:xfrm>
            <a:off x="731520" y="4700016"/>
            <a:ext cx="2560320" cy="256032"/>
          </a:xfrm>
          <a:prstGeom prst="rect">
            <a:avLst/>
          </a:prstGeom>
          <a:noFill/>
          <a:ln/>
        </p:spPr>
        <p:txBody>
          <a:bodyPr wrap="square" lIns="0" tIns="0" rIns="0" bIns="0" rtlCol="0" anchor="ctr"/>
          <a:lstStyle/>
          <a:p>
            <a:pPr indent="0" marL="0">
              <a:buNone/>
            </a:pPr>
            <a:r>
              <a:rPr lang="en-US" sz="850" dirty="0">
                <a:solidFill>
                  <a:srgbClr val="F97316"/>
                </a:solidFill>
                <a:latin typeface="Consolas" pitchFamily="34" charset="0"/>
                <a:ea typeface="Consolas" pitchFamily="34" charset="-122"/>
                <a:cs typeface="Consolas" pitchFamily="34" charset="-120"/>
              </a:rPr>
              <a:t>github.event_name == 'release'</a:t>
            </a:r>
            <a:endParaRPr lang="en-US" sz="850" dirty="0"/>
          </a:p>
        </p:txBody>
      </p:sp>
      <p:sp>
        <p:nvSpPr>
          <p:cNvPr id="29" name="Text 27"/>
          <p:cNvSpPr/>
          <p:nvPr/>
        </p:nvSpPr>
        <p:spPr>
          <a:xfrm>
            <a:off x="3328416" y="4700016"/>
            <a:ext cx="1234440" cy="2560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Only on Release events</a:t>
            </a:r>
            <a:endParaRPr lang="en-US" sz="850" dirty="0"/>
          </a:p>
        </p:txBody>
      </p:sp>
      <p:sp>
        <p:nvSpPr>
          <p:cNvPr id="30" name="Text 28"/>
          <p:cNvSpPr/>
          <p:nvPr/>
        </p:nvSpPr>
        <p:spPr>
          <a:xfrm>
            <a:off x="4681728" y="4407408"/>
            <a:ext cx="274320" cy="256032"/>
          </a:xfrm>
          <a:prstGeom prst="rect">
            <a:avLst/>
          </a:prstGeom>
          <a:noFill/>
          <a:ln/>
        </p:spPr>
        <p:txBody>
          <a:bodyPr wrap="square" lIns="0" tIns="0" rIns="0" bIns="0" rtlCol="0" anchor="ctr"/>
          <a:lstStyle/>
          <a:p>
            <a:pPr indent="0" marL="0">
              <a:buNone/>
            </a:pPr>
            <a:r>
              <a:rPr lang="en-US" sz="900" dirty="0">
                <a:solidFill>
                  <a:srgbClr val="06B6D4"/>
                </a:solidFill>
                <a:latin typeface="Calibri" pitchFamily="34" charset="0"/>
                <a:ea typeface="Calibri" pitchFamily="34" charset="-122"/>
                <a:cs typeface="Calibri" pitchFamily="34" charset="-120"/>
              </a:rPr>
              <a:t>→  </a:t>
            </a:r>
            <a:endParaRPr lang="en-US" sz="900" dirty="0"/>
          </a:p>
        </p:txBody>
      </p:sp>
      <p:sp>
        <p:nvSpPr>
          <p:cNvPr id="31" name="Text 29"/>
          <p:cNvSpPr/>
          <p:nvPr/>
        </p:nvSpPr>
        <p:spPr>
          <a:xfrm>
            <a:off x="4937760" y="4407408"/>
            <a:ext cx="2560320" cy="256032"/>
          </a:xfrm>
          <a:prstGeom prst="rect">
            <a:avLst/>
          </a:prstGeom>
          <a:noFill/>
          <a:ln/>
        </p:spPr>
        <p:txBody>
          <a:bodyPr wrap="square" lIns="0" tIns="0" rIns="0" bIns="0" rtlCol="0" anchor="ctr"/>
          <a:lstStyle/>
          <a:p>
            <a:pPr indent="0" marL="0">
              <a:buNone/>
            </a:pPr>
            <a:r>
              <a:rPr lang="en-US" sz="850" dirty="0">
                <a:solidFill>
                  <a:srgbClr val="F97316"/>
                </a:solidFill>
                <a:latin typeface="Consolas" pitchFamily="34" charset="0"/>
                <a:ea typeface="Consolas" pitchFamily="34" charset="-122"/>
                <a:cs typeface="Consolas" pitchFamily="34" charset="-120"/>
              </a:rPr>
              <a:t>startsWith(github.ref, 'refs/tags/v')</a:t>
            </a:r>
            <a:endParaRPr lang="en-US" sz="850" dirty="0"/>
          </a:p>
        </p:txBody>
      </p:sp>
      <p:sp>
        <p:nvSpPr>
          <p:cNvPr id="32" name="Text 30"/>
          <p:cNvSpPr/>
          <p:nvPr/>
        </p:nvSpPr>
        <p:spPr>
          <a:xfrm>
            <a:off x="7534656" y="4407408"/>
            <a:ext cx="1234440" cy="2560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Only on version tags</a:t>
            </a:r>
            <a:endParaRPr lang="en-US" sz="850" dirty="0"/>
          </a:p>
        </p:txBody>
      </p:sp>
      <p:sp>
        <p:nvSpPr>
          <p:cNvPr id="33" name="Text 31"/>
          <p:cNvSpPr/>
          <p:nvPr/>
        </p:nvSpPr>
        <p:spPr>
          <a:xfrm>
            <a:off x="4681728" y="4700016"/>
            <a:ext cx="274320" cy="256032"/>
          </a:xfrm>
          <a:prstGeom prst="rect">
            <a:avLst/>
          </a:prstGeom>
          <a:noFill/>
          <a:ln/>
        </p:spPr>
        <p:txBody>
          <a:bodyPr wrap="square" lIns="0" tIns="0" rIns="0" bIns="0" rtlCol="0" anchor="ctr"/>
          <a:lstStyle/>
          <a:p>
            <a:pPr indent="0" marL="0">
              <a:buNone/>
            </a:pPr>
            <a:r>
              <a:rPr lang="en-US" sz="900" dirty="0">
                <a:solidFill>
                  <a:srgbClr val="06B6D4"/>
                </a:solidFill>
                <a:latin typeface="Calibri" pitchFamily="34" charset="0"/>
                <a:ea typeface="Calibri" pitchFamily="34" charset="-122"/>
                <a:cs typeface="Calibri" pitchFamily="34" charset="-120"/>
              </a:rPr>
              <a:t>→  </a:t>
            </a:r>
            <a:endParaRPr lang="en-US" sz="900" dirty="0"/>
          </a:p>
        </p:txBody>
      </p:sp>
      <p:sp>
        <p:nvSpPr>
          <p:cNvPr id="34" name="Text 32"/>
          <p:cNvSpPr/>
          <p:nvPr/>
        </p:nvSpPr>
        <p:spPr>
          <a:xfrm>
            <a:off x="4937760" y="4700016"/>
            <a:ext cx="2560320" cy="256032"/>
          </a:xfrm>
          <a:prstGeom prst="rect">
            <a:avLst/>
          </a:prstGeom>
          <a:noFill/>
          <a:ln/>
        </p:spPr>
        <p:txBody>
          <a:bodyPr wrap="square" lIns="0" tIns="0" rIns="0" bIns="0" rtlCol="0" anchor="ctr"/>
          <a:lstStyle/>
          <a:p>
            <a:pPr indent="0" marL="0">
              <a:buNone/>
            </a:pPr>
            <a:r>
              <a:rPr lang="en-US" sz="850" dirty="0">
                <a:solidFill>
                  <a:srgbClr val="F97316"/>
                </a:solidFill>
                <a:latin typeface="Consolas" pitchFamily="34" charset="0"/>
                <a:ea typeface="Consolas" pitchFamily="34" charset="-122"/>
                <a:cs typeface="Consolas" pitchFamily="34" charset="-120"/>
              </a:rPr>
              <a:t>github.actor != 'dependabot[bot]'</a:t>
            </a:r>
            <a:endParaRPr lang="en-US" sz="850" dirty="0"/>
          </a:p>
        </p:txBody>
      </p:sp>
      <p:sp>
        <p:nvSpPr>
          <p:cNvPr id="35" name="Text 33"/>
          <p:cNvSpPr/>
          <p:nvPr/>
        </p:nvSpPr>
        <p:spPr>
          <a:xfrm>
            <a:off x="7534656" y="4700016"/>
            <a:ext cx="1234440" cy="2560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Skip for automated bots</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A580C"/>
          </a:solidFill>
          <a:ln w="12700">
            <a:solidFill>
              <a:srgbClr val="EA580C"/>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Conditional Execution — Decision Flow &amp; Branch Routing</a:t>
            </a:r>
            <a:endParaRPr lang="en-US" sz="2500" dirty="0"/>
          </a:p>
        </p:txBody>
      </p:sp>
      <p:sp>
        <p:nvSpPr>
          <p:cNvPr id="4" name="Shape 2"/>
          <p:cNvSpPr/>
          <p:nvPr/>
        </p:nvSpPr>
        <p:spPr>
          <a:xfrm>
            <a:off x="384048" y="731520"/>
            <a:ext cx="2366467" cy="219456"/>
          </a:xfrm>
          <a:prstGeom prst="rect">
            <a:avLst/>
          </a:prstGeom>
          <a:solidFill>
            <a:srgbClr val="EA580C"/>
          </a:solidFill>
          <a:ln w="12700">
            <a:solidFill>
              <a:srgbClr val="EA580C"/>
            </a:solidFill>
            <a:prstDash val="solid"/>
          </a:ln>
        </p:spPr>
      </p:sp>
      <p:sp>
        <p:nvSpPr>
          <p:cNvPr id="5" name="Text 3"/>
          <p:cNvSpPr/>
          <p:nvPr/>
        </p:nvSpPr>
        <p:spPr>
          <a:xfrm>
            <a:off x="384048" y="731520"/>
            <a:ext cx="2366467"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DECISION FLOW DIAGRAM</a:t>
            </a:r>
            <a:endParaRPr lang="en-US" sz="850" dirty="0"/>
          </a:p>
        </p:txBody>
      </p:sp>
      <p:sp>
        <p:nvSpPr>
          <p:cNvPr id="6" name="Shape 4"/>
          <p:cNvSpPr/>
          <p:nvPr/>
        </p:nvSpPr>
        <p:spPr>
          <a:xfrm>
            <a:off x="4114800" y="1024128"/>
            <a:ext cx="914400" cy="402336"/>
          </a:xfrm>
          <a:prstGeom prst="ellipse">
            <a:avLst/>
          </a:prstGeom>
          <a:solidFill>
            <a:srgbClr val="1A56DB"/>
          </a:solidFill>
          <a:ln w="12700">
            <a:solidFill>
              <a:srgbClr val="1A56DB"/>
            </a:solidFill>
            <a:prstDash val="solid"/>
          </a:ln>
        </p:spPr>
      </p:sp>
      <p:sp>
        <p:nvSpPr>
          <p:cNvPr id="7" name="Text 5"/>
          <p:cNvSpPr/>
          <p:nvPr/>
        </p:nvSpPr>
        <p:spPr>
          <a:xfrm>
            <a:off x="4114800" y="1024128"/>
            <a:ext cx="91440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PUSH</a:t>
            </a:r>
            <a:endParaRPr lang="en-US" sz="1000" dirty="0"/>
          </a:p>
        </p:txBody>
      </p:sp>
      <p:sp>
        <p:nvSpPr>
          <p:cNvPr id="8" name="Shape 6"/>
          <p:cNvSpPr/>
          <p:nvPr/>
        </p:nvSpPr>
        <p:spPr>
          <a:xfrm>
            <a:off x="4553712" y="1426464"/>
            <a:ext cx="36576" cy="256032"/>
          </a:xfrm>
          <a:prstGeom prst="rect">
            <a:avLst/>
          </a:prstGeom>
          <a:solidFill>
            <a:srgbClr val="64748B"/>
          </a:solidFill>
          <a:ln w="12700">
            <a:solidFill>
              <a:srgbClr val="64748B"/>
            </a:solidFill>
            <a:prstDash val="solid"/>
          </a:ln>
        </p:spPr>
      </p:sp>
      <p:sp>
        <p:nvSpPr>
          <p:cNvPr id="9" name="Shape 7"/>
          <p:cNvSpPr/>
          <p:nvPr/>
        </p:nvSpPr>
        <p:spPr>
          <a:xfrm>
            <a:off x="3429000" y="1682496"/>
            <a:ext cx="2286000" cy="457200"/>
          </a:xfrm>
          <a:prstGeom prst="rect">
            <a:avLst/>
          </a:prstGeom>
          <a:solidFill>
            <a:srgbClr val="F59E0B"/>
          </a:solidFill>
          <a:ln w="12700">
            <a:solidFill>
              <a:srgbClr val="F59E0B"/>
            </a:solidFill>
            <a:prstDash val="solid"/>
          </a:ln>
        </p:spPr>
      </p:sp>
      <p:sp>
        <p:nvSpPr>
          <p:cNvPr id="10" name="Text 8"/>
          <p:cNvSpPr/>
          <p:nvPr/>
        </p:nvSpPr>
        <p:spPr>
          <a:xfrm>
            <a:off x="3429000" y="1682496"/>
            <a:ext cx="228600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Which branch?</a:t>
            </a:r>
            <a:endParaRPr lang="en-US" sz="1050" dirty="0"/>
          </a:p>
        </p:txBody>
      </p:sp>
      <p:sp>
        <p:nvSpPr>
          <p:cNvPr id="11" name="Shape 9"/>
          <p:cNvSpPr/>
          <p:nvPr/>
        </p:nvSpPr>
        <p:spPr>
          <a:xfrm>
            <a:off x="3429000" y="2139696"/>
            <a:ext cx="36576" cy="274320"/>
          </a:xfrm>
          <a:prstGeom prst="rect">
            <a:avLst/>
          </a:prstGeom>
          <a:solidFill>
            <a:srgbClr val="64748B"/>
          </a:solidFill>
          <a:ln w="12700">
            <a:solidFill>
              <a:srgbClr val="64748B"/>
            </a:solidFill>
            <a:prstDash val="solid"/>
          </a:ln>
        </p:spPr>
      </p:sp>
      <p:sp>
        <p:nvSpPr>
          <p:cNvPr id="12" name="Shape 10"/>
          <p:cNvSpPr/>
          <p:nvPr/>
        </p:nvSpPr>
        <p:spPr>
          <a:xfrm>
            <a:off x="914400" y="2414016"/>
            <a:ext cx="2551176" cy="36576"/>
          </a:xfrm>
          <a:prstGeom prst="rect">
            <a:avLst/>
          </a:prstGeom>
          <a:solidFill>
            <a:srgbClr val="64748B"/>
          </a:solidFill>
          <a:ln w="12700">
            <a:solidFill>
              <a:srgbClr val="64748B"/>
            </a:solidFill>
            <a:prstDash val="solid"/>
          </a:ln>
        </p:spPr>
      </p:sp>
      <p:sp>
        <p:nvSpPr>
          <p:cNvPr id="13" name="Shape 11"/>
          <p:cNvSpPr/>
          <p:nvPr/>
        </p:nvSpPr>
        <p:spPr>
          <a:xfrm>
            <a:off x="914400" y="2414016"/>
            <a:ext cx="36576" cy="256032"/>
          </a:xfrm>
          <a:prstGeom prst="rect">
            <a:avLst/>
          </a:prstGeom>
          <a:solidFill>
            <a:srgbClr val="06B6D4"/>
          </a:solidFill>
          <a:ln w="12700">
            <a:solidFill>
              <a:srgbClr val="06B6D4"/>
            </a:solidFill>
            <a:prstDash val="solid"/>
          </a:ln>
        </p:spPr>
      </p:sp>
      <p:sp>
        <p:nvSpPr>
          <p:cNvPr id="14" name="Shape 12"/>
          <p:cNvSpPr/>
          <p:nvPr/>
        </p:nvSpPr>
        <p:spPr>
          <a:xfrm>
            <a:off x="347472" y="2670048"/>
            <a:ext cx="2103120" cy="475488"/>
          </a:xfrm>
          <a:prstGeom prst="rect">
            <a:avLst/>
          </a:prstGeom>
          <a:solidFill>
            <a:srgbClr val="06B6D4"/>
          </a:solidFill>
          <a:ln w="12700">
            <a:solidFill>
              <a:srgbClr val="06B6D4"/>
            </a:solidFill>
            <a:prstDash val="solid"/>
          </a:ln>
        </p:spPr>
      </p:sp>
      <p:sp>
        <p:nvSpPr>
          <p:cNvPr id="15" name="Text 13"/>
          <p:cNvSpPr/>
          <p:nvPr/>
        </p:nvSpPr>
        <p:spPr>
          <a:xfrm>
            <a:off x="347472" y="2670048"/>
            <a:ext cx="210312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feature/* branch</a:t>
            </a:r>
            <a:endParaRPr lang="en-US" sz="950" dirty="0"/>
          </a:p>
        </p:txBody>
      </p:sp>
      <p:sp>
        <p:nvSpPr>
          <p:cNvPr id="16" name="Shape 14"/>
          <p:cNvSpPr/>
          <p:nvPr/>
        </p:nvSpPr>
        <p:spPr>
          <a:xfrm>
            <a:off x="1380744" y="3145536"/>
            <a:ext cx="36576" cy="256032"/>
          </a:xfrm>
          <a:prstGeom prst="rect">
            <a:avLst/>
          </a:prstGeom>
          <a:solidFill>
            <a:srgbClr val="06B6D4"/>
          </a:solidFill>
          <a:ln w="12700">
            <a:solidFill>
              <a:srgbClr val="06B6D4"/>
            </a:solidFill>
            <a:prstDash val="solid"/>
          </a:ln>
        </p:spPr>
      </p:sp>
      <p:sp>
        <p:nvSpPr>
          <p:cNvPr id="17" name="Shape 15"/>
          <p:cNvSpPr/>
          <p:nvPr/>
        </p:nvSpPr>
        <p:spPr>
          <a:xfrm>
            <a:off x="347472" y="3401568"/>
            <a:ext cx="2103120" cy="475488"/>
          </a:xfrm>
          <a:prstGeom prst="rect">
            <a:avLst/>
          </a:prstGeom>
          <a:solidFill>
            <a:srgbClr val="1A56DB"/>
          </a:solidFill>
          <a:ln w="12700">
            <a:solidFill>
              <a:srgbClr val="1A56DB"/>
            </a:solidFill>
            <a:prstDash val="solid"/>
          </a:ln>
        </p:spPr>
      </p:sp>
      <p:sp>
        <p:nvSpPr>
          <p:cNvPr id="18" name="Text 16"/>
          <p:cNvSpPr/>
          <p:nvPr/>
        </p:nvSpPr>
        <p:spPr>
          <a:xfrm>
            <a:off x="347472" y="3401568"/>
            <a:ext cx="2103120"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build + test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 NO deploy</a:t>
            </a:r>
            <a:endParaRPr lang="en-US" sz="900" dirty="0"/>
          </a:p>
        </p:txBody>
      </p:sp>
      <p:sp>
        <p:nvSpPr>
          <p:cNvPr id="19" name="Text 17"/>
          <p:cNvSpPr/>
          <p:nvPr/>
        </p:nvSpPr>
        <p:spPr>
          <a:xfrm>
            <a:off x="347472" y="3913632"/>
            <a:ext cx="2103120" cy="219456"/>
          </a:xfrm>
          <a:prstGeom prst="rect">
            <a:avLst/>
          </a:prstGeom>
          <a:noFill/>
          <a:ln/>
        </p:spPr>
        <p:txBody>
          <a:bodyPr wrap="square" lIns="0" tIns="0" rIns="0" bIns="0" rtlCol="0" anchor="ctr"/>
          <a:lstStyle/>
          <a:p>
            <a:pPr algn="ctr" indent="0" marL="0">
              <a:buNone/>
            </a:pPr>
            <a:r>
              <a:rPr lang="en-US" sz="750" dirty="0">
                <a:solidFill>
                  <a:srgbClr val="64748B"/>
                </a:solidFill>
                <a:latin typeface="Consolas" pitchFamily="34" charset="0"/>
                <a:ea typeface="Consolas" pitchFamily="34" charset="-122"/>
                <a:cs typeface="Consolas" pitchFamily="34" charset="-120"/>
              </a:rPr>
              <a:t>if: always() → upload test reports</a:t>
            </a:r>
            <a:endParaRPr lang="en-US" sz="750" dirty="0"/>
          </a:p>
        </p:txBody>
      </p:sp>
      <p:sp>
        <p:nvSpPr>
          <p:cNvPr id="20" name="Shape 18"/>
          <p:cNvSpPr/>
          <p:nvPr/>
        </p:nvSpPr>
        <p:spPr>
          <a:xfrm>
            <a:off x="4553712" y="2139696"/>
            <a:ext cx="36576" cy="256032"/>
          </a:xfrm>
          <a:prstGeom prst="rect">
            <a:avLst/>
          </a:prstGeom>
          <a:solidFill>
            <a:srgbClr val="10B981"/>
          </a:solidFill>
          <a:ln w="12700">
            <a:solidFill>
              <a:srgbClr val="10B981"/>
            </a:solidFill>
            <a:prstDash val="solid"/>
          </a:ln>
        </p:spPr>
      </p:sp>
      <p:sp>
        <p:nvSpPr>
          <p:cNvPr id="21" name="Shape 19"/>
          <p:cNvSpPr/>
          <p:nvPr/>
        </p:nvSpPr>
        <p:spPr>
          <a:xfrm>
            <a:off x="3429000" y="2395728"/>
            <a:ext cx="2286000" cy="475488"/>
          </a:xfrm>
          <a:prstGeom prst="rect">
            <a:avLst/>
          </a:prstGeom>
          <a:solidFill>
            <a:srgbClr val="10B981"/>
          </a:solidFill>
          <a:ln w="12700">
            <a:solidFill>
              <a:srgbClr val="10B981"/>
            </a:solidFill>
            <a:prstDash val="solid"/>
          </a:ln>
        </p:spPr>
      </p:sp>
      <p:sp>
        <p:nvSpPr>
          <p:cNvPr id="22" name="Text 20"/>
          <p:cNvSpPr/>
          <p:nvPr/>
        </p:nvSpPr>
        <p:spPr>
          <a:xfrm>
            <a:off x="3429000" y="2395728"/>
            <a:ext cx="22860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main branch</a:t>
            </a:r>
            <a:endParaRPr lang="en-US" sz="950" dirty="0"/>
          </a:p>
        </p:txBody>
      </p:sp>
      <p:sp>
        <p:nvSpPr>
          <p:cNvPr id="23" name="Shape 21"/>
          <p:cNvSpPr/>
          <p:nvPr/>
        </p:nvSpPr>
        <p:spPr>
          <a:xfrm>
            <a:off x="4553712" y="2871216"/>
            <a:ext cx="36576" cy="256032"/>
          </a:xfrm>
          <a:prstGeom prst="rect">
            <a:avLst/>
          </a:prstGeom>
          <a:solidFill>
            <a:srgbClr val="10B981"/>
          </a:solidFill>
          <a:ln w="12700">
            <a:solidFill>
              <a:srgbClr val="10B981"/>
            </a:solidFill>
            <a:prstDash val="solid"/>
          </a:ln>
        </p:spPr>
      </p:sp>
      <p:sp>
        <p:nvSpPr>
          <p:cNvPr id="24" name="Shape 22"/>
          <p:cNvSpPr/>
          <p:nvPr/>
        </p:nvSpPr>
        <p:spPr>
          <a:xfrm>
            <a:off x="3429000" y="3127248"/>
            <a:ext cx="2286000" cy="475488"/>
          </a:xfrm>
          <a:prstGeom prst="rect">
            <a:avLst/>
          </a:prstGeom>
          <a:solidFill>
            <a:srgbClr val="0D9488"/>
          </a:solidFill>
          <a:ln w="12700">
            <a:solidFill>
              <a:srgbClr val="0D9488"/>
            </a:solidFill>
            <a:prstDash val="solid"/>
          </a:ln>
        </p:spPr>
      </p:sp>
      <p:sp>
        <p:nvSpPr>
          <p:cNvPr id="25" name="Text 23"/>
          <p:cNvSpPr/>
          <p:nvPr/>
        </p:nvSpPr>
        <p:spPr>
          <a:xfrm>
            <a:off x="3429000" y="3127248"/>
            <a:ext cx="2286000"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build + test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 deploy-staging</a:t>
            </a:r>
            <a:endParaRPr lang="en-US" sz="900" dirty="0"/>
          </a:p>
        </p:txBody>
      </p:sp>
      <p:sp>
        <p:nvSpPr>
          <p:cNvPr id="26" name="Shape 24"/>
          <p:cNvSpPr/>
          <p:nvPr/>
        </p:nvSpPr>
        <p:spPr>
          <a:xfrm>
            <a:off x="4553712" y="3602736"/>
            <a:ext cx="36576" cy="256032"/>
          </a:xfrm>
          <a:prstGeom prst="rect">
            <a:avLst/>
          </a:prstGeom>
          <a:solidFill>
            <a:srgbClr val="10B981"/>
          </a:solidFill>
          <a:ln w="12700">
            <a:solidFill>
              <a:srgbClr val="10B981"/>
            </a:solidFill>
            <a:prstDash val="solid"/>
          </a:ln>
        </p:spPr>
      </p:sp>
      <p:sp>
        <p:nvSpPr>
          <p:cNvPr id="27" name="Shape 25"/>
          <p:cNvSpPr/>
          <p:nvPr/>
        </p:nvSpPr>
        <p:spPr>
          <a:xfrm>
            <a:off x="3520440" y="3858768"/>
            <a:ext cx="2103120" cy="475488"/>
          </a:xfrm>
          <a:prstGeom prst="rect">
            <a:avLst/>
          </a:prstGeom>
          <a:solidFill>
            <a:srgbClr val="F59E0B"/>
          </a:solidFill>
          <a:ln w="12700">
            <a:solidFill>
              <a:srgbClr val="F59E0B"/>
            </a:solidFill>
            <a:prstDash val="solid"/>
          </a:ln>
        </p:spPr>
      </p:sp>
      <p:sp>
        <p:nvSpPr>
          <p:cNvPr id="28" name="Text 26"/>
          <p:cNvSpPr/>
          <p:nvPr/>
        </p:nvSpPr>
        <p:spPr>
          <a:xfrm>
            <a:off x="3520440" y="3858768"/>
            <a:ext cx="210312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Tests pass?</a:t>
            </a:r>
            <a:endParaRPr lang="en-US" sz="1000" dirty="0"/>
          </a:p>
        </p:txBody>
      </p:sp>
      <p:sp>
        <p:nvSpPr>
          <p:cNvPr id="29" name="Text 27"/>
          <p:cNvSpPr/>
          <p:nvPr/>
        </p:nvSpPr>
        <p:spPr>
          <a:xfrm>
            <a:off x="3520440" y="4370832"/>
            <a:ext cx="1005840" cy="201168"/>
          </a:xfrm>
          <a:prstGeom prst="rect">
            <a:avLst/>
          </a:prstGeom>
          <a:noFill/>
          <a:ln/>
        </p:spPr>
        <p:txBody>
          <a:bodyPr wrap="square" lIns="0" tIns="0" rIns="0" bIns="0" rtlCol="0" anchor="ctr"/>
          <a:lstStyle/>
          <a:p>
            <a:pPr indent="0" marL="0">
              <a:buNone/>
            </a:pPr>
            <a:r>
              <a:rPr lang="en-US" sz="800" dirty="0">
                <a:solidFill>
                  <a:srgbClr val="10B981"/>
                </a:solidFill>
                <a:latin typeface="Consolas" pitchFamily="34" charset="0"/>
                <a:ea typeface="Consolas" pitchFamily="34" charset="-122"/>
                <a:cs typeface="Consolas" pitchFamily="34" charset="-120"/>
              </a:rPr>
              <a:t>if: success()</a:t>
            </a:r>
            <a:endParaRPr lang="en-US" sz="800" dirty="0"/>
          </a:p>
        </p:txBody>
      </p:sp>
      <p:sp>
        <p:nvSpPr>
          <p:cNvPr id="30" name="Text 28"/>
          <p:cNvSpPr/>
          <p:nvPr/>
        </p:nvSpPr>
        <p:spPr>
          <a:xfrm>
            <a:off x="4526280" y="4370832"/>
            <a:ext cx="1005840" cy="201168"/>
          </a:xfrm>
          <a:prstGeom prst="rect">
            <a:avLst/>
          </a:prstGeom>
          <a:noFill/>
          <a:ln/>
        </p:spPr>
        <p:txBody>
          <a:bodyPr wrap="square" lIns="0" tIns="0" rIns="0" bIns="0" rtlCol="0" anchor="ctr"/>
          <a:lstStyle/>
          <a:p>
            <a:pPr algn="r" indent="0" marL="0">
              <a:buNone/>
            </a:pPr>
            <a:r>
              <a:rPr lang="en-US" sz="800" dirty="0">
                <a:solidFill>
                  <a:srgbClr val="EF4444"/>
                </a:solidFill>
                <a:latin typeface="Consolas" pitchFamily="34" charset="0"/>
                <a:ea typeface="Consolas" pitchFamily="34" charset="-122"/>
                <a:cs typeface="Consolas" pitchFamily="34" charset="-120"/>
              </a:rPr>
              <a:t>if: failure()</a:t>
            </a:r>
            <a:endParaRPr lang="en-US" sz="800" dirty="0"/>
          </a:p>
        </p:txBody>
      </p:sp>
      <p:sp>
        <p:nvSpPr>
          <p:cNvPr id="31" name="Shape 29"/>
          <p:cNvSpPr/>
          <p:nvPr/>
        </p:nvSpPr>
        <p:spPr>
          <a:xfrm>
            <a:off x="5724144" y="2139696"/>
            <a:ext cx="36576" cy="274320"/>
          </a:xfrm>
          <a:prstGeom prst="rect">
            <a:avLst/>
          </a:prstGeom>
          <a:solidFill>
            <a:srgbClr val="64748B"/>
          </a:solidFill>
          <a:ln w="12700">
            <a:solidFill>
              <a:srgbClr val="64748B"/>
            </a:solidFill>
            <a:prstDash val="solid"/>
          </a:ln>
        </p:spPr>
      </p:sp>
      <p:sp>
        <p:nvSpPr>
          <p:cNvPr id="32" name="Shape 30"/>
          <p:cNvSpPr/>
          <p:nvPr/>
        </p:nvSpPr>
        <p:spPr>
          <a:xfrm>
            <a:off x="5724144" y="2414016"/>
            <a:ext cx="2551176" cy="36576"/>
          </a:xfrm>
          <a:prstGeom prst="rect">
            <a:avLst/>
          </a:prstGeom>
          <a:solidFill>
            <a:srgbClr val="64748B"/>
          </a:solidFill>
          <a:ln w="12700">
            <a:solidFill>
              <a:srgbClr val="64748B"/>
            </a:solidFill>
            <a:prstDash val="solid"/>
          </a:ln>
        </p:spPr>
      </p:sp>
      <p:sp>
        <p:nvSpPr>
          <p:cNvPr id="33" name="Shape 31"/>
          <p:cNvSpPr/>
          <p:nvPr/>
        </p:nvSpPr>
        <p:spPr>
          <a:xfrm>
            <a:off x="8238744" y="2414016"/>
            <a:ext cx="36576" cy="256032"/>
          </a:xfrm>
          <a:prstGeom prst="rect">
            <a:avLst/>
          </a:prstGeom>
          <a:solidFill>
            <a:srgbClr val="7C3AED"/>
          </a:solidFill>
          <a:ln w="12700">
            <a:solidFill>
              <a:srgbClr val="7C3AED"/>
            </a:solidFill>
            <a:prstDash val="solid"/>
          </a:ln>
        </p:spPr>
      </p:sp>
      <p:sp>
        <p:nvSpPr>
          <p:cNvPr id="34" name="Shape 32"/>
          <p:cNvSpPr/>
          <p:nvPr/>
        </p:nvSpPr>
        <p:spPr>
          <a:xfrm>
            <a:off x="6711696" y="2670048"/>
            <a:ext cx="2084832" cy="475488"/>
          </a:xfrm>
          <a:prstGeom prst="rect">
            <a:avLst/>
          </a:prstGeom>
          <a:solidFill>
            <a:srgbClr val="7C3AED"/>
          </a:solidFill>
          <a:ln w="12700">
            <a:solidFill>
              <a:srgbClr val="7C3AED"/>
            </a:solidFill>
            <a:prstDash val="solid"/>
          </a:ln>
        </p:spPr>
      </p:sp>
      <p:sp>
        <p:nvSpPr>
          <p:cNvPr id="35" name="Text 33"/>
          <p:cNvSpPr/>
          <p:nvPr/>
        </p:nvSpPr>
        <p:spPr>
          <a:xfrm>
            <a:off x="6711696" y="2670048"/>
            <a:ext cx="2084832"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refs/tags/v*</a:t>
            </a:r>
            <a:endParaRPr lang="en-US" sz="950" dirty="0"/>
          </a:p>
        </p:txBody>
      </p:sp>
      <p:sp>
        <p:nvSpPr>
          <p:cNvPr id="36" name="Shape 34"/>
          <p:cNvSpPr/>
          <p:nvPr/>
        </p:nvSpPr>
        <p:spPr>
          <a:xfrm>
            <a:off x="7735824" y="3145536"/>
            <a:ext cx="36576" cy="256032"/>
          </a:xfrm>
          <a:prstGeom prst="rect">
            <a:avLst/>
          </a:prstGeom>
          <a:solidFill>
            <a:srgbClr val="7C3AED"/>
          </a:solidFill>
          <a:ln w="12700">
            <a:solidFill>
              <a:srgbClr val="7C3AED"/>
            </a:solidFill>
            <a:prstDash val="solid"/>
          </a:ln>
        </p:spPr>
      </p:sp>
      <p:sp>
        <p:nvSpPr>
          <p:cNvPr id="37" name="Shape 35"/>
          <p:cNvSpPr/>
          <p:nvPr/>
        </p:nvSpPr>
        <p:spPr>
          <a:xfrm>
            <a:off x="6711696" y="3401568"/>
            <a:ext cx="2084832" cy="475488"/>
          </a:xfrm>
          <a:prstGeom prst="rect">
            <a:avLst/>
          </a:prstGeom>
          <a:solidFill>
            <a:srgbClr val="EC4899"/>
          </a:solidFill>
          <a:ln w="12700">
            <a:solidFill>
              <a:srgbClr val="EC4899"/>
            </a:solidFill>
            <a:prstDash val="solid"/>
          </a:ln>
        </p:spPr>
      </p:sp>
      <p:sp>
        <p:nvSpPr>
          <p:cNvPr id="38" name="Text 36"/>
          <p:cNvSpPr/>
          <p:nvPr/>
        </p:nvSpPr>
        <p:spPr>
          <a:xfrm>
            <a:off x="6711696" y="3401568"/>
            <a:ext cx="2084832" cy="4754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build + test</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 deploy-PRODUCTION</a:t>
            </a:r>
            <a:endParaRPr lang="en-US" sz="850" dirty="0"/>
          </a:p>
        </p:txBody>
      </p:sp>
      <p:sp>
        <p:nvSpPr>
          <p:cNvPr id="39" name="Text 37"/>
          <p:cNvSpPr/>
          <p:nvPr/>
        </p:nvSpPr>
        <p:spPr>
          <a:xfrm>
            <a:off x="6711696" y="3913632"/>
            <a:ext cx="2084832" cy="219456"/>
          </a:xfrm>
          <a:prstGeom prst="rect">
            <a:avLst/>
          </a:prstGeom>
          <a:noFill/>
          <a:ln/>
        </p:spPr>
        <p:txBody>
          <a:bodyPr wrap="square" lIns="0" tIns="0" rIns="0" bIns="0" rtlCol="0" anchor="ctr"/>
          <a:lstStyle/>
          <a:p>
            <a:pPr algn="ctr" indent="0" marL="0">
              <a:buNone/>
            </a:pPr>
            <a:r>
              <a:rPr lang="en-US" sz="700" dirty="0">
                <a:solidFill>
                  <a:srgbClr val="64748B"/>
                </a:solidFill>
                <a:latin typeface="Consolas" pitchFamily="34" charset="0"/>
                <a:ea typeface="Consolas" pitchFamily="34" charset="-122"/>
                <a:cs typeface="Consolas" pitchFamily="34" charset="-120"/>
              </a:rPr>
              <a:t>startsWith(github.ref, 'refs/tags/v')</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C4899"/>
          </a:solidFill>
          <a:ln w="12700">
            <a:solidFill>
              <a:srgbClr val="EC4899"/>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Module 8 — GitHub Environments: Deployment Gates</a:t>
            </a:r>
            <a:endParaRPr lang="en-US" sz="2500" dirty="0"/>
          </a:p>
        </p:txBody>
      </p:sp>
      <p:sp>
        <p:nvSpPr>
          <p:cNvPr id="4" name="Shape 2"/>
          <p:cNvSpPr/>
          <p:nvPr/>
        </p:nvSpPr>
        <p:spPr>
          <a:xfrm>
            <a:off x="384048" y="731520"/>
            <a:ext cx="1477670" cy="219456"/>
          </a:xfrm>
          <a:prstGeom prst="rect">
            <a:avLst/>
          </a:prstGeom>
          <a:solidFill>
            <a:srgbClr val="EC4899"/>
          </a:solidFill>
          <a:ln w="12700">
            <a:solidFill>
              <a:srgbClr val="EC4899"/>
            </a:solidFill>
            <a:prstDash val="solid"/>
          </a:ln>
        </p:spPr>
      </p:sp>
      <p:sp>
        <p:nvSpPr>
          <p:cNvPr id="5" name="Text 3"/>
          <p:cNvSpPr/>
          <p:nvPr/>
        </p:nvSpPr>
        <p:spPr>
          <a:xfrm>
            <a:off x="384048" y="731520"/>
            <a:ext cx="1477670"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ENVIRONMENTS</a:t>
            </a:r>
            <a:endParaRPr lang="en-US" sz="850" dirty="0"/>
          </a:p>
        </p:txBody>
      </p:sp>
      <p:sp>
        <p:nvSpPr>
          <p:cNvPr id="6" name="Shape 4"/>
          <p:cNvSpPr/>
          <p:nvPr/>
        </p:nvSpPr>
        <p:spPr>
          <a:xfrm>
            <a:off x="347472" y="1005840"/>
            <a:ext cx="2779776" cy="309067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47472" y="1005840"/>
            <a:ext cx="2779776" cy="548640"/>
          </a:xfrm>
          <a:prstGeom prst="rect">
            <a:avLst/>
          </a:prstGeom>
          <a:solidFill>
            <a:srgbClr val="1A56DB"/>
          </a:solidFill>
          <a:ln w="12700">
            <a:solidFill>
              <a:srgbClr val="1A56DB"/>
            </a:solidFill>
            <a:prstDash val="solid"/>
          </a:ln>
        </p:spPr>
      </p:sp>
      <p:sp>
        <p:nvSpPr>
          <p:cNvPr id="8" name="Text 6"/>
          <p:cNvSpPr/>
          <p:nvPr/>
        </p:nvSpPr>
        <p:spPr>
          <a:xfrm>
            <a:off x="347472" y="1024128"/>
            <a:ext cx="640080" cy="512064"/>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969264" y="1078992"/>
            <a:ext cx="2066544"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development</a:t>
            </a:r>
            <a:endParaRPr lang="en-US" sz="1400" dirty="0"/>
          </a:p>
        </p:txBody>
      </p:sp>
      <p:sp>
        <p:nvSpPr>
          <p:cNvPr id="10" name="Text 8"/>
          <p:cNvSpPr/>
          <p:nvPr/>
        </p:nvSpPr>
        <p:spPr>
          <a:xfrm>
            <a:off x="969264" y="1371600"/>
            <a:ext cx="2066544" cy="182880"/>
          </a:xfrm>
          <a:prstGeom prst="rect">
            <a:avLst/>
          </a:prstGeom>
          <a:noFill/>
          <a:ln/>
        </p:spPr>
        <p:txBody>
          <a:bodyPr wrap="square" lIns="0" tIns="0" rIns="0" bIns="0" rtlCol="0" anchor="ctr"/>
          <a:lstStyle/>
          <a:p>
            <a:pPr indent="0" marL="0">
              <a:buNone/>
            </a:pPr>
            <a:endParaRPr lang="en-US" sz="800" dirty="0"/>
          </a:p>
        </p:txBody>
      </p:sp>
      <p:sp>
        <p:nvSpPr>
          <p:cNvPr id="11" name="Shape 9"/>
          <p:cNvSpPr/>
          <p:nvPr/>
        </p:nvSpPr>
        <p:spPr>
          <a:xfrm>
            <a:off x="438912" y="1664208"/>
            <a:ext cx="2596896" cy="438912"/>
          </a:xfrm>
          <a:prstGeom prst="rect">
            <a:avLst/>
          </a:prstGeom>
          <a:solidFill>
            <a:srgbClr val="F1F5F9"/>
          </a:solidFill>
          <a:ln w="12700">
            <a:solidFill>
              <a:srgbClr val="E2E8F0"/>
            </a:solidFill>
            <a:prstDash val="solid"/>
          </a:ln>
        </p:spPr>
      </p:sp>
      <p:sp>
        <p:nvSpPr>
          <p:cNvPr id="12" name="Text 10"/>
          <p:cNvSpPr/>
          <p:nvPr/>
        </p:nvSpPr>
        <p:spPr>
          <a:xfrm>
            <a:off x="512064" y="1737360"/>
            <a:ext cx="896112" cy="292608"/>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Approval</a:t>
            </a:r>
            <a:endParaRPr lang="en-US" sz="900" dirty="0"/>
          </a:p>
        </p:txBody>
      </p:sp>
      <p:sp>
        <p:nvSpPr>
          <p:cNvPr id="13" name="Text 11"/>
          <p:cNvSpPr/>
          <p:nvPr/>
        </p:nvSpPr>
        <p:spPr>
          <a:xfrm>
            <a:off x="1426464" y="1737360"/>
            <a:ext cx="1554480" cy="292608"/>
          </a:xfrm>
          <a:prstGeom prst="rect">
            <a:avLst/>
          </a:prstGeom>
          <a:noFill/>
          <a:ln/>
        </p:spPr>
        <p:txBody>
          <a:bodyPr wrap="square" lIns="0" tIns="0" rIns="0" bIns="0" rtlCol="0" anchor="ctr"/>
          <a:lstStyle/>
          <a:p>
            <a:pPr indent="0" marL="0">
              <a:buNone/>
            </a:pPr>
            <a:r>
              <a:rPr lang="en-US" sz="900" dirty="0">
                <a:solidFill>
                  <a:srgbClr val="10B981"/>
                </a:solidFill>
                <a:latin typeface="Calibri" pitchFamily="34" charset="0"/>
                <a:ea typeface="Calibri" pitchFamily="34" charset="-122"/>
                <a:cs typeface="Calibri" pitchFamily="34" charset="-120"/>
              </a:rPr>
              <a:t>No approval</a:t>
            </a:r>
            <a:endParaRPr lang="en-US" sz="900" dirty="0"/>
          </a:p>
        </p:txBody>
      </p:sp>
      <p:sp>
        <p:nvSpPr>
          <p:cNvPr id="14" name="Shape 12"/>
          <p:cNvSpPr/>
          <p:nvPr/>
        </p:nvSpPr>
        <p:spPr>
          <a:xfrm>
            <a:off x="438912" y="2139696"/>
            <a:ext cx="2596896" cy="438912"/>
          </a:xfrm>
          <a:prstGeom prst="rect">
            <a:avLst/>
          </a:prstGeom>
          <a:solidFill>
            <a:srgbClr val="FFFFFF"/>
          </a:solidFill>
          <a:ln w="12700">
            <a:solidFill>
              <a:srgbClr val="E2E8F0"/>
            </a:solidFill>
            <a:prstDash val="solid"/>
          </a:ln>
        </p:spPr>
      </p:sp>
      <p:sp>
        <p:nvSpPr>
          <p:cNvPr id="15" name="Text 13"/>
          <p:cNvSpPr/>
          <p:nvPr/>
        </p:nvSpPr>
        <p:spPr>
          <a:xfrm>
            <a:off x="512064" y="2212848"/>
            <a:ext cx="896112" cy="292608"/>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Branch</a:t>
            </a:r>
            <a:endParaRPr lang="en-US" sz="900" dirty="0"/>
          </a:p>
        </p:txBody>
      </p:sp>
      <p:sp>
        <p:nvSpPr>
          <p:cNvPr id="16" name="Text 14"/>
          <p:cNvSpPr/>
          <p:nvPr/>
        </p:nvSpPr>
        <p:spPr>
          <a:xfrm>
            <a:off x="1426464" y="2212848"/>
            <a:ext cx="1554480" cy="292608"/>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Any branch</a:t>
            </a:r>
            <a:endParaRPr lang="en-US" sz="900" dirty="0"/>
          </a:p>
        </p:txBody>
      </p:sp>
      <p:sp>
        <p:nvSpPr>
          <p:cNvPr id="17" name="Shape 15"/>
          <p:cNvSpPr/>
          <p:nvPr/>
        </p:nvSpPr>
        <p:spPr>
          <a:xfrm>
            <a:off x="438912" y="2615184"/>
            <a:ext cx="2596896" cy="438912"/>
          </a:xfrm>
          <a:prstGeom prst="rect">
            <a:avLst/>
          </a:prstGeom>
          <a:solidFill>
            <a:srgbClr val="F1F5F9"/>
          </a:solidFill>
          <a:ln w="12700">
            <a:solidFill>
              <a:srgbClr val="E2E8F0"/>
            </a:solidFill>
            <a:prstDash val="solid"/>
          </a:ln>
        </p:spPr>
      </p:sp>
      <p:sp>
        <p:nvSpPr>
          <p:cNvPr id="18" name="Text 16"/>
          <p:cNvSpPr/>
          <p:nvPr/>
        </p:nvSpPr>
        <p:spPr>
          <a:xfrm>
            <a:off x="512064" y="2688336"/>
            <a:ext cx="896112" cy="292608"/>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Secrets</a:t>
            </a:r>
            <a:endParaRPr lang="en-US" sz="900" dirty="0"/>
          </a:p>
        </p:txBody>
      </p:sp>
      <p:sp>
        <p:nvSpPr>
          <p:cNvPr id="19" name="Text 17"/>
          <p:cNvSpPr/>
          <p:nvPr/>
        </p:nvSpPr>
        <p:spPr>
          <a:xfrm>
            <a:off x="1426464" y="2688336"/>
            <a:ext cx="1554480" cy="292608"/>
          </a:xfrm>
          <a:prstGeom prst="rect">
            <a:avLst/>
          </a:prstGeom>
          <a:noFill/>
          <a:ln/>
        </p:spPr>
        <p:txBody>
          <a:bodyPr wrap="square" lIns="0" tIns="0" rIns="0" bIns="0" rtlCol="0" anchor="ctr"/>
          <a:lstStyle/>
          <a:p>
            <a:pPr indent="0" marL="0">
              <a:buNone/>
            </a:pPr>
            <a:r>
              <a:rPr lang="en-US" sz="900" dirty="0">
                <a:solidFill>
                  <a:srgbClr val="06B6D4"/>
                </a:solidFill>
                <a:latin typeface="Calibri" pitchFamily="34" charset="0"/>
                <a:ea typeface="Calibri" pitchFamily="34" charset="-122"/>
                <a:cs typeface="Calibri" pitchFamily="34" charset="-120"/>
              </a:rPr>
              <a:t>DEV_DB_*</a:t>
            </a:r>
            <a:endParaRPr lang="en-US" sz="900" dirty="0"/>
          </a:p>
        </p:txBody>
      </p:sp>
      <p:sp>
        <p:nvSpPr>
          <p:cNvPr id="20" name="Shape 18"/>
          <p:cNvSpPr/>
          <p:nvPr/>
        </p:nvSpPr>
        <p:spPr>
          <a:xfrm>
            <a:off x="438912" y="3090672"/>
            <a:ext cx="2596896" cy="438912"/>
          </a:xfrm>
          <a:prstGeom prst="rect">
            <a:avLst/>
          </a:prstGeom>
          <a:solidFill>
            <a:srgbClr val="FFFFFF"/>
          </a:solidFill>
          <a:ln w="12700">
            <a:solidFill>
              <a:srgbClr val="E2E8F0"/>
            </a:solidFill>
            <a:prstDash val="solid"/>
          </a:ln>
        </p:spPr>
      </p:sp>
      <p:sp>
        <p:nvSpPr>
          <p:cNvPr id="21" name="Text 19"/>
          <p:cNvSpPr/>
          <p:nvPr/>
        </p:nvSpPr>
        <p:spPr>
          <a:xfrm>
            <a:off x="512064" y="3163824"/>
            <a:ext cx="896112" cy="292608"/>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Protection</a:t>
            </a:r>
            <a:endParaRPr lang="en-US" sz="900" dirty="0"/>
          </a:p>
        </p:txBody>
      </p:sp>
      <p:sp>
        <p:nvSpPr>
          <p:cNvPr id="22" name="Text 20"/>
          <p:cNvSpPr/>
          <p:nvPr/>
        </p:nvSpPr>
        <p:spPr>
          <a:xfrm>
            <a:off x="1426464" y="3163824"/>
            <a:ext cx="1554480" cy="29260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None</a:t>
            </a:r>
            <a:endParaRPr lang="en-US" sz="900" dirty="0"/>
          </a:p>
        </p:txBody>
      </p:sp>
      <p:sp>
        <p:nvSpPr>
          <p:cNvPr id="23" name="Shape 21"/>
          <p:cNvSpPr/>
          <p:nvPr/>
        </p:nvSpPr>
        <p:spPr>
          <a:xfrm>
            <a:off x="3255264" y="1005840"/>
            <a:ext cx="2779776" cy="309067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3255264" y="1005840"/>
            <a:ext cx="2779776" cy="548640"/>
          </a:xfrm>
          <a:prstGeom prst="rect">
            <a:avLst/>
          </a:prstGeom>
          <a:solidFill>
            <a:srgbClr val="F59E0B"/>
          </a:solidFill>
          <a:ln w="12700">
            <a:solidFill>
              <a:srgbClr val="F59E0B"/>
            </a:solidFill>
            <a:prstDash val="solid"/>
          </a:ln>
        </p:spPr>
      </p:sp>
      <p:sp>
        <p:nvSpPr>
          <p:cNvPr id="25" name="Text 23"/>
          <p:cNvSpPr/>
          <p:nvPr/>
        </p:nvSpPr>
        <p:spPr>
          <a:xfrm>
            <a:off x="3255264" y="1024128"/>
            <a:ext cx="640080" cy="512064"/>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6" name="Text 24"/>
          <p:cNvSpPr/>
          <p:nvPr/>
        </p:nvSpPr>
        <p:spPr>
          <a:xfrm>
            <a:off x="3877056" y="1078992"/>
            <a:ext cx="2066544"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staging</a:t>
            </a:r>
            <a:endParaRPr lang="en-US" sz="1400" dirty="0"/>
          </a:p>
        </p:txBody>
      </p:sp>
      <p:sp>
        <p:nvSpPr>
          <p:cNvPr id="27" name="Text 25"/>
          <p:cNvSpPr/>
          <p:nvPr/>
        </p:nvSpPr>
        <p:spPr>
          <a:xfrm>
            <a:off x="3877056" y="1371600"/>
            <a:ext cx="2066544" cy="182880"/>
          </a:xfrm>
          <a:prstGeom prst="rect">
            <a:avLst/>
          </a:prstGeom>
          <a:noFill/>
          <a:ln/>
        </p:spPr>
        <p:txBody>
          <a:bodyPr wrap="square" lIns="0" tIns="0" rIns="0" bIns="0" rtlCol="0" anchor="ctr"/>
          <a:lstStyle/>
          <a:p>
            <a:pPr indent="0" marL="0">
              <a:buNone/>
            </a:pPr>
            <a:endParaRPr lang="en-US" sz="800" dirty="0"/>
          </a:p>
        </p:txBody>
      </p:sp>
      <p:sp>
        <p:nvSpPr>
          <p:cNvPr id="28" name="Shape 26"/>
          <p:cNvSpPr/>
          <p:nvPr/>
        </p:nvSpPr>
        <p:spPr>
          <a:xfrm>
            <a:off x="3346704" y="1664208"/>
            <a:ext cx="2596896" cy="438912"/>
          </a:xfrm>
          <a:prstGeom prst="rect">
            <a:avLst/>
          </a:prstGeom>
          <a:solidFill>
            <a:srgbClr val="F1F5F9"/>
          </a:solidFill>
          <a:ln w="12700">
            <a:solidFill>
              <a:srgbClr val="E2E8F0"/>
            </a:solidFill>
            <a:prstDash val="solid"/>
          </a:ln>
        </p:spPr>
      </p:sp>
      <p:sp>
        <p:nvSpPr>
          <p:cNvPr id="29" name="Text 27"/>
          <p:cNvSpPr/>
          <p:nvPr/>
        </p:nvSpPr>
        <p:spPr>
          <a:xfrm>
            <a:off x="3419856" y="1737360"/>
            <a:ext cx="896112" cy="292608"/>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Approval</a:t>
            </a:r>
            <a:endParaRPr lang="en-US" sz="900" dirty="0"/>
          </a:p>
        </p:txBody>
      </p:sp>
      <p:sp>
        <p:nvSpPr>
          <p:cNvPr id="30" name="Text 28"/>
          <p:cNvSpPr/>
          <p:nvPr/>
        </p:nvSpPr>
        <p:spPr>
          <a:xfrm>
            <a:off x="4334256" y="1737360"/>
            <a:ext cx="1554480" cy="292608"/>
          </a:xfrm>
          <a:prstGeom prst="rect">
            <a:avLst/>
          </a:prstGeom>
          <a:noFill/>
          <a:ln/>
        </p:spPr>
        <p:txBody>
          <a:bodyPr wrap="square" lIns="0" tIns="0" rIns="0" bIns="0" rtlCol="0" anchor="ctr"/>
          <a:lstStyle/>
          <a:p>
            <a:pPr indent="0" marL="0">
              <a:buNone/>
            </a:pPr>
            <a:r>
              <a:rPr lang="en-US" sz="900" dirty="0">
                <a:solidFill>
                  <a:srgbClr val="F59E0B"/>
                </a:solidFill>
                <a:latin typeface="Calibri" pitchFamily="34" charset="0"/>
                <a:ea typeface="Calibri" pitchFamily="34" charset="-122"/>
                <a:cs typeface="Calibri" pitchFamily="34" charset="-120"/>
              </a:rPr>
              <a:t>1 reviewer</a:t>
            </a:r>
            <a:endParaRPr lang="en-US" sz="900" dirty="0"/>
          </a:p>
        </p:txBody>
      </p:sp>
      <p:sp>
        <p:nvSpPr>
          <p:cNvPr id="31" name="Shape 29"/>
          <p:cNvSpPr/>
          <p:nvPr/>
        </p:nvSpPr>
        <p:spPr>
          <a:xfrm>
            <a:off x="3346704" y="2139696"/>
            <a:ext cx="2596896" cy="438912"/>
          </a:xfrm>
          <a:prstGeom prst="rect">
            <a:avLst/>
          </a:prstGeom>
          <a:solidFill>
            <a:srgbClr val="FFFFFF"/>
          </a:solidFill>
          <a:ln w="12700">
            <a:solidFill>
              <a:srgbClr val="E2E8F0"/>
            </a:solidFill>
            <a:prstDash val="solid"/>
          </a:ln>
        </p:spPr>
      </p:sp>
      <p:sp>
        <p:nvSpPr>
          <p:cNvPr id="32" name="Text 30"/>
          <p:cNvSpPr/>
          <p:nvPr/>
        </p:nvSpPr>
        <p:spPr>
          <a:xfrm>
            <a:off x="3419856" y="2212848"/>
            <a:ext cx="896112" cy="292608"/>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Branch</a:t>
            </a:r>
            <a:endParaRPr lang="en-US" sz="900" dirty="0"/>
          </a:p>
        </p:txBody>
      </p:sp>
      <p:sp>
        <p:nvSpPr>
          <p:cNvPr id="33" name="Text 31"/>
          <p:cNvSpPr/>
          <p:nvPr/>
        </p:nvSpPr>
        <p:spPr>
          <a:xfrm>
            <a:off x="4334256" y="2212848"/>
            <a:ext cx="1554480" cy="292608"/>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main only</a:t>
            </a:r>
            <a:endParaRPr lang="en-US" sz="900" dirty="0"/>
          </a:p>
        </p:txBody>
      </p:sp>
      <p:sp>
        <p:nvSpPr>
          <p:cNvPr id="34" name="Shape 32"/>
          <p:cNvSpPr/>
          <p:nvPr/>
        </p:nvSpPr>
        <p:spPr>
          <a:xfrm>
            <a:off x="3346704" y="2615184"/>
            <a:ext cx="2596896" cy="438912"/>
          </a:xfrm>
          <a:prstGeom prst="rect">
            <a:avLst/>
          </a:prstGeom>
          <a:solidFill>
            <a:srgbClr val="F1F5F9"/>
          </a:solidFill>
          <a:ln w="12700">
            <a:solidFill>
              <a:srgbClr val="E2E8F0"/>
            </a:solidFill>
            <a:prstDash val="solid"/>
          </a:ln>
        </p:spPr>
      </p:sp>
      <p:sp>
        <p:nvSpPr>
          <p:cNvPr id="35" name="Text 33"/>
          <p:cNvSpPr/>
          <p:nvPr/>
        </p:nvSpPr>
        <p:spPr>
          <a:xfrm>
            <a:off x="3419856" y="2688336"/>
            <a:ext cx="896112" cy="292608"/>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Secrets</a:t>
            </a:r>
            <a:endParaRPr lang="en-US" sz="900" dirty="0"/>
          </a:p>
        </p:txBody>
      </p:sp>
      <p:sp>
        <p:nvSpPr>
          <p:cNvPr id="36" name="Text 34"/>
          <p:cNvSpPr/>
          <p:nvPr/>
        </p:nvSpPr>
        <p:spPr>
          <a:xfrm>
            <a:off x="4334256" y="2688336"/>
            <a:ext cx="1554480" cy="292608"/>
          </a:xfrm>
          <a:prstGeom prst="rect">
            <a:avLst/>
          </a:prstGeom>
          <a:noFill/>
          <a:ln/>
        </p:spPr>
        <p:txBody>
          <a:bodyPr wrap="square" lIns="0" tIns="0" rIns="0" bIns="0" rtlCol="0" anchor="ctr"/>
          <a:lstStyle/>
          <a:p>
            <a:pPr indent="0" marL="0">
              <a:buNone/>
            </a:pPr>
            <a:r>
              <a:rPr lang="en-US" sz="900" dirty="0">
                <a:solidFill>
                  <a:srgbClr val="06B6D4"/>
                </a:solidFill>
                <a:latin typeface="Calibri" pitchFamily="34" charset="0"/>
                <a:ea typeface="Calibri" pitchFamily="34" charset="-122"/>
                <a:cs typeface="Calibri" pitchFamily="34" charset="-120"/>
              </a:rPr>
              <a:t>STAGING_DB_*</a:t>
            </a:r>
            <a:endParaRPr lang="en-US" sz="900" dirty="0"/>
          </a:p>
        </p:txBody>
      </p:sp>
      <p:sp>
        <p:nvSpPr>
          <p:cNvPr id="37" name="Shape 35"/>
          <p:cNvSpPr/>
          <p:nvPr/>
        </p:nvSpPr>
        <p:spPr>
          <a:xfrm>
            <a:off x="3346704" y="3090672"/>
            <a:ext cx="2596896" cy="438912"/>
          </a:xfrm>
          <a:prstGeom prst="rect">
            <a:avLst/>
          </a:prstGeom>
          <a:solidFill>
            <a:srgbClr val="FFFFFF"/>
          </a:solidFill>
          <a:ln w="12700">
            <a:solidFill>
              <a:srgbClr val="E2E8F0"/>
            </a:solidFill>
            <a:prstDash val="solid"/>
          </a:ln>
        </p:spPr>
      </p:sp>
      <p:sp>
        <p:nvSpPr>
          <p:cNvPr id="38" name="Text 36"/>
          <p:cNvSpPr/>
          <p:nvPr/>
        </p:nvSpPr>
        <p:spPr>
          <a:xfrm>
            <a:off x="3419856" y="3163824"/>
            <a:ext cx="896112" cy="292608"/>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Protection</a:t>
            </a:r>
            <a:endParaRPr lang="en-US" sz="900" dirty="0"/>
          </a:p>
        </p:txBody>
      </p:sp>
      <p:sp>
        <p:nvSpPr>
          <p:cNvPr id="39" name="Text 37"/>
          <p:cNvSpPr/>
          <p:nvPr/>
        </p:nvSpPr>
        <p:spPr>
          <a:xfrm>
            <a:off x="4334256" y="3163824"/>
            <a:ext cx="1554480" cy="292608"/>
          </a:xfrm>
          <a:prstGeom prst="rect">
            <a:avLst/>
          </a:prstGeom>
          <a:noFill/>
          <a:ln/>
        </p:spPr>
        <p:txBody>
          <a:bodyPr wrap="square" lIns="0" tIns="0" rIns="0" bIns="0" rtlCol="0" anchor="ctr"/>
          <a:lstStyle/>
          <a:p>
            <a:pPr indent="0" marL="0">
              <a:buNone/>
            </a:pPr>
            <a:r>
              <a:rPr lang="en-US" sz="900" dirty="0">
                <a:solidFill>
                  <a:srgbClr val="F59E0B"/>
                </a:solidFill>
                <a:latin typeface="Calibri" pitchFamily="34" charset="0"/>
                <a:ea typeface="Calibri" pitchFamily="34" charset="-122"/>
                <a:cs typeface="Calibri" pitchFamily="34" charset="-120"/>
              </a:rPr>
              <a:t>Low</a:t>
            </a:r>
            <a:endParaRPr lang="en-US" sz="900" dirty="0"/>
          </a:p>
        </p:txBody>
      </p:sp>
      <p:sp>
        <p:nvSpPr>
          <p:cNvPr id="40" name="Shape 38"/>
          <p:cNvSpPr/>
          <p:nvPr/>
        </p:nvSpPr>
        <p:spPr>
          <a:xfrm>
            <a:off x="6163056" y="1005840"/>
            <a:ext cx="2779776" cy="309067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41" name="Shape 39"/>
          <p:cNvSpPr/>
          <p:nvPr/>
        </p:nvSpPr>
        <p:spPr>
          <a:xfrm>
            <a:off x="6163056" y="1005840"/>
            <a:ext cx="2779776" cy="548640"/>
          </a:xfrm>
          <a:prstGeom prst="rect">
            <a:avLst/>
          </a:prstGeom>
          <a:solidFill>
            <a:srgbClr val="EF4444"/>
          </a:solidFill>
          <a:ln w="12700">
            <a:solidFill>
              <a:srgbClr val="EF4444"/>
            </a:solidFill>
            <a:prstDash val="solid"/>
          </a:ln>
        </p:spPr>
      </p:sp>
      <p:sp>
        <p:nvSpPr>
          <p:cNvPr id="42" name="Text 40"/>
          <p:cNvSpPr/>
          <p:nvPr/>
        </p:nvSpPr>
        <p:spPr>
          <a:xfrm>
            <a:off x="6163056" y="1024128"/>
            <a:ext cx="640080" cy="512064"/>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43" name="Text 41"/>
          <p:cNvSpPr/>
          <p:nvPr/>
        </p:nvSpPr>
        <p:spPr>
          <a:xfrm>
            <a:off x="6784848" y="1078992"/>
            <a:ext cx="2066544"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production</a:t>
            </a:r>
            <a:endParaRPr lang="en-US" sz="1400" dirty="0"/>
          </a:p>
        </p:txBody>
      </p:sp>
      <p:sp>
        <p:nvSpPr>
          <p:cNvPr id="44" name="Text 42"/>
          <p:cNvSpPr/>
          <p:nvPr/>
        </p:nvSpPr>
        <p:spPr>
          <a:xfrm>
            <a:off x="6784848" y="1371600"/>
            <a:ext cx="2066544" cy="182880"/>
          </a:xfrm>
          <a:prstGeom prst="rect">
            <a:avLst/>
          </a:prstGeom>
          <a:noFill/>
          <a:ln/>
        </p:spPr>
        <p:txBody>
          <a:bodyPr wrap="square" lIns="0" tIns="0" rIns="0" bIns="0" rtlCol="0" anchor="ctr"/>
          <a:lstStyle/>
          <a:p>
            <a:pPr indent="0" marL="0">
              <a:buNone/>
            </a:pPr>
            <a:r>
              <a:rPr lang="en-US" sz="800" dirty="0">
                <a:solidFill>
                  <a:srgbClr val="FCA5A5"/>
                </a:solidFill>
                <a:latin typeface="Calibri" pitchFamily="34" charset="0"/>
                <a:ea typeface="Calibri" pitchFamily="34" charset="-122"/>
                <a:cs typeface="Calibri" pitchFamily="34" charset="-120"/>
              </a:rPr>
              <a:t>⭐ PRODUCTION GATE</a:t>
            </a:r>
            <a:endParaRPr lang="en-US" sz="800" dirty="0"/>
          </a:p>
        </p:txBody>
      </p:sp>
      <p:sp>
        <p:nvSpPr>
          <p:cNvPr id="45" name="Shape 43"/>
          <p:cNvSpPr/>
          <p:nvPr/>
        </p:nvSpPr>
        <p:spPr>
          <a:xfrm>
            <a:off x="6254496" y="1664208"/>
            <a:ext cx="2596896" cy="438912"/>
          </a:xfrm>
          <a:prstGeom prst="rect">
            <a:avLst/>
          </a:prstGeom>
          <a:solidFill>
            <a:srgbClr val="F1F5F9"/>
          </a:solidFill>
          <a:ln w="12700">
            <a:solidFill>
              <a:srgbClr val="E2E8F0"/>
            </a:solidFill>
            <a:prstDash val="solid"/>
          </a:ln>
        </p:spPr>
      </p:sp>
      <p:sp>
        <p:nvSpPr>
          <p:cNvPr id="46" name="Text 44"/>
          <p:cNvSpPr/>
          <p:nvPr/>
        </p:nvSpPr>
        <p:spPr>
          <a:xfrm>
            <a:off x="6327648" y="1737360"/>
            <a:ext cx="896112" cy="292608"/>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Approval</a:t>
            </a:r>
            <a:endParaRPr lang="en-US" sz="900" dirty="0"/>
          </a:p>
        </p:txBody>
      </p:sp>
      <p:sp>
        <p:nvSpPr>
          <p:cNvPr id="47" name="Text 45"/>
          <p:cNvSpPr/>
          <p:nvPr/>
        </p:nvSpPr>
        <p:spPr>
          <a:xfrm>
            <a:off x="7242048" y="1737360"/>
            <a:ext cx="1554480" cy="292608"/>
          </a:xfrm>
          <a:prstGeom prst="rect">
            <a:avLst/>
          </a:prstGeom>
          <a:noFill/>
          <a:ln/>
        </p:spPr>
        <p:txBody>
          <a:bodyPr wrap="square" lIns="0" tIns="0" rIns="0" bIns="0" rtlCol="0" anchor="ctr"/>
          <a:lstStyle/>
          <a:p>
            <a:pPr indent="0" marL="0">
              <a:buNone/>
            </a:pPr>
            <a:r>
              <a:rPr lang="en-US" sz="900" dirty="0">
                <a:solidFill>
                  <a:srgbClr val="EF4444"/>
                </a:solidFill>
                <a:latin typeface="Calibri" pitchFamily="34" charset="0"/>
                <a:ea typeface="Calibri" pitchFamily="34" charset="-122"/>
                <a:cs typeface="Calibri" pitchFamily="34" charset="-120"/>
              </a:rPr>
              <a:t>2 reviewers</a:t>
            </a:r>
            <a:endParaRPr lang="en-US" sz="900" dirty="0"/>
          </a:p>
        </p:txBody>
      </p:sp>
      <p:sp>
        <p:nvSpPr>
          <p:cNvPr id="48" name="Shape 46"/>
          <p:cNvSpPr/>
          <p:nvPr/>
        </p:nvSpPr>
        <p:spPr>
          <a:xfrm>
            <a:off x="6254496" y="2139696"/>
            <a:ext cx="2596896" cy="438912"/>
          </a:xfrm>
          <a:prstGeom prst="rect">
            <a:avLst/>
          </a:prstGeom>
          <a:solidFill>
            <a:srgbClr val="FFFFFF"/>
          </a:solidFill>
          <a:ln w="12700">
            <a:solidFill>
              <a:srgbClr val="E2E8F0"/>
            </a:solidFill>
            <a:prstDash val="solid"/>
          </a:ln>
        </p:spPr>
      </p:sp>
      <p:sp>
        <p:nvSpPr>
          <p:cNvPr id="49" name="Text 47"/>
          <p:cNvSpPr/>
          <p:nvPr/>
        </p:nvSpPr>
        <p:spPr>
          <a:xfrm>
            <a:off x="6327648" y="2212848"/>
            <a:ext cx="896112" cy="292608"/>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Branch</a:t>
            </a:r>
            <a:endParaRPr lang="en-US" sz="900" dirty="0"/>
          </a:p>
        </p:txBody>
      </p:sp>
      <p:sp>
        <p:nvSpPr>
          <p:cNvPr id="50" name="Text 48"/>
          <p:cNvSpPr/>
          <p:nvPr/>
        </p:nvSpPr>
        <p:spPr>
          <a:xfrm>
            <a:off x="7242048" y="2212848"/>
            <a:ext cx="1554480" cy="292608"/>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main only</a:t>
            </a:r>
            <a:endParaRPr lang="en-US" sz="900" dirty="0"/>
          </a:p>
        </p:txBody>
      </p:sp>
      <p:sp>
        <p:nvSpPr>
          <p:cNvPr id="51" name="Shape 49"/>
          <p:cNvSpPr/>
          <p:nvPr/>
        </p:nvSpPr>
        <p:spPr>
          <a:xfrm>
            <a:off x="6254496" y="2615184"/>
            <a:ext cx="2596896" cy="438912"/>
          </a:xfrm>
          <a:prstGeom prst="rect">
            <a:avLst/>
          </a:prstGeom>
          <a:solidFill>
            <a:srgbClr val="F1F5F9"/>
          </a:solidFill>
          <a:ln w="12700">
            <a:solidFill>
              <a:srgbClr val="E2E8F0"/>
            </a:solidFill>
            <a:prstDash val="solid"/>
          </a:ln>
        </p:spPr>
      </p:sp>
      <p:sp>
        <p:nvSpPr>
          <p:cNvPr id="52" name="Text 50"/>
          <p:cNvSpPr/>
          <p:nvPr/>
        </p:nvSpPr>
        <p:spPr>
          <a:xfrm>
            <a:off x="6327648" y="2688336"/>
            <a:ext cx="896112" cy="292608"/>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Secrets</a:t>
            </a:r>
            <a:endParaRPr lang="en-US" sz="900" dirty="0"/>
          </a:p>
        </p:txBody>
      </p:sp>
      <p:sp>
        <p:nvSpPr>
          <p:cNvPr id="53" name="Text 51"/>
          <p:cNvSpPr/>
          <p:nvPr/>
        </p:nvSpPr>
        <p:spPr>
          <a:xfrm>
            <a:off x="7242048" y="2688336"/>
            <a:ext cx="1554480" cy="292608"/>
          </a:xfrm>
          <a:prstGeom prst="rect">
            <a:avLst/>
          </a:prstGeom>
          <a:noFill/>
          <a:ln/>
        </p:spPr>
        <p:txBody>
          <a:bodyPr wrap="square" lIns="0" tIns="0" rIns="0" bIns="0" rtlCol="0" anchor="ctr"/>
          <a:lstStyle/>
          <a:p>
            <a:pPr indent="0" marL="0">
              <a:buNone/>
            </a:pPr>
            <a:r>
              <a:rPr lang="en-US" sz="900" dirty="0">
                <a:solidFill>
                  <a:srgbClr val="06B6D4"/>
                </a:solidFill>
                <a:latin typeface="Calibri" pitchFamily="34" charset="0"/>
                <a:ea typeface="Calibri" pitchFamily="34" charset="-122"/>
                <a:cs typeface="Calibri" pitchFamily="34" charset="-120"/>
              </a:rPr>
              <a:t>PROD_DB_*</a:t>
            </a:r>
            <a:endParaRPr lang="en-US" sz="900" dirty="0"/>
          </a:p>
        </p:txBody>
      </p:sp>
      <p:sp>
        <p:nvSpPr>
          <p:cNvPr id="54" name="Shape 52"/>
          <p:cNvSpPr/>
          <p:nvPr/>
        </p:nvSpPr>
        <p:spPr>
          <a:xfrm>
            <a:off x="6254496" y="3090672"/>
            <a:ext cx="2596896" cy="438912"/>
          </a:xfrm>
          <a:prstGeom prst="rect">
            <a:avLst/>
          </a:prstGeom>
          <a:solidFill>
            <a:srgbClr val="FFFFFF"/>
          </a:solidFill>
          <a:ln w="12700">
            <a:solidFill>
              <a:srgbClr val="E2E8F0"/>
            </a:solidFill>
            <a:prstDash val="solid"/>
          </a:ln>
        </p:spPr>
      </p:sp>
      <p:sp>
        <p:nvSpPr>
          <p:cNvPr id="55" name="Text 53"/>
          <p:cNvSpPr/>
          <p:nvPr/>
        </p:nvSpPr>
        <p:spPr>
          <a:xfrm>
            <a:off x="6327648" y="3163824"/>
            <a:ext cx="896112" cy="292608"/>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Protection</a:t>
            </a:r>
            <a:endParaRPr lang="en-US" sz="900" dirty="0"/>
          </a:p>
        </p:txBody>
      </p:sp>
      <p:sp>
        <p:nvSpPr>
          <p:cNvPr id="56" name="Text 54"/>
          <p:cNvSpPr/>
          <p:nvPr/>
        </p:nvSpPr>
        <p:spPr>
          <a:xfrm>
            <a:off x="7242048" y="3163824"/>
            <a:ext cx="1554480" cy="292608"/>
          </a:xfrm>
          <a:prstGeom prst="rect">
            <a:avLst/>
          </a:prstGeom>
          <a:noFill/>
          <a:ln/>
        </p:spPr>
        <p:txBody>
          <a:bodyPr wrap="square" lIns="0" tIns="0" rIns="0" bIns="0" rtlCol="0" anchor="ctr"/>
          <a:lstStyle/>
          <a:p>
            <a:pPr indent="0" marL="0">
              <a:buNone/>
            </a:pPr>
            <a:r>
              <a:rPr lang="en-US" sz="900" dirty="0">
                <a:solidFill>
                  <a:srgbClr val="EF4444"/>
                </a:solidFill>
                <a:latin typeface="Calibri" pitchFamily="34" charset="0"/>
                <a:ea typeface="Calibri" pitchFamily="34" charset="-122"/>
                <a:cs typeface="Calibri" pitchFamily="34" charset="-120"/>
              </a:rPr>
              <a:t>HIGH</a:t>
            </a:r>
            <a:endParaRPr lang="en-US" sz="900" dirty="0"/>
          </a:p>
        </p:txBody>
      </p:sp>
      <p:sp>
        <p:nvSpPr>
          <p:cNvPr id="57" name="Shape 55"/>
          <p:cNvSpPr/>
          <p:nvPr/>
        </p:nvSpPr>
        <p:spPr>
          <a:xfrm>
            <a:off x="347472" y="4224528"/>
            <a:ext cx="8449056" cy="804672"/>
          </a:xfrm>
          <a:prstGeom prst="rect">
            <a:avLst/>
          </a:prstGeom>
          <a:solidFill>
            <a:srgbClr val="0D1B2A"/>
          </a:solidFill>
          <a:ln w="12700">
            <a:solidFill>
              <a:srgbClr val="334155"/>
            </a:solidFill>
            <a:prstDash val="solid"/>
          </a:ln>
        </p:spPr>
      </p:sp>
      <p:sp>
        <p:nvSpPr>
          <p:cNvPr id="58" name="Text 56"/>
          <p:cNvSpPr/>
          <p:nvPr/>
        </p:nvSpPr>
        <p:spPr>
          <a:xfrm>
            <a:off x="457200" y="4270248"/>
            <a:ext cx="8229600" cy="256032"/>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What GitHub Environments Provide</a:t>
            </a:r>
            <a:endParaRPr lang="en-US" sz="1100" dirty="0"/>
          </a:p>
        </p:txBody>
      </p:sp>
      <p:sp>
        <p:nvSpPr>
          <p:cNvPr id="59" name="Text 57"/>
          <p:cNvSpPr/>
          <p:nvPr/>
        </p:nvSpPr>
        <p:spPr>
          <a:xfrm>
            <a:off x="457200" y="4553712"/>
            <a:ext cx="2103120" cy="384048"/>
          </a:xfrm>
          <a:prstGeom prst="rect">
            <a:avLst/>
          </a:prstGeom>
          <a:noFill/>
          <a:ln/>
        </p:spPr>
        <p:txBody>
          <a:bodyPr wrap="square" lIns="0" tIns="0" rIns="0" bIns="0" rtlCol="0" anchor="ctr"/>
          <a:lstStyle/>
          <a:p>
            <a:pPr algn="ctr" indent="0" marL="0">
              <a:buNone/>
            </a:pPr>
            <a:r>
              <a:rPr lang="en-US" sz="950" dirty="0">
                <a:solidFill>
                  <a:srgbClr val="CBD5E1"/>
                </a:solidFill>
                <a:latin typeface="Calibri" pitchFamily="34" charset="0"/>
                <a:ea typeface="Calibri" pitchFamily="34" charset="-122"/>
                <a:cs typeface="Calibri" pitchFamily="34" charset="-120"/>
              </a:rPr>
              <a:t>🔐 Environment-scoped secrets</a:t>
            </a:r>
            <a:endParaRPr lang="en-US" sz="950" dirty="0"/>
          </a:p>
        </p:txBody>
      </p:sp>
      <p:sp>
        <p:nvSpPr>
          <p:cNvPr id="60" name="Text 58"/>
          <p:cNvSpPr/>
          <p:nvPr/>
        </p:nvSpPr>
        <p:spPr>
          <a:xfrm>
            <a:off x="2606040" y="4553712"/>
            <a:ext cx="2103120" cy="384048"/>
          </a:xfrm>
          <a:prstGeom prst="rect">
            <a:avLst/>
          </a:prstGeom>
          <a:noFill/>
          <a:ln/>
        </p:spPr>
        <p:txBody>
          <a:bodyPr wrap="square" lIns="0" tIns="0" rIns="0" bIns="0" rtlCol="0" anchor="ctr"/>
          <a:lstStyle/>
          <a:p>
            <a:pPr algn="ctr" indent="0" marL="0">
              <a:buNone/>
            </a:pPr>
            <a:r>
              <a:rPr lang="en-US" sz="950" dirty="0">
                <a:solidFill>
                  <a:srgbClr val="CBD5E1"/>
                </a:solidFill>
                <a:latin typeface="Calibri" pitchFamily="34" charset="0"/>
                <a:ea typeface="Calibri" pitchFamily="34" charset="-122"/>
                <a:cs typeface="Calibri" pitchFamily="34" charset="-120"/>
              </a:rPr>
              <a:t>👥 Required reviewer approval</a:t>
            </a:r>
            <a:endParaRPr lang="en-US" sz="950" dirty="0"/>
          </a:p>
        </p:txBody>
      </p:sp>
      <p:sp>
        <p:nvSpPr>
          <p:cNvPr id="61" name="Text 59"/>
          <p:cNvSpPr/>
          <p:nvPr/>
        </p:nvSpPr>
        <p:spPr>
          <a:xfrm>
            <a:off x="4754880" y="4553712"/>
            <a:ext cx="2103120" cy="384048"/>
          </a:xfrm>
          <a:prstGeom prst="rect">
            <a:avLst/>
          </a:prstGeom>
          <a:noFill/>
          <a:ln/>
        </p:spPr>
        <p:txBody>
          <a:bodyPr wrap="square" lIns="0" tIns="0" rIns="0" bIns="0" rtlCol="0" anchor="ctr"/>
          <a:lstStyle/>
          <a:p>
            <a:pPr algn="ctr" indent="0" marL="0">
              <a:buNone/>
            </a:pPr>
            <a:r>
              <a:rPr lang="en-US" sz="950" dirty="0">
                <a:solidFill>
                  <a:srgbClr val="CBD5E1"/>
                </a:solidFill>
                <a:latin typeface="Calibri" pitchFamily="34" charset="0"/>
                <a:ea typeface="Calibri" pitchFamily="34" charset="-122"/>
                <a:cs typeface="Calibri" pitchFamily="34" charset="-120"/>
              </a:rPr>
              <a:t>🌿 Branch deployment rules</a:t>
            </a:r>
            <a:endParaRPr lang="en-US" sz="950" dirty="0"/>
          </a:p>
        </p:txBody>
      </p:sp>
      <p:sp>
        <p:nvSpPr>
          <p:cNvPr id="62" name="Text 60"/>
          <p:cNvSpPr/>
          <p:nvPr/>
        </p:nvSpPr>
        <p:spPr>
          <a:xfrm>
            <a:off x="6903720" y="4553712"/>
            <a:ext cx="2103120" cy="384048"/>
          </a:xfrm>
          <a:prstGeom prst="rect">
            <a:avLst/>
          </a:prstGeom>
          <a:noFill/>
          <a:ln/>
        </p:spPr>
        <p:txBody>
          <a:bodyPr wrap="square" lIns="0" tIns="0" rIns="0" bIns="0" rtlCol="0" anchor="ctr"/>
          <a:lstStyle/>
          <a:p>
            <a:pPr algn="ctr" indent="0" marL="0">
              <a:buNone/>
            </a:pPr>
            <a:r>
              <a:rPr lang="en-US" sz="950" dirty="0">
                <a:solidFill>
                  <a:srgbClr val="CBD5E1"/>
                </a:solidFill>
                <a:latin typeface="Calibri" pitchFamily="34" charset="0"/>
                <a:ea typeface="Calibri" pitchFamily="34" charset="-122"/>
                <a:cs typeface="Calibri" pitchFamily="34" charset="-120"/>
              </a:rPr>
              <a:t>📊 Deployment history audit trail</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C4899"/>
          </a:solidFill>
          <a:ln w="12700">
            <a:solidFill>
              <a:srgbClr val="EC4899"/>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Multi-Environment Deployment — Architecture &amp; Approval Gates</a:t>
            </a:r>
            <a:endParaRPr lang="en-US" sz="2500" dirty="0"/>
          </a:p>
        </p:txBody>
      </p:sp>
      <p:sp>
        <p:nvSpPr>
          <p:cNvPr id="4" name="Shape 2"/>
          <p:cNvSpPr/>
          <p:nvPr/>
        </p:nvSpPr>
        <p:spPr>
          <a:xfrm>
            <a:off x="384048" y="731520"/>
            <a:ext cx="2267712" cy="219456"/>
          </a:xfrm>
          <a:prstGeom prst="rect">
            <a:avLst/>
          </a:prstGeom>
          <a:solidFill>
            <a:srgbClr val="EC4899"/>
          </a:solidFill>
          <a:ln w="12700">
            <a:solidFill>
              <a:srgbClr val="EC4899"/>
            </a:solidFill>
            <a:prstDash val="solid"/>
          </a:ln>
        </p:spPr>
      </p:sp>
      <p:sp>
        <p:nvSpPr>
          <p:cNvPr id="5" name="Text 3"/>
          <p:cNvSpPr/>
          <p:nvPr/>
        </p:nvSpPr>
        <p:spPr>
          <a:xfrm>
            <a:off x="384048" y="731520"/>
            <a:ext cx="2267712"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ARCHITECTURE DIAGRAM</a:t>
            </a:r>
            <a:endParaRPr lang="en-US" sz="850" dirty="0"/>
          </a:p>
        </p:txBody>
      </p:sp>
      <p:sp>
        <p:nvSpPr>
          <p:cNvPr id="6" name="Shape 4"/>
          <p:cNvSpPr/>
          <p:nvPr/>
        </p:nvSpPr>
        <p:spPr>
          <a:xfrm>
            <a:off x="1645920" y="822960"/>
            <a:ext cx="3200400" cy="502920"/>
          </a:xfrm>
          <a:prstGeom prst="ellipse">
            <a:avLst/>
          </a:prstGeom>
          <a:solidFill>
            <a:srgbClr val="1A56DB"/>
          </a:solidFill>
          <a:ln w="12700">
            <a:solidFill>
              <a:srgbClr val="1A56DB"/>
            </a:solidFill>
            <a:prstDash val="solid"/>
          </a:ln>
        </p:spPr>
      </p:sp>
      <p:sp>
        <p:nvSpPr>
          <p:cNvPr id="7" name="Text 5"/>
          <p:cNvSpPr/>
          <p:nvPr/>
        </p:nvSpPr>
        <p:spPr>
          <a:xfrm>
            <a:off x="1645920" y="822960"/>
            <a:ext cx="3200400" cy="27660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push to main</a:t>
            </a:r>
            <a:endParaRPr lang="en-US" sz="1100" dirty="0"/>
          </a:p>
        </p:txBody>
      </p:sp>
      <p:sp>
        <p:nvSpPr>
          <p:cNvPr id="8" name="Text 6"/>
          <p:cNvSpPr/>
          <p:nvPr/>
        </p:nvSpPr>
        <p:spPr>
          <a:xfrm>
            <a:off x="1645920" y="1094537"/>
            <a:ext cx="3200400" cy="221285"/>
          </a:xfrm>
          <a:prstGeom prst="rect">
            <a:avLst/>
          </a:prstGeom>
          <a:noFill/>
          <a:ln/>
        </p:spPr>
        <p:txBody>
          <a:bodyPr wrap="square" lIns="0" tIns="0" rIns="0" bIns="0" rtlCol="0" anchor="ctr"/>
          <a:lstStyle/>
          <a:p>
            <a:pPr algn="ctr" indent="0" marL="0">
              <a:buNone/>
            </a:pPr>
            <a:r>
              <a:rPr lang="en-US" sz="900" dirty="0">
                <a:solidFill>
                  <a:srgbClr val="E0F2FE"/>
                </a:solidFill>
                <a:latin typeface="Calibri" pitchFamily="34" charset="0"/>
                <a:ea typeface="Calibri" pitchFamily="34" charset="-122"/>
                <a:cs typeface="Calibri" pitchFamily="34" charset="-120"/>
              </a:rPr>
              <a:t>Developer commits code</a:t>
            </a:r>
            <a:endParaRPr lang="en-US" sz="900" dirty="0"/>
          </a:p>
        </p:txBody>
      </p:sp>
      <p:sp>
        <p:nvSpPr>
          <p:cNvPr id="9" name="Shape 7"/>
          <p:cNvSpPr/>
          <p:nvPr/>
        </p:nvSpPr>
        <p:spPr>
          <a:xfrm>
            <a:off x="3227832" y="1325880"/>
            <a:ext cx="36576" cy="109728"/>
          </a:xfrm>
          <a:prstGeom prst="rect">
            <a:avLst/>
          </a:prstGeom>
          <a:solidFill>
            <a:srgbClr val="E2E8F0"/>
          </a:solidFill>
          <a:ln w="12700">
            <a:solidFill>
              <a:srgbClr val="E2E8F0"/>
            </a:solidFill>
            <a:prstDash val="solid"/>
          </a:ln>
        </p:spPr>
      </p:sp>
      <p:sp>
        <p:nvSpPr>
          <p:cNvPr id="10" name="Shape 8"/>
          <p:cNvSpPr/>
          <p:nvPr/>
        </p:nvSpPr>
        <p:spPr>
          <a:xfrm>
            <a:off x="1645920" y="1444752"/>
            <a:ext cx="3200400" cy="502920"/>
          </a:xfrm>
          <a:prstGeom prst="rect">
            <a:avLst/>
          </a:prstGeom>
          <a:solidFill>
            <a:srgbClr val="06B6D4"/>
          </a:solidFill>
          <a:ln w="12700">
            <a:solidFill>
              <a:srgbClr val="06B6D4"/>
            </a:solidFill>
            <a:prstDash val="solid"/>
          </a:ln>
        </p:spPr>
      </p:sp>
      <p:sp>
        <p:nvSpPr>
          <p:cNvPr id="11" name="Text 9"/>
          <p:cNvSpPr/>
          <p:nvPr/>
        </p:nvSpPr>
        <p:spPr>
          <a:xfrm>
            <a:off x="1645920" y="1444752"/>
            <a:ext cx="3200400" cy="27660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build + test</a:t>
            </a:r>
            <a:endParaRPr lang="en-US" sz="1100" dirty="0"/>
          </a:p>
        </p:txBody>
      </p:sp>
      <p:sp>
        <p:nvSpPr>
          <p:cNvPr id="12" name="Text 10"/>
          <p:cNvSpPr/>
          <p:nvPr/>
        </p:nvSpPr>
        <p:spPr>
          <a:xfrm>
            <a:off x="1645920" y="1716329"/>
            <a:ext cx="3200400" cy="221285"/>
          </a:xfrm>
          <a:prstGeom prst="rect">
            <a:avLst/>
          </a:prstGeom>
          <a:noFill/>
          <a:ln/>
        </p:spPr>
        <p:txBody>
          <a:bodyPr wrap="square" lIns="0" tIns="0" rIns="0" bIns="0" rtlCol="0" anchor="ctr"/>
          <a:lstStyle/>
          <a:p>
            <a:pPr algn="ctr" indent="0" marL="0">
              <a:buNone/>
            </a:pPr>
            <a:r>
              <a:rPr lang="en-US" sz="900" dirty="0">
                <a:solidFill>
                  <a:srgbClr val="E0F2FE"/>
                </a:solidFill>
                <a:latin typeface="Calibri" pitchFamily="34" charset="0"/>
                <a:ea typeface="Calibri" pitchFamily="34" charset="-122"/>
                <a:cs typeface="Calibri" pitchFamily="34" charset="-120"/>
              </a:rPr>
              <a:t>All quality gates must pass</a:t>
            </a:r>
            <a:endParaRPr lang="en-US" sz="900" dirty="0"/>
          </a:p>
        </p:txBody>
      </p:sp>
      <p:sp>
        <p:nvSpPr>
          <p:cNvPr id="13" name="Shape 11"/>
          <p:cNvSpPr/>
          <p:nvPr/>
        </p:nvSpPr>
        <p:spPr>
          <a:xfrm>
            <a:off x="3227832" y="1947672"/>
            <a:ext cx="36576" cy="109728"/>
          </a:xfrm>
          <a:prstGeom prst="rect">
            <a:avLst/>
          </a:prstGeom>
          <a:solidFill>
            <a:srgbClr val="E2E8F0"/>
          </a:solidFill>
          <a:ln w="12700">
            <a:solidFill>
              <a:srgbClr val="E2E8F0"/>
            </a:solidFill>
            <a:prstDash val="solid"/>
          </a:ln>
        </p:spPr>
      </p:sp>
      <p:sp>
        <p:nvSpPr>
          <p:cNvPr id="14" name="Shape 12"/>
          <p:cNvSpPr/>
          <p:nvPr/>
        </p:nvSpPr>
        <p:spPr>
          <a:xfrm>
            <a:off x="1645920" y="2066544"/>
            <a:ext cx="3200400" cy="502920"/>
          </a:xfrm>
          <a:prstGeom prst="rect">
            <a:avLst/>
          </a:prstGeom>
          <a:solidFill>
            <a:srgbClr val="1A56DB"/>
          </a:solidFill>
          <a:ln w="12700">
            <a:solidFill>
              <a:srgbClr val="1A56DB"/>
            </a:solidFill>
            <a:prstDash val="solid"/>
          </a:ln>
        </p:spPr>
      </p:sp>
      <p:sp>
        <p:nvSpPr>
          <p:cNvPr id="15" name="Text 13"/>
          <p:cNvSpPr/>
          <p:nvPr/>
        </p:nvSpPr>
        <p:spPr>
          <a:xfrm>
            <a:off x="1645920" y="2066544"/>
            <a:ext cx="3200400" cy="27660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environment: development</a:t>
            </a:r>
            <a:endParaRPr lang="en-US" sz="1100" dirty="0"/>
          </a:p>
        </p:txBody>
      </p:sp>
      <p:sp>
        <p:nvSpPr>
          <p:cNvPr id="16" name="Text 14"/>
          <p:cNvSpPr/>
          <p:nvPr/>
        </p:nvSpPr>
        <p:spPr>
          <a:xfrm>
            <a:off x="1645920" y="2338121"/>
            <a:ext cx="3200400" cy="221285"/>
          </a:xfrm>
          <a:prstGeom prst="rect">
            <a:avLst/>
          </a:prstGeom>
          <a:noFill/>
          <a:ln/>
        </p:spPr>
        <p:txBody>
          <a:bodyPr wrap="square" lIns="0" tIns="0" rIns="0" bIns="0" rtlCol="0" anchor="ctr"/>
          <a:lstStyle/>
          <a:p>
            <a:pPr algn="ctr" indent="0" marL="0">
              <a:buNone/>
            </a:pPr>
            <a:r>
              <a:rPr lang="en-US" sz="900" dirty="0">
                <a:solidFill>
                  <a:srgbClr val="E0F2FE"/>
                </a:solidFill>
                <a:latin typeface="Calibri" pitchFamily="34" charset="0"/>
                <a:ea typeface="Calibri" pitchFamily="34" charset="-122"/>
                <a:cs typeface="Calibri" pitchFamily="34" charset="-120"/>
              </a:rPr>
              <a:t>Auto-deploy — no approval</a:t>
            </a:r>
            <a:endParaRPr lang="en-US" sz="900" dirty="0"/>
          </a:p>
        </p:txBody>
      </p:sp>
      <p:sp>
        <p:nvSpPr>
          <p:cNvPr id="17" name="Shape 15"/>
          <p:cNvSpPr/>
          <p:nvPr/>
        </p:nvSpPr>
        <p:spPr>
          <a:xfrm>
            <a:off x="3227832" y="2569464"/>
            <a:ext cx="36576" cy="109728"/>
          </a:xfrm>
          <a:prstGeom prst="rect">
            <a:avLst/>
          </a:prstGeom>
          <a:solidFill>
            <a:srgbClr val="E2E8F0"/>
          </a:solidFill>
          <a:ln w="12700">
            <a:solidFill>
              <a:srgbClr val="E2E8F0"/>
            </a:solidFill>
            <a:prstDash val="solid"/>
          </a:ln>
        </p:spPr>
      </p:sp>
      <p:sp>
        <p:nvSpPr>
          <p:cNvPr id="18" name="Shape 16"/>
          <p:cNvSpPr/>
          <p:nvPr/>
        </p:nvSpPr>
        <p:spPr>
          <a:xfrm>
            <a:off x="1508760" y="2688336"/>
            <a:ext cx="3474720" cy="502920"/>
          </a:xfrm>
          <a:prstGeom prst="rect">
            <a:avLst/>
          </a:prstGeom>
          <a:solidFill>
            <a:srgbClr val="FFFBEB"/>
          </a:solidFill>
          <a:ln w="19050">
            <a:solidFill>
              <a:srgbClr val="F59E0B"/>
            </a:solidFill>
            <a:prstDash val="solid"/>
          </a:ln>
        </p:spPr>
      </p:sp>
      <p:sp>
        <p:nvSpPr>
          <p:cNvPr id="19" name="Shape 17"/>
          <p:cNvSpPr/>
          <p:nvPr/>
        </p:nvSpPr>
        <p:spPr>
          <a:xfrm>
            <a:off x="1508760" y="2688336"/>
            <a:ext cx="64008" cy="502920"/>
          </a:xfrm>
          <a:prstGeom prst="rect">
            <a:avLst/>
          </a:prstGeom>
          <a:solidFill>
            <a:srgbClr val="F59E0B"/>
          </a:solidFill>
          <a:ln w="12700">
            <a:solidFill>
              <a:srgbClr val="F59E0B"/>
            </a:solidFill>
            <a:prstDash val="solid"/>
          </a:ln>
        </p:spPr>
      </p:sp>
      <p:sp>
        <p:nvSpPr>
          <p:cNvPr id="20" name="Text 18"/>
          <p:cNvSpPr/>
          <p:nvPr/>
        </p:nvSpPr>
        <p:spPr>
          <a:xfrm>
            <a:off x="1645920" y="2724912"/>
            <a:ext cx="3364992" cy="256032"/>
          </a:xfrm>
          <a:prstGeom prst="rect">
            <a:avLst/>
          </a:prstGeom>
          <a:noFill/>
          <a:ln/>
        </p:spPr>
        <p:txBody>
          <a:bodyPr wrap="square" lIns="0" tIns="0" rIns="0" bIns="0"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 environment: staging</a:t>
            </a:r>
            <a:endParaRPr lang="en-US" sz="1050" dirty="0"/>
          </a:p>
        </p:txBody>
      </p:sp>
      <p:sp>
        <p:nvSpPr>
          <p:cNvPr id="21" name="Text 19"/>
          <p:cNvSpPr/>
          <p:nvPr/>
        </p:nvSpPr>
        <p:spPr>
          <a:xfrm>
            <a:off x="1645920" y="2962656"/>
            <a:ext cx="3364992"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 PAUSED — awaits 1 reviewer</a:t>
            </a:r>
            <a:endParaRPr lang="en-US" sz="900" dirty="0"/>
          </a:p>
        </p:txBody>
      </p:sp>
      <p:sp>
        <p:nvSpPr>
          <p:cNvPr id="22" name="Shape 20"/>
          <p:cNvSpPr/>
          <p:nvPr/>
        </p:nvSpPr>
        <p:spPr>
          <a:xfrm>
            <a:off x="3227832" y="3191256"/>
            <a:ext cx="36576" cy="109728"/>
          </a:xfrm>
          <a:prstGeom prst="rect">
            <a:avLst/>
          </a:prstGeom>
          <a:solidFill>
            <a:srgbClr val="E2E8F0"/>
          </a:solidFill>
          <a:ln w="12700">
            <a:solidFill>
              <a:srgbClr val="E2E8F0"/>
            </a:solidFill>
            <a:prstDash val="solid"/>
          </a:ln>
        </p:spPr>
      </p:sp>
      <p:sp>
        <p:nvSpPr>
          <p:cNvPr id="23" name="Shape 21"/>
          <p:cNvSpPr/>
          <p:nvPr/>
        </p:nvSpPr>
        <p:spPr>
          <a:xfrm>
            <a:off x="1645920" y="3310128"/>
            <a:ext cx="3200400" cy="502920"/>
          </a:xfrm>
          <a:prstGeom prst="rect">
            <a:avLst/>
          </a:prstGeom>
          <a:solidFill>
            <a:srgbClr val="0D9488"/>
          </a:solidFill>
          <a:ln w="12700">
            <a:solidFill>
              <a:srgbClr val="0D9488"/>
            </a:solidFill>
            <a:prstDash val="solid"/>
          </a:ln>
        </p:spPr>
      </p:sp>
      <p:sp>
        <p:nvSpPr>
          <p:cNvPr id="24" name="Text 22"/>
          <p:cNvSpPr/>
          <p:nvPr/>
        </p:nvSpPr>
        <p:spPr>
          <a:xfrm>
            <a:off x="1645920" y="3310128"/>
            <a:ext cx="3200400" cy="27660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staging smoke tests</a:t>
            </a:r>
            <a:endParaRPr lang="en-US" sz="1100" dirty="0"/>
          </a:p>
        </p:txBody>
      </p:sp>
      <p:sp>
        <p:nvSpPr>
          <p:cNvPr id="25" name="Text 23"/>
          <p:cNvSpPr/>
          <p:nvPr/>
        </p:nvSpPr>
        <p:spPr>
          <a:xfrm>
            <a:off x="1645920" y="3581705"/>
            <a:ext cx="3200400" cy="221285"/>
          </a:xfrm>
          <a:prstGeom prst="rect">
            <a:avLst/>
          </a:prstGeom>
          <a:noFill/>
          <a:ln/>
        </p:spPr>
        <p:txBody>
          <a:bodyPr wrap="square" lIns="0" tIns="0" rIns="0" bIns="0" rtlCol="0" anchor="ctr"/>
          <a:lstStyle/>
          <a:p>
            <a:pPr algn="ctr" indent="0" marL="0">
              <a:buNone/>
            </a:pPr>
            <a:r>
              <a:rPr lang="en-US" sz="900" dirty="0">
                <a:solidFill>
                  <a:srgbClr val="E0F2FE"/>
                </a:solidFill>
                <a:latin typeface="Calibri" pitchFamily="34" charset="0"/>
                <a:ea typeface="Calibri" pitchFamily="34" charset="-122"/>
                <a:cs typeface="Calibri" pitchFamily="34" charset="-120"/>
              </a:rPr>
              <a:t>curl /actuator/health ✅</a:t>
            </a:r>
            <a:endParaRPr lang="en-US" sz="900" dirty="0"/>
          </a:p>
        </p:txBody>
      </p:sp>
      <p:sp>
        <p:nvSpPr>
          <p:cNvPr id="26" name="Shape 24"/>
          <p:cNvSpPr/>
          <p:nvPr/>
        </p:nvSpPr>
        <p:spPr>
          <a:xfrm>
            <a:off x="3227832" y="3813048"/>
            <a:ext cx="36576" cy="109728"/>
          </a:xfrm>
          <a:prstGeom prst="rect">
            <a:avLst/>
          </a:prstGeom>
          <a:solidFill>
            <a:srgbClr val="E2E8F0"/>
          </a:solidFill>
          <a:ln w="12700">
            <a:solidFill>
              <a:srgbClr val="E2E8F0"/>
            </a:solidFill>
            <a:prstDash val="solid"/>
          </a:ln>
        </p:spPr>
      </p:sp>
      <p:sp>
        <p:nvSpPr>
          <p:cNvPr id="27" name="Shape 25"/>
          <p:cNvSpPr/>
          <p:nvPr/>
        </p:nvSpPr>
        <p:spPr>
          <a:xfrm>
            <a:off x="1508760" y="3931920"/>
            <a:ext cx="3474720" cy="502920"/>
          </a:xfrm>
          <a:prstGeom prst="rect">
            <a:avLst/>
          </a:prstGeom>
          <a:solidFill>
            <a:srgbClr val="FFFBEB"/>
          </a:solidFill>
          <a:ln w="19050">
            <a:solidFill>
              <a:srgbClr val="EF4444"/>
            </a:solidFill>
            <a:prstDash val="solid"/>
          </a:ln>
        </p:spPr>
      </p:sp>
      <p:sp>
        <p:nvSpPr>
          <p:cNvPr id="28" name="Shape 26"/>
          <p:cNvSpPr/>
          <p:nvPr/>
        </p:nvSpPr>
        <p:spPr>
          <a:xfrm>
            <a:off x="1508760" y="3931920"/>
            <a:ext cx="64008" cy="502920"/>
          </a:xfrm>
          <a:prstGeom prst="rect">
            <a:avLst/>
          </a:prstGeom>
          <a:solidFill>
            <a:srgbClr val="EF4444"/>
          </a:solidFill>
          <a:ln w="12700">
            <a:solidFill>
              <a:srgbClr val="EF4444"/>
            </a:solidFill>
            <a:prstDash val="solid"/>
          </a:ln>
        </p:spPr>
      </p:sp>
      <p:sp>
        <p:nvSpPr>
          <p:cNvPr id="29" name="Text 27"/>
          <p:cNvSpPr/>
          <p:nvPr/>
        </p:nvSpPr>
        <p:spPr>
          <a:xfrm>
            <a:off x="1645920" y="3968496"/>
            <a:ext cx="3364992" cy="256032"/>
          </a:xfrm>
          <a:prstGeom prst="rect">
            <a:avLst/>
          </a:prstGeom>
          <a:noFill/>
          <a:ln/>
        </p:spPr>
        <p:txBody>
          <a:bodyPr wrap="square" lIns="0" tIns="0" rIns="0" bIns="0" rtlCol="0" anchor="ctr"/>
          <a:lstStyle/>
          <a:p>
            <a:pPr indent="0" marL="0">
              <a:buNone/>
            </a:pPr>
            <a:r>
              <a:rPr lang="en-US" sz="1050" b="1" dirty="0">
                <a:solidFill>
                  <a:srgbClr val="EF4444"/>
                </a:solidFill>
                <a:latin typeface="Calibri" pitchFamily="34" charset="0"/>
                <a:ea typeface="Calibri" pitchFamily="34" charset="-122"/>
                <a:cs typeface="Calibri" pitchFamily="34" charset="-120"/>
              </a:rPr>
              <a:t>⏸ environment: production</a:t>
            </a:r>
            <a:endParaRPr lang="en-US" sz="1050" dirty="0"/>
          </a:p>
        </p:txBody>
      </p:sp>
      <p:sp>
        <p:nvSpPr>
          <p:cNvPr id="30" name="Text 28"/>
          <p:cNvSpPr/>
          <p:nvPr/>
        </p:nvSpPr>
        <p:spPr>
          <a:xfrm>
            <a:off x="1645920" y="4206240"/>
            <a:ext cx="3364992"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 PAUSED — awaits 2 reviewers</a:t>
            </a:r>
            <a:endParaRPr lang="en-US" sz="900" dirty="0"/>
          </a:p>
        </p:txBody>
      </p:sp>
      <p:sp>
        <p:nvSpPr>
          <p:cNvPr id="31" name="Shape 29"/>
          <p:cNvSpPr/>
          <p:nvPr/>
        </p:nvSpPr>
        <p:spPr>
          <a:xfrm>
            <a:off x="5166360" y="2633472"/>
            <a:ext cx="3621024" cy="658368"/>
          </a:xfrm>
          <a:prstGeom prst="rect">
            <a:avLst/>
          </a:prstGeom>
          <a:solidFill>
            <a:srgbClr val="1B2A3B"/>
          </a:solidFill>
          <a:ln w="6350">
            <a:solidFill>
              <a:srgbClr val="334155"/>
            </a:solidFill>
            <a:prstDash val="solid"/>
          </a:ln>
        </p:spPr>
      </p:sp>
      <p:sp>
        <p:nvSpPr>
          <p:cNvPr id="32" name="Shape 30"/>
          <p:cNvSpPr/>
          <p:nvPr/>
        </p:nvSpPr>
        <p:spPr>
          <a:xfrm>
            <a:off x="5166360" y="2633472"/>
            <a:ext cx="64008" cy="658368"/>
          </a:xfrm>
          <a:prstGeom prst="rect">
            <a:avLst/>
          </a:prstGeom>
          <a:solidFill>
            <a:srgbClr val="F59E0B"/>
          </a:solidFill>
          <a:ln w="12700">
            <a:solidFill>
              <a:srgbClr val="F59E0B"/>
            </a:solidFill>
            <a:prstDash val="solid"/>
          </a:ln>
        </p:spPr>
      </p:sp>
      <p:sp>
        <p:nvSpPr>
          <p:cNvPr id="33" name="Text 31"/>
          <p:cNvSpPr/>
          <p:nvPr/>
        </p:nvSpPr>
        <p:spPr>
          <a:xfrm>
            <a:off x="5349240" y="2706624"/>
            <a:ext cx="3337560" cy="256032"/>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Staging Approval</a:t>
            </a:r>
            <a:endParaRPr lang="en-US" sz="1100" dirty="0"/>
          </a:p>
        </p:txBody>
      </p:sp>
      <p:sp>
        <p:nvSpPr>
          <p:cNvPr id="34" name="Text 32"/>
          <p:cNvSpPr/>
          <p:nvPr/>
        </p:nvSpPr>
        <p:spPr>
          <a:xfrm>
            <a:off x="5349240" y="2944368"/>
            <a:ext cx="3337560" cy="182880"/>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 Reviewer: 1 Senior Dev</a:t>
            </a:r>
            <a:endParaRPr lang="en-US" sz="900" dirty="0"/>
          </a:p>
        </p:txBody>
      </p:sp>
      <p:sp>
        <p:nvSpPr>
          <p:cNvPr id="35" name="Text 33"/>
          <p:cNvSpPr/>
          <p:nvPr/>
        </p:nvSpPr>
        <p:spPr>
          <a:xfrm>
            <a:off x="5349240" y="3108960"/>
            <a:ext cx="33375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 Pauses until approved</a:t>
            </a:r>
            <a:endParaRPr lang="en-US" sz="900" dirty="0"/>
          </a:p>
        </p:txBody>
      </p:sp>
      <p:sp>
        <p:nvSpPr>
          <p:cNvPr id="36" name="Shape 34"/>
          <p:cNvSpPr/>
          <p:nvPr/>
        </p:nvSpPr>
        <p:spPr>
          <a:xfrm>
            <a:off x="5166360" y="3858768"/>
            <a:ext cx="3621024" cy="658368"/>
          </a:xfrm>
          <a:prstGeom prst="rect">
            <a:avLst/>
          </a:prstGeom>
          <a:solidFill>
            <a:srgbClr val="1B2A3B"/>
          </a:solidFill>
          <a:ln w="6350">
            <a:solidFill>
              <a:srgbClr val="334155"/>
            </a:solidFill>
            <a:prstDash val="solid"/>
          </a:ln>
        </p:spPr>
      </p:sp>
      <p:sp>
        <p:nvSpPr>
          <p:cNvPr id="37" name="Shape 35"/>
          <p:cNvSpPr/>
          <p:nvPr/>
        </p:nvSpPr>
        <p:spPr>
          <a:xfrm>
            <a:off x="5166360" y="3858768"/>
            <a:ext cx="64008" cy="658368"/>
          </a:xfrm>
          <a:prstGeom prst="rect">
            <a:avLst/>
          </a:prstGeom>
          <a:solidFill>
            <a:srgbClr val="EF4444"/>
          </a:solidFill>
          <a:ln w="12700">
            <a:solidFill>
              <a:srgbClr val="EF4444"/>
            </a:solidFill>
            <a:prstDash val="solid"/>
          </a:ln>
        </p:spPr>
      </p:sp>
      <p:sp>
        <p:nvSpPr>
          <p:cNvPr id="38" name="Text 36"/>
          <p:cNvSpPr/>
          <p:nvPr/>
        </p:nvSpPr>
        <p:spPr>
          <a:xfrm>
            <a:off x="5349240" y="3931920"/>
            <a:ext cx="3337560" cy="256032"/>
          </a:xfrm>
          <a:prstGeom prst="rect">
            <a:avLst/>
          </a:prstGeom>
          <a:noFill/>
          <a:ln/>
        </p:spPr>
        <p:txBody>
          <a:bodyPr wrap="square" lIns="0" tIns="0" rIns="0" bIns="0"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Production Approval</a:t>
            </a:r>
            <a:endParaRPr lang="en-US" sz="1100" dirty="0"/>
          </a:p>
        </p:txBody>
      </p:sp>
      <p:sp>
        <p:nvSpPr>
          <p:cNvPr id="39" name="Text 37"/>
          <p:cNvSpPr/>
          <p:nvPr/>
        </p:nvSpPr>
        <p:spPr>
          <a:xfrm>
            <a:off x="5349240" y="4169664"/>
            <a:ext cx="3337560" cy="182880"/>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 Reviewer: 2 Reviewers (Arch + Lead)</a:t>
            </a:r>
            <a:endParaRPr lang="en-US" sz="900" dirty="0"/>
          </a:p>
        </p:txBody>
      </p:sp>
      <p:sp>
        <p:nvSpPr>
          <p:cNvPr id="40" name="Text 38"/>
          <p:cNvSpPr/>
          <p:nvPr/>
        </p:nvSpPr>
        <p:spPr>
          <a:xfrm>
            <a:off x="5349240" y="4334256"/>
            <a:ext cx="33375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 Pauses until BOTH approve</a:t>
            </a:r>
            <a:endParaRPr lang="en-US" sz="900" dirty="0"/>
          </a:p>
        </p:txBody>
      </p:sp>
      <p:sp>
        <p:nvSpPr>
          <p:cNvPr id="41" name="Shape 39"/>
          <p:cNvSpPr/>
          <p:nvPr/>
        </p:nvSpPr>
        <p:spPr>
          <a:xfrm>
            <a:off x="5166360" y="1389888"/>
            <a:ext cx="3621024" cy="1143000"/>
          </a:xfrm>
          <a:prstGeom prst="rect">
            <a:avLst/>
          </a:prstGeom>
          <a:solidFill>
            <a:srgbClr val="1B2A3B"/>
          </a:solidFill>
          <a:ln w="6350">
            <a:solidFill>
              <a:srgbClr val="334155"/>
            </a:solidFill>
            <a:prstDash val="solid"/>
          </a:ln>
        </p:spPr>
      </p:sp>
      <p:sp>
        <p:nvSpPr>
          <p:cNvPr id="42" name="Text 40"/>
          <p:cNvSpPr/>
          <p:nvPr/>
        </p:nvSpPr>
        <p:spPr>
          <a:xfrm>
            <a:off x="5257800" y="1444752"/>
            <a:ext cx="3438144" cy="256032"/>
          </a:xfrm>
          <a:prstGeom prst="rect">
            <a:avLst/>
          </a:prstGeom>
          <a:noFill/>
          <a:ln/>
        </p:spPr>
        <p:txBody>
          <a:bodyPr wrap="square" lIns="0" tIns="0" rIns="0" bIns="0" rtlCol="0" anchor="ctr"/>
          <a:lstStyle/>
          <a:p>
            <a:pPr indent="0" marL="0">
              <a:buNone/>
            </a:pPr>
            <a:r>
              <a:rPr lang="en-US" sz="1000" b="1" dirty="0">
                <a:solidFill>
                  <a:srgbClr val="06B6D4"/>
                </a:solidFill>
                <a:latin typeface="Calibri" pitchFamily="34" charset="0"/>
                <a:ea typeface="Calibri" pitchFamily="34" charset="-122"/>
                <a:cs typeface="Calibri" pitchFamily="34" charset="-120"/>
              </a:rPr>
              <a:t>🔐  Environment Secrets Isolation</a:t>
            </a:r>
            <a:endParaRPr lang="en-US" sz="1000" dirty="0"/>
          </a:p>
        </p:txBody>
      </p:sp>
      <p:sp>
        <p:nvSpPr>
          <p:cNvPr id="43" name="Text 41"/>
          <p:cNvSpPr/>
          <p:nvPr/>
        </p:nvSpPr>
        <p:spPr>
          <a:xfrm>
            <a:off x="5257800" y="1755648"/>
            <a:ext cx="1325880" cy="237744"/>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development:</a:t>
            </a:r>
            <a:endParaRPr lang="en-US" sz="900" dirty="0"/>
          </a:p>
        </p:txBody>
      </p:sp>
      <p:sp>
        <p:nvSpPr>
          <p:cNvPr id="44" name="Text 42"/>
          <p:cNvSpPr/>
          <p:nvPr/>
        </p:nvSpPr>
        <p:spPr>
          <a:xfrm>
            <a:off x="6601968" y="1755648"/>
            <a:ext cx="2084832" cy="237744"/>
          </a:xfrm>
          <a:prstGeom prst="rect">
            <a:avLst/>
          </a:prstGeom>
          <a:noFill/>
          <a:ln/>
        </p:spPr>
        <p:txBody>
          <a:bodyPr wrap="square" lIns="0" tIns="0" rIns="0" bIns="0"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DEV_DB_PASSWORD</a:t>
            </a:r>
            <a:endParaRPr lang="en-US" sz="850" dirty="0"/>
          </a:p>
        </p:txBody>
      </p:sp>
      <p:sp>
        <p:nvSpPr>
          <p:cNvPr id="45" name="Text 43"/>
          <p:cNvSpPr/>
          <p:nvPr/>
        </p:nvSpPr>
        <p:spPr>
          <a:xfrm>
            <a:off x="5257800" y="2011680"/>
            <a:ext cx="1325880" cy="237744"/>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staging:</a:t>
            </a:r>
            <a:endParaRPr lang="en-US" sz="900" dirty="0"/>
          </a:p>
        </p:txBody>
      </p:sp>
      <p:sp>
        <p:nvSpPr>
          <p:cNvPr id="46" name="Text 44"/>
          <p:cNvSpPr/>
          <p:nvPr/>
        </p:nvSpPr>
        <p:spPr>
          <a:xfrm>
            <a:off x="6601968" y="2011680"/>
            <a:ext cx="2084832" cy="237744"/>
          </a:xfrm>
          <a:prstGeom prst="rect">
            <a:avLst/>
          </a:prstGeom>
          <a:noFill/>
          <a:ln/>
        </p:spPr>
        <p:txBody>
          <a:bodyPr wrap="square" lIns="0" tIns="0" rIns="0" bIns="0"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STAGING_DB_PASSWORD</a:t>
            </a:r>
            <a:endParaRPr lang="en-US" sz="850" dirty="0"/>
          </a:p>
        </p:txBody>
      </p:sp>
      <p:sp>
        <p:nvSpPr>
          <p:cNvPr id="47" name="Text 45"/>
          <p:cNvSpPr/>
          <p:nvPr/>
        </p:nvSpPr>
        <p:spPr>
          <a:xfrm>
            <a:off x="5257800" y="2267712"/>
            <a:ext cx="1325880" cy="237744"/>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production:</a:t>
            </a:r>
            <a:endParaRPr lang="en-US" sz="900" dirty="0"/>
          </a:p>
        </p:txBody>
      </p:sp>
      <p:sp>
        <p:nvSpPr>
          <p:cNvPr id="48" name="Text 46"/>
          <p:cNvSpPr/>
          <p:nvPr/>
        </p:nvSpPr>
        <p:spPr>
          <a:xfrm>
            <a:off x="6601968" y="2267712"/>
            <a:ext cx="2084832" cy="237744"/>
          </a:xfrm>
          <a:prstGeom prst="rect">
            <a:avLst/>
          </a:prstGeom>
          <a:noFill/>
          <a:ln/>
        </p:spPr>
        <p:txBody>
          <a:bodyPr wrap="square" lIns="0" tIns="0" rIns="0" bIns="0"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PROD_DB_PASSWORD</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sp>
      <p:sp>
        <p:nvSpPr>
          <p:cNvPr id="3" name="Text 1"/>
          <p:cNvSpPr/>
          <p:nvPr/>
        </p:nvSpPr>
        <p:spPr>
          <a:xfrm>
            <a:off x="347472" y="91440"/>
            <a:ext cx="8449056"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Complete Advanced Pipeline — All 8 Concepts Combined</a:t>
            </a:r>
            <a:endParaRPr lang="en-US" sz="1800" dirty="0"/>
          </a:p>
        </p:txBody>
      </p:sp>
      <p:sp>
        <p:nvSpPr>
          <p:cNvPr id="4" name="Shape 2"/>
          <p:cNvSpPr/>
          <p:nvPr/>
        </p:nvSpPr>
        <p:spPr>
          <a:xfrm>
            <a:off x="347472" y="502920"/>
            <a:ext cx="2168957" cy="219456"/>
          </a:xfrm>
          <a:prstGeom prst="rect">
            <a:avLst/>
          </a:prstGeom>
          <a:solidFill>
            <a:srgbClr val="06B6D4"/>
          </a:solidFill>
          <a:ln w="12700">
            <a:solidFill>
              <a:srgbClr val="06B6D4"/>
            </a:solidFill>
            <a:prstDash val="solid"/>
          </a:ln>
        </p:spPr>
      </p:sp>
      <p:sp>
        <p:nvSpPr>
          <p:cNvPr id="5" name="Text 3"/>
          <p:cNvSpPr/>
          <p:nvPr/>
        </p:nvSpPr>
        <p:spPr>
          <a:xfrm>
            <a:off x="347472" y="502920"/>
            <a:ext cx="2168957"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MASTER ARCHITECTURE</a:t>
            </a:r>
            <a:endParaRPr lang="en-US" sz="850" dirty="0"/>
          </a:p>
        </p:txBody>
      </p:sp>
      <p:sp>
        <p:nvSpPr>
          <p:cNvPr id="6" name="Shape 4"/>
          <p:cNvSpPr/>
          <p:nvPr/>
        </p:nvSpPr>
        <p:spPr>
          <a:xfrm>
            <a:off x="228600" y="804672"/>
            <a:ext cx="1371600" cy="658368"/>
          </a:xfrm>
          <a:prstGeom prst="rect">
            <a:avLst/>
          </a:prstGeom>
          <a:solidFill>
            <a:srgbClr val="1A56DB"/>
          </a:solidFill>
          <a:ln w="12700">
            <a:solidFill>
              <a:srgbClr val="1A56DB"/>
            </a:solidFill>
            <a:prstDash val="solid"/>
          </a:ln>
        </p:spPr>
      </p:sp>
      <p:sp>
        <p:nvSpPr>
          <p:cNvPr id="7" name="Text 5"/>
          <p:cNvSpPr/>
          <p:nvPr/>
        </p:nvSpPr>
        <p:spPr>
          <a:xfrm>
            <a:off x="228600" y="804672"/>
            <a:ext cx="1371600" cy="6583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git push</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 main</a:t>
            </a:r>
            <a:endParaRPr lang="en-US" sz="800" dirty="0"/>
          </a:p>
        </p:txBody>
      </p:sp>
      <p:sp>
        <p:nvSpPr>
          <p:cNvPr id="8" name="Shape 6"/>
          <p:cNvSpPr/>
          <p:nvPr/>
        </p:nvSpPr>
        <p:spPr>
          <a:xfrm>
            <a:off x="1920240" y="804672"/>
            <a:ext cx="1371600" cy="658368"/>
          </a:xfrm>
          <a:prstGeom prst="rect">
            <a:avLst/>
          </a:prstGeom>
          <a:solidFill>
            <a:srgbClr val="10B981"/>
          </a:solidFill>
          <a:ln w="12700">
            <a:solidFill>
              <a:srgbClr val="10B981"/>
            </a:solidFill>
            <a:prstDash val="solid"/>
          </a:ln>
        </p:spPr>
      </p:sp>
      <p:sp>
        <p:nvSpPr>
          <p:cNvPr id="9" name="Text 7"/>
          <p:cNvSpPr/>
          <p:nvPr/>
        </p:nvSpPr>
        <p:spPr>
          <a:xfrm>
            <a:off x="1920240" y="804672"/>
            <a:ext cx="1371600" cy="6583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Cache</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Restore</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(Maven)</a:t>
            </a:r>
            <a:endParaRPr lang="en-US" sz="800" dirty="0"/>
          </a:p>
        </p:txBody>
      </p:sp>
      <p:sp>
        <p:nvSpPr>
          <p:cNvPr id="10" name="Shape 8"/>
          <p:cNvSpPr/>
          <p:nvPr/>
        </p:nvSpPr>
        <p:spPr>
          <a:xfrm>
            <a:off x="3611880" y="804672"/>
            <a:ext cx="1371600" cy="658368"/>
          </a:xfrm>
          <a:prstGeom prst="rect">
            <a:avLst/>
          </a:prstGeom>
          <a:solidFill>
            <a:srgbClr val="1A56DB"/>
          </a:solidFill>
          <a:ln w="12700">
            <a:solidFill>
              <a:srgbClr val="1A56DB"/>
            </a:solidFill>
            <a:prstDash val="solid"/>
          </a:ln>
        </p:spPr>
      </p:sp>
      <p:sp>
        <p:nvSpPr>
          <p:cNvPr id="11" name="Text 9"/>
          <p:cNvSpPr/>
          <p:nvPr/>
        </p:nvSpPr>
        <p:spPr>
          <a:xfrm>
            <a:off x="3611880" y="804672"/>
            <a:ext cx="1371600" cy="6583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build</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JAR</a:t>
            </a:r>
            <a:endParaRPr lang="en-US" sz="800" dirty="0"/>
          </a:p>
        </p:txBody>
      </p:sp>
      <p:sp>
        <p:nvSpPr>
          <p:cNvPr id="12" name="Shape 10"/>
          <p:cNvSpPr/>
          <p:nvPr/>
        </p:nvSpPr>
        <p:spPr>
          <a:xfrm>
            <a:off x="5303520" y="804672"/>
            <a:ext cx="1371600" cy="658368"/>
          </a:xfrm>
          <a:prstGeom prst="rect">
            <a:avLst/>
          </a:prstGeom>
          <a:solidFill>
            <a:srgbClr val="06B6D4"/>
          </a:solidFill>
          <a:ln w="12700">
            <a:solidFill>
              <a:srgbClr val="06B6D4"/>
            </a:solidFill>
            <a:prstDash val="solid"/>
          </a:ln>
        </p:spPr>
      </p:sp>
      <p:sp>
        <p:nvSpPr>
          <p:cNvPr id="13" name="Text 11"/>
          <p:cNvSpPr/>
          <p:nvPr/>
        </p:nvSpPr>
        <p:spPr>
          <a:xfrm>
            <a:off x="5303520" y="804672"/>
            <a:ext cx="1371600" cy="6583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Upload</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Artifact</a:t>
            </a:r>
            <a:endParaRPr lang="en-US" sz="800" dirty="0"/>
          </a:p>
        </p:txBody>
      </p:sp>
      <p:sp>
        <p:nvSpPr>
          <p:cNvPr id="14" name="Shape 12"/>
          <p:cNvSpPr/>
          <p:nvPr/>
        </p:nvSpPr>
        <p:spPr>
          <a:xfrm>
            <a:off x="7040880" y="548640"/>
            <a:ext cx="1874520" cy="566928"/>
          </a:xfrm>
          <a:prstGeom prst="rect">
            <a:avLst/>
          </a:prstGeom>
          <a:solidFill>
            <a:srgbClr val="06B6D4"/>
          </a:solidFill>
          <a:ln w="12700">
            <a:solidFill>
              <a:srgbClr val="06B6D4"/>
            </a:solidFill>
            <a:prstDash val="solid"/>
          </a:ln>
        </p:spPr>
      </p:sp>
      <p:sp>
        <p:nvSpPr>
          <p:cNvPr id="15" name="Text 13"/>
          <p:cNvSpPr/>
          <p:nvPr/>
        </p:nvSpPr>
        <p:spPr>
          <a:xfrm>
            <a:off x="7040880" y="548640"/>
            <a:ext cx="1874520" cy="56692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unit-tests</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[PARALLEL]</a:t>
            </a:r>
            <a:endParaRPr lang="en-US" sz="800" dirty="0"/>
          </a:p>
        </p:txBody>
      </p:sp>
      <p:sp>
        <p:nvSpPr>
          <p:cNvPr id="16" name="Shape 14"/>
          <p:cNvSpPr/>
          <p:nvPr/>
        </p:nvSpPr>
        <p:spPr>
          <a:xfrm>
            <a:off x="7040880" y="1170432"/>
            <a:ext cx="1874520" cy="566928"/>
          </a:xfrm>
          <a:prstGeom prst="rect">
            <a:avLst/>
          </a:prstGeom>
          <a:solidFill>
            <a:srgbClr val="EA580C"/>
          </a:solidFill>
          <a:ln w="12700">
            <a:solidFill>
              <a:srgbClr val="EA580C"/>
            </a:solidFill>
            <a:prstDash val="solid"/>
          </a:ln>
        </p:spPr>
      </p:sp>
      <p:sp>
        <p:nvSpPr>
          <p:cNvPr id="17" name="Text 15"/>
          <p:cNvSpPr/>
          <p:nvPr/>
        </p:nvSpPr>
        <p:spPr>
          <a:xfrm>
            <a:off x="7040880" y="1170432"/>
            <a:ext cx="1874520" cy="56692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security-scan</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[PARALLEL]</a:t>
            </a:r>
            <a:endParaRPr lang="en-US" sz="800" dirty="0"/>
          </a:p>
        </p:txBody>
      </p:sp>
      <p:sp>
        <p:nvSpPr>
          <p:cNvPr id="18" name="Shape 16"/>
          <p:cNvSpPr/>
          <p:nvPr/>
        </p:nvSpPr>
        <p:spPr>
          <a:xfrm>
            <a:off x="228600" y="1920240"/>
            <a:ext cx="1371600" cy="804672"/>
          </a:xfrm>
          <a:prstGeom prst="rect">
            <a:avLst/>
          </a:prstGeom>
          <a:solidFill>
            <a:srgbClr val="0D9488"/>
          </a:solidFill>
          <a:ln w="12700">
            <a:solidFill>
              <a:srgbClr val="0D9488"/>
            </a:solidFill>
            <a:prstDash val="solid"/>
          </a:ln>
        </p:spPr>
      </p:sp>
      <p:sp>
        <p:nvSpPr>
          <p:cNvPr id="19" name="Text 17"/>
          <p:cNvSpPr/>
          <p:nvPr/>
        </p:nvSpPr>
        <p:spPr>
          <a:xfrm>
            <a:off x="228600" y="1920240"/>
            <a:ext cx="1371600" cy="8046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Auto</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Version</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Bump</a:t>
            </a:r>
            <a:endParaRPr lang="en-US" sz="800" dirty="0"/>
          </a:p>
        </p:txBody>
      </p:sp>
      <p:sp>
        <p:nvSpPr>
          <p:cNvPr id="20" name="Shape 18"/>
          <p:cNvSpPr/>
          <p:nvPr/>
        </p:nvSpPr>
        <p:spPr>
          <a:xfrm>
            <a:off x="1920240" y="1920240"/>
            <a:ext cx="1371600" cy="804672"/>
          </a:xfrm>
          <a:prstGeom prst="rect">
            <a:avLst/>
          </a:prstGeom>
          <a:solidFill>
            <a:srgbClr val="0D9488"/>
          </a:solidFill>
          <a:ln w="12700">
            <a:solidFill>
              <a:srgbClr val="0D9488"/>
            </a:solidFill>
            <a:prstDash val="solid"/>
          </a:ln>
        </p:spPr>
      </p:sp>
      <p:sp>
        <p:nvSpPr>
          <p:cNvPr id="21" name="Text 19"/>
          <p:cNvSpPr/>
          <p:nvPr/>
        </p:nvSpPr>
        <p:spPr>
          <a:xfrm>
            <a:off x="1920240" y="1920240"/>
            <a:ext cx="1371600" cy="8046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Commit</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pom.xml</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[skip ci]</a:t>
            </a:r>
            <a:endParaRPr lang="en-US" sz="800" dirty="0"/>
          </a:p>
        </p:txBody>
      </p:sp>
      <p:sp>
        <p:nvSpPr>
          <p:cNvPr id="22" name="Shape 20"/>
          <p:cNvSpPr/>
          <p:nvPr/>
        </p:nvSpPr>
        <p:spPr>
          <a:xfrm>
            <a:off x="3611880" y="1920240"/>
            <a:ext cx="1371600" cy="804672"/>
          </a:xfrm>
          <a:prstGeom prst="rect">
            <a:avLst/>
          </a:prstGeom>
          <a:solidFill>
            <a:srgbClr val="1A56DB"/>
          </a:solidFill>
          <a:ln w="12700">
            <a:solidFill>
              <a:srgbClr val="1A56DB"/>
            </a:solidFill>
            <a:prstDash val="solid"/>
          </a:ln>
        </p:spPr>
      </p:sp>
      <p:sp>
        <p:nvSpPr>
          <p:cNvPr id="23" name="Text 21"/>
          <p:cNvSpPr/>
          <p:nvPr/>
        </p:nvSpPr>
        <p:spPr>
          <a:xfrm>
            <a:off x="3611880" y="1920240"/>
            <a:ext cx="1371600" cy="8046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Download</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Artifact</a:t>
            </a:r>
            <a:endParaRPr lang="en-US" sz="800" dirty="0"/>
          </a:p>
        </p:txBody>
      </p:sp>
      <p:sp>
        <p:nvSpPr>
          <p:cNvPr id="24" name="Shape 22"/>
          <p:cNvSpPr/>
          <p:nvPr/>
        </p:nvSpPr>
        <p:spPr>
          <a:xfrm>
            <a:off x="5303520" y="1920240"/>
            <a:ext cx="1371600" cy="804672"/>
          </a:xfrm>
          <a:prstGeom prst="rect">
            <a:avLst/>
          </a:prstGeom>
          <a:solidFill>
            <a:srgbClr val="1A56DB"/>
          </a:solidFill>
          <a:ln w="12700">
            <a:solidFill>
              <a:srgbClr val="1A56DB"/>
            </a:solidFill>
            <a:prstDash val="solid"/>
          </a:ln>
        </p:spPr>
      </p:sp>
      <p:sp>
        <p:nvSpPr>
          <p:cNvPr id="25" name="Text 23"/>
          <p:cNvSpPr/>
          <p:nvPr/>
        </p:nvSpPr>
        <p:spPr>
          <a:xfrm>
            <a:off x="5303520" y="1920240"/>
            <a:ext cx="1371600" cy="8046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ENV:</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development</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(auto)</a:t>
            </a:r>
            <a:endParaRPr lang="en-US" sz="800" dirty="0"/>
          </a:p>
        </p:txBody>
      </p:sp>
      <p:sp>
        <p:nvSpPr>
          <p:cNvPr id="26" name="Shape 24"/>
          <p:cNvSpPr/>
          <p:nvPr/>
        </p:nvSpPr>
        <p:spPr>
          <a:xfrm>
            <a:off x="6995160" y="1920240"/>
            <a:ext cx="1920240" cy="804672"/>
          </a:xfrm>
          <a:prstGeom prst="rect">
            <a:avLst/>
          </a:prstGeom>
          <a:solidFill>
            <a:srgbClr val="F59E0B"/>
          </a:solidFill>
          <a:ln w="12700">
            <a:solidFill>
              <a:srgbClr val="F59E0B"/>
            </a:solidFill>
            <a:prstDash val="solid"/>
          </a:ln>
        </p:spPr>
      </p:sp>
      <p:sp>
        <p:nvSpPr>
          <p:cNvPr id="27" name="Text 25"/>
          <p:cNvSpPr/>
          <p:nvPr/>
        </p:nvSpPr>
        <p:spPr>
          <a:xfrm>
            <a:off x="6995160" y="1920240"/>
            <a:ext cx="1920240" cy="8046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ENV:</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staging</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 1 review</a:t>
            </a:r>
            <a:endParaRPr lang="en-US" sz="800" dirty="0"/>
          </a:p>
        </p:txBody>
      </p:sp>
      <p:sp>
        <p:nvSpPr>
          <p:cNvPr id="28" name="Shape 26"/>
          <p:cNvSpPr/>
          <p:nvPr/>
        </p:nvSpPr>
        <p:spPr>
          <a:xfrm>
            <a:off x="228600" y="3063240"/>
            <a:ext cx="1371600" cy="658368"/>
          </a:xfrm>
          <a:prstGeom prst="rect">
            <a:avLst/>
          </a:prstGeom>
          <a:solidFill>
            <a:srgbClr val="0D9488"/>
          </a:solidFill>
          <a:ln w="12700">
            <a:solidFill>
              <a:srgbClr val="0D9488"/>
            </a:solidFill>
            <a:prstDash val="solid"/>
          </a:ln>
        </p:spPr>
      </p:sp>
      <p:sp>
        <p:nvSpPr>
          <p:cNvPr id="29" name="Text 27"/>
          <p:cNvSpPr/>
          <p:nvPr/>
        </p:nvSpPr>
        <p:spPr>
          <a:xfrm>
            <a:off x="228600" y="3063240"/>
            <a:ext cx="1371600" cy="6583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Smoke</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Tests</a:t>
            </a:r>
            <a:endParaRPr lang="en-US" sz="800" dirty="0"/>
          </a:p>
        </p:txBody>
      </p:sp>
      <p:sp>
        <p:nvSpPr>
          <p:cNvPr id="30" name="Shape 28"/>
          <p:cNvSpPr/>
          <p:nvPr/>
        </p:nvSpPr>
        <p:spPr>
          <a:xfrm>
            <a:off x="1920240" y="3063240"/>
            <a:ext cx="1371600" cy="658368"/>
          </a:xfrm>
          <a:prstGeom prst="rect">
            <a:avLst/>
          </a:prstGeom>
          <a:solidFill>
            <a:srgbClr val="EF4444"/>
          </a:solidFill>
          <a:ln w="12700">
            <a:solidFill>
              <a:srgbClr val="EF4444"/>
            </a:solidFill>
            <a:prstDash val="solid"/>
          </a:ln>
        </p:spPr>
      </p:sp>
      <p:sp>
        <p:nvSpPr>
          <p:cNvPr id="31" name="Text 29"/>
          <p:cNvSpPr/>
          <p:nvPr/>
        </p:nvSpPr>
        <p:spPr>
          <a:xfrm>
            <a:off x="1920240" y="3063240"/>
            <a:ext cx="1371600" cy="6583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ENV:</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production</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 2 reviews</a:t>
            </a:r>
            <a:endParaRPr lang="en-US" sz="800" dirty="0"/>
          </a:p>
        </p:txBody>
      </p:sp>
      <p:sp>
        <p:nvSpPr>
          <p:cNvPr id="32" name="Shape 30"/>
          <p:cNvSpPr/>
          <p:nvPr/>
        </p:nvSpPr>
        <p:spPr>
          <a:xfrm>
            <a:off x="3611880" y="3063240"/>
            <a:ext cx="1371600" cy="658368"/>
          </a:xfrm>
          <a:prstGeom prst="rect">
            <a:avLst/>
          </a:prstGeom>
          <a:solidFill>
            <a:srgbClr val="10B981"/>
          </a:solidFill>
          <a:ln w="12700">
            <a:solidFill>
              <a:srgbClr val="10B981"/>
            </a:solidFill>
            <a:prstDash val="solid"/>
          </a:ln>
        </p:spPr>
      </p:sp>
      <p:sp>
        <p:nvSpPr>
          <p:cNvPr id="33" name="Text 31"/>
          <p:cNvSpPr/>
          <p:nvPr/>
        </p:nvSpPr>
        <p:spPr>
          <a:xfrm>
            <a:off x="3611880" y="3063240"/>
            <a:ext cx="1371600" cy="6583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Health</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Check</a:t>
            </a:r>
            <a:endParaRPr lang="en-US" sz="800" dirty="0"/>
          </a:p>
        </p:txBody>
      </p:sp>
      <p:sp>
        <p:nvSpPr>
          <p:cNvPr id="34" name="Shape 32"/>
          <p:cNvSpPr/>
          <p:nvPr/>
        </p:nvSpPr>
        <p:spPr>
          <a:xfrm>
            <a:off x="5303520" y="3063240"/>
            <a:ext cx="1371600" cy="658368"/>
          </a:xfrm>
          <a:prstGeom prst="rect">
            <a:avLst/>
          </a:prstGeom>
          <a:solidFill>
            <a:srgbClr val="10B981"/>
          </a:solidFill>
          <a:ln w="12700">
            <a:solidFill>
              <a:srgbClr val="10B981"/>
            </a:solidFill>
            <a:prstDash val="solid"/>
          </a:ln>
        </p:spPr>
      </p:sp>
      <p:sp>
        <p:nvSpPr>
          <p:cNvPr id="35" name="Text 33"/>
          <p:cNvSpPr/>
          <p:nvPr/>
        </p:nvSpPr>
        <p:spPr>
          <a:xfrm>
            <a:off x="5303520" y="3063240"/>
            <a:ext cx="1371600" cy="6583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Slack</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 Success</a:t>
            </a:r>
            <a:endParaRPr lang="en-US" sz="800" dirty="0"/>
          </a:p>
        </p:txBody>
      </p:sp>
      <p:sp>
        <p:nvSpPr>
          <p:cNvPr id="36" name="Shape 34"/>
          <p:cNvSpPr/>
          <p:nvPr/>
        </p:nvSpPr>
        <p:spPr>
          <a:xfrm>
            <a:off x="6995160" y="3063240"/>
            <a:ext cx="1920240" cy="658368"/>
          </a:xfrm>
          <a:prstGeom prst="rect">
            <a:avLst/>
          </a:prstGeom>
          <a:solidFill>
            <a:srgbClr val="EF4444"/>
          </a:solidFill>
          <a:ln w="12700">
            <a:solidFill>
              <a:srgbClr val="EF4444"/>
            </a:solidFill>
            <a:prstDash val="solid"/>
          </a:ln>
        </p:spPr>
      </p:sp>
      <p:sp>
        <p:nvSpPr>
          <p:cNvPr id="37" name="Text 35"/>
          <p:cNvSpPr/>
          <p:nvPr/>
        </p:nvSpPr>
        <p:spPr>
          <a:xfrm>
            <a:off x="6995160" y="3063240"/>
            <a:ext cx="1920240" cy="6583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on: failure()</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Slack ❌</a:t>
            </a:r>
            <a:endParaRPr lang="en-US" sz="800" dirty="0"/>
          </a:p>
        </p:txBody>
      </p:sp>
      <p:sp>
        <p:nvSpPr>
          <p:cNvPr id="38" name="Shape 36"/>
          <p:cNvSpPr/>
          <p:nvPr/>
        </p:nvSpPr>
        <p:spPr>
          <a:xfrm>
            <a:off x="0" y="3858768"/>
            <a:ext cx="9144000" cy="36576"/>
          </a:xfrm>
          <a:prstGeom prst="rect">
            <a:avLst/>
          </a:prstGeom>
          <a:solidFill>
            <a:srgbClr val="334155"/>
          </a:solidFill>
          <a:ln w="12700">
            <a:solidFill>
              <a:srgbClr val="334155"/>
            </a:solidFill>
            <a:prstDash val="solid"/>
          </a:ln>
        </p:spPr>
      </p:sp>
      <p:sp>
        <p:nvSpPr>
          <p:cNvPr id="39" name="Text 37"/>
          <p:cNvSpPr/>
          <p:nvPr/>
        </p:nvSpPr>
        <p:spPr>
          <a:xfrm>
            <a:off x="228600" y="3931920"/>
            <a:ext cx="274320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Advanced Concepts Used in this Pipeline:</a:t>
            </a:r>
            <a:endParaRPr lang="en-US" sz="900" dirty="0"/>
          </a:p>
        </p:txBody>
      </p:sp>
      <p:sp>
        <p:nvSpPr>
          <p:cNvPr id="40" name="Shape 38"/>
          <p:cNvSpPr/>
          <p:nvPr/>
        </p:nvSpPr>
        <p:spPr>
          <a:xfrm>
            <a:off x="228600" y="4224528"/>
            <a:ext cx="1005840" cy="274320"/>
          </a:xfrm>
          <a:prstGeom prst="rect">
            <a:avLst/>
          </a:prstGeom>
          <a:solidFill>
            <a:srgbClr val="06B6D4"/>
          </a:solidFill>
          <a:ln w="12700">
            <a:solidFill>
              <a:srgbClr val="06B6D4"/>
            </a:solidFill>
            <a:prstDash val="solid"/>
          </a:ln>
        </p:spPr>
      </p:sp>
      <p:sp>
        <p:nvSpPr>
          <p:cNvPr id="41" name="Text 39"/>
          <p:cNvSpPr/>
          <p:nvPr/>
        </p:nvSpPr>
        <p:spPr>
          <a:xfrm>
            <a:off x="228600" y="4224528"/>
            <a:ext cx="100584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Unit Testing</a:t>
            </a:r>
            <a:endParaRPr lang="en-US" sz="750" dirty="0"/>
          </a:p>
        </p:txBody>
      </p:sp>
      <p:sp>
        <p:nvSpPr>
          <p:cNvPr id="42" name="Shape 40"/>
          <p:cNvSpPr/>
          <p:nvPr/>
        </p:nvSpPr>
        <p:spPr>
          <a:xfrm>
            <a:off x="1325880" y="4224528"/>
            <a:ext cx="1005840" cy="274320"/>
          </a:xfrm>
          <a:prstGeom prst="rect">
            <a:avLst/>
          </a:prstGeom>
          <a:solidFill>
            <a:srgbClr val="1A56DB"/>
          </a:solidFill>
          <a:ln w="12700">
            <a:solidFill>
              <a:srgbClr val="1A56DB"/>
            </a:solidFill>
            <a:prstDash val="solid"/>
          </a:ln>
        </p:spPr>
      </p:sp>
      <p:sp>
        <p:nvSpPr>
          <p:cNvPr id="43" name="Text 41"/>
          <p:cNvSpPr/>
          <p:nvPr/>
        </p:nvSpPr>
        <p:spPr>
          <a:xfrm>
            <a:off x="1325880" y="4224528"/>
            <a:ext cx="100584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Artifacts</a:t>
            </a:r>
            <a:endParaRPr lang="en-US" sz="750" dirty="0"/>
          </a:p>
        </p:txBody>
      </p:sp>
      <p:sp>
        <p:nvSpPr>
          <p:cNvPr id="44" name="Shape 42"/>
          <p:cNvSpPr/>
          <p:nvPr/>
        </p:nvSpPr>
        <p:spPr>
          <a:xfrm>
            <a:off x="2423160" y="4224528"/>
            <a:ext cx="1005840" cy="274320"/>
          </a:xfrm>
          <a:prstGeom prst="rect">
            <a:avLst/>
          </a:prstGeom>
          <a:solidFill>
            <a:srgbClr val="7C3AED"/>
          </a:solidFill>
          <a:ln w="12700">
            <a:solidFill>
              <a:srgbClr val="7C3AED"/>
            </a:solidFill>
            <a:prstDash val="solid"/>
          </a:ln>
        </p:spPr>
      </p:sp>
      <p:sp>
        <p:nvSpPr>
          <p:cNvPr id="45" name="Text 43"/>
          <p:cNvSpPr/>
          <p:nvPr/>
        </p:nvSpPr>
        <p:spPr>
          <a:xfrm>
            <a:off x="2423160" y="4224528"/>
            <a:ext cx="100584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Sequential Jobs</a:t>
            </a:r>
            <a:endParaRPr lang="en-US" sz="750" dirty="0"/>
          </a:p>
        </p:txBody>
      </p:sp>
      <p:sp>
        <p:nvSpPr>
          <p:cNvPr id="46" name="Shape 44"/>
          <p:cNvSpPr/>
          <p:nvPr/>
        </p:nvSpPr>
        <p:spPr>
          <a:xfrm>
            <a:off x="3520440" y="4224528"/>
            <a:ext cx="1005840" cy="274320"/>
          </a:xfrm>
          <a:prstGeom prst="rect">
            <a:avLst/>
          </a:prstGeom>
          <a:solidFill>
            <a:srgbClr val="10B981"/>
          </a:solidFill>
          <a:ln w="12700">
            <a:solidFill>
              <a:srgbClr val="10B981"/>
            </a:solidFill>
            <a:prstDash val="solid"/>
          </a:ln>
        </p:spPr>
      </p:sp>
      <p:sp>
        <p:nvSpPr>
          <p:cNvPr id="47" name="Text 45"/>
          <p:cNvSpPr/>
          <p:nvPr/>
        </p:nvSpPr>
        <p:spPr>
          <a:xfrm>
            <a:off x="3520440" y="4224528"/>
            <a:ext cx="100584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Caching</a:t>
            </a:r>
            <a:endParaRPr lang="en-US" sz="750" dirty="0"/>
          </a:p>
        </p:txBody>
      </p:sp>
      <p:sp>
        <p:nvSpPr>
          <p:cNvPr id="48" name="Shape 46"/>
          <p:cNvSpPr/>
          <p:nvPr/>
        </p:nvSpPr>
        <p:spPr>
          <a:xfrm>
            <a:off x="4617720" y="4224528"/>
            <a:ext cx="1005840" cy="274320"/>
          </a:xfrm>
          <a:prstGeom prst="rect">
            <a:avLst/>
          </a:prstGeom>
          <a:solidFill>
            <a:srgbClr val="0D9488"/>
          </a:solidFill>
          <a:ln w="12700">
            <a:solidFill>
              <a:srgbClr val="0D9488"/>
            </a:solidFill>
            <a:prstDash val="solid"/>
          </a:ln>
        </p:spPr>
      </p:sp>
      <p:sp>
        <p:nvSpPr>
          <p:cNvPr id="49" name="Text 47"/>
          <p:cNvSpPr/>
          <p:nvPr/>
        </p:nvSpPr>
        <p:spPr>
          <a:xfrm>
            <a:off x="4617720" y="4224528"/>
            <a:ext cx="100584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Auto-Commit</a:t>
            </a:r>
            <a:endParaRPr lang="en-US" sz="750" dirty="0"/>
          </a:p>
        </p:txBody>
      </p:sp>
      <p:sp>
        <p:nvSpPr>
          <p:cNvPr id="50" name="Shape 48"/>
          <p:cNvSpPr/>
          <p:nvPr/>
        </p:nvSpPr>
        <p:spPr>
          <a:xfrm>
            <a:off x="5715000" y="4224528"/>
            <a:ext cx="1005840" cy="274320"/>
          </a:xfrm>
          <a:prstGeom prst="rect">
            <a:avLst/>
          </a:prstGeom>
          <a:solidFill>
            <a:srgbClr val="F59E0B"/>
          </a:solidFill>
          <a:ln w="12700">
            <a:solidFill>
              <a:srgbClr val="F59E0B"/>
            </a:solidFill>
            <a:prstDash val="solid"/>
          </a:ln>
        </p:spPr>
      </p:sp>
      <p:sp>
        <p:nvSpPr>
          <p:cNvPr id="51" name="Text 49"/>
          <p:cNvSpPr/>
          <p:nvPr/>
        </p:nvSpPr>
        <p:spPr>
          <a:xfrm>
            <a:off x="5715000" y="4224528"/>
            <a:ext cx="100584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Reusable WF</a:t>
            </a:r>
            <a:endParaRPr lang="en-US" sz="750" dirty="0"/>
          </a:p>
        </p:txBody>
      </p:sp>
      <p:sp>
        <p:nvSpPr>
          <p:cNvPr id="52" name="Shape 50"/>
          <p:cNvSpPr/>
          <p:nvPr/>
        </p:nvSpPr>
        <p:spPr>
          <a:xfrm>
            <a:off x="6812280" y="4224528"/>
            <a:ext cx="1005840" cy="274320"/>
          </a:xfrm>
          <a:prstGeom prst="rect">
            <a:avLst/>
          </a:prstGeom>
          <a:solidFill>
            <a:srgbClr val="EA580C"/>
          </a:solidFill>
          <a:ln w="12700">
            <a:solidFill>
              <a:srgbClr val="EA580C"/>
            </a:solidFill>
            <a:prstDash val="solid"/>
          </a:ln>
        </p:spPr>
      </p:sp>
      <p:sp>
        <p:nvSpPr>
          <p:cNvPr id="53" name="Text 51"/>
          <p:cNvSpPr/>
          <p:nvPr/>
        </p:nvSpPr>
        <p:spPr>
          <a:xfrm>
            <a:off x="6812280" y="4224528"/>
            <a:ext cx="100584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Conditional</a:t>
            </a:r>
            <a:endParaRPr lang="en-US" sz="750" dirty="0"/>
          </a:p>
        </p:txBody>
      </p:sp>
      <p:sp>
        <p:nvSpPr>
          <p:cNvPr id="54" name="Shape 52"/>
          <p:cNvSpPr/>
          <p:nvPr/>
        </p:nvSpPr>
        <p:spPr>
          <a:xfrm>
            <a:off x="7909560" y="4224528"/>
            <a:ext cx="1005840" cy="274320"/>
          </a:xfrm>
          <a:prstGeom prst="rect">
            <a:avLst/>
          </a:prstGeom>
          <a:solidFill>
            <a:srgbClr val="EC4899"/>
          </a:solidFill>
          <a:ln w="12700">
            <a:solidFill>
              <a:srgbClr val="EC4899"/>
            </a:solidFill>
            <a:prstDash val="solid"/>
          </a:ln>
        </p:spPr>
      </p:sp>
      <p:sp>
        <p:nvSpPr>
          <p:cNvPr id="55" name="Text 53"/>
          <p:cNvSpPr/>
          <p:nvPr/>
        </p:nvSpPr>
        <p:spPr>
          <a:xfrm>
            <a:off x="7909560" y="4224528"/>
            <a:ext cx="100584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Environments</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7C3AED"/>
          </a:solidFill>
          <a:ln w="12700">
            <a:solidFill>
              <a:srgbClr val="7C3AED"/>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Secrets &amp; Variables Hierarchy — Security Best Practices</a:t>
            </a:r>
            <a:endParaRPr lang="en-US" sz="2500" dirty="0"/>
          </a:p>
        </p:txBody>
      </p:sp>
      <p:sp>
        <p:nvSpPr>
          <p:cNvPr id="4" name="Shape 2"/>
          <p:cNvSpPr/>
          <p:nvPr/>
        </p:nvSpPr>
        <p:spPr>
          <a:xfrm>
            <a:off x="384048" y="731520"/>
            <a:ext cx="1675181" cy="219456"/>
          </a:xfrm>
          <a:prstGeom prst="rect">
            <a:avLst/>
          </a:prstGeom>
          <a:solidFill>
            <a:srgbClr val="7C3AED"/>
          </a:solidFill>
          <a:ln w="12700">
            <a:solidFill>
              <a:srgbClr val="7C3AED"/>
            </a:solidFill>
            <a:prstDash val="solid"/>
          </a:ln>
        </p:spPr>
      </p:sp>
      <p:sp>
        <p:nvSpPr>
          <p:cNvPr id="5" name="Text 3"/>
          <p:cNvSpPr/>
          <p:nvPr/>
        </p:nvSpPr>
        <p:spPr>
          <a:xfrm>
            <a:off x="384048" y="731520"/>
            <a:ext cx="1675181"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SECURITY MODEL</a:t>
            </a:r>
            <a:endParaRPr lang="en-US" sz="850" dirty="0"/>
          </a:p>
        </p:txBody>
      </p:sp>
      <p:sp>
        <p:nvSpPr>
          <p:cNvPr id="6" name="Shape 4"/>
          <p:cNvSpPr/>
          <p:nvPr/>
        </p:nvSpPr>
        <p:spPr>
          <a:xfrm>
            <a:off x="457200" y="1024128"/>
            <a:ext cx="8229600" cy="512064"/>
          </a:xfrm>
          <a:prstGeom prst="rect">
            <a:avLst/>
          </a:prstGeom>
          <a:solidFill>
            <a:srgbClr val="EF4444"/>
          </a:solidFill>
          <a:ln w="12700">
            <a:solidFill>
              <a:srgbClr val="EF4444"/>
            </a:solidFill>
            <a:prstDash val="solid"/>
          </a:ln>
        </p:spPr>
      </p:sp>
      <p:sp>
        <p:nvSpPr>
          <p:cNvPr id="7" name="Text 5"/>
          <p:cNvSpPr/>
          <p:nvPr/>
        </p:nvSpPr>
        <p:spPr>
          <a:xfrm>
            <a:off x="457200" y="1060704"/>
            <a:ext cx="82296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Organization Secrets</a:t>
            </a:r>
            <a:endParaRPr lang="en-US" sz="1100" dirty="0"/>
          </a:p>
        </p:txBody>
      </p:sp>
      <p:sp>
        <p:nvSpPr>
          <p:cNvPr id="8" name="Text 6"/>
          <p:cNvSpPr/>
          <p:nvPr/>
        </p:nvSpPr>
        <p:spPr>
          <a:xfrm>
            <a:off x="457200" y="1298448"/>
            <a:ext cx="8229600" cy="219456"/>
          </a:xfrm>
          <a:prstGeom prst="rect">
            <a:avLst/>
          </a:prstGeom>
          <a:noFill/>
          <a:ln/>
        </p:spPr>
        <p:txBody>
          <a:bodyPr wrap="square" lIns="0" tIns="0" rIns="0" bIns="0" rtlCol="0" anchor="ctr"/>
          <a:lstStyle/>
          <a:p>
            <a:pPr algn="ctr" indent="0" marL="0">
              <a:buNone/>
            </a:pPr>
            <a:r>
              <a:rPr lang="en-US" sz="850" dirty="0">
                <a:solidFill>
                  <a:srgbClr val="E0F2FE"/>
                </a:solidFill>
                <a:latin typeface="Calibri" pitchFamily="34" charset="0"/>
                <a:ea typeface="Calibri" pitchFamily="34" charset="-122"/>
                <a:cs typeface="Calibri" pitchFamily="34" charset="-120"/>
              </a:rPr>
              <a:t>Available to all repos in organization</a:t>
            </a:r>
            <a:endParaRPr lang="en-US" sz="850" dirty="0"/>
          </a:p>
        </p:txBody>
      </p:sp>
      <p:sp>
        <p:nvSpPr>
          <p:cNvPr id="9" name="Shape 7"/>
          <p:cNvSpPr/>
          <p:nvPr/>
        </p:nvSpPr>
        <p:spPr>
          <a:xfrm>
            <a:off x="1280160" y="1554480"/>
            <a:ext cx="6583680" cy="512064"/>
          </a:xfrm>
          <a:prstGeom prst="rect">
            <a:avLst/>
          </a:prstGeom>
          <a:solidFill>
            <a:srgbClr val="EA580C"/>
          </a:solidFill>
          <a:ln w="12700">
            <a:solidFill>
              <a:srgbClr val="EA580C"/>
            </a:solidFill>
            <a:prstDash val="solid"/>
          </a:ln>
        </p:spPr>
      </p:sp>
      <p:sp>
        <p:nvSpPr>
          <p:cNvPr id="10" name="Text 8"/>
          <p:cNvSpPr/>
          <p:nvPr/>
        </p:nvSpPr>
        <p:spPr>
          <a:xfrm>
            <a:off x="1280160" y="1591056"/>
            <a:ext cx="658368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Repository Secrets</a:t>
            </a:r>
            <a:endParaRPr lang="en-US" sz="1100" dirty="0"/>
          </a:p>
        </p:txBody>
      </p:sp>
      <p:sp>
        <p:nvSpPr>
          <p:cNvPr id="11" name="Text 9"/>
          <p:cNvSpPr/>
          <p:nvPr/>
        </p:nvSpPr>
        <p:spPr>
          <a:xfrm>
            <a:off x="1280160" y="1828800"/>
            <a:ext cx="6583680" cy="219456"/>
          </a:xfrm>
          <a:prstGeom prst="rect">
            <a:avLst/>
          </a:prstGeom>
          <a:noFill/>
          <a:ln/>
        </p:spPr>
        <p:txBody>
          <a:bodyPr wrap="square" lIns="0" tIns="0" rIns="0" bIns="0" rtlCol="0" anchor="ctr"/>
          <a:lstStyle/>
          <a:p>
            <a:pPr algn="ctr" indent="0" marL="0">
              <a:buNone/>
            </a:pPr>
            <a:r>
              <a:rPr lang="en-US" sz="850" dirty="0">
                <a:solidFill>
                  <a:srgbClr val="E0F2FE"/>
                </a:solidFill>
                <a:latin typeface="Calibri" pitchFamily="34" charset="0"/>
                <a:ea typeface="Calibri" pitchFamily="34" charset="-122"/>
                <a:cs typeface="Calibri" pitchFamily="34" charset="-120"/>
              </a:rPr>
              <a:t>Available to all jobs in this repository</a:t>
            </a:r>
            <a:endParaRPr lang="en-US" sz="850" dirty="0"/>
          </a:p>
        </p:txBody>
      </p:sp>
      <p:sp>
        <p:nvSpPr>
          <p:cNvPr id="12" name="Shape 10"/>
          <p:cNvSpPr/>
          <p:nvPr/>
        </p:nvSpPr>
        <p:spPr>
          <a:xfrm>
            <a:off x="2103120" y="2084832"/>
            <a:ext cx="4937760" cy="512064"/>
          </a:xfrm>
          <a:prstGeom prst="rect">
            <a:avLst/>
          </a:prstGeom>
          <a:solidFill>
            <a:srgbClr val="F59E0B"/>
          </a:solidFill>
          <a:ln w="12700">
            <a:solidFill>
              <a:srgbClr val="F59E0B"/>
            </a:solidFill>
            <a:prstDash val="solid"/>
          </a:ln>
        </p:spPr>
      </p:sp>
      <p:sp>
        <p:nvSpPr>
          <p:cNvPr id="13" name="Text 11"/>
          <p:cNvSpPr/>
          <p:nvPr/>
        </p:nvSpPr>
        <p:spPr>
          <a:xfrm>
            <a:off x="2103120" y="2121408"/>
            <a:ext cx="493776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Environment Secrets</a:t>
            </a:r>
            <a:endParaRPr lang="en-US" sz="1100" dirty="0"/>
          </a:p>
        </p:txBody>
      </p:sp>
      <p:sp>
        <p:nvSpPr>
          <p:cNvPr id="14" name="Text 12"/>
          <p:cNvSpPr/>
          <p:nvPr/>
        </p:nvSpPr>
        <p:spPr>
          <a:xfrm>
            <a:off x="2103120" y="2359152"/>
            <a:ext cx="4937760" cy="219456"/>
          </a:xfrm>
          <a:prstGeom prst="rect">
            <a:avLst/>
          </a:prstGeom>
          <a:noFill/>
          <a:ln/>
        </p:spPr>
        <p:txBody>
          <a:bodyPr wrap="square" lIns="0" tIns="0" rIns="0" bIns="0" rtlCol="0" anchor="ctr"/>
          <a:lstStyle/>
          <a:p>
            <a:pPr algn="ctr" indent="0" marL="0">
              <a:buNone/>
            </a:pPr>
            <a:r>
              <a:rPr lang="en-US" sz="850" dirty="0">
                <a:solidFill>
                  <a:srgbClr val="E0F2FE"/>
                </a:solidFill>
                <a:latin typeface="Calibri" pitchFamily="34" charset="0"/>
                <a:ea typeface="Calibri" pitchFamily="34" charset="-122"/>
                <a:cs typeface="Calibri" pitchFamily="34" charset="-120"/>
              </a:rPr>
              <a:t>Only available to jobs targeting that environment</a:t>
            </a:r>
            <a:endParaRPr lang="en-US" sz="850" dirty="0"/>
          </a:p>
        </p:txBody>
      </p:sp>
      <p:sp>
        <p:nvSpPr>
          <p:cNvPr id="15" name="Shape 13"/>
          <p:cNvSpPr/>
          <p:nvPr/>
        </p:nvSpPr>
        <p:spPr>
          <a:xfrm>
            <a:off x="2926080" y="2615184"/>
            <a:ext cx="3291840" cy="512064"/>
          </a:xfrm>
          <a:prstGeom prst="rect">
            <a:avLst/>
          </a:prstGeom>
          <a:solidFill>
            <a:srgbClr val="10B981"/>
          </a:solidFill>
          <a:ln w="12700">
            <a:solidFill>
              <a:srgbClr val="10B981"/>
            </a:solidFill>
            <a:prstDash val="solid"/>
          </a:ln>
        </p:spPr>
      </p:sp>
      <p:sp>
        <p:nvSpPr>
          <p:cNvPr id="16" name="Text 14"/>
          <p:cNvSpPr/>
          <p:nvPr/>
        </p:nvSpPr>
        <p:spPr>
          <a:xfrm>
            <a:off x="2926080" y="2651760"/>
            <a:ext cx="32918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Step-level env:</a:t>
            </a:r>
            <a:endParaRPr lang="en-US" sz="1100" dirty="0"/>
          </a:p>
        </p:txBody>
      </p:sp>
      <p:sp>
        <p:nvSpPr>
          <p:cNvPr id="17" name="Text 15"/>
          <p:cNvSpPr/>
          <p:nvPr/>
        </p:nvSpPr>
        <p:spPr>
          <a:xfrm>
            <a:off x="2926080" y="2889504"/>
            <a:ext cx="3291840" cy="219456"/>
          </a:xfrm>
          <a:prstGeom prst="rect">
            <a:avLst/>
          </a:prstGeom>
          <a:noFill/>
          <a:ln/>
        </p:spPr>
        <p:txBody>
          <a:bodyPr wrap="square" lIns="0" tIns="0" rIns="0" bIns="0" rtlCol="0" anchor="ctr"/>
          <a:lstStyle/>
          <a:p>
            <a:pPr algn="ctr" indent="0" marL="0">
              <a:buNone/>
            </a:pPr>
            <a:r>
              <a:rPr lang="en-US" sz="850" dirty="0">
                <a:solidFill>
                  <a:srgbClr val="E0F2FE"/>
                </a:solidFill>
                <a:latin typeface="Calibri" pitchFamily="34" charset="0"/>
                <a:ea typeface="Calibri" pitchFamily="34" charset="-122"/>
                <a:cs typeface="Calibri" pitchFamily="34" charset="-120"/>
              </a:rPr>
              <a:t>Only exists for duration of that single step</a:t>
            </a:r>
            <a:endParaRPr lang="en-US" sz="850" dirty="0"/>
          </a:p>
        </p:txBody>
      </p:sp>
      <p:sp>
        <p:nvSpPr>
          <p:cNvPr id="18" name="Shape 16"/>
          <p:cNvSpPr/>
          <p:nvPr/>
        </p:nvSpPr>
        <p:spPr>
          <a:xfrm>
            <a:off x="347472" y="3200400"/>
            <a:ext cx="8449056" cy="329184"/>
          </a:xfrm>
          <a:prstGeom prst="rect">
            <a:avLst/>
          </a:prstGeom>
          <a:solidFill>
            <a:srgbClr val="1B2A3B"/>
          </a:solidFill>
          <a:ln w="12700">
            <a:solidFill>
              <a:srgbClr val="334155"/>
            </a:solidFill>
            <a:prstDash val="solid"/>
          </a:ln>
        </p:spPr>
      </p:sp>
      <p:sp>
        <p:nvSpPr>
          <p:cNvPr id="19" name="Text 17"/>
          <p:cNvSpPr/>
          <p:nvPr/>
        </p:nvSpPr>
        <p:spPr>
          <a:xfrm>
            <a:off x="384048" y="3236976"/>
            <a:ext cx="2011680" cy="256032"/>
          </a:xfrm>
          <a:prstGeom prst="rect">
            <a:avLst/>
          </a:prstGeom>
          <a:noFill/>
          <a:ln/>
        </p:spPr>
        <p:txBody>
          <a:bodyPr wrap="square" lIns="0" tIns="0" rIns="0" bIns="0" rtlCol="0" anchor="ctr"/>
          <a:lstStyle/>
          <a:p>
            <a:pPr indent="0" marL="0">
              <a:buNone/>
            </a:pPr>
            <a:r>
              <a:rPr lang="en-US" sz="1000" b="1" dirty="0">
                <a:solidFill>
                  <a:srgbClr val="06B6D4"/>
                </a:solidFill>
                <a:latin typeface="Calibri" pitchFamily="34" charset="0"/>
                <a:ea typeface="Calibri" pitchFamily="34" charset="-122"/>
                <a:cs typeface="Calibri" pitchFamily="34" charset="-120"/>
              </a:rPr>
              <a:t>Scope</a:t>
            </a:r>
            <a:endParaRPr lang="en-US" sz="1000" dirty="0"/>
          </a:p>
        </p:txBody>
      </p:sp>
      <p:sp>
        <p:nvSpPr>
          <p:cNvPr id="20" name="Text 18"/>
          <p:cNvSpPr/>
          <p:nvPr/>
        </p:nvSpPr>
        <p:spPr>
          <a:xfrm>
            <a:off x="2450592" y="3236976"/>
            <a:ext cx="3200400" cy="256032"/>
          </a:xfrm>
          <a:prstGeom prst="rect">
            <a:avLst/>
          </a:prstGeom>
          <a:noFill/>
          <a:ln/>
        </p:spPr>
        <p:txBody>
          <a:bodyPr wrap="square" lIns="0" tIns="0" rIns="0" bIns="0" rtlCol="0" anchor="ctr"/>
          <a:lstStyle/>
          <a:p>
            <a:pPr indent="0" marL="0">
              <a:buNone/>
            </a:pPr>
            <a:r>
              <a:rPr lang="en-US" sz="1000" b="1" dirty="0">
                <a:solidFill>
                  <a:srgbClr val="06B6D4"/>
                </a:solidFill>
                <a:latin typeface="Calibri" pitchFamily="34" charset="0"/>
                <a:ea typeface="Calibri" pitchFamily="34" charset="-122"/>
                <a:cs typeface="Calibri" pitchFamily="34" charset="-120"/>
              </a:rPr>
              <a:t>Use For</a:t>
            </a:r>
            <a:endParaRPr lang="en-US" sz="1000" dirty="0"/>
          </a:p>
        </p:txBody>
      </p:sp>
      <p:sp>
        <p:nvSpPr>
          <p:cNvPr id="21" name="Text 19"/>
          <p:cNvSpPr/>
          <p:nvPr/>
        </p:nvSpPr>
        <p:spPr>
          <a:xfrm>
            <a:off x="5705856" y="3236976"/>
            <a:ext cx="3017520" cy="256032"/>
          </a:xfrm>
          <a:prstGeom prst="rect">
            <a:avLst/>
          </a:prstGeom>
          <a:noFill/>
          <a:ln/>
        </p:spPr>
        <p:txBody>
          <a:bodyPr wrap="square" lIns="0" tIns="0" rIns="0" bIns="0" rtlCol="0" anchor="ctr"/>
          <a:lstStyle/>
          <a:p>
            <a:pPr indent="0" marL="0">
              <a:buNone/>
            </a:pPr>
            <a:r>
              <a:rPr lang="en-US" sz="1000" b="1" dirty="0">
                <a:solidFill>
                  <a:srgbClr val="06B6D4"/>
                </a:solidFill>
                <a:latin typeface="Calibri" pitchFamily="34" charset="0"/>
                <a:ea typeface="Calibri" pitchFamily="34" charset="-122"/>
                <a:cs typeface="Calibri" pitchFamily="34" charset="-120"/>
              </a:rPr>
              <a:t>Example Secret Names</a:t>
            </a:r>
            <a:endParaRPr lang="en-US" sz="1000" dirty="0"/>
          </a:p>
        </p:txBody>
      </p:sp>
      <p:sp>
        <p:nvSpPr>
          <p:cNvPr id="22" name="Shape 20"/>
          <p:cNvSpPr/>
          <p:nvPr/>
        </p:nvSpPr>
        <p:spPr>
          <a:xfrm>
            <a:off x="347472" y="3566160"/>
            <a:ext cx="8449056" cy="329184"/>
          </a:xfrm>
          <a:prstGeom prst="rect">
            <a:avLst/>
          </a:prstGeom>
          <a:solidFill>
            <a:srgbClr val="FFFFFF"/>
          </a:solidFill>
          <a:ln w="3810">
            <a:solidFill>
              <a:srgbClr val="E2E8F0"/>
            </a:solidFill>
            <a:prstDash val="solid"/>
          </a:ln>
        </p:spPr>
      </p:sp>
      <p:sp>
        <p:nvSpPr>
          <p:cNvPr id="23" name="Shape 21"/>
          <p:cNvSpPr/>
          <p:nvPr/>
        </p:nvSpPr>
        <p:spPr>
          <a:xfrm>
            <a:off x="347472" y="3566160"/>
            <a:ext cx="64008" cy="329184"/>
          </a:xfrm>
          <a:prstGeom prst="rect">
            <a:avLst/>
          </a:prstGeom>
          <a:solidFill>
            <a:srgbClr val="EF4444"/>
          </a:solidFill>
          <a:ln w="12700">
            <a:solidFill>
              <a:srgbClr val="EF4444"/>
            </a:solidFill>
            <a:prstDash val="solid"/>
          </a:ln>
        </p:spPr>
      </p:sp>
      <p:sp>
        <p:nvSpPr>
          <p:cNvPr id="24" name="Text 22"/>
          <p:cNvSpPr/>
          <p:nvPr/>
        </p:nvSpPr>
        <p:spPr>
          <a:xfrm>
            <a:off x="475488" y="3621024"/>
            <a:ext cx="1920240" cy="237744"/>
          </a:xfrm>
          <a:prstGeom prst="rect">
            <a:avLst/>
          </a:prstGeom>
          <a:noFill/>
          <a:ln/>
        </p:spPr>
        <p:txBody>
          <a:bodyPr wrap="square" lIns="0" tIns="0" rIns="0" bIns="0" rtlCol="0" anchor="ctr"/>
          <a:lstStyle/>
          <a:p>
            <a:pPr indent="0" marL="0">
              <a:buNone/>
            </a:pPr>
            <a:r>
              <a:rPr lang="en-US" sz="900" b="1" dirty="0">
                <a:solidFill>
                  <a:srgbClr val="EF4444"/>
                </a:solidFill>
                <a:latin typeface="Calibri" pitchFamily="34" charset="0"/>
                <a:ea typeface="Calibri" pitchFamily="34" charset="-122"/>
                <a:cs typeface="Calibri" pitchFamily="34" charset="-120"/>
              </a:rPr>
              <a:t>Org Secrets</a:t>
            </a:r>
            <a:endParaRPr lang="en-US" sz="900" dirty="0"/>
          </a:p>
        </p:txBody>
      </p:sp>
      <p:sp>
        <p:nvSpPr>
          <p:cNvPr id="25" name="Text 23"/>
          <p:cNvSpPr/>
          <p:nvPr/>
        </p:nvSpPr>
        <p:spPr>
          <a:xfrm>
            <a:off x="2450592" y="3621024"/>
            <a:ext cx="3182112"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Shared tools across all repos</a:t>
            </a:r>
            <a:endParaRPr lang="en-US" sz="900" dirty="0"/>
          </a:p>
        </p:txBody>
      </p:sp>
      <p:sp>
        <p:nvSpPr>
          <p:cNvPr id="26" name="Text 24"/>
          <p:cNvSpPr/>
          <p:nvPr/>
        </p:nvSpPr>
        <p:spPr>
          <a:xfrm>
            <a:off x="5705856" y="3621024"/>
            <a:ext cx="3017520" cy="237744"/>
          </a:xfrm>
          <a:prstGeom prst="rect">
            <a:avLst/>
          </a:prstGeom>
          <a:noFill/>
          <a:ln/>
        </p:spPr>
        <p:txBody>
          <a:bodyPr wrap="square" lIns="0" tIns="0" rIns="0" bIns="0" rtlCol="0" anchor="ctr"/>
          <a:lstStyle/>
          <a:p>
            <a:pPr indent="0" marL="0">
              <a:buNone/>
            </a:pPr>
            <a:r>
              <a:rPr lang="en-US" sz="850" dirty="0">
                <a:solidFill>
                  <a:srgbClr val="64748B"/>
                </a:solidFill>
                <a:latin typeface="Consolas" pitchFamily="34" charset="0"/>
                <a:ea typeface="Consolas" pitchFamily="34" charset="-122"/>
                <a:cs typeface="Consolas" pitchFamily="34" charset="-120"/>
              </a:rPr>
              <a:t>SONAR_TOKEN, NPM_TOKEN</a:t>
            </a:r>
            <a:endParaRPr lang="en-US" sz="850" dirty="0"/>
          </a:p>
        </p:txBody>
      </p:sp>
      <p:sp>
        <p:nvSpPr>
          <p:cNvPr id="27" name="Shape 25"/>
          <p:cNvSpPr/>
          <p:nvPr/>
        </p:nvSpPr>
        <p:spPr>
          <a:xfrm>
            <a:off x="347472" y="3913632"/>
            <a:ext cx="8449056" cy="329184"/>
          </a:xfrm>
          <a:prstGeom prst="rect">
            <a:avLst/>
          </a:prstGeom>
          <a:solidFill>
            <a:srgbClr val="F1F5F9"/>
          </a:solidFill>
          <a:ln w="3810">
            <a:solidFill>
              <a:srgbClr val="E2E8F0"/>
            </a:solidFill>
            <a:prstDash val="solid"/>
          </a:ln>
        </p:spPr>
      </p:sp>
      <p:sp>
        <p:nvSpPr>
          <p:cNvPr id="28" name="Shape 26"/>
          <p:cNvSpPr/>
          <p:nvPr/>
        </p:nvSpPr>
        <p:spPr>
          <a:xfrm>
            <a:off x="347472" y="3913632"/>
            <a:ext cx="64008" cy="329184"/>
          </a:xfrm>
          <a:prstGeom prst="rect">
            <a:avLst/>
          </a:prstGeom>
          <a:solidFill>
            <a:srgbClr val="EA580C"/>
          </a:solidFill>
          <a:ln w="12700">
            <a:solidFill>
              <a:srgbClr val="EA580C"/>
            </a:solidFill>
            <a:prstDash val="solid"/>
          </a:ln>
        </p:spPr>
      </p:sp>
      <p:sp>
        <p:nvSpPr>
          <p:cNvPr id="29" name="Text 27"/>
          <p:cNvSpPr/>
          <p:nvPr/>
        </p:nvSpPr>
        <p:spPr>
          <a:xfrm>
            <a:off x="475488" y="3968496"/>
            <a:ext cx="1920240" cy="237744"/>
          </a:xfrm>
          <a:prstGeom prst="rect">
            <a:avLst/>
          </a:prstGeom>
          <a:noFill/>
          <a:ln/>
        </p:spPr>
        <p:txBody>
          <a:bodyPr wrap="square" lIns="0" tIns="0" rIns="0" bIns="0" rtlCol="0" anchor="ctr"/>
          <a:lstStyle/>
          <a:p>
            <a:pPr indent="0" marL="0">
              <a:buNone/>
            </a:pPr>
            <a:r>
              <a:rPr lang="en-US" sz="900" b="1" dirty="0">
                <a:solidFill>
                  <a:srgbClr val="EA580C"/>
                </a:solidFill>
                <a:latin typeface="Calibri" pitchFamily="34" charset="0"/>
                <a:ea typeface="Calibri" pitchFamily="34" charset="-122"/>
                <a:cs typeface="Calibri" pitchFamily="34" charset="-120"/>
              </a:rPr>
              <a:t>Repo Secrets</a:t>
            </a:r>
            <a:endParaRPr lang="en-US" sz="900" dirty="0"/>
          </a:p>
        </p:txBody>
      </p:sp>
      <p:sp>
        <p:nvSpPr>
          <p:cNvPr id="30" name="Text 28"/>
          <p:cNvSpPr/>
          <p:nvPr/>
        </p:nvSpPr>
        <p:spPr>
          <a:xfrm>
            <a:off x="2450592" y="3968496"/>
            <a:ext cx="3182112"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Shared across environments</a:t>
            </a:r>
            <a:endParaRPr lang="en-US" sz="900" dirty="0"/>
          </a:p>
        </p:txBody>
      </p:sp>
      <p:sp>
        <p:nvSpPr>
          <p:cNvPr id="31" name="Text 29"/>
          <p:cNvSpPr/>
          <p:nvPr/>
        </p:nvSpPr>
        <p:spPr>
          <a:xfrm>
            <a:off x="5705856" y="3968496"/>
            <a:ext cx="3017520" cy="237744"/>
          </a:xfrm>
          <a:prstGeom prst="rect">
            <a:avLst/>
          </a:prstGeom>
          <a:noFill/>
          <a:ln/>
        </p:spPr>
        <p:txBody>
          <a:bodyPr wrap="square" lIns="0" tIns="0" rIns="0" bIns="0" rtlCol="0" anchor="ctr"/>
          <a:lstStyle/>
          <a:p>
            <a:pPr indent="0" marL="0">
              <a:buNone/>
            </a:pPr>
            <a:r>
              <a:rPr lang="en-US" sz="850" dirty="0">
                <a:solidFill>
                  <a:srgbClr val="64748B"/>
                </a:solidFill>
                <a:latin typeface="Consolas" pitchFamily="34" charset="0"/>
                <a:ea typeface="Consolas" pitchFamily="34" charset="-122"/>
                <a:cs typeface="Consolas" pitchFamily="34" charset="-120"/>
              </a:rPr>
              <a:t>DOCKER_USERNAME, SLACK_WEBHOOK</a:t>
            </a:r>
            <a:endParaRPr lang="en-US" sz="850" dirty="0"/>
          </a:p>
        </p:txBody>
      </p:sp>
      <p:sp>
        <p:nvSpPr>
          <p:cNvPr id="32" name="Shape 30"/>
          <p:cNvSpPr/>
          <p:nvPr/>
        </p:nvSpPr>
        <p:spPr>
          <a:xfrm>
            <a:off x="347472" y="4261104"/>
            <a:ext cx="8449056" cy="329184"/>
          </a:xfrm>
          <a:prstGeom prst="rect">
            <a:avLst/>
          </a:prstGeom>
          <a:solidFill>
            <a:srgbClr val="FFFFFF"/>
          </a:solidFill>
          <a:ln w="3810">
            <a:solidFill>
              <a:srgbClr val="E2E8F0"/>
            </a:solidFill>
            <a:prstDash val="solid"/>
          </a:ln>
        </p:spPr>
      </p:sp>
      <p:sp>
        <p:nvSpPr>
          <p:cNvPr id="33" name="Shape 31"/>
          <p:cNvSpPr/>
          <p:nvPr/>
        </p:nvSpPr>
        <p:spPr>
          <a:xfrm>
            <a:off x="347472" y="4261104"/>
            <a:ext cx="64008" cy="329184"/>
          </a:xfrm>
          <a:prstGeom prst="rect">
            <a:avLst/>
          </a:prstGeom>
          <a:solidFill>
            <a:srgbClr val="F59E0B"/>
          </a:solidFill>
          <a:ln w="12700">
            <a:solidFill>
              <a:srgbClr val="F59E0B"/>
            </a:solidFill>
            <a:prstDash val="solid"/>
          </a:ln>
        </p:spPr>
      </p:sp>
      <p:sp>
        <p:nvSpPr>
          <p:cNvPr id="34" name="Text 32"/>
          <p:cNvSpPr/>
          <p:nvPr/>
        </p:nvSpPr>
        <p:spPr>
          <a:xfrm>
            <a:off x="475488" y="4315968"/>
            <a:ext cx="1920240" cy="237744"/>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Env: staging</a:t>
            </a:r>
            <a:endParaRPr lang="en-US" sz="900" dirty="0"/>
          </a:p>
        </p:txBody>
      </p:sp>
      <p:sp>
        <p:nvSpPr>
          <p:cNvPr id="35" name="Text 33"/>
          <p:cNvSpPr/>
          <p:nvPr/>
        </p:nvSpPr>
        <p:spPr>
          <a:xfrm>
            <a:off x="2450592" y="4315968"/>
            <a:ext cx="3182112"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Staging-specific credentials</a:t>
            </a:r>
            <a:endParaRPr lang="en-US" sz="900" dirty="0"/>
          </a:p>
        </p:txBody>
      </p:sp>
      <p:sp>
        <p:nvSpPr>
          <p:cNvPr id="36" name="Text 34"/>
          <p:cNvSpPr/>
          <p:nvPr/>
        </p:nvSpPr>
        <p:spPr>
          <a:xfrm>
            <a:off x="5705856" y="4315968"/>
            <a:ext cx="3017520" cy="237744"/>
          </a:xfrm>
          <a:prstGeom prst="rect">
            <a:avLst/>
          </a:prstGeom>
          <a:noFill/>
          <a:ln/>
        </p:spPr>
        <p:txBody>
          <a:bodyPr wrap="square" lIns="0" tIns="0" rIns="0" bIns="0" rtlCol="0" anchor="ctr"/>
          <a:lstStyle/>
          <a:p>
            <a:pPr indent="0" marL="0">
              <a:buNone/>
            </a:pPr>
            <a:r>
              <a:rPr lang="en-US" sz="850" dirty="0">
                <a:solidFill>
                  <a:srgbClr val="64748B"/>
                </a:solidFill>
                <a:latin typeface="Consolas" pitchFamily="34" charset="0"/>
                <a:ea typeface="Consolas" pitchFamily="34" charset="-122"/>
                <a:cs typeface="Consolas" pitchFamily="34" charset="-120"/>
              </a:rPr>
              <a:t>STAGING_DB_PASS, STG_HOST</a:t>
            </a:r>
            <a:endParaRPr lang="en-US" sz="850" dirty="0"/>
          </a:p>
        </p:txBody>
      </p:sp>
      <p:sp>
        <p:nvSpPr>
          <p:cNvPr id="37" name="Shape 35"/>
          <p:cNvSpPr/>
          <p:nvPr/>
        </p:nvSpPr>
        <p:spPr>
          <a:xfrm>
            <a:off x="347472" y="4608576"/>
            <a:ext cx="8449056" cy="329184"/>
          </a:xfrm>
          <a:prstGeom prst="rect">
            <a:avLst/>
          </a:prstGeom>
          <a:solidFill>
            <a:srgbClr val="F1F5F9"/>
          </a:solidFill>
          <a:ln w="3810">
            <a:solidFill>
              <a:srgbClr val="E2E8F0"/>
            </a:solidFill>
            <a:prstDash val="solid"/>
          </a:ln>
        </p:spPr>
      </p:sp>
      <p:sp>
        <p:nvSpPr>
          <p:cNvPr id="38" name="Shape 36"/>
          <p:cNvSpPr/>
          <p:nvPr/>
        </p:nvSpPr>
        <p:spPr>
          <a:xfrm>
            <a:off x="347472" y="4608576"/>
            <a:ext cx="64008" cy="329184"/>
          </a:xfrm>
          <a:prstGeom prst="rect">
            <a:avLst/>
          </a:prstGeom>
          <a:solidFill>
            <a:srgbClr val="10B981"/>
          </a:solidFill>
          <a:ln w="12700">
            <a:solidFill>
              <a:srgbClr val="10B981"/>
            </a:solidFill>
            <a:prstDash val="solid"/>
          </a:ln>
        </p:spPr>
      </p:sp>
      <p:sp>
        <p:nvSpPr>
          <p:cNvPr id="39" name="Text 37"/>
          <p:cNvSpPr/>
          <p:nvPr/>
        </p:nvSpPr>
        <p:spPr>
          <a:xfrm>
            <a:off x="475488" y="4663440"/>
            <a:ext cx="1920240" cy="237744"/>
          </a:xfrm>
          <a:prstGeom prst="rect">
            <a:avLst/>
          </a:prstGeom>
          <a:noFill/>
          <a:ln/>
        </p:spPr>
        <p:txBody>
          <a:bodyPr wrap="square" lIns="0" tIns="0" rIns="0" bIns="0"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Env: production</a:t>
            </a:r>
            <a:endParaRPr lang="en-US" sz="900" dirty="0"/>
          </a:p>
        </p:txBody>
      </p:sp>
      <p:sp>
        <p:nvSpPr>
          <p:cNvPr id="40" name="Text 38"/>
          <p:cNvSpPr/>
          <p:nvPr/>
        </p:nvSpPr>
        <p:spPr>
          <a:xfrm>
            <a:off x="2450592" y="4663440"/>
            <a:ext cx="3182112"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Production-only credentials</a:t>
            </a:r>
            <a:endParaRPr lang="en-US" sz="900" dirty="0"/>
          </a:p>
        </p:txBody>
      </p:sp>
      <p:sp>
        <p:nvSpPr>
          <p:cNvPr id="41" name="Text 39"/>
          <p:cNvSpPr/>
          <p:nvPr/>
        </p:nvSpPr>
        <p:spPr>
          <a:xfrm>
            <a:off x="5705856" y="4663440"/>
            <a:ext cx="3017520" cy="237744"/>
          </a:xfrm>
          <a:prstGeom prst="rect">
            <a:avLst/>
          </a:prstGeom>
          <a:noFill/>
          <a:ln/>
        </p:spPr>
        <p:txBody>
          <a:bodyPr wrap="square" lIns="0" tIns="0" rIns="0" bIns="0" rtlCol="0" anchor="ctr"/>
          <a:lstStyle/>
          <a:p>
            <a:pPr indent="0" marL="0">
              <a:buNone/>
            </a:pPr>
            <a:r>
              <a:rPr lang="en-US" sz="850" dirty="0">
                <a:solidFill>
                  <a:srgbClr val="64748B"/>
                </a:solidFill>
                <a:latin typeface="Consolas" pitchFamily="34" charset="0"/>
                <a:ea typeface="Consolas" pitchFamily="34" charset="-122"/>
                <a:cs typeface="Consolas" pitchFamily="34" charset="-120"/>
              </a:rPr>
              <a:t>PROD_DB_PASS, PROD_SSH_KEY</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F4444"/>
          </a:solidFill>
          <a:ln w="12700">
            <a:solidFill>
              <a:srgbClr val="EF4444"/>
            </a:solidFill>
            <a:prstDash val="solid"/>
          </a:ln>
        </p:spPr>
      </p:sp>
      <p:sp>
        <p:nvSpPr>
          <p:cNvPr id="3" name="Text 1"/>
          <p:cNvSpPr/>
          <p:nvPr/>
        </p:nvSpPr>
        <p:spPr>
          <a:xfrm>
            <a:off x="384048" y="137160"/>
            <a:ext cx="8321040" cy="512064"/>
          </a:xfrm>
          <a:prstGeom prst="rect">
            <a:avLst/>
          </a:prstGeom>
          <a:noFill/>
          <a:ln/>
        </p:spPr>
        <p:txBody>
          <a:bodyPr wrap="square" lIns="0" tIns="0" rIns="0" bIns="0" rtlCol="0" anchor="ctr"/>
          <a:lstStyle/>
          <a:p>
            <a:pPr indent="0" marL="0">
              <a:buNone/>
            </a:pPr>
            <a:r>
              <a:rPr lang="en-US" sz="2500" b="1" dirty="0">
                <a:solidFill>
                  <a:srgbClr val="1E293B"/>
                </a:solidFill>
                <a:latin typeface="Calibri" pitchFamily="34" charset="0"/>
                <a:ea typeface="Calibri" pitchFamily="34" charset="-122"/>
                <a:cs typeface="Calibri" pitchFamily="34" charset="-120"/>
              </a:rPr>
              <a:t>Advanced Pitfalls — What Goes Wrong in Real Projects</a:t>
            </a:r>
            <a:endParaRPr lang="en-US" sz="2500" dirty="0"/>
          </a:p>
        </p:txBody>
      </p:sp>
      <p:sp>
        <p:nvSpPr>
          <p:cNvPr id="4" name="Shape 2"/>
          <p:cNvSpPr/>
          <p:nvPr/>
        </p:nvSpPr>
        <p:spPr>
          <a:xfrm>
            <a:off x="384048" y="731520"/>
            <a:ext cx="1773936" cy="219456"/>
          </a:xfrm>
          <a:prstGeom prst="rect">
            <a:avLst/>
          </a:prstGeom>
          <a:solidFill>
            <a:srgbClr val="EF4444"/>
          </a:solidFill>
          <a:ln w="12700">
            <a:solidFill>
              <a:srgbClr val="EF4444"/>
            </a:solidFill>
            <a:prstDash val="solid"/>
          </a:ln>
        </p:spPr>
      </p:sp>
      <p:sp>
        <p:nvSpPr>
          <p:cNvPr id="5" name="Text 3"/>
          <p:cNvSpPr/>
          <p:nvPr/>
        </p:nvSpPr>
        <p:spPr>
          <a:xfrm>
            <a:off x="384048" y="731520"/>
            <a:ext cx="1773936" cy="219456"/>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Calibri" pitchFamily="34" charset="0"/>
                <a:ea typeface="Calibri" pitchFamily="34" charset="-122"/>
                <a:cs typeface="Calibri" pitchFamily="34" charset="-120"/>
              </a:rPr>
              <a:t>COMMON MISTAKES</a:t>
            </a:r>
            <a:endParaRPr lang="en-US" sz="850" dirty="0"/>
          </a:p>
        </p:txBody>
      </p:sp>
      <p:sp>
        <p:nvSpPr>
          <p:cNvPr id="6" name="Shape 4"/>
          <p:cNvSpPr/>
          <p:nvPr/>
        </p:nvSpPr>
        <p:spPr>
          <a:xfrm>
            <a:off x="347472" y="987552"/>
            <a:ext cx="4187952" cy="126187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47472" y="987552"/>
            <a:ext cx="4187952" cy="73152"/>
          </a:xfrm>
          <a:prstGeom prst="rect">
            <a:avLst/>
          </a:prstGeom>
          <a:solidFill>
            <a:srgbClr val="EF4444"/>
          </a:solidFill>
          <a:ln w="12700">
            <a:solidFill>
              <a:srgbClr val="EF4444"/>
            </a:solidFill>
            <a:prstDash val="solid"/>
          </a:ln>
        </p:spPr>
      </p:sp>
      <p:sp>
        <p:nvSpPr>
          <p:cNvPr id="8" name="Shape 6"/>
          <p:cNvSpPr/>
          <p:nvPr/>
        </p:nvSpPr>
        <p:spPr>
          <a:xfrm>
            <a:off x="457200" y="1133856"/>
            <a:ext cx="292608" cy="292608"/>
          </a:xfrm>
          <a:prstGeom prst="ellipse">
            <a:avLst/>
          </a:prstGeom>
          <a:solidFill>
            <a:srgbClr val="EF4444"/>
          </a:solidFill>
          <a:ln w="12700">
            <a:solidFill>
              <a:srgbClr val="EF4444"/>
            </a:solidFill>
            <a:prstDash val="solid"/>
          </a:ln>
        </p:spPr>
      </p:sp>
      <p:sp>
        <p:nvSpPr>
          <p:cNvPr id="9" name="Text 7"/>
          <p:cNvSpPr/>
          <p:nvPr/>
        </p:nvSpPr>
        <p:spPr>
          <a:xfrm>
            <a:off x="457200" y="1133856"/>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10" name="Text 8"/>
          <p:cNvSpPr/>
          <p:nvPr/>
        </p:nvSpPr>
        <p:spPr>
          <a:xfrm>
            <a:off x="822960" y="1152144"/>
            <a:ext cx="3611880" cy="237744"/>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if: always() Missing on Reports</a:t>
            </a:r>
            <a:endParaRPr lang="en-US" sz="1000" dirty="0"/>
          </a:p>
        </p:txBody>
      </p:sp>
      <p:sp>
        <p:nvSpPr>
          <p:cNvPr id="11" name="Text 9"/>
          <p:cNvSpPr/>
          <p:nvPr/>
        </p:nvSpPr>
        <p:spPr>
          <a:xfrm>
            <a:off x="475488" y="1444752"/>
            <a:ext cx="3931920" cy="36576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Test reports disappear when tests fail. You see pipeline failure but have NO report to debug why.</a:t>
            </a:r>
            <a:endParaRPr lang="en-US" sz="850" dirty="0"/>
          </a:p>
        </p:txBody>
      </p:sp>
      <p:sp>
        <p:nvSpPr>
          <p:cNvPr id="12" name="Shape 10"/>
          <p:cNvSpPr/>
          <p:nvPr/>
        </p:nvSpPr>
        <p:spPr>
          <a:xfrm>
            <a:off x="475488" y="1847088"/>
            <a:ext cx="3931920" cy="292608"/>
          </a:xfrm>
          <a:prstGeom prst="rect">
            <a:avLst/>
          </a:prstGeom>
          <a:solidFill>
            <a:srgbClr val="F0FDF4"/>
          </a:solidFill>
          <a:ln w="5080">
            <a:solidFill>
              <a:srgbClr val="10B981"/>
            </a:solidFill>
            <a:prstDash val="solid"/>
          </a:ln>
        </p:spPr>
      </p:sp>
      <p:sp>
        <p:nvSpPr>
          <p:cNvPr id="13" name="Text 11"/>
          <p:cNvSpPr/>
          <p:nvPr/>
        </p:nvSpPr>
        <p:spPr>
          <a:xfrm>
            <a:off x="512064" y="1865376"/>
            <a:ext cx="3858768" cy="256032"/>
          </a:xfrm>
          <a:prstGeom prst="rect">
            <a:avLst/>
          </a:prstGeom>
          <a:noFill/>
          <a:ln/>
        </p:spPr>
        <p:txBody>
          <a:bodyPr wrap="square" lIns="0" tIns="0" rIns="0" bIns="0" rtlCol="0" anchor="ctr"/>
          <a:lstStyle/>
          <a:p>
            <a:pPr indent="0" marL="0">
              <a:buNone/>
            </a:pPr>
            <a:r>
              <a:rPr lang="en-US" sz="800" dirty="0">
                <a:solidFill>
                  <a:srgbClr val="14532D"/>
                </a:solidFill>
                <a:latin typeface="Calibri" pitchFamily="34" charset="0"/>
                <a:ea typeface="Calibri" pitchFamily="34" charset="-122"/>
                <a:cs typeface="Calibri" pitchFamily="34" charset="-120"/>
              </a:rPr>
              <a:t>✅  Add if: always() to every upload-artifact step that saves reports.</a:t>
            </a:r>
            <a:endParaRPr lang="en-US" sz="800" dirty="0"/>
          </a:p>
        </p:txBody>
      </p:sp>
      <p:sp>
        <p:nvSpPr>
          <p:cNvPr id="14" name="Shape 12"/>
          <p:cNvSpPr/>
          <p:nvPr/>
        </p:nvSpPr>
        <p:spPr>
          <a:xfrm>
            <a:off x="4718304" y="987552"/>
            <a:ext cx="4187952" cy="126187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4718304" y="987552"/>
            <a:ext cx="4187952" cy="73152"/>
          </a:xfrm>
          <a:prstGeom prst="rect">
            <a:avLst/>
          </a:prstGeom>
          <a:solidFill>
            <a:srgbClr val="EA580C"/>
          </a:solidFill>
          <a:ln w="12700">
            <a:solidFill>
              <a:srgbClr val="EA580C"/>
            </a:solidFill>
            <a:prstDash val="solid"/>
          </a:ln>
        </p:spPr>
      </p:sp>
      <p:sp>
        <p:nvSpPr>
          <p:cNvPr id="16" name="Shape 14"/>
          <p:cNvSpPr/>
          <p:nvPr/>
        </p:nvSpPr>
        <p:spPr>
          <a:xfrm>
            <a:off x="4828032" y="1133856"/>
            <a:ext cx="292608" cy="292608"/>
          </a:xfrm>
          <a:prstGeom prst="ellipse">
            <a:avLst/>
          </a:prstGeom>
          <a:solidFill>
            <a:srgbClr val="EA580C"/>
          </a:solidFill>
          <a:ln w="12700">
            <a:solidFill>
              <a:srgbClr val="EA580C"/>
            </a:solidFill>
            <a:prstDash val="solid"/>
          </a:ln>
        </p:spPr>
      </p:sp>
      <p:sp>
        <p:nvSpPr>
          <p:cNvPr id="17" name="Text 15"/>
          <p:cNvSpPr/>
          <p:nvPr/>
        </p:nvSpPr>
        <p:spPr>
          <a:xfrm>
            <a:off x="4828032" y="1133856"/>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8" name="Text 16"/>
          <p:cNvSpPr/>
          <p:nvPr/>
        </p:nvSpPr>
        <p:spPr>
          <a:xfrm>
            <a:off x="5193792" y="1152144"/>
            <a:ext cx="3611880" cy="237744"/>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No [skip ci] on Auto-Commits</a:t>
            </a:r>
            <a:endParaRPr lang="en-US" sz="1000" dirty="0"/>
          </a:p>
        </p:txBody>
      </p:sp>
      <p:sp>
        <p:nvSpPr>
          <p:cNvPr id="19" name="Text 17"/>
          <p:cNvSpPr/>
          <p:nvPr/>
        </p:nvSpPr>
        <p:spPr>
          <a:xfrm>
            <a:off x="4846320" y="1444752"/>
            <a:ext cx="3931920" cy="36576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Auto-version commits trigger the workflow again → triggers another commit → infinite loop destroys runner budget.</a:t>
            </a:r>
            <a:endParaRPr lang="en-US" sz="850" dirty="0"/>
          </a:p>
        </p:txBody>
      </p:sp>
      <p:sp>
        <p:nvSpPr>
          <p:cNvPr id="20" name="Shape 18"/>
          <p:cNvSpPr/>
          <p:nvPr/>
        </p:nvSpPr>
        <p:spPr>
          <a:xfrm>
            <a:off x="4846320" y="1847088"/>
            <a:ext cx="3931920" cy="292608"/>
          </a:xfrm>
          <a:prstGeom prst="rect">
            <a:avLst/>
          </a:prstGeom>
          <a:solidFill>
            <a:srgbClr val="F0FDF4"/>
          </a:solidFill>
          <a:ln w="5080">
            <a:solidFill>
              <a:srgbClr val="10B981"/>
            </a:solidFill>
            <a:prstDash val="solid"/>
          </a:ln>
        </p:spPr>
      </p:sp>
      <p:sp>
        <p:nvSpPr>
          <p:cNvPr id="21" name="Text 19"/>
          <p:cNvSpPr/>
          <p:nvPr/>
        </p:nvSpPr>
        <p:spPr>
          <a:xfrm>
            <a:off x="4882896" y="1865376"/>
            <a:ext cx="3858768" cy="256032"/>
          </a:xfrm>
          <a:prstGeom prst="rect">
            <a:avLst/>
          </a:prstGeom>
          <a:noFill/>
          <a:ln/>
        </p:spPr>
        <p:txBody>
          <a:bodyPr wrap="square" lIns="0" tIns="0" rIns="0" bIns="0" rtlCol="0" anchor="ctr"/>
          <a:lstStyle/>
          <a:p>
            <a:pPr indent="0" marL="0">
              <a:buNone/>
            </a:pPr>
            <a:r>
              <a:rPr lang="en-US" sz="800" dirty="0">
                <a:solidFill>
                  <a:srgbClr val="14532D"/>
                </a:solidFill>
                <a:latin typeface="Calibri" pitchFamily="34" charset="0"/>
                <a:ea typeface="Calibri" pitchFamily="34" charset="-122"/>
                <a:cs typeface="Calibri" pitchFamily="34" charset="-120"/>
              </a:rPr>
              <a:t>✅  Always include [skip ci] in bot commit messages. Or use: if: github.actor != 'bot'</a:t>
            </a:r>
            <a:endParaRPr lang="en-US" sz="800" dirty="0"/>
          </a:p>
        </p:txBody>
      </p:sp>
      <p:sp>
        <p:nvSpPr>
          <p:cNvPr id="22" name="Shape 20"/>
          <p:cNvSpPr/>
          <p:nvPr/>
        </p:nvSpPr>
        <p:spPr>
          <a:xfrm>
            <a:off x="347472" y="2359152"/>
            <a:ext cx="4187952" cy="126187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347472" y="2359152"/>
            <a:ext cx="4187952" cy="73152"/>
          </a:xfrm>
          <a:prstGeom prst="rect">
            <a:avLst/>
          </a:prstGeom>
          <a:solidFill>
            <a:srgbClr val="F59E0B"/>
          </a:solidFill>
          <a:ln w="12700">
            <a:solidFill>
              <a:srgbClr val="F59E0B"/>
            </a:solidFill>
            <a:prstDash val="solid"/>
          </a:ln>
        </p:spPr>
      </p:sp>
      <p:sp>
        <p:nvSpPr>
          <p:cNvPr id="24" name="Shape 22"/>
          <p:cNvSpPr/>
          <p:nvPr/>
        </p:nvSpPr>
        <p:spPr>
          <a:xfrm>
            <a:off x="457200" y="2505456"/>
            <a:ext cx="292608" cy="292608"/>
          </a:xfrm>
          <a:prstGeom prst="ellipse">
            <a:avLst/>
          </a:prstGeom>
          <a:solidFill>
            <a:srgbClr val="F59E0B"/>
          </a:solidFill>
          <a:ln w="12700">
            <a:solidFill>
              <a:srgbClr val="F59E0B"/>
            </a:solidFill>
            <a:prstDash val="solid"/>
          </a:ln>
        </p:spPr>
      </p:sp>
      <p:sp>
        <p:nvSpPr>
          <p:cNvPr id="25" name="Text 23"/>
          <p:cNvSpPr/>
          <p:nvPr/>
        </p:nvSpPr>
        <p:spPr>
          <a:xfrm>
            <a:off x="457200" y="2505456"/>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26" name="Text 24"/>
          <p:cNvSpPr/>
          <p:nvPr/>
        </p:nvSpPr>
        <p:spPr>
          <a:xfrm>
            <a:off x="822960" y="2523744"/>
            <a:ext cx="3611880" cy="237744"/>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All Secrets at Repository Level</a:t>
            </a:r>
            <a:endParaRPr lang="en-US" sz="1000" dirty="0"/>
          </a:p>
        </p:txBody>
      </p:sp>
      <p:sp>
        <p:nvSpPr>
          <p:cNvPr id="27" name="Text 25"/>
          <p:cNvSpPr/>
          <p:nvPr/>
        </p:nvSpPr>
        <p:spPr>
          <a:xfrm>
            <a:off x="475488" y="2816352"/>
            <a:ext cx="3931920" cy="36576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Production DB password accessible to any workflow in the repo. A junior dev's mistake could expose production.</a:t>
            </a:r>
            <a:endParaRPr lang="en-US" sz="850" dirty="0"/>
          </a:p>
        </p:txBody>
      </p:sp>
      <p:sp>
        <p:nvSpPr>
          <p:cNvPr id="28" name="Shape 26"/>
          <p:cNvSpPr/>
          <p:nvPr/>
        </p:nvSpPr>
        <p:spPr>
          <a:xfrm>
            <a:off x="475488" y="3218688"/>
            <a:ext cx="3931920" cy="292608"/>
          </a:xfrm>
          <a:prstGeom prst="rect">
            <a:avLst/>
          </a:prstGeom>
          <a:solidFill>
            <a:srgbClr val="F0FDF4"/>
          </a:solidFill>
          <a:ln w="5080">
            <a:solidFill>
              <a:srgbClr val="10B981"/>
            </a:solidFill>
            <a:prstDash val="solid"/>
          </a:ln>
        </p:spPr>
      </p:sp>
      <p:sp>
        <p:nvSpPr>
          <p:cNvPr id="29" name="Text 27"/>
          <p:cNvSpPr/>
          <p:nvPr/>
        </p:nvSpPr>
        <p:spPr>
          <a:xfrm>
            <a:off x="512064" y="3236976"/>
            <a:ext cx="3858768" cy="256032"/>
          </a:xfrm>
          <a:prstGeom prst="rect">
            <a:avLst/>
          </a:prstGeom>
          <a:noFill/>
          <a:ln/>
        </p:spPr>
        <p:txBody>
          <a:bodyPr wrap="square" lIns="0" tIns="0" rIns="0" bIns="0" rtlCol="0" anchor="ctr"/>
          <a:lstStyle/>
          <a:p>
            <a:pPr indent="0" marL="0">
              <a:buNone/>
            </a:pPr>
            <a:r>
              <a:rPr lang="en-US" sz="800" dirty="0">
                <a:solidFill>
                  <a:srgbClr val="14532D"/>
                </a:solidFill>
                <a:latin typeface="Calibri" pitchFamily="34" charset="0"/>
                <a:ea typeface="Calibri" pitchFamily="34" charset="-122"/>
                <a:cs typeface="Calibri" pitchFamily="34" charset="-120"/>
              </a:rPr>
              <a:t>✅  Use environment-scoped secrets for all environment-specific credentials.</a:t>
            </a:r>
            <a:endParaRPr lang="en-US" sz="800" dirty="0"/>
          </a:p>
        </p:txBody>
      </p:sp>
      <p:sp>
        <p:nvSpPr>
          <p:cNvPr id="30" name="Shape 28"/>
          <p:cNvSpPr/>
          <p:nvPr/>
        </p:nvSpPr>
        <p:spPr>
          <a:xfrm>
            <a:off x="4718304" y="2359152"/>
            <a:ext cx="4187952" cy="126187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4718304" y="2359152"/>
            <a:ext cx="4187952" cy="73152"/>
          </a:xfrm>
          <a:prstGeom prst="rect">
            <a:avLst/>
          </a:prstGeom>
          <a:solidFill>
            <a:srgbClr val="7C3AED"/>
          </a:solidFill>
          <a:ln w="12700">
            <a:solidFill>
              <a:srgbClr val="7C3AED"/>
            </a:solidFill>
            <a:prstDash val="solid"/>
          </a:ln>
        </p:spPr>
      </p:sp>
      <p:sp>
        <p:nvSpPr>
          <p:cNvPr id="32" name="Shape 30"/>
          <p:cNvSpPr/>
          <p:nvPr/>
        </p:nvSpPr>
        <p:spPr>
          <a:xfrm>
            <a:off x="4828032" y="2505456"/>
            <a:ext cx="292608" cy="292608"/>
          </a:xfrm>
          <a:prstGeom prst="ellipse">
            <a:avLst/>
          </a:prstGeom>
          <a:solidFill>
            <a:srgbClr val="7C3AED"/>
          </a:solidFill>
          <a:ln w="12700">
            <a:solidFill>
              <a:srgbClr val="7C3AED"/>
            </a:solidFill>
            <a:prstDash val="solid"/>
          </a:ln>
        </p:spPr>
      </p:sp>
      <p:sp>
        <p:nvSpPr>
          <p:cNvPr id="33" name="Text 31"/>
          <p:cNvSpPr/>
          <p:nvPr/>
        </p:nvSpPr>
        <p:spPr>
          <a:xfrm>
            <a:off x="4828032" y="2505456"/>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34" name="Text 32"/>
          <p:cNvSpPr/>
          <p:nvPr/>
        </p:nvSpPr>
        <p:spPr>
          <a:xfrm>
            <a:off x="5193792" y="2523744"/>
            <a:ext cx="3611880" cy="237744"/>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Rebuilding in Every Job</a:t>
            </a:r>
            <a:endParaRPr lang="en-US" sz="1000" dirty="0"/>
          </a:p>
        </p:txBody>
      </p:sp>
      <p:sp>
        <p:nvSpPr>
          <p:cNvPr id="35" name="Text 33"/>
          <p:cNvSpPr/>
          <p:nvPr/>
        </p:nvSpPr>
        <p:spPr>
          <a:xfrm>
            <a:off x="4846320" y="2816352"/>
            <a:ext cx="3931920" cy="36576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Build job: mvn package. Deploy job: also runs mvn package. Deploying DIFFERENT binary than what was tested!</a:t>
            </a:r>
            <a:endParaRPr lang="en-US" sz="850" dirty="0"/>
          </a:p>
        </p:txBody>
      </p:sp>
      <p:sp>
        <p:nvSpPr>
          <p:cNvPr id="36" name="Shape 34"/>
          <p:cNvSpPr/>
          <p:nvPr/>
        </p:nvSpPr>
        <p:spPr>
          <a:xfrm>
            <a:off x="4846320" y="3218688"/>
            <a:ext cx="3931920" cy="292608"/>
          </a:xfrm>
          <a:prstGeom prst="rect">
            <a:avLst/>
          </a:prstGeom>
          <a:solidFill>
            <a:srgbClr val="F0FDF4"/>
          </a:solidFill>
          <a:ln w="5080">
            <a:solidFill>
              <a:srgbClr val="10B981"/>
            </a:solidFill>
            <a:prstDash val="solid"/>
          </a:ln>
        </p:spPr>
      </p:sp>
      <p:sp>
        <p:nvSpPr>
          <p:cNvPr id="37" name="Text 35"/>
          <p:cNvSpPr/>
          <p:nvPr/>
        </p:nvSpPr>
        <p:spPr>
          <a:xfrm>
            <a:off x="4882896" y="3236976"/>
            <a:ext cx="3858768" cy="256032"/>
          </a:xfrm>
          <a:prstGeom prst="rect">
            <a:avLst/>
          </a:prstGeom>
          <a:noFill/>
          <a:ln/>
        </p:spPr>
        <p:txBody>
          <a:bodyPr wrap="square" lIns="0" tIns="0" rIns="0" bIns="0" rtlCol="0" anchor="ctr"/>
          <a:lstStyle/>
          <a:p>
            <a:pPr indent="0" marL="0">
              <a:buNone/>
            </a:pPr>
            <a:r>
              <a:rPr lang="en-US" sz="800" dirty="0">
                <a:solidFill>
                  <a:srgbClr val="14532D"/>
                </a:solidFill>
                <a:latin typeface="Calibri" pitchFamily="34" charset="0"/>
                <a:ea typeface="Calibri" pitchFamily="34" charset="-122"/>
                <a:cs typeface="Calibri" pitchFamily="34" charset="-120"/>
              </a:rPr>
              <a:t>✅  Upload artifact in build job. Download artifact in deploy job. Build once.</a:t>
            </a:r>
            <a:endParaRPr lang="en-US" sz="800" dirty="0"/>
          </a:p>
        </p:txBody>
      </p:sp>
      <p:sp>
        <p:nvSpPr>
          <p:cNvPr id="38" name="Shape 36"/>
          <p:cNvSpPr/>
          <p:nvPr/>
        </p:nvSpPr>
        <p:spPr>
          <a:xfrm>
            <a:off x="347472" y="3730752"/>
            <a:ext cx="4187952" cy="126187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39" name="Shape 37"/>
          <p:cNvSpPr/>
          <p:nvPr/>
        </p:nvSpPr>
        <p:spPr>
          <a:xfrm>
            <a:off x="347472" y="3730752"/>
            <a:ext cx="4187952" cy="73152"/>
          </a:xfrm>
          <a:prstGeom prst="rect">
            <a:avLst/>
          </a:prstGeom>
          <a:solidFill>
            <a:srgbClr val="0D9488"/>
          </a:solidFill>
          <a:ln w="12700">
            <a:solidFill>
              <a:srgbClr val="0D9488"/>
            </a:solidFill>
            <a:prstDash val="solid"/>
          </a:ln>
        </p:spPr>
      </p:sp>
      <p:sp>
        <p:nvSpPr>
          <p:cNvPr id="40" name="Shape 38"/>
          <p:cNvSpPr/>
          <p:nvPr/>
        </p:nvSpPr>
        <p:spPr>
          <a:xfrm>
            <a:off x="457200" y="3877056"/>
            <a:ext cx="292608" cy="292608"/>
          </a:xfrm>
          <a:prstGeom prst="ellipse">
            <a:avLst/>
          </a:prstGeom>
          <a:solidFill>
            <a:srgbClr val="0D9488"/>
          </a:solidFill>
          <a:ln w="12700">
            <a:solidFill>
              <a:srgbClr val="0D9488"/>
            </a:solidFill>
            <a:prstDash val="solid"/>
          </a:ln>
        </p:spPr>
      </p:sp>
      <p:sp>
        <p:nvSpPr>
          <p:cNvPr id="41" name="Text 39"/>
          <p:cNvSpPr/>
          <p:nvPr/>
        </p:nvSpPr>
        <p:spPr>
          <a:xfrm>
            <a:off x="457200" y="3877056"/>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05</a:t>
            </a:r>
            <a:endParaRPr lang="en-US" sz="900" dirty="0"/>
          </a:p>
        </p:txBody>
      </p:sp>
      <p:sp>
        <p:nvSpPr>
          <p:cNvPr id="42" name="Text 40"/>
          <p:cNvSpPr/>
          <p:nvPr/>
        </p:nvSpPr>
        <p:spPr>
          <a:xfrm>
            <a:off x="822960" y="3895344"/>
            <a:ext cx="3611880" cy="237744"/>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No Cache → Slow Pipelines</a:t>
            </a:r>
            <a:endParaRPr lang="en-US" sz="1000" dirty="0"/>
          </a:p>
        </p:txBody>
      </p:sp>
      <p:sp>
        <p:nvSpPr>
          <p:cNvPr id="43" name="Text 41"/>
          <p:cNvSpPr/>
          <p:nvPr/>
        </p:nvSpPr>
        <p:spPr>
          <a:xfrm>
            <a:off x="475488" y="4187952"/>
            <a:ext cx="3931920" cy="36576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Not adding cache: 'maven' to setup-java. Every run downloads 150+ MB. 20 devs × 5 runs/day = hours wasted.</a:t>
            </a:r>
            <a:endParaRPr lang="en-US" sz="850" dirty="0"/>
          </a:p>
        </p:txBody>
      </p:sp>
      <p:sp>
        <p:nvSpPr>
          <p:cNvPr id="44" name="Shape 42"/>
          <p:cNvSpPr/>
          <p:nvPr/>
        </p:nvSpPr>
        <p:spPr>
          <a:xfrm>
            <a:off x="475488" y="4590288"/>
            <a:ext cx="3931920" cy="292608"/>
          </a:xfrm>
          <a:prstGeom prst="rect">
            <a:avLst/>
          </a:prstGeom>
          <a:solidFill>
            <a:srgbClr val="F0FDF4"/>
          </a:solidFill>
          <a:ln w="5080">
            <a:solidFill>
              <a:srgbClr val="10B981"/>
            </a:solidFill>
            <a:prstDash val="solid"/>
          </a:ln>
        </p:spPr>
      </p:sp>
      <p:sp>
        <p:nvSpPr>
          <p:cNvPr id="45" name="Text 43"/>
          <p:cNvSpPr/>
          <p:nvPr/>
        </p:nvSpPr>
        <p:spPr>
          <a:xfrm>
            <a:off x="512064" y="4608576"/>
            <a:ext cx="3858768" cy="256032"/>
          </a:xfrm>
          <a:prstGeom prst="rect">
            <a:avLst/>
          </a:prstGeom>
          <a:noFill/>
          <a:ln/>
        </p:spPr>
        <p:txBody>
          <a:bodyPr wrap="square" lIns="0" tIns="0" rIns="0" bIns="0" rtlCol="0" anchor="ctr"/>
          <a:lstStyle/>
          <a:p>
            <a:pPr indent="0" marL="0">
              <a:buNone/>
            </a:pPr>
            <a:r>
              <a:rPr lang="en-US" sz="800" dirty="0">
                <a:solidFill>
                  <a:srgbClr val="14532D"/>
                </a:solidFill>
                <a:latin typeface="Calibri" pitchFamily="34" charset="0"/>
                <a:ea typeface="Calibri" pitchFamily="34" charset="-122"/>
                <a:cs typeface="Calibri" pitchFamily="34" charset="-120"/>
              </a:rPr>
              <a:t>✅  Add cache: 'maven' to setup-java@v4 — one line, 68% time savings.</a:t>
            </a:r>
            <a:endParaRPr lang="en-US" sz="800" dirty="0"/>
          </a:p>
        </p:txBody>
      </p:sp>
      <p:sp>
        <p:nvSpPr>
          <p:cNvPr id="46" name="Shape 44"/>
          <p:cNvSpPr/>
          <p:nvPr/>
        </p:nvSpPr>
        <p:spPr>
          <a:xfrm>
            <a:off x="4718304" y="3730752"/>
            <a:ext cx="4187952" cy="1261872"/>
          </a:xfrm>
          <a:prstGeom prst="rect">
            <a:avLst/>
          </a:prstGeom>
          <a:solidFill>
            <a:srgbClr val="FFFFFF"/>
          </a:solidFill>
          <a:ln w="5080">
            <a:solidFill>
              <a:srgbClr val="E2E8F0"/>
            </a:solidFill>
            <a:prstDash val="solid"/>
          </a:ln>
          <a:effectLst>
            <a:outerShdw sx="100000" sy="100000" kx="0" ky="0" algn="bl" rotWithShape="0" blurRad="101600" dist="38100" dir="8100000">
              <a:srgbClr val="000000">
                <a:alpha val="12000"/>
              </a:srgbClr>
            </a:outerShdw>
          </a:effectLst>
        </p:spPr>
      </p:sp>
      <p:sp>
        <p:nvSpPr>
          <p:cNvPr id="47" name="Shape 45"/>
          <p:cNvSpPr/>
          <p:nvPr/>
        </p:nvSpPr>
        <p:spPr>
          <a:xfrm>
            <a:off x="4718304" y="3730752"/>
            <a:ext cx="4187952" cy="73152"/>
          </a:xfrm>
          <a:prstGeom prst="rect">
            <a:avLst/>
          </a:prstGeom>
          <a:solidFill>
            <a:srgbClr val="1A56DB"/>
          </a:solidFill>
          <a:ln w="12700">
            <a:solidFill>
              <a:srgbClr val="1A56DB"/>
            </a:solidFill>
            <a:prstDash val="solid"/>
          </a:ln>
        </p:spPr>
      </p:sp>
      <p:sp>
        <p:nvSpPr>
          <p:cNvPr id="48" name="Shape 46"/>
          <p:cNvSpPr/>
          <p:nvPr/>
        </p:nvSpPr>
        <p:spPr>
          <a:xfrm>
            <a:off x="4828032" y="3877056"/>
            <a:ext cx="292608" cy="292608"/>
          </a:xfrm>
          <a:prstGeom prst="ellipse">
            <a:avLst/>
          </a:prstGeom>
          <a:solidFill>
            <a:srgbClr val="1A56DB"/>
          </a:solidFill>
          <a:ln w="12700">
            <a:solidFill>
              <a:srgbClr val="1A56DB"/>
            </a:solidFill>
            <a:prstDash val="solid"/>
          </a:ln>
        </p:spPr>
      </p:sp>
      <p:sp>
        <p:nvSpPr>
          <p:cNvPr id="49" name="Text 47"/>
          <p:cNvSpPr/>
          <p:nvPr/>
        </p:nvSpPr>
        <p:spPr>
          <a:xfrm>
            <a:off x="4828032" y="3877056"/>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06</a:t>
            </a:r>
            <a:endParaRPr lang="en-US" sz="900" dirty="0"/>
          </a:p>
        </p:txBody>
      </p:sp>
      <p:sp>
        <p:nvSpPr>
          <p:cNvPr id="50" name="Text 48"/>
          <p:cNvSpPr/>
          <p:nvPr/>
        </p:nvSpPr>
        <p:spPr>
          <a:xfrm>
            <a:off x="5193792" y="3895344"/>
            <a:ext cx="3611880" cy="237744"/>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Reusable WF Without Declared Secrets</a:t>
            </a:r>
            <a:endParaRPr lang="en-US" sz="1000" dirty="0"/>
          </a:p>
        </p:txBody>
      </p:sp>
      <p:sp>
        <p:nvSpPr>
          <p:cNvPr id="51" name="Text 49"/>
          <p:cNvSpPr/>
          <p:nvPr/>
        </p:nvSpPr>
        <p:spPr>
          <a:xfrm>
            <a:off x="4846320" y="4187952"/>
            <a:ext cx="3931920" cy="36576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Calling a reusable workflow but not passing required secrets. The called workflow gets empty strings silently.</a:t>
            </a:r>
            <a:endParaRPr lang="en-US" sz="850" dirty="0"/>
          </a:p>
        </p:txBody>
      </p:sp>
      <p:sp>
        <p:nvSpPr>
          <p:cNvPr id="52" name="Shape 50"/>
          <p:cNvSpPr/>
          <p:nvPr/>
        </p:nvSpPr>
        <p:spPr>
          <a:xfrm>
            <a:off x="4846320" y="4590288"/>
            <a:ext cx="3931920" cy="292608"/>
          </a:xfrm>
          <a:prstGeom prst="rect">
            <a:avLst/>
          </a:prstGeom>
          <a:solidFill>
            <a:srgbClr val="F0FDF4"/>
          </a:solidFill>
          <a:ln w="5080">
            <a:solidFill>
              <a:srgbClr val="10B981"/>
            </a:solidFill>
            <a:prstDash val="solid"/>
          </a:ln>
        </p:spPr>
      </p:sp>
      <p:sp>
        <p:nvSpPr>
          <p:cNvPr id="53" name="Text 51"/>
          <p:cNvSpPr/>
          <p:nvPr/>
        </p:nvSpPr>
        <p:spPr>
          <a:xfrm>
            <a:off x="4882896" y="4608576"/>
            <a:ext cx="3858768" cy="256032"/>
          </a:xfrm>
          <a:prstGeom prst="rect">
            <a:avLst/>
          </a:prstGeom>
          <a:noFill/>
          <a:ln/>
        </p:spPr>
        <p:txBody>
          <a:bodyPr wrap="square" lIns="0" tIns="0" rIns="0" bIns="0" rtlCol="0" anchor="ctr"/>
          <a:lstStyle/>
          <a:p>
            <a:pPr indent="0" marL="0">
              <a:buNone/>
            </a:pPr>
            <a:r>
              <a:rPr lang="en-US" sz="800" dirty="0">
                <a:solidFill>
                  <a:srgbClr val="14532D"/>
                </a:solidFill>
                <a:latin typeface="Calibri" pitchFamily="34" charset="0"/>
                <a:ea typeface="Calibri" pitchFamily="34" charset="-122"/>
                <a:cs typeface="Calibri" pitchFamily="34" charset="-120"/>
              </a:rPr>
              <a:t>✅  Declare all secrets in workflow_call secrets: block and pass them explicitly.</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162032"/>
          </a:solidFill>
          <a:ln w="12700">
            <a:solidFill>
              <a:srgbClr val="162032"/>
            </a:solidFill>
            <a:prstDash val="solid"/>
          </a:ln>
        </p:spPr>
      </p:sp>
      <p:sp>
        <p:nvSpPr>
          <p:cNvPr id="3" name="Shape 1"/>
          <p:cNvSpPr/>
          <p:nvPr/>
        </p:nvSpPr>
        <p:spPr>
          <a:xfrm>
            <a:off x="0" y="0"/>
            <a:ext cx="9144000" cy="54864"/>
          </a:xfrm>
          <a:prstGeom prst="rect">
            <a:avLst/>
          </a:prstGeom>
          <a:solidFill>
            <a:srgbClr val="06B6D4"/>
          </a:solidFill>
          <a:ln w="12700">
            <a:solidFill>
              <a:srgbClr val="06B6D4"/>
            </a:solidFill>
            <a:prstDash val="solid"/>
          </a:ln>
        </p:spPr>
      </p:sp>
      <p:sp>
        <p:nvSpPr>
          <p:cNvPr id="4" name="Text 2"/>
          <p:cNvSpPr/>
          <p:nvPr/>
        </p:nvSpPr>
        <p:spPr>
          <a:xfrm>
            <a:off x="384048" y="137160"/>
            <a:ext cx="6126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Key Takeaways — Advanced GitHub Actions</a:t>
            </a:r>
            <a:endParaRPr lang="en-US" sz="2200" dirty="0"/>
          </a:p>
        </p:txBody>
      </p:sp>
      <p:sp>
        <p:nvSpPr>
          <p:cNvPr id="5" name="Text 3"/>
          <p:cNvSpPr/>
          <p:nvPr/>
        </p:nvSpPr>
        <p:spPr>
          <a:xfrm>
            <a:off x="384048" y="594360"/>
            <a:ext cx="612648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The 8 principles that separate professional pipelines from amateur ones</a:t>
            </a:r>
            <a:endParaRPr lang="en-US" sz="1000" dirty="0"/>
          </a:p>
        </p:txBody>
      </p:sp>
      <p:sp>
        <p:nvSpPr>
          <p:cNvPr id="6" name="Shape 4"/>
          <p:cNvSpPr/>
          <p:nvPr/>
        </p:nvSpPr>
        <p:spPr>
          <a:xfrm>
            <a:off x="384048" y="987552"/>
            <a:ext cx="329184" cy="329184"/>
          </a:xfrm>
          <a:prstGeom prst="ellipse">
            <a:avLst/>
          </a:prstGeom>
          <a:solidFill>
            <a:srgbClr val="06B6D4"/>
          </a:solidFill>
          <a:ln w="12700">
            <a:solidFill>
              <a:srgbClr val="06B6D4"/>
            </a:solidFill>
            <a:prstDash val="solid"/>
          </a:ln>
        </p:spPr>
      </p:sp>
      <p:sp>
        <p:nvSpPr>
          <p:cNvPr id="7" name="Text 5"/>
          <p:cNvSpPr/>
          <p:nvPr/>
        </p:nvSpPr>
        <p:spPr>
          <a:xfrm>
            <a:off x="384048" y="98755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786384" y="987552"/>
            <a:ext cx="5623560" cy="329184"/>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Test reporting needs  if: always()  — or you lose reports when tests fail, the moment you need them most.</a:t>
            </a:r>
            <a:endParaRPr lang="en-US" sz="950" dirty="0"/>
          </a:p>
        </p:txBody>
      </p:sp>
      <p:sp>
        <p:nvSpPr>
          <p:cNvPr id="9" name="Shape 7"/>
          <p:cNvSpPr/>
          <p:nvPr/>
        </p:nvSpPr>
        <p:spPr>
          <a:xfrm>
            <a:off x="384048" y="1508760"/>
            <a:ext cx="329184" cy="329184"/>
          </a:xfrm>
          <a:prstGeom prst="ellipse">
            <a:avLst/>
          </a:prstGeom>
          <a:solidFill>
            <a:srgbClr val="1A56DB"/>
          </a:solidFill>
          <a:ln w="12700">
            <a:solidFill>
              <a:srgbClr val="1A56DB"/>
            </a:solidFill>
            <a:prstDash val="solid"/>
          </a:ln>
        </p:spPr>
      </p:sp>
      <p:sp>
        <p:nvSpPr>
          <p:cNvPr id="10" name="Text 8"/>
          <p:cNvSpPr/>
          <p:nvPr/>
        </p:nvSpPr>
        <p:spPr>
          <a:xfrm>
            <a:off x="384048" y="15087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786384" y="1508760"/>
            <a:ext cx="5623560" cy="329184"/>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Build ONCE — upload the artifact. Every downstream job downloads the SAME binary. Never rebuild.</a:t>
            </a:r>
            <a:endParaRPr lang="en-US" sz="950" dirty="0"/>
          </a:p>
        </p:txBody>
      </p:sp>
      <p:sp>
        <p:nvSpPr>
          <p:cNvPr id="12" name="Shape 10"/>
          <p:cNvSpPr/>
          <p:nvPr/>
        </p:nvSpPr>
        <p:spPr>
          <a:xfrm>
            <a:off x="384048" y="2029968"/>
            <a:ext cx="329184" cy="329184"/>
          </a:xfrm>
          <a:prstGeom prst="ellipse">
            <a:avLst/>
          </a:prstGeom>
          <a:solidFill>
            <a:srgbClr val="7C3AED"/>
          </a:solidFill>
          <a:ln w="12700">
            <a:solidFill>
              <a:srgbClr val="7C3AED"/>
            </a:solidFill>
            <a:prstDash val="solid"/>
          </a:ln>
        </p:spPr>
      </p:sp>
      <p:sp>
        <p:nvSpPr>
          <p:cNvPr id="13" name="Text 11"/>
          <p:cNvSpPr/>
          <p:nvPr/>
        </p:nvSpPr>
        <p:spPr>
          <a:xfrm>
            <a:off x="384048" y="20299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786384" y="2029968"/>
            <a:ext cx="5623560" cy="329184"/>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Use  needs:  to create dependency graphs. Parallel jobs save time. Sequential guards protect production.</a:t>
            </a:r>
            <a:endParaRPr lang="en-US" sz="950" dirty="0"/>
          </a:p>
        </p:txBody>
      </p:sp>
      <p:sp>
        <p:nvSpPr>
          <p:cNvPr id="15" name="Shape 13"/>
          <p:cNvSpPr/>
          <p:nvPr/>
        </p:nvSpPr>
        <p:spPr>
          <a:xfrm>
            <a:off x="384048" y="2551176"/>
            <a:ext cx="329184" cy="329184"/>
          </a:xfrm>
          <a:prstGeom prst="ellipse">
            <a:avLst/>
          </a:prstGeom>
          <a:solidFill>
            <a:srgbClr val="10B981"/>
          </a:solidFill>
          <a:ln w="12700">
            <a:solidFill>
              <a:srgbClr val="10B981"/>
            </a:solidFill>
            <a:prstDash val="solid"/>
          </a:ln>
        </p:spPr>
      </p:sp>
      <p:sp>
        <p:nvSpPr>
          <p:cNvPr id="16" name="Text 14"/>
          <p:cNvSpPr/>
          <p:nvPr/>
        </p:nvSpPr>
        <p:spPr>
          <a:xfrm>
            <a:off x="384048" y="255117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5"/>
          <p:cNvSpPr/>
          <p:nvPr/>
        </p:nvSpPr>
        <p:spPr>
          <a:xfrm>
            <a:off x="786384" y="2551176"/>
            <a:ext cx="5623560" cy="329184"/>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cache: 'maven'  on setup-java is one line that saves 68% build time. Always use it. No exceptions.</a:t>
            </a:r>
            <a:endParaRPr lang="en-US" sz="950" dirty="0"/>
          </a:p>
        </p:txBody>
      </p:sp>
      <p:sp>
        <p:nvSpPr>
          <p:cNvPr id="18" name="Shape 16"/>
          <p:cNvSpPr/>
          <p:nvPr/>
        </p:nvSpPr>
        <p:spPr>
          <a:xfrm>
            <a:off x="384048" y="3072384"/>
            <a:ext cx="329184" cy="329184"/>
          </a:xfrm>
          <a:prstGeom prst="ellipse">
            <a:avLst/>
          </a:prstGeom>
          <a:solidFill>
            <a:srgbClr val="0D9488"/>
          </a:solidFill>
          <a:ln w="12700">
            <a:solidFill>
              <a:srgbClr val="0D9488"/>
            </a:solidFill>
            <a:prstDash val="solid"/>
          </a:ln>
        </p:spPr>
      </p:sp>
      <p:sp>
        <p:nvSpPr>
          <p:cNvPr id="19" name="Text 17"/>
          <p:cNvSpPr/>
          <p:nvPr/>
        </p:nvSpPr>
        <p:spPr>
          <a:xfrm>
            <a:off x="384048" y="307238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8"/>
          <p:cNvSpPr/>
          <p:nvPr/>
        </p:nvSpPr>
        <p:spPr>
          <a:xfrm>
            <a:off x="786384" y="3072384"/>
            <a:ext cx="5623560" cy="329184"/>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Auto-commits need  permissions: contents: write  AND  [skip ci]  in the message. Without both, you break.</a:t>
            </a:r>
            <a:endParaRPr lang="en-US" sz="950" dirty="0"/>
          </a:p>
        </p:txBody>
      </p:sp>
      <p:sp>
        <p:nvSpPr>
          <p:cNvPr id="21" name="Shape 19"/>
          <p:cNvSpPr/>
          <p:nvPr/>
        </p:nvSpPr>
        <p:spPr>
          <a:xfrm>
            <a:off x="384048" y="3593592"/>
            <a:ext cx="329184" cy="329184"/>
          </a:xfrm>
          <a:prstGeom prst="ellipse">
            <a:avLst/>
          </a:prstGeom>
          <a:solidFill>
            <a:srgbClr val="F59E0B"/>
          </a:solidFill>
          <a:ln w="12700">
            <a:solidFill>
              <a:srgbClr val="F59E0B"/>
            </a:solidFill>
            <a:prstDash val="solid"/>
          </a:ln>
        </p:spPr>
      </p:sp>
      <p:sp>
        <p:nvSpPr>
          <p:cNvPr id="22" name="Text 20"/>
          <p:cNvSpPr/>
          <p:nvPr/>
        </p:nvSpPr>
        <p:spPr>
          <a:xfrm>
            <a:off x="384048" y="35935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3" name="Text 21"/>
          <p:cNvSpPr/>
          <p:nvPr/>
        </p:nvSpPr>
        <p:spPr>
          <a:xfrm>
            <a:off x="786384" y="3593592"/>
            <a:ext cx="5623560" cy="329184"/>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Reusable workflows eliminate 1,500 lines of duplicate YAML. One template, 15 services, zero drift.</a:t>
            </a:r>
            <a:endParaRPr lang="en-US" sz="950" dirty="0"/>
          </a:p>
        </p:txBody>
      </p:sp>
      <p:sp>
        <p:nvSpPr>
          <p:cNvPr id="24" name="Shape 22"/>
          <p:cNvSpPr/>
          <p:nvPr/>
        </p:nvSpPr>
        <p:spPr>
          <a:xfrm>
            <a:off x="384048" y="4114800"/>
            <a:ext cx="329184" cy="329184"/>
          </a:xfrm>
          <a:prstGeom prst="ellipse">
            <a:avLst/>
          </a:prstGeom>
          <a:solidFill>
            <a:srgbClr val="EA580C"/>
          </a:solidFill>
          <a:ln w="12700">
            <a:solidFill>
              <a:srgbClr val="EA580C"/>
            </a:solidFill>
            <a:prstDash val="solid"/>
          </a:ln>
        </p:spPr>
      </p:sp>
      <p:sp>
        <p:nvSpPr>
          <p:cNvPr id="25" name="Text 23"/>
          <p:cNvSpPr/>
          <p:nvPr/>
        </p:nvSpPr>
        <p:spPr>
          <a:xfrm>
            <a:off x="384048" y="41148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6" name="Text 24"/>
          <p:cNvSpPr/>
          <p:nvPr/>
        </p:nvSpPr>
        <p:spPr>
          <a:xfrm>
            <a:off x="786384" y="4114800"/>
            <a:ext cx="5623560" cy="329184"/>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if: failure()  for alerts,  if: always()  for cleanup,  branch checks  for environment routing.</a:t>
            </a:r>
            <a:endParaRPr lang="en-US" sz="950" dirty="0"/>
          </a:p>
        </p:txBody>
      </p:sp>
      <p:sp>
        <p:nvSpPr>
          <p:cNvPr id="27" name="Shape 25"/>
          <p:cNvSpPr/>
          <p:nvPr/>
        </p:nvSpPr>
        <p:spPr>
          <a:xfrm>
            <a:off x="384048" y="4636008"/>
            <a:ext cx="329184" cy="329184"/>
          </a:xfrm>
          <a:prstGeom prst="ellipse">
            <a:avLst/>
          </a:prstGeom>
          <a:solidFill>
            <a:srgbClr val="EC4899"/>
          </a:solidFill>
          <a:ln w="12700">
            <a:solidFill>
              <a:srgbClr val="EC4899"/>
            </a:solidFill>
            <a:prstDash val="solid"/>
          </a:ln>
        </p:spPr>
      </p:sp>
      <p:sp>
        <p:nvSpPr>
          <p:cNvPr id="28" name="Text 26"/>
          <p:cNvSpPr/>
          <p:nvPr/>
        </p:nvSpPr>
        <p:spPr>
          <a:xfrm>
            <a:off x="384048" y="46360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9" name="Text 27"/>
          <p:cNvSpPr/>
          <p:nvPr/>
        </p:nvSpPr>
        <p:spPr>
          <a:xfrm>
            <a:off x="786384" y="4636008"/>
            <a:ext cx="5623560" cy="329184"/>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Production secrets belong in environment secrets — not repo secrets. Approval gates are the final human gate.</a:t>
            </a:r>
            <a:endParaRPr lang="en-US" sz="950" dirty="0"/>
          </a:p>
        </p:txBody>
      </p:sp>
      <p:pic>
        <p:nvPicPr>
          <p:cNvPr id="30" name="Image 0" descr="preencoded.png">    </p:cNvPr>
          <p:cNvPicPr>
            <a:picLocks noChangeAspect="1"/>
          </p:cNvPicPr>
          <p:nvPr/>
        </p:nvPicPr>
        <p:blipFill>
          <a:blip r:embed="rId1"/>
          <a:stretch>
            <a:fillRect/>
          </a:stretch>
        </p:blipFill>
        <p:spPr>
          <a:xfrm>
            <a:off x="6858000" y="1005840"/>
            <a:ext cx="1645920" cy="1645920"/>
          </a:xfrm>
          <a:prstGeom prst="rect">
            <a:avLst/>
          </a:prstGeom>
        </p:spPr>
      </p:pic>
      <p:sp>
        <p:nvSpPr>
          <p:cNvPr id="31" name="Text 28"/>
          <p:cNvSpPr/>
          <p:nvPr/>
        </p:nvSpPr>
        <p:spPr>
          <a:xfrm>
            <a:off x="6583680" y="2788920"/>
            <a:ext cx="2468880" cy="8046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You now think</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like a DevOps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Architect</a:t>
            </a:r>
            <a:endParaRPr lang="en-US" sz="1300" dirty="0"/>
          </a:p>
        </p:txBody>
      </p:sp>
      <p:sp>
        <p:nvSpPr>
          <p:cNvPr id="32" name="Shape 29"/>
          <p:cNvSpPr/>
          <p:nvPr/>
        </p:nvSpPr>
        <p:spPr>
          <a:xfrm>
            <a:off x="6693408" y="3657600"/>
            <a:ext cx="2249424" cy="36576"/>
          </a:xfrm>
          <a:prstGeom prst="rect">
            <a:avLst/>
          </a:prstGeom>
          <a:solidFill>
            <a:srgbClr val="06B6D4"/>
          </a:solidFill>
          <a:ln w="12700">
            <a:solidFill>
              <a:srgbClr val="06B6D4"/>
            </a:solidFill>
            <a:prstDash val="solid"/>
          </a:ln>
        </p:spPr>
      </p:sp>
      <p:sp>
        <p:nvSpPr>
          <p:cNvPr id="33" name="Text 30"/>
          <p:cNvSpPr/>
          <p:nvPr/>
        </p:nvSpPr>
        <p:spPr>
          <a:xfrm>
            <a:off x="6583680" y="3749040"/>
            <a:ext cx="2468880" cy="274320"/>
          </a:xfrm>
          <a:prstGeom prst="rect">
            <a:avLst/>
          </a:prstGeom>
          <a:noFill/>
          <a:ln/>
        </p:spPr>
        <p:txBody>
          <a:bodyPr wrap="square" lIns="0" tIns="0" rIns="0" bIns="0" rtlCol="0" anchor="ctr"/>
          <a:lstStyle/>
          <a:p>
            <a:pPr algn="ctr" indent="0" marL="0">
              <a:buNone/>
            </a:pPr>
            <a:r>
              <a:rPr lang="en-US" sz="1100" dirty="0">
                <a:solidFill>
                  <a:srgbClr val="06B6D4"/>
                </a:solidFill>
                <a:latin typeface="Calibri" pitchFamily="34" charset="0"/>
                <a:ea typeface="Calibri" pitchFamily="34" charset="-122"/>
                <a:cs typeface="Calibri" pitchFamily="34" charset="-120"/>
              </a:rPr>
              <a:t>Keep automating.</a:t>
            </a:r>
            <a:endParaRPr lang="en-US" sz="1100" dirty="0"/>
          </a:p>
        </p:txBody>
      </p:sp>
      <p:sp>
        <p:nvSpPr>
          <p:cNvPr id="34" name="Text 31"/>
          <p:cNvSpPr/>
          <p:nvPr/>
        </p:nvSpPr>
        <p:spPr>
          <a:xfrm>
            <a:off x="6583680" y="4041648"/>
            <a:ext cx="2468880" cy="274320"/>
          </a:xfrm>
          <a:prstGeom prst="rect">
            <a:avLst/>
          </a:prstGeom>
          <a:noFill/>
          <a:ln/>
        </p:spPr>
        <p:txBody>
          <a:bodyPr wrap="square" lIns="0" tIns="0" rIns="0" bIns="0" rtlCol="0" anchor="ctr"/>
          <a:lstStyle/>
          <a:p>
            <a:pPr algn="ctr" indent="0" marL="0">
              <a:buNone/>
            </a:pPr>
            <a:r>
              <a:rPr lang="en-US" sz="1100" dirty="0">
                <a:solidFill>
                  <a:srgbClr val="38BDF8"/>
                </a:solidFill>
                <a:latin typeface="Calibri" pitchFamily="34" charset="0"/>
                <a:ea typeface="Calibri" pitchFamily="34" charset="-122"/>
                <a:cs typeface="Calibri" pitchFamily="34" charset="-120"/>
              </a:rPr>
              <a:t>Keep improving.</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80F1A"/>
          </a:solidFill>
          <a:ln w="12700">
            <a:solidFill>
              <a:srgbClr val="080F1A"/>
            </a:solidFill>
            <a:prstDash val="solid"/>
          </a:ln>
        </p:spPr>
      </p:sp>
      <p:sp>
        <p:nvSpPr>
          <p:cNvPr id="3" name="Shape 1"/>
          <p:cNvSpPr/>
          <p:nvPr/>
        </p:nvSpPr>
        <p:spPr>
          <a:xfrm>
            <a:off x="0" y="0"/>
            <a:ext cx="9144000" cy="54864"/>
          </a:xfrm>
          <a:prstGeom prst="rect">
            <a:avLst/>
          </a:prstGeom>
          <a:solidFill>
            <a:srgbClr val="06B6D4"/>
          </a:solidFill>
          <a:ln w="12700">
            <a:solidFill>
              <a:srgbClr val="06B6D4"/>
            </a:solidFill>
            <a:prstDash val="solid"/>
          </a:ln>
        </p:spPr>
      </p:sp>
      <p:sp>
        <p:nvSpPr>
          <p:cNvPr id="4" name="Shape 2"/>
          <p:cNvSpPr/>
          <p:nvPr/>
        </p:nvSpPr>
        <p:spPr>
          <a:xfrm>
            <a:off x="0" y="5088636"/>
            <a:ext cx="9144000" cy="54864"/>
          </a:xfrm>
          <a:prstGeom prst="rect">
            <a:avLst/>
          </a:prstGeom>
          <a:solidFill>
            <a:srgbClr val="1A56DB"/>
          </a:solidFill>
          <a:ln w="12700">
            <a:solidFill>
              <a:srgbClr val="1A56DB"/>
            </a:solidFill>
            <a:prstDash val="solid"/>
          </a:ln>
        </p:spPr>
      </p:sp>
      <p:sp>
        <p:nvSpPr>
          <p:cNvPr id="5" name="Shape 3"/>
          <p:cNvSpPr/>
          <p:nvPr/>
        </p:nvSpPr>
        <p:spPr>
          <a:xfrm>
            <a:off x="2286000" y="274320"/>
            <a:ext cx="4572000" cy="4572000"/>
          </a:xfrm>
          <a:prstGeom prst="ellipse">
            <a:avLst/>
          </a:prstGeom>
          <a:solidFill>
            <a:srgbClr val="0D1B2A"/>
          </a:solidFill>
          <a:ln w="6350">
            <a:solidFill>
              <a:srgbClr val="1B2A3B"/>
            </a:solidFill>
            <a:prstDash val="solid"/>
          </a:ln>
        </p:spPr>
      </p:sp>
      <p:sp>
        <p:nvSpPr>
          <p:cNvPr id="6" name="Shape 4"/>
          <p:cNvSpPr/>
          <p:nvPr/>
        </p:nvSpPr>
        <p:spPr>
          <a:xfrm>
            <a:off x="2926080" y="914400"/>
            <a:ext cx="3291840" cy="3291840"/>
          </a:xfrm>
          <a:prstGeom prst="ellipse">
            <a:avLst/>
          </a:prstGeom>
          <a:solidFill>
            <a:srgbClr val="111927"/>
          </a:solidFill>
          <a:ln w="12700">
            <a:solidFill>
              <a:srgbClr val="111927"/>
            </a:solidFill>
            <a:prstDash val="solid"/>
          </a:ln>
        </p:spPr>
      </p:sp>
      <p:pic>
        <p:nvPicPr>
          <p:cNvPr id="7" name="Image 0" descr="preencoded.png">    </p:cNvPr>
          <p:cNvPicPr>
            <a:picLocks noChangeAspect="1"/>
          </p:cNvPicPr>
          <p:nvPr/>
        </p:nvPicPr>
        <p:blipFill>
          <a:blip r:embed="rId1"/>
          <a:stretch>
            <a:fillRect/>
          </a:stretch>
        </p:blipFill>
        <p:spPr>
          <a:xfrm>
            <a:off x="3749040" y="1463040"/>
            <a:ext cx="1645920" cy="1645920"/>
          </a:xfrm>
          <a:prstGeom prst="rect">
            <a:avLst/>
          </a:prstGeom>
        </p:spPr>
      </p:pic>
      <p:sp>
        <p:nvSpPr>
          <p:cNvPr id="8" name="Text 5"/>
          <p:cNvSpPr/>
          <p:nvPr/>
        </p:nvSpPr>
        <p:spPr>
          <a:xfrm>
            <a:off x="365760" y="731520"/>
            <a:ext cx="2286000" cy="10972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You are now</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Building Production-</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Grade CI/CD.</a:t>
            </a:r>
            <a:endParaRPr lang="en-US" sz="1600" dirty="0"/>
          </a:p>
        </p:txBody>
      </p:sp>
      <p:sp>
        <p:nvSpPr>
          <p:cNvPr id="9" name="Text 6"/>
          <p:cNvSpPr/>
          <p:nvPr/>
        </p:nvSpPr>
        <p:spPr>
          <a:xfrm>
            <a:off x="365760" y="1920240"/>
            <a:ext cx="2286000" cy="256032"/>
          </a:xfrm>
          <a:prstGeom prst="rect">
            <a:avLst/>
          </a:prstGeom>
          <a:noFill/>
          <a:ln/>
        </p:spPr>
        <p:txBody>
          <a:bodyPr wrap="square" lIns="0" tIns="0" rIns="0" bIns="0" rtlCol="0" anchor="ctr"/>
          <a:lstStyle/>
          <a:p>
            <a:pPr indent="0" marL="0">
              <a:buNone/>
            </a:pPr>
            <a:r>
              <a:rPr lang="en-US" sz="950" dirty="0">
                <a:solidFill>
                  <a:srgbClr val="06B6D4"/>
                </a:solidFill>
                <a:latin typeface="Calibri" pitchFamily="34" charset="0"/>
                <a:ea typeface="Calibri" pitchFamily="34" charset="-122"/>
                <a:cs typeface="Calibri" pitchFamily="34" charset="-120"/>
              </a:rPr>
              <a:t>Modules Completed</a:t>
            </a:r>
            <a:endParaRPr lang="en-US" sz="950" dirty="0"/>
          </a:p>
        </p:txBody>
      </p:sp>
      <p:sp>
        <p:nvSpPr>
          <p:cNvPr id="10" name="Text 7"/>
          <p:cNvSpPr/>
          <p:nvPr/>
        </p:nvSpPr>
        <p:spPr>
          <a:xfrm>
            <a:off x="365760" y="2212848"/>
            <a:ext cx="2286000" cy="274320"/>
          </a:xfrm>
          <a:prstGeom prst="rect">
            <a:avLst/>
          </a:prstGeom>
          <a:noFill/>
          <a:ln/>
        </p:spPr>
        <p:txBody>
          <a:bodyPr wrap="square" lIns="0" tIns="0" rIns="0" bIns="0" rtlCol="0" anchor="ctr"/>
          <a:lstStyle/>
          <a:p>
            <a:pPr indent="0" marL="0">
              <a:buNone/>
            </a:pPr>
            <a:r>
              <a:rPr lang="en-US" sz="850" dirty="0">
                <a:solidFill>
                  <a:srgbClr val="CBD5E1"/>
                </a:solidFill>
                <a:latin typeface="Calibri" pitchFamily="34" charset="0"/>
                <a:ea typeface="Calibri" pitchFamily="34" charset="-122"/>
                <a:cs typeface="Calibri" pitchFamily="34" charset="-120"/>
              </a:rPr>
              <a:t>✅ Unit Testing in Workflows</a:t>
            </a:r>
            <a:endParaRPr lang="en-US" sz="850" dirty="0"/>
          </a:p>
        </p:txBody>
      </p:sp>
      <p:sp>
        <p:nvSpPr>
          <p:cNvPr id="11" name="Text 8"/>
          <p:cNvSpPr/>
          <p:nvPr/>
        </p:nvSpPr>
        <p:spPr>
          <a:xfrm>
            <a:off x="365760" y="2532888"/>
            <a:ext cx="2286000" cy="274320"/>
          </a:xfrm>
          <a:prstGeom prst="rect">
            <a:avLst/>
          </a:prstGeom>
          <a:noFill/>
          <a:ln/>
        </p:spPr>
        <p:txBody>
          <a:bodyPr wrap="square" lIns="0" tIns="0" rIns="0" bIns="0" rtlCol="0" anchor="ctr"/>
          <a:lstStyle/>
          <a:p>
            <a:pPr indent="0" marL="0">
              <a:buNone/>
            </a:pPr>
            <a:r>
              <a:rPr lang="en-US" sz="850" dirty="0">
                <a:solidFill>
                  <a:srgbClr val="CBD5E1"/>
                </a:solidFill>
                <a:latin typeface="Calibri" pitchFamily="34" charset="0"/>
                <a:ea typeface="Calibri" pitchFamily="34" charset="-122"/>
                <a:cs typeface="Calibri" pitchFamily="34" charset="-120"/>
              </a:rPr>
              <a:t>✅ Build Artifacts</a:t>
            </a:r>
            <a:endParaRPr lang="en-US" sz="850" dirty="0"/>
          </a:p>
        </p:txBody>
      </p:sp>
      <p:sp>
        <p:nvSpPr>
          <p:cNvPr id="12" name="Text 9"/>
          <p:cNvSpPr/>
          <p:nvPr/>
        </p:nvSpPr>
        <p:spPr>
          <a:xfrm>
            <a:off x="365760" y="2852928"/>
            <a:ext cx="2286000" cy="274320"/>
          </a:xfrm>
          <a:prstGeom prst="rect">
            <a:avLst/>
          </a:prstGeom>
          <a:noFill/>
          <a:ln/>
        </p:spPr>
        <p:txBody>
          <a:bodyPr wrap="square" lIns="0" tIns="0" rIns="0" bIns="0" rtlCol="0" anchor="ctr"/>
          <a:lstStyle/>
          <a:p>
            <a:pPr indent="0" marL="0">
              <a:buNone/>
            </a:pPr>
            <a:r>
              <a:rPr lang="en-US" sz="850" dirty="0">
                <a:solidFill>
                  <a:srgbClr val="CBD5E1"/>
                </a:solidFill>
                <a:latin typeface="Calibri" pitchFamily="34" charset="0"/>
                <a:ea typeface="Calibri" pitchFamily="34" charset="-122"/>
                <a:cs typeface="Calibri" pitchFamily="34" charset="-120"/>
              </a:rPr>
              <a:t>✅ Sequential Multi-Jobs</a:t>
            </a:r>
            <a:endParaRPr lang="en-US" sz="850" dirty="0"/>
          </a:p>
        </p:txBody>
      </p:sp>
      <p:sp>
        <p:nvSpPr>
          <p:cNvPr id="13" name="Text 10"/>
          <p:cNvSpPr/>
          <p:nvPr/>
        </p:nvSpPr>
        <p:spPr>
          <a:xfrm>
            <a:off x="365760" y="3172968"/>
            <a:ext cx="2286000" cy="274320"/>
          </a:xfrm>
          <a:prstGeom prst="rect">
            <a:avLst/>
          </a:prstGeom>
          <a:noFill/>
          <a:ln/>
        </p:spPr>
        <p:txBody>
          <a:bodyPr wrap="square" lIns="0" tIns="0" rIns="0" bIns="0" rtlCol="0" anchor="ctr"/>
          <a:lstStyle/>
          <a:p>
            <a:pPr indent="0" marL="0">
              <a:buNone/>
            </a:pPr>
            <a:r>
              <a:rPr lang="en-US" sz="850" dirty="0">
                <a:solidFill>
                  <a:srgbClr val="CBD5E1"/>
                </a:solidFill>
                <a:latin typeface="Calibri" pitchFamily="34" charset="0"/>
                <a:ea typeface="Calibri" pitchFamily="34" charset="-122"/>
                <a:cs typeface="Calibri" pitchFamily="34" charset="-120"/>
              </a:rPr>
              <a:t>✅ Dependency Caching</a:t>
            </a:r>
            <a:endParaRPr lang="en-US" sz="850" dirty="0"/>
          </a:p>
        </p:txBody>
      </p:sp>
      <p:sp>
        <p:nvSpPr>
          <p:cNvPr id="14" name="Text 11"/>
          <p:cNvSpPr/>
          <p:nvPr/>
        </p:nvSpPr>
        <p:spPr>
          <a:xfrm>
            <a:off x="365760" y="3493008"/>
            <a:ext cx="2286000" cy="274320"/>
          </a:xfrm>
          <a:prstGeom prst="rect">
            <a:avLst/>
          </a:prstGeom>
          <a:noFill/>
          <a:ln/>
        </p:spPr>
        <p:txBody>
          <a:bodyPr wrap="square" lIns="0" tIns="0" rIns="0" bIns="0" rtlCol="0" anchor="ctr"/>
          <a:lstStyle/>
          <a:p>
            <a:pPr indent="0" marL="0">
              <a:buNone/>
            </a:pPr>
            <a:r>
              <a:rPr lang="en-US" sz="850" dirty="0">
                <a:solidFill>
                  <a:srgbClr val="CBD5E1"/>
                </a:solidFill>
                <a:latin typeface="Calibri" pitchFamily="34" charset="0"/>
                <a:ea typeface="Calibri" pitchFamily="34" charset="-122"/>
                <a:cs typeface="Calibri" pitchFamily="34" charset="-120"/>
              </a:rPr>
              <a:t>✅ Committing to Repo</a:t>
            </a:r>
            <a:endParaRPr lang="en-US" sz="850" dirty="0"/>
          </a:p>
        </p:txBody>
      </p:sp>
      <p:sp>
        <p:nvSpPr>
          <p:cNvPr id="15" name="Text 12"/>
          <p:cNvSpPr/>
          <p:nvPr/>
        </p:nvSpPr>
        <p:spPr>
          <a:xfrm>
            <a:off x="365760" y="3813048"/>
            <a:ext cx="2286000" cy="274320"/>
          </a:xfrm>
          <a:prstGeom prst="rect">
            <a:avLst/>
          </a:prstGeom>
          <a:noFill/>
          <a:ln/>
        </p:spPr>
        <p:txBody>
          <a:bodyPr wrap="square" lIns="0" tIns="0" rIns="0" bIns="0" rtlCol="0" anchor="ctr"/>
          <a:lstStyle/>
          <a:p>
            <a:pPr indent="0" marL="0">
              <a:buNone/>
            </a:pPr>
            <a:r>
              <a:rPr lang="en-US" sz="850" dirty="0">
                <a:solidFill>
                  <a:srgbClr val="CBD5E1"/>
                </a:solidFill>
                <a:latin typeface="Calibri" pitchFamily="34" charset="0"/>
                <a:ea typeface="Calibri" pitchFamily="34" charset="-122"/>
                <a:cs typeface="Calibri" pitchFamily="34" charset="-120"/>
              </a:rPr>
              <a:t>✅ Reusable Workflows</a:t>
            </a:r>
            <a:endParaRPr lang="en-US" sz="850" dirty="0"/>
          </a:p>
        </p:txBody>
      </p:sp>
      <p:sp>
        <p:nvSpPr>
          <p:cNvPr id="16" name="Text 13"/>
          <p:cNvSpPr/>
          <p:nvPr/>
        </p:nvSpPr>
        <p:spPr>
          <a:xfrm>
            <a:off x="365760" y="4133088"/>
            <a:ext cx="2286000" cy="274320"/>
          </a:xfrm>
          <a:prstGeom prst="rect">
            <a:avLst/>
          </a:prstGeom>
          <a:noFill/>
          <a:ln/>
        </p:spPr>
        <p:txBody>
          <a:bodyPr wrap="square" lIns="0" tIns="0" rIns="0" bIns="0" rtlCol="0" anchor="ctr"/>
          <a:lstStyle/>
          <a:p>
            <a:pPr indent="0" marL="0">
              <a:buNone/>
            </a:pPr>
            <a:r>
              <a:rPr lang="en-US" sz="850" dirty="0">
                <a:solidFill>
                  <a:srgbClr val="CBD5E1"/>
                </a:solidFill>
                <a:latin typeface="Calibri" pitchFamily="34" charset="0"/>
                <a:ea typeface="Calibri" pitchFamily="34" charset="-122"/>
                <a:cs typeface="Calibri" pitchFamily="34" charset="-120"/>
              </a:rPr>
              <a:t>✅ Conditional Execution</a:t>
            </a:r>
            <a:endParaRPr lang="en-US" sz="850" dirty="0"/>
          </a:p>
        </p:txBody>
      </p:sp>
      <p:sp>
        <p:nvSpPr>
          <p:cNvPr id="17" name="Text 14"/>
          <p:cNvSpPr/>
          <p:nvPr/>
        </p:nvSpPr>
        <p:spPr>
          <a:xfrm>
            <a:off x="365760" y="4453128"/>
            <a:ext cx="2286000" cy="274320"/>
          </a:xfrm>
          <a:prstGeom prst="rect">
            <a:avLst/>
          </a:prstGeom>
          <a:noFill/>
          <a:ln/>
        </p:spPr>
        <p:txBody>
          <a:bodyPr wrap="square" lIns="0" tIns="0" rIns="0" bIns="0" rtlCol="0" anchor="ctr"/>
          <a:lstStyle/>
          <a:p>
            <a:pPr indent="0" marL="0">
              <a:buNone/>
            </a:pPr>
            <a:r>
              <a:rPr lang="en-US" sz="850" dirty="0">
                <a:solidFill>
                  <a:srgbClr val="CBD5E1"/>
                </a:solidFill>
                <a:latin typeface="Calibri" pitchFamily="34" charset="0"/>
                <a:ea typeface="Calibri" pitchFamily="34" charset="-122"/>
                <a:cs typeface="Calibri" pitchFamily="34" charset="-120"/>
              </a:rPr>
              <a:t>✅ Targeting Environments</a:t>
            </a:r>
            <a:endParaRPr lang="en-US" sz="850" dirty="0"/>
          </a:p>
        </p:txBody>
      </p:sp>
      <p:sp>
        <p:nvSpPr>
          <p:cNvPr id="18" name="Shape 15"/>
          <p:cNvSpPr/>
          <p:nvPr/>
        </p:nvSpPr>
        <p:spPr>
          <a:xfrm>
            <a:off x="6583680" y="594360"/>
            <a:ext cx="2331720" cy="2148840"/>
          </a:xfrm>
          <a:prstGeom prst="rect">
            <a:avLst/>
          </a:prstGeom>
          <a:solidFill>
            <a:srgbClr val="1A56DB"/>
          </a:solidFill>
          <a:ln w="12700">
            <a:solidFill>
              <a:srgbClr val="1A56DB"/>
            </a:solidFill>
            <a:prstDash val="solid"/>
          </a:ln>
        </p:spPr>
      </p:sp>
      <p:sp>
        <p:nvSpPr>
          <p:cNvPr id="19" name="Text 16"/>
          <p:cNvSpPr/>
          <p:nvPr/>
        </p:nvSpPr>
        <p:spPr>
          <a:xfrm>
            <a:off x="6583680" y="685800"/>
            <a:ext cx="233172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Q &amp; A</a:t>
            </a:r>
            <a:endParaRPr lang="en-US" sz="3200" dirty="0"/>
          </a:p>
        </p:txBody>
      </p:sp>
      <p:sp>
        <p:nvSpPr>
          <p:cNvPr id="20" name="Text 17"/>
          <p:cNvSpPr/>
          <p:nvPr/>
        </p:nvSpPr>
        <p:spPr>
          <a:xfrm>
            <a:off x="6583680" y="1353312"/>
            <a:ext cx="2331720" cy="548640"/>
          </a:xfrm>
          <a:prstGeom prst="rect">
            <a:avLst/>
          </a:prstGeom>
          <a:noFill/>
          <a:ln/>
        </p:spPr>
        <p:txBody>
          <a:bodyPr wrap="square" lIns="0" tIns="0" rIns="0" bIns="0" rtlCol="0" anchor="ctr"/>
          <a:lstStyle/>
          <a:p>
            <a:pPr algn="ctr" indent="0" marL="0">
              <a:buNone/>
            </a:pPr>
            <a:r>
              <a:rPr lang="en-US" sz="1150" dirty="0">
                <a:solidFill>
                  <a:srgbClr val="DBEAFE"/>
                </a:solidFill>
                <a:latin typeface="Calibri" pitchFamily="34" charset="0"/>
                <a:ea typeface="Calibri" pitchFamily="34" charset="-122"/>
                <a:cs typeface="Calibri" pitchFamily="34" charset="-120"/>
              </a:rPr>
              <a:t>Ask about any</a:t>
            </a:r>
            <a:endParaRPr lang="en-US" sz="1150" dirty="0"/>
          </a:p>
          <a:p>
            <a:pPr algn="ctr" indent="0" marL="0">
              <a:buNone/>
            </a:pPr>
            <a:r>
              <a:rPr lang="en-US" sz="1150" dirty="0">
                <a:solidFill>
                  <a:srgbClr val="DBEAFE"/>
                </a:solidFill>
                <a:latin typeface="Calibri" pitchFamily="34" charset="0"/>
                <a:ea typeface="Calibri" pitchFamily="34" charset="-122"/>
                <a:cs typeface="Calibri" pitchFamily="34" charset="-120"/>
              </a:rPr>
              <a:t>concept today.</a:t>
            </a:r>
            <a:endParaRPr lang="en-US" sz="1150" dirty="0"/>
          </a:p>
        </p:txBody>
      </p:sp>
      <p:sp>
        <p:nvSpPr>
          <p:cNvPr id="21" name="Text 18"/>
          <p:cNvSpPr/>
          <p:nvPr/>
        </p:nvSpPr>
        <p:spPr>
          <a:xfrm>
            <a:off x="6583680" y="1920240"/>
            <a:ext cx="2331720" cy="274320"/>
          </a:xfrm>
          <a:prstGeom prst="rect">
            <a:avLst/>
          </a:prstGeom>
          <a:noFill/>
          <a:ln/>
        </p:spPr>
        <p:txBody>
          <a:bodyPr wrap="square" lIns="0" tIns="0" rIns="0" bIns="0" rtlCol="0" anchor="ctr"/>
          <a:lstStyle/>
          <a:p>
            <a:pPr algn="ctr" indent="0" marL="0">
              <a:buNone/>
            </a:pPr>
            <a:r>
              <a:rPr lang="en-US" sz="900" i="1" dirty="0">
                <a:solidFill>
                  <a:srgbClr val="38BDF8"/>
                </a:solidFill>
                <a:latin typeface="Calibri" pitchFamily="34" charset="0"/>
                <a:ea typeface="Calibri" pitchFamily="34" charset="-122"/>
                <a:cs typeface="Calibri" pitchFamily="34" charset="-120"/>
              </a:rPr>
              <a:t>No question too basic.</a:t>
            </a:r>
            <a:endParaRPr lang="en-US" sz="900" dirty="0"/>
          </a:p>
        </p:txBody>
      </p:sp>
      <p:sp>
        <p:nvSpPr>
          <p:cNvPr id="22" name="Shape 19"/>
          <p:cNvSpPr/>
          <p:nvPr/>
        </p:nvSpPr>
        <p:spPr>
          <a:xfrm>
            <a:off x="6583680" y="2359152"/>
            <a:ext cx="36576" cy="329184"/>
          </a:xfrm>
          <a:prstGeom prst="rect">
            <a:avLst/>
          </a:prstGeom>
          <a:solidFill>
            <a:srgbClr val="06B6D4"/>
          </a:solidFill>
          <a:ln w="12700">
            <a:solidFill>
              <a:srgbClr val="06B6D4"/>
            </a:solidFill>
            <a:prstDash val="solid"/>
          </a:ln>
        </p:spPr>
      </p:sp>
      <p:sp>
        <p:nvSpPr>
          <p:cNvPr id="23" name="Shape 20"/>
          <p:cNvSpPr/>
          <p:nvPr/>
        </p:nvSpPr>
        <p:spPr>
          <a:xfrm>
            <a:off x="6583680" y="2816352"/>
            <a:ext cx="2331720" cy="1938528"/>
          </a:xfrm>
          <a:prstGeom prst="rect">
            <a:avLst/>
          </a:prstGeom>
          <a:solidFill>
            <a:srgbClr val="1B2A3B"/>
          </a:solidFill>
          <a:ln w="6350">
            <a:solidFill>
              <a:srgbClr val="334155"/>
            </a:solidFill>
            <a:prstDash val="solid"/>
          </a:ln>
        </p:spPr>
      </p:sp>
      <p:sp>
        <p:nvSpPr>
          <p:cNvPr id="24" name="Text 21"/>
          <p:cNvSpPr/>
          <p:nvPr/>
        </p:nvSpPr>
        <p:spPr>
          <a:xfrm>
            <a:off x="6583680" y="2880360"/>
            <a:ext cx="2331720" cy="256032"/>
          </a:xfrm>
          <a:prstGeom prst="rect">
            <a:avLst/>
          </a:prstGeom>
          <a:noFill/>
          <a:ln/>
        </p:spPr>
        <p:txBody>
          <a:bodyPr wrap="square" lIns="0" tIns="0" rIns="0" bIns="0" rtlCol="0" anchor="ctr"/>
          <a:lstStyle/>
          <a:p>
            <a:pPr algn="ctr" indent="0" marL="0">
              <a:buNone/>
            </a:pPr>
            <a:r>
              <a:rPr lang="en-US" sz="1000" b="1" dirty="0">
                <a:solidFill>
                  <a:srgbClr val="06B6D4"/>
                </a:solidFill>
                <a:latin typeface="Calibri" pitchFamily="34" charset="0"/>
                <a:ea typeface="Calibri" pitchFamily="34" charset="-122"/>
                <a:cs typeface="Calibri" pitchFamily="34" charset="-120"/>
              </a:rPr>
              <a:t>Next Session Preview</a:t>
            </a:r>
            <a:endParaRPr lang="en-US" sz="1000" dirty="0"/>
          </a:p>
        </p:txBody>
      </p:sp>
      <p:sp>
        <p:nvSpPr>
          <p:cNvPr id="25" name="Text 22"/>
          <p:cNvSpPr/>
          <p:nvPr/>
        </p:nvSpPr>
        <p:spPr>
          <a:xfrm>
            <a:off x="6656832" y="3200400"/>
            <a:ext cx="2176272" cy="27432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 Docker in GitHub Actions</a:t>
            </a:r>
            <a:endParaRPr lang="en-US" sz="850" dirty="0"/>
          </a:p>
        </p:txBody>
      </p:sp>
      <p:sp>
        <p:nvSpPr>
          <p:cNvPr id="26" name="Text 23"/>
          <p:cNvSpPr/>
          <p:nvPr/>
        </p:nvSpPr>
        <p:spPr>
          <a:xfrm>
            <a:off x="6656832" y="3511296"/>
            <a:ext cx="2176272" cy="27432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 Container Registry (ECR/GCR)</a:t>
            </a:r>
            <a:endParaRPr lang="en-US" sz="850" dirty="0"/>
          </a:p>
        </p:txBody>
      </p:sp>
      <p:sp>
        <p:nvSpPr>
          <p:cNvPr id="27" name="Text 24"/>
          <p:cNvSpPr/>
          <p:nvPr/>
        </p:nvSpPr>
        <p:spPr>
          <a:xfrm>
            <a:off x="6656832" y="3822192"/>
            <a:ext cx="2176272" cy="27432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 Kubernetes CD Patterns</a:t>
            </a:r>
            <a:endParaRPr lang="en-US" sz="850" dirty="0"/>
          </a:p>
        </p:txBody>
      </p:sp>
      <p:sp>
        <p:nvSpPr>
          <p:cNvPr id="28" name="Text 25"/>
          <p:cNvSpPr/>
          <p:nvPr/>
        </p:nvSpPr>
        <p:spPr>
          <a:xfrm>
            <a:off x="6656832" y="4133088"/>
            <a:ext cx="2176272" cy="27432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 OIDC — No Long-Lived Keys</a:t>
            </a:r>
            <a:endParaRPr lang="en-US" sz="850" dirty="0"/>
          </a:p>
        </p:txBody>
      </p:sp>
      <p:sp>
        <p:nvSpPr>
          <p:cNvPr id="29" name="Text 26"/>
          <p:cNvSpPr/>
          <p:nvPr/>
        </p:nvSpPr>
        <p:spPr>
          <a:xfrm>
            <a:off x="6656832" y="4443984"/>
            <a:ext cx="2176272" cy="27432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 Matrix Builds</a:t>
            </a:r>
            <a:endParaRPr lang="en-US" sz="850" dirty="0"/>
          </a:p>
        </p:txBody>
      </p:sp>
      <p:sp>
        <p:nvSpPr>
          <p:cNvPr id="30" name="Shape 27"/>
          <p:cNvSpPr/>
          <p:nvPr/>
        </p:nvSpPr>
        <p:spPr>
          <a:xfrm>
            <a:off x="347472" y="4709160"/>
            <a:ext cx="6126480" cy="365760"/>
          </a:xfrm>
          <a:prstGeom prst="rect">
            <a:avLst/>
          </a:prstGeom>
          <a:solidFill>
            <a:srgbClr val="1B2A3B"/>
          </a:solidFill>
          <a:ln w="6350">
            <a:solidFill>
              <a:srgbClr val="334155"/>
            </a:solidFill>
            <a:prstDash val="solid"/>
          </a:ln>
        </p:spPr>
      </p:sp>
      <p:sp>
        <p:nvSpPr>
          <p:cNvPr id="31" name="Text 28"/>
          <p:cNvSpPr/>
          <p:nvPr/>
        </p:nvSpPr>
        <p:spPr>
          <a:xfrm>
            <a:off x="384048" y="4736592"/>
            <a:ext cx="6035040" cy="310896"/>
          </a:xfrm>
          <a:prstGeom prst="rect">
            <a:avLst/>
          </a:prstGeom>
          <a:noFill/>
          <a:ln/>
        </p:spPr>
        <p:txBody>
          <a:bodyPr wrap="square" lIns="0" tIns="0" rIns="0" bIns="0" rtlCol="0" anchor="ctr"/>
          <a:lstStyle/>
          <a:p>
            <a:pPr indent="0" marL="0">
              <a:buNone/>
            </a:pPr>
            <a:r>
              <a:rPr lang="en-US" sz="900" dirty="0">
                <a:solidFill>
                  <a:srgbClr val="06B6D4"/>
                </a:solidFill>
                <a:latin typeface="Calibri" pitchFamily="34" charset="0"/>
                <a:ea typeface="Calibri" pitchFamily="34" charset="-122"/>
                <a:cs typeface="Calibri" pitchFamily="34" charset="-120"/>
              </a:rPr>
              <a:t>🎯 Practice: Build a 5-job pipeline for your Spring Boot project with caching, artifacts, staging environment + approval gate.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Actions Advanced — Complete Professional Training</dc:title>
  <dc:subject>PptxGenJS Presentation</dc:subject>
  <dc:creator>Senior DevOps &amp; Java Architect</dc:creator>
  <cp:lastModifiedBy>Senior DevOps &amp; Java Architect</cp:lastModifiedBy>
  <cp:revision>1</cp:revision>
  <dcterms:created xsi:type="dcterms:W3CDTF">2026-03-12T08:27:26Z</dcterms:created>
  <dcterms:modified xsi:type="dcterms:W3CDTF">2026-03-12T08:27:26Z</dcterms:modified>
</cp:coreProperties>
</file>