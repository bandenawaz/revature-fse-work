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6E"/>
          </a:solidFill>
          <a:ln w="12700">
            <a:solidFill>
              <a:srgbClr val="0D1B6E"/>
            </a:solidFill>
            <a:prstDash val="solid"/>
          </a:ln>
        </p:spPr>
      </p:sp>
      <p:sp>
        <p:nvSpPr>
          <p:cNvPr id="3" name="Shape 1"/>
          <p:cNvSpPr/>
          <p:nvPr/>
        </p:nvSpPr>
        <p:spPr>
          <a:xfrm>
            <a:off x="0" y="3520440"/>
            <a:ext cx="9144000" cy="1623060"/>
          </a:xfrm>
          <a:prstGeom prst="rect">
            <a:avLst/>
          </a:prstGeom>
          <a:solidFill>
            <a:srgbClr val="283593"/>
          </a:solidFill>
          <a:ln w="12700">
            <a:solidFill>
              <a:srgbClr val="283593"/>
            </a:solidFill>
            <a:prstDash val="solid"/>
          </a:ln>
        </p:spPr>
      </p:sp>
      <p:sp>
        <p:nvSpPr>
          <p:cNvPr id="4" name="Shape 2"/>
          <p:cNvSpPr/>
          <p:nvPr/>
        </p:nvSpPr>
        <p:spPr>
          <a:xfrm>
            <a:off x="0" y="3493008"/>
            <a:ext cx="9144000" cy="109728"/>
          </a:xfrm>
          <a:prstGeom prst="rect">
            <a:avLst/>
          </a:prstGeom>
          <a:solidFill>
            <a:srgbClr val="00ACC1"/>
          </a:solidFill>
          <a:ln w="12700">
            <a:solidFill>
              <a:srgbClr val="00ACC1"/>
            </a:solidFill>
            <a:prstDash val="solid"/>
          </a:ln>
        </p:spPr>
      </p:sp>
      <p:sp>
        <p:nvSpPr>
          <p:cNvPr id="5" name="Shape 3"/>
          <p:cNvSpPr/>
          <p:nvPr/>
        </p:nvSpPr>
        <p:spPr>
          <a:xfrm>
            <a:off x="0" y="0"/>
            <a:ext cx="411480" cy="5143500"/>
          </a:xfrm>
          <a:prstGeom prst="rect">
            <a:avLst/>
          </a:prstGeom>
          <a:solidFill>
            <a:srgbClr val="00ACC1"/>
          </a:solidFill>
          <a:ln w="12700">
            <a:solidFill>
              <a:srgbClr val="00ACC1"/>
            </a:solidFill>
            <a:prstDash val="solid"/>
          </a:ln>
        </p:spPr>
      </p:sp>
      <p:sp>
        <p:nvSpPr>
          <p:cNvPr id="6" name="Shape 4"/>
          <p:cNvSpPr/>
          <p:nvPr/>
        </p:nvSpPr>
        <p:spPr>
          <a:xfrm>
            <a:off x="6583680" y="-731520"/>
            <a:ext cx="4114800" cy="4114800"/>
          </a:xfrm>
          <a:prstGeom prst="ellipse">
            <a:avLst/>
          </a:prstGeom>
          <a:solidFill>
            <a:srgbClr val="202D7A"/>
          </a:solidFill>
          <a:ln w="12700">
            <a:solidFill>
              <a:srgbClr val="202D7A"/>
            </a:solidFill>
            <a:prstDash val="solid"/>
          </a:ln>
        </p:spPr>
      </p:sp>
      <p:sp>
        <p:nvSpPr>
          <p:cNvPr id="7" name="Shape 5"/>
          <p:cNvSpPr/>
          <p:nvPr/>
        </p:nvSpPr>
        <p:spPr>
          <a:xfrm>
            <a:off x="7315200" y="2743200"/>
            <a:ext cx="2286000" cy="2286000"/>
          </a:xfrm>
          <a:prstGeom prst="ellipse">
            <a:avLst/>
          </a:prstGeom>
          <a:solidFill>
            <a:srgbClr val="1E3A8A"/>
          </a:solidFill>
          <a:ln w="12700">
            <a:solidFill>
              <a:srgbClr val="1E3A8A"/>
            </a:solidFill>
            <a:prstDash val="solid"/>
          </a:ln>
        </p:spPr>
      </p:sp>
      <p:sp>
        <p:nvSpPr>
          <p:cNvPr id="8" name="Text 6"/>
          <p:cNvSpPr/>
          <p:nvPr/>
        </p:nvSpPr>
        <p:spPr>
          <a:xfrm>
            <a:off x="594360" y="548640"/>
            <a:ext cx="8229600" cy="822960"/>
          </a:xfrm>
          <a:prstGeom prst="rect">
            <a:avLst/>
          </a:prstGeom>
          <a:noFill/>
          <a:ln/>
        </p:spPr>
        <p:txBody>
          <a:bodyPr wrap="square" lIns="0" tIns="0" rIns="0" bIns="0" rtlCol="0" anchor="ctr"/>
          <a:lstStyle/>
          <a:p>
            <a:pPr indent="0" marL="0">
              <a:buNone/>
            </a:pPr>
            <a:r>
              <a:rPr lang="en-US" sz="5200" b="1" dirty="0">
                <a:solidFill>
                  <a:srgbClr val="FFFFFF"/>
                </a:solidFill>
                <a:latin typeface="Trebuchet MS" pitchFamily="34" charset="0"/>
                <a:ea typeface="Trebuchet MS" pitchFamily="34" charset="-122"/>
                <a:cs typeface="Trebuchet MS" pitchFamily="34" charset="-120"/>
              </a:rPr>
              <a:t>Azure Cloud</a:t>
            </a:r>
            <a:endParaRPr lang="en-US" sz="5200" dirty="0"/>
          </a:p>
        </p:txBody>
      </p:sp>
      <p:sp>
        <p:nvSpPr>
          <p:cNvPr id="9" name="Text 7"/>
          <p:cNvSpPr/>
          <p:nvPr/>
        </p:nvSpPr>
        <p:spPr>
          <a:xfrm>
            <a:off x="594360" y="1325880"/>
            <a:ext cx="8229600" cy="822960"/>
          </a:xfrm>
          <a:prstGeom prst="rect">
            <a:avLst/>
          </a:prstGeom>
          <a:noFill/>
          <a:ln/>
        </p:spPr>
        <p:txBody>
          <a:bodyPr wrap="square" lIns="0" tIns="0" rIns="0" bIns="0" rtlCol="0" anchor="ctr"/>
          <a:lstStyle/>
          <a:p>
            <a:pPr indent="0" marL="0">
              <a:buNone/>
            </a:pPr>
            <a:r>
              <a:rPr lang="en-US" sz="5200" b="1" dirty="0">
                <a:solidFill>
                  <a:srgbClr val="00ACC1"/>
                </a:solidFill>
                <a:latin typeface="Trebuchet MS" pitchFamily="34" charset="0"/>
                <a:ea typeface="Trebuchet MS" pitchFamily="34" charset="-122"/>
                <a:cs typeface="Trebuchet MS" pitchFamily="34" charset="-120"/>
              </a:rPr>
              <a:t>Masterclass</a:t>
            </a:r>
            <a:endParaRPr lang="en-US" sz="5200" dirty="0"/>
          </a:p>
        </p:txBody>
      </p:sp>
      <p:sp>
        <p:nvSpPr>
          <p:cNvPr id="10" name="Text 8"/>
          <p:cNvSpPr/>
          <p:nvPr/>
        </p:nvSpPr>
        <p:spPr>
          <a:xfrm>
            <a:off x="594360" y="2194560"/>
            <a:ext cx="6400800" cy="457200"/>
          </a:xfrm>
          <a:prstGeom prst="rect">
            <a:avLst/>
          </a:prstGeom>
          <a:noFill/>
          <a:ln/>
        </p:spPr>
        <p:txBody>
          <a:bodyPr wrap="square" lIns="0" tIns="0" rIns="0" bIns="0" rtlCol="0" anchor="ctr"/>
          <a:lstStyle/>
          <a:p>
            <a:pPr indent="0" marL="0">
              <a:buNone/>
            </a:pPr>
            <a:r>
              <a:rPr lang="en-US" sz="1700" i="1" dirty="0">
                <a:solidFill>
                  <a:srgbClr val="90CAF9"/>
                </a:solidFill>
                <a:latin typeface="Calibri" pitchFamily="34" charset="0"/>
                <a:ea typeface="Calibri" pitchFamily="34" charset="-122"/>
                <a:cs typeface="Calibri" pitchFamily="34" charset="-120"/>
              </a:rPr>
              <a:t>From Zero to Azure Solution Architect</a:t>
            </a:r>
            <a:endParaRPr lang="en-US" sz="1700" dirty="0"/>
          </a:p>
        </p:txBody>
      </p:sp>
      <p:sp>
        <p:nvSpPr>
          <p:cNvPr id="11" name="Shape 9"/>
          <p:cNvSpPr/>
          <p:nvPr/>
        </p:nvSpPr>
        <p:spPr>
          <a:xfrm>
            <a:off x="594360" y="3639312"/>
            <a:ext cx="2606040" cy="1188720"/>
          </a:xfrm>
          <a:prstGeom prst="rect">
            <a:avLst/>
          </a:prstGeom>
          <a:solidFill>
            <a:srgbClr val="1565C0"/>
          </a:solidFill>
          <a:ln w="12700">
            <a:solidFill>
              <a:srgbClr val="1565C0"/>
            </a:solidFill>
            <a:prstDash val="solid"/>
          </a:ln>
        </p:spPr>
      </p:sp>
      <p:sp>
        <p:nvSpPr>
          <p:cNvPr id="12" name="Text 10"/>
          <p:cNvSpPr/>
          <p:nvPr/>
        </p:nvSpPr>
        <p:spPr>
          <a:xfrm>
            <a:off x="685800" y="3657600"/>
            <a:ext cx="2423160" cy="292608"/>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SESSION 1</a:t>
            </a:r>
            <a:endParaRPr lang="en-US" sz="900" dirty="0"/>
          </a:p>
        </p:txBody>
      </p:sp>
      <p:sp>
        <p:nvSpPr>
          <p:cNvPr id="13" name="Text 11"/>
          <p:cNvSpPr/>
          <p:nvPr/>
        </p:nvSpPr>
        <p:spPr>
          <a:xfrm>
            <a:off x="685800" y="3950208"/>
            <a:ext cx="2423160" cy="71323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Cloud Fundamentals &amp; App Hosting</a:t>
            </a:r>
            <a:endParaRPr lang="en-US" sz="1000" dirty="0"/>
          </a:p>
        </p:txBody>
      </p:sp>
      <p:sp>
        <p:nvSpPr>
          <p:cNvPr id="14" name="Shape 12"/>
          <p:cNvSpPr/>
          <p:nvPr/>
        </p:nvSpPr>
        <p:spPr>
          <a:xfrm>
            <a:off x="3383280" y="3639312"/>
            <a:ext cx="2606040" cy="1188720"/>
          </a:xfrm>
          <a:prstGeom prst="rect">
            <a:avLst/>
          </a:prstGeom>
          <a:solidFill>
            <a:srgbClr val="00897B"/>
          </a:solidFill>
          <a:ln w="12700">
            <a:solidFill>
              <a:srgbClr val="00897B"/>
            </a:solidFill>
            <a:prstDash val="solid"/>
          </a:ln>
        </p:spPr>
      </p:sp>
      <p:sp>
        <p:nvSpPr>
          <p:cNvPr id="15" name="Text 13"/>
          <p:cNvSpPr/>
          <p:nvPr/>
        </p:nvSpPr>
        <p:spPr>
          <a:xfrm>
            <a:off x="3474720" y="3657600"/>
            <a:ext cx="2423160" cy="292608"/>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SESSION 2</a:t>
            </a:r>
            <a:endParaRPr lang="en-US" sz="900" dirty="0"/>
          </a:p>
        </p:txBody>
      </p:sp>
      <p:sp>
        <p:nvSpPr>
          <p:cNvPr id="16" name="Text 14"/>
          <p:cNvSpPr/>
          <p:nvPr/>
        </p:nvSpPr>
        <p:spPr>
          <a:xfrm>
            <a:off x="3474720" y="3950208"/>
            <a:ext cx="2423160" cy="71323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Security, IaC &amp; DevOps Automation</a:t>
            </a:r>
            <a:endParaRPr lang="en-US" sz="1000" dirty="0"/>
          </a:p>
        </p:txBody>
      </p:sp>
      <p:sp>
        <p:nvSpPr>
          <p:cNvPr id="17" name="Shape 15"/>
          <p:cNvSpPr/>
          <p:nvPr/>
        </p:nvSpPr>
        <p:spPr>
          <a:xfrm>
            <a:off x="6172200" y="3639312"/>
            <a:ext cx="2606040" cy="1188720"/>
          </a:xfrm>
          <a:prstGeom prst="rect">
            <a:avLst/>
          </a:prstGeom>
          <a:solidFill>
            <a:srgbClr val="E65100"/>
          </a:solidFill>
          <a:ln w="12700">
            <a:solidFill>
              <a:srgbClr val="E65100"/>
            </a:solidFill>
            <a:prstDash val="solid"/>
          </a:ln>
        </p:spPr>
      </p:sp>
      <p:sp>
        <p:nvSpPr>
          <p:cNvPr id="18" name="Text 16"/>
          <p:cNvSpPr/>
          <p:nvPr/>
        </p:nvSpPr>
        <p:spPr>
          <a:xfrm>
            <a:off x="6263640" y="3657600"/>
            <a:ext cx="2423160" cy="292608"/>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SESSION 3</a:t>
            </a:r>
            <a:endParaRPr lang="en-US" sz="900" dirty="0"/>
          </a:p>
        </p:txBody>
      </p:sp>
      <p:sp>
        <p:nvSpPr>
          <p:cNvPr id="19" name="Text 17"/>
          <p:cNvSpPr/>
          <p:nvPr/>
        </p:nvSpPr>
        <p:spPr>
          <a:xfrm>
            <a:off x="6263640" y="3950208"/>
            <a:ext cx="2423160" cy="71323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Containers, Messaging &amp; Microservices</a:t>
            </a:r>
            <a:endParaRPr lang="en-US" sz="1000" dirty="0"/>
          </a:p>
        </p:txBody>
      </p:sp>
      <p:sp>
        <p:nvSpPr>
          <p:cNvPr id="20" name="Shape 18"/>
          <p:cNvSpPr/>
          <p:nvPr/>
        </p:nvSpPr>
        <p:spPr>
          <a:xfrm>
            <a:off x="594360" y="2880360"/>
            <a:ext cx="2377440" cy="411480"/>
          </a:xfrm>
          <a:prstGeom prst="rect">
            <a:avLst/>
          </a:prstGeom>
          <a:solidFill>
            <a:srgbClr val="F59E0B"/>
          </a:solidFill>
          <a:ln w="12700">
            <a:solidFill>
              <a:srgbClr val="F59E0B"/>
            </a:solidFill>
            <a:prstDash val="solid"/>
          </a:ln>
        </p:spPr>
      </p:sp>
      <p:sp>
        <p:nvSpPr>
          <p:cNvPr id="21" name="Text 19"/>
          <p:cNvSpPr/>
          <p:nvPr/>
        </p:nvSpPr>
        <p:spPr>
          <a:xfrm>
            <a:off x="594360" y="2880360"/>
            <a:ext cx="2377440" cy="411480"/>
          </a:xfrm>
          <a:prstGeom prst="rect">
            <a:avLst/>
          </a:prstGeom>
          <a:noFill/>
          <a:ln/>
        </p:spPr>
        <p:txBody>
          <a:bodyPr wrap="square" lIns="0" tIns="0" rIns="0" bIns="0" rtlCol="0" anchor="ctr"/>
          <a:lstStyle/>
          <a:p>
            <a:pPr algn="ctr" indent="0" marL="0">
              <a:buNone/>
            </a:pPr>
            <a:r>
              <a:rPr lang="en-US" sz="1000" b="1" dirty="0">
                <a:solidFill>
                  <a:srgbClr val="1A237E"/>
                </a:solidFill>
                <a:latin typeface="Calibri" pitchFamily="34" charset="0"/>
                <a:ea typeface="Calibri" pitchFamily="34" charset="-122"/>
                <a:cs typeface="Calibri" pitchFamily="34" charset="-120"/>
              </a:rPr>
              <a:t>🎓  Professional Corporate Training</a:t>
            </a:r>
            <a:endParaRPr lang="en-US" sz="1000" dirty="0"/>
          </a:p>
        </p:txBody>
      </p:sp>
      <p:sp>
        <p:nvSpPr>
          <p:cNvPr id="22" name="Text 20"/>
          <p:cNvSpPr/>
          <p:nvPr/>
        </p:nvSpPr>
        <p:spPr>
          <a:xfrm>
            <a:off x="3108960" y="2926080"/>
            <a:ext cx="5486400" cy="347472"/>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Real-World Project: MediCare Hospital Management System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Text 2"/>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Course Overview — What You Will Master</a:t>
            </a:r>
            <a:endParaRPr lang="en-US" sz="2100" dirty="0"/>
          </a:p>
        </p:txBody>
      </p:sp>
      <p:sp>
        <p:nvSpPr>
          <p:cNvPr id="5" name="Shape 3"/>
          <p:cNvSpPr/>
          <p:nvPr/>
        </p:nvSpPr>
        <p:spPr>
          <a:xfrm>
            <a:off x="0" y="4937760"/>
            <a:ext cx="9144000" cy="205740"/>
          </a:xfrm>
          <a:prstGeom prst="rect">
            <a:avLst/>
          </a:prstGeom>
          <a:solidFill>
            <a:srgbClr val="1A237E"/>
          </a:solidFill>
          <a:ln w="12700">
            <a:solidFill>
              <a:srgbClr val="1A237E"/>
            </a:solidFill>
            <a:prstDash val="solid"/>
          </a:ln>
        </p:spPr>
      </p:sp>
      <p:sp>
        <p:nvSpPr>
          <p:cNvPr id="6" name="Text 4"/>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7" name="Shape 5"/>
          <p:cNvSpPr/>
          <p:nvPr/>
        </p:nvSpPr>
        <p:spPr>
          <a:xfrm>
            <a:off x="228600"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28600" y="749808"/>
            <a:ext cx="2834640" cy="731520"/>
          </a:xfrm>
          <a:prstGeom prst="rect">
            <a:avLst/>
          </a:prstGeom>
          <a:solidFill>
            <a:srgbClr val="1565C0"/>
          </a:solidFill>
          <a:ln w="12700">
            <a:solidFill>
              <a:srgbClr val="1565C0"/>
            </a:solidFill>
            <a:prstDash val="solid"/>
          </a:ln>
        </p:spPr>
      </p:sp>
      <p:sp>
        <p:nvSpPr>
          <p:cNvPr id="9" name="Text 7"/>
          <p:cNvSpPr/>
          <p:nvPr/>
        </p:nvSpPr>
        <p:spPr>
          <a:xfrm>
            <a:off x="356616" y="786384"/>
            <a:ext cx="1097280" cy="228600"/>
          </a:xfrm>
          <a:prstGeom prst="rect">
            <a:avLst/>
          </a:prstGeom>
          <a:noFill/>
          <a:ln/>
        </p:spPr>
        <p:txBody>
          <a:bodyPr wrap="square" lIns="0" tIns="0" rIns="0" bIns="0" rtlCol="0" anchor="ctr"/>
          <a:lstStyle/>
          <a:p>
            <a:pPr indent="0" marL="0">
              <a:buNone/>
            </a:pPr>
            <a:r>
              <a:rPr lang="en-US" sz="800" b="1" spc="200" kern="0" dirty="0">
                <a:solidFill>
                  <a:srgbClr val="FFFFFF"/>
                </a:solidFill>
                <a:latin typeface="Calibri" pitchFamily="34" charset="0"/>
                <a:ea typeface="Calibri" pitchFamily="34" charset="-122"/>
                <a:cs typeface="Calibri" pitchFamily="34" charset="-120"/>
              </a:rPr>
              <a:t>SESSION</a:t>
            </a:r>
            <a:endParaRPr lang="en-US" sz="800" dirty="0"/>
          </a:p>
        </p:txBody>
      </p:sp>
      <p:sp>
        <p:nvSpPr>
          <p:cNvPr id="10" name="Text 8"/>
          <p:cNvSpPr/>
          <p:nvPr/>
        </p:nvSpPr>
        <p:spPr>
          <a:xfrm>
            <a:off x="356616" y="950976"/>
            <a:ext cx="640080" cy="45720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01</a:t>
            </a:r>
            <a:endParaRPr lang="en-US" sz="3000" dirty="0"/>
          </a:p>
        </p:txBody>
      </p:sp>
      <p:sp>
        <p:nvSpPr>
          <p:cNvPr id="11" name="Text 9"/>
          <p:cNvSpPr/>
          <p:nvPr/>
        </p:nvSpPr>
        <p:spPr>
          <a:xfrm>
            <a:off x="356616" y="1499616"/>
            <a:ext cx="2578608" cy="457200"/>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Cloud Fundamentals &amp; Hosting</a:t>
            </a:r>
            <a:endParaRPr lang="en-US" sz="1100" dirty="0"/>
          </a:p>
        </p:txBody>
      </p:sp>
      <p:sp>
        <p:nvSpPr>
          <p:cNvPr id="12" name="Text 10"/>
          <p:cNvSpPr/>
          <p:nvPr/>
        </p:nvSpPr>
        <p:spPr>
          <a:xfrm>
            <a:off x="356616" y="1993392"/>
            <a:ext cx="2578608" cy="2560320"/>
          </a:xfrm>
          <a:prstGeom prst="rect">
            <a:avLst/>
          </a:prstGeom>
          <a:noFill/>
          <a:ln/>
        </p:spPr>
        <p:txBody>
          <a:bodyPr wrap="square"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Cloud Computing &amp; Azure Intro</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Azure Hierarchy &amp; Resource Groups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App Service &amp; Azure SQL Database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Azure CLI &amp; Resource Manager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IaC Introduction &amp; Debugging</a:t>
            </a:r>
            <a:endParaRPr lang="en-US" sz="1050" dirty="0"/>
          </a:p>
        </p:txBody>
      </p:sp>
      <p:sp>
        <p:nvSpPr>
          <p:cNvPr id="13" name="Shape 11"/>
          <p:cNvSpPr/>
          <p:nvPr/>
        </p:nvSpPr>
        <p:spPr>
          <a:xfrm>
            <a:off x="3200400"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00400" y="749808"/>
            <a:ext cx="2834640" cy="731520"/>
          </a:xfrm>
          <a:prstGeom prst="rect">
            <a:avLst/>
          </a:prstGeom>
          <a:solidFill>
            <a:srgbClr val="00897B"/>
          </a:solidFill>
          <a:ln w="12700">
            <a:solidFill>
              <a:srgbClr val="00897B"/>
            </a:solidFill>
            <a:prstDash val="solid"/>
          </a:ln>
        </p:spPr>
      </p:sp>
      <p:sp>
        <p:nvSpPr>
          <p:cNvPr id="15" name="Text 13"/>
          <p:cNvSpPr/>
          <p:nvPr/>
        </p:nvSpPr>
        <p:spPr>
          <a:xfrm>
            <a:off x="3328416" y="786384"/>
            <a:ext cx="1097280" cy="228600"/>
          </a:xfrm>
          <a:prstGeom prst="rect">
            <a:avLst/>
          </a:prstGeom>
          <a:noFill/>
          <a:ln/>
        </p:spPr>
        <p:txBody>
          <a:bodyPr wrap="square" lIns="0" tIns="0" rIns="0" bIns="0" rtlCol="0" anchor="ctr"/>
          <a:lstStyle/>
          <a:p>
            <a:pPr indent="0" marL="0">
              <a:buNone/>
            </a:pPr>
            <a:r>
              <a:rPr lang="en-US" sz="800" b="1" spc="200" kern="0" dirty="0">
                <a:solidFill>
                  <a:srgbClr val="FFFFFF"/>
                </a:solidFill>
                <a:latin typeface="Calibri" pitchFamily="34" charset="0"/>
                <a:ea typeface="Calibri" pitchFamily="34" charset="-122"/>
                <a:cs typeface="Calibri" pitchFamily="34" charset="-120"/>
              </a:rPr>
              <a:t>SESSION</a:t>
            </a:r>
            <a:endParaRPr lang="en-US" sz="800" dirty="0"/>
          </a:p>
        </p:txBody>
      </p:sp>
      <p:sp>
        <p:nvSpPr>
          <p:cNvPr id="16" name="Text 14"/>
          <p:cNvSpPr/>
          <p:nvPr/>
        </p:nvSpPr>
        <p:spPr>
          <a:xfrm>
            <a:off x="3328416" y="950976"/>
            <a:ext cx="640080" cy="45720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02</a:t>
            </a:r>
            <a:endParaRPr lang="en-US" sz="3000" dirty="0"/>
          </a:p>
        </p:txBody>
      </p:sp>
      <p:sp>
        <p:nvSpPr>
          <p:cNvPr id="17" name="Text 15"/>
          <p:cNvSpPr/>
          <p:nvPr/>
        </p:nvSpPr>
        <p:spPr>
          <a:xfrm>
            <a:off x="3328416" y="1499616"/>
            <a:ext cx="2578608" cy="457200"/>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Security, IaC &amp; Automation</a:t>
            </a:r>
            <a:endParaRPr lang="en-US" sz="1100" dirty="0"/>
          </a:p>
        </p:txBody>
      </p:sp>
      <p:sp>
        <p:nvSpPr>
          <p:cNvPr id="18" name="Text 16"/>
          <p:cNvSpPr/>
          <p:nvPr/>
        </p:nvSpPr>
        <p:spPr>
          <a:xfrm>
            <a:off x="3328416" y="1993392"/>
            <a:ext cx="2578608" cy="2560320"/>
          </a:xfrm>
          <a:prstGeom prst="rect">
            <a:avLst/>
          </a:prstGeom>
          <a:noFill/>
          <a:ln/>
        </p:spPr>
        <p:txBody>
          <a:bodyPr wrap="square"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Bicep &amp; Infrastructure as Code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Virtual Networks &amp; NSGs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Key Vault &amp; Managed Identity</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Azure AD &amp; RBAC</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DevOps CI/CD &amp; Monitoring</a:t>
            </a:r>
            <a:endParaRPr lang="en-US" sz="1050" dirty="0"/>
          </a:p>
        </p:txBody>
      </p:sp>
      <p:sp>
        <p:nvSpPr>
          <p:cNvPr id="19" name="Shape 17"/>
          <p:cNvSpPr/>
          <p:nvPr/>
        </p:nvSpPr>
        <p:spPr>
          <a:xfrm>
            <a:off x="6172200"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72200" y="749808"/>
            <a:ext cx="2834640" cy="731520"/>
          </a:xfrm>
          <a:prstGeom prst="rect">
            <a:avLst/>
          </a:prstGeom>
          <a:solidFill>
            <a:srgbClr val="E65100"/>
          </a:solidFill>
          <a:ln w="12700">
            <a:solidFill>
              <a:srgbClr val="E65100"/>
            </a:solidFill>
            <a:prstDash val="solid"/>
          </a:ln>
        </p:spPr>
      </p:sp>
      <p:sp>
        <p:nvSpPr>
          <p:cNvPr id="21" name="Text 19"/>
          <p:cNvSpPr/>
          <p:nvPr/>
        </p:nvSpPr>
        <p:spPr>
          <a:xfrm>
            <a:off x="6300216" y="786384"/>
            <a:ext cx="1097280" cy="228600"/>
          </a:xfrm>
          <a:prstGeom prst="rect">
            <a:avLst/>
          </a:prstGeom>
          <a:noFill/>
          <a:ln/>
        </p:spPr>
        <p:txBody>
          <a:bodyPr wrap="square" lIns="0" tIns="0" rIns="0" bIns="0" rtlCol="0" anchor="ctr"/>
          <a:lstStyle/>
          <a:p>
            <a:pPr indent="0" marL="0">
              <a:buNone/>
            </a:pPr>
            <a:r>
              <a:rPr lang="en-US" sz="800" b="1" spc="200" kern="0" dirty="0">
                <a:solidFill>
                  <a:srgbClr val="FFFFFF"/>
                </a:solidFill>
                <a:latin typeface="Calibri" pitchFamily="34" charset="0"/>
                <a:ea typeface="Calibri" pitchFamily="34" charset="-122"/>
                <a:cs typeface="Calibri" pitchFamily="34" charset="-120"/>
              </a:rPr>
              <a:t>SESSION</a:t>
            </a:r>
            <a:endParaRPr lang="en-US" sz="800" dirty="0"/>
          </a:p>
        </p:txBody>
      </p:sp>
      <p:sp>
        <p:nvSpPr>
          <p:cNvPr id="22" name="Text 20"/>
          <p:cNvSpPr/>
          <p:nvPr/>
        </p:nvSpPr>
        <p:spPr>
          <a:xfrm>
            <a:off x="6300216" y="950976"/>
            <a:ext cx="640080" cy="45720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03</a:t>
            </a:r>
            <a:endParaRPr lang="en-US" sz="3000" dirty="0"/>
          </a:p>
        </p:txBody>
      </p:sp>
      <p:sp>
        <p:nvSpPr>
          <p:cNvPr id="23" name="Text 21"/>
          <p:cNvSpPr/>
          <p:nvPr/>
        </p:nvSpPr>
        <p:spPr>
          <a:xfrm>
            <a:off x="6300216" y="1499616"/>
            <a:ext cx="2578608" cy="457200"/>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Microservices &amp; Containers</a:t>
            </a:r>
            <a:endParaRPr lang="en-US" sz="1100" dirty="0"/>
          </a:p>
        </p:txBody>
      </p:sp>
      <p:sp>
        <p:nvSpPr>
          <p:cNvPr id="24" name="Text 22"/>
          <p:cNvSpPr/>
          <p:nvPr/>
        </p:nvSpPr>
        <p:spPr>
          <a:xfrm>
            <a:off x="6300216" y="1993392"/>
            <a:ext cx="2578608" cy="2560320"/>
          </a:xfrm>
          <a:prstGeom prst="rect">
            <a:avLst/>
          </a:prstGeom>
          <a:noFill/>
          <a:ln/>
        </p:spPr>
        <p:txBody>
          <a:bodyPr wrap="square"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Service Bus &amp; Event-Driven Arch</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Docker &amp; Containerization</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AKS — Kubernetes on Azure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Redis Cache &amp; API Management</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Terraform &amp; Cost Optimization</a:t>
            </a:r>
            <a:endParaRPr lang="en-US" sz="1050" dirty="0"/>
          </a:p>
        </p:txBody>
      </p:sp>
      <p:sp>
        <p:nvSpPr>
          <p:cNvPr id="25" name="Text 23"/>
          <p:cNvSpPr/>
          <p:nvPr/>
        </p:nvSpPr>
        <p:spPr>
          <a:xfrm>
            <a:off x="228600" y="4681728"/>
            <a:ext cx="8686800" cy="228600"/>
          </a:xfrm>
          <a:prstGeom prst="rect">
            <a:avLst/>
          </a:prstGeom>
          <a:noFill/>
          <a:ln/>
        </p:spPr>
        <p:txBody>
          <a:bodyPr wrap="square" lIns="0" tIns="0" rIns="0" bIns="0" rtlCol="0" anchor="ctr"/>
          <a:lstStyle/>
          <a:p>
            <a:pPr algn="ctr" indent="0" marL="0">
              <a:buNone/>
            </a:pPr>
            <a:r>
              <a:rPr lang="en-US" sz="950" i="1" dirty="0">
                <a:solidFill>
                  <a:srgbClr val="00ACC1"/>
                </a:solidFill>
                <a:latin typeface="Calibri" pitchFamily="34" charset="0"/>
                <a:ea typeface="Calibri" pitchFamily="34" charset="-122"/>
                <a:cs typeface="Calibri" pitchFamily="34" charset="-120"/>
              </a:rPr>
              <a:t>Project Thread: MediCare Hospital Management System — The same real-world system evolves across all 3 sessions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5120640" y="0"/>
            <a:ext cx="4023360" cy="5143500"/>
          </a:xfrm>
          <a:prstGeom prst="rect">
            <a:avLst/>
          </a:prstGeom>
          <a:solidFill>
            <a:srgbClr val="DBEAFE"/>
          </a:solidFill>
          <a:ln w="12700">
            <a:solidFill>
              <a:srgbClr val="DBEAFE"/>
            </a:solidFill>
            <a:prstDash val="solid"/>
          </a:ln>
        </p:spPr>
      </p:sp>
      <p:sp>
        <p:nvSpPr>
          <p:cNvPr id="3" name="Shape 1"/>
          <p:cNvSpPr/>
          <p:nvPr/>
        </p:nvSpPr>
        <p:spPr>
          <a:xfrm>
            <a:off x="5120640" y="0"/>
            <a:ext cx="118872" cy="5143500"/>
          </a:xfrm>
          <a:prstGeom prst="rect">
            <a:avLst/>
          </a:prstGeom>
          <a:solidFill>
            <a:srgbClr val="00ACC1"/>
          </a:solidFill>
          <a:ln w="12700">
            <a:solidFill>
              <a:srgbClr val="00ACC1"/>
            </a:solidFill>
            <a:prstDash val="solid"/>
          </a:ln>
        </p:spPr>
      </p:sp>
      <p:sp>
        <p:nvSpPr>
          <p:cNvPr id="4" name="Shape 2"/>
          <p:cNvSpPr/>
          <p:nvPr/>
        </p:nvSpPr>
        <p:spPr>
          <a:xfrm>
            <a:off x="0" y="4937760"/>
            <a:ext cx="5120640" cy="205740"/>
          </a:xfrm>
          <a:prstGeom prst="rect">
            <a:avLst/>
          </a:prstGeom>
          <a:solidFill>
            <a:srgbClr val="283593"/>
          </a:solidFill>
          <a:ln w="12700">
            <a:solidFill>
              <a:srgbClr val="283593"/>
            </a:solidFill>
            <a:prstDash val="solid"/>
          </a:ln>
        </p:spPr>
      </p:sp>
      <p:sp>
        <p:nvSpPr>
          <p:cNvPr id="5" name="Text 3"/>
          <p:cNvSpPr/>
          <p:nvPr/>
        </p:nvSpPr>
        <p:spPr>
          <a:xfrm>
            <a:off x="274320" y="274320"/>
            <a:ext cx="4572000" cy="2011680"/>
          </a:xfrm>
          <a:prstGeom prst="rect">
            <a:avLst/>
          </a:prstGeom>
          <a:noFill/>
          <a:ln/>
        </p:spPr>
        <p:txBody>
          <a:bodyPr wrap="square" lIns="0" tIns="0" rIns="0" bIns="0" rtlCol="0" anchor="ctr"/>
          <a:lstStyle/>
          <a:p>
            <a:pPr indent="0" marL="0">
              <a:buNone/>
            </a:pPr>
            <a:r>
              <a:rPr lang="en-US" sz="11000" b="1" dirty="0">
                <a:solidFill>
                  <a:srgbClr val="283593"/>
                </a:solidFill>
                <a:latin typeface="Trebuchet MS" pitchFamily="34" charset="0"/>
                <a:ea typeface="Trebuchet MS" pitchFamily="34" charset="-122"/>
                <a:cs typeface="Trebuchet MS" pitchFamily="34" charset="-120"/>
              </a:rPr>
              <a:t>01</a:t>
            </a:r>
            <a:endParaRPr lang="en-US" sz="11000" dirty="0"/>
          </a:p>
        </p:txBody>
      </p:sp>
      <p:sp>
        <p:nvSpPr>
          <p:cNvPr id="6" name="Text 4"/>
          <p:cNvSpPr/>
          <p:nvPr/>
        </p:nvSpPr>
        <p:spPr>
          <a:xfrm>
            <a:off x="320040" y="2240280"/>
            <a:ext cx="4572000" cy="685800"/>
          </a:xfrm>
          <a:prstGeom prst="rect">
            <a:avLst/>
          </a:prstGeom>
          <a:noFill/>
          <a:ln/>
        </p:spPr>
        <p:txBody>
          <a:bodyPr wrap="square" lIns="0" tIns="0" rIns="0" bIns="0" rtlCol="0" anchor="ctr"/>
          <a:lstStyle/>
          <a:p>
            <a:pPr indent="0" marL="0">
              <a:buNone/>
            </a:pPr>
            <a:r>
              <a:rPr lang="en-US" sz="2500" b="1" dirty="0">
                <a:solidFill>
                  <a:srgbClr val="FFFFFF"/>
                </a:solidFill>
                <a:latin typeface="Trebuchet MS" pitchFamily="34" charset="0"/>
                <a:ea typeface="Trebuchet MS" pitchFamily="34" charset="-122"/>
                <a:cs typeface="Trebuchet MS" pitchFamily="34" charset="-120"/>
              </a:rPr>
              <a:t>Cloud Fundamentals</a:t>
            </a:r>
            <a:endParaRPr lang="en-US" sz="2500" dirty="0"/>
          </a:p>
          <a:p>
            <a:pPr indent="0" marL="0">
              <a:buNone/>
            </a:pPr>
            <a:r>
              <a:rPr lang="en-US" sz="2500" b="1" dirty="0">
                <a:solidFill>
                  <a:srgbClr val="FFFFFF"/>
                </a:solidFill>
                <a:latin typeface="Trebuchet MS" pitchFamily="34" charset="0"/>
                <a:ea typeface="Trebuchet MS" pitchFamily="34" charset="-122"/>
                <a:cs typeface="Trebuchet MS" pitchFamily="34" charset="-120"/>
              </a:rPr>
              <a:t>&amp; Azure Hosting</a:t>
            </a:r>
            <a:endParaRPr lang="en-US" sz="2500" dirty="0"/>
          </a:p>
        </p:txBody>
      </p:sp>
      <p:sp>
        <p:nvSpPr>
          <p:cNvPr id="7" name="Text 5"/>
          <p:cNvSpPr/>
          <p:nvPr/>
        </p:nvSpPr>
        <p:spPr>
          <a:xfrm>
            <a:off x="320040" y="2926080"/>
            <a:ext cx="4572000" cy="502920"/>
          </a:xfrm>
          <a:prstGeom prst="rect">
            <a:avLst/>
          </a:prstGeom>
          <a:noFill/>
          <a:ln/>
        </p:spPr>
        <p:txBody>
          <a:bodyPr wrap="square" lIns="0" tIns="0" rIns="0" bIns="0" rtlCol="0" anchor="ctr"/>
          <a:lstStyle/>
          <a:p>
            <a:pPr indent="0" marL="0">
              <a:buNone/>
            </a:pPr>
            <a:r>
              <a:rPr lang="en-US" sz="1250" dirty="0">
                <a:solidFill>
                  <a:srgbClr val="90CAF9"/>
                </a:solidFill>
                <a:latin typeface="Calibri" pitchFamily="34" charset="0"/>
                <a:ea typeface="Calibri" pitchFamily="34" charset="-122"/>
                <a:cs typeface="Calibri" pitchFamily="34" charset="-120"/>
              </a:rPr>
              <a:t>Building the Foundation of Enterprise Cloud Architecture</a:t>
            </a:r>
            <a:endParaRPr lang="en-US" sz="1250" dirty="0"/>
          </a:p>
        </p:txBody>
      </p:sp>
      <p:sp>
        <p:nvSpPr>
          <p:cNvPr id="8" name="Text 6"/>
          <p:cNvSpPr/>
          <p:nvPr/>
        </p:nvSpPr>
        <p:spPr>
          <a:xfrm>
            <a:off x="320040" y="4956048"/>
            <a:ext cx="4480560" cy="164592"/>
          </a:xfrm>
          <a:prstGeom prst="rect">
            <a:avLst/>
          </a:prstGeom>
          <a:noFill/>
          <a:ln/>
        </p:spPr>
        <p:txBody>
          <a:bodyPr wrap="square" lIns="0" tIns="0" rIns="0" bIns="0" rtlCol="0" anchor="ctr"/>
          <a:lstStyle/>
          <a:p>
            <a:pPr indent="0" marL="0">
              <a:buNone/>
            </a:pPr>
            <a:r>
              <a:rPr lang="en-US" sz="750" dirty="0">
                <a:solidFill>
                  <a:srgbClr val="90CAF9"/>
                </a:solidFill>
              </a:rPr>
              <a:t>Azure Cloud Masterclass</a:t>
            </a:r>
            <a:endParaRPr lang="en-US" sz="750" dirty="0"/>
          </a:p>
        </p:txBody>
      </p:sp>
      <p:sp>
        <p:nvSpPr>
          <p:cNvPr id="9" name="Text 7"/>
          <p:cNvSpPr/>
          <p:nvPr/>
        </p:nvSpPr>
        <p:spPr>
          <a:xfrm>
            <a:off x="5394960" y="274320"/>
            <a:ext cx="347472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KEY TOPICS</a:t>
            </a:r>
            <a:endParaRPr lang="en-US" sz="1000" dirty="0"/>
          </a:p>
        </p:txBody>
      </p:sp>
      <p:sp>
        <p:nvSpPr>
          <p:cNvPr id="10" name="Text 8"/>
          <p:cNvSpPr/>
          <p:nvPr/>
        </p:nvSpPr>
        <p:spPr>
          <a:xfrm>
            <a:off x="5394960" y="594360"/>
            <a:ext cx="3520440" cy="4297680"/>
          </a:xfrm>
          <a:prstGeom prst="rect">
            <a:avLst/>
          </a:prstGeom>
          <a:noFill/>
          <a:ln/>
        </p:spPr>
        <p:txBody>
          <a:bodyPr wrap="square" rtlCol="0" anchor="t"/>
          <a:lstStyle/>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Cloud Computing — The Why</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CapEx vs OpEx Model</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IaaS / PaaS / SaaS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Microsoft Azure Platform</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Organizational Hierarchy</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Resource Groups &amp; Tagging</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App Service &amp; SQL</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CLI &amp; ARM</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IaC Introduction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The Problem Cloud Computing Solved</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74320" y="777240"/>
            <a:ext cx="8412480" cy="347472"/>
          </a:xfrm>
          <a:prstGeom prst="rect">
            <a:avLst/>
          </a:prstGeom>
          <a:noFill/>
          <a:ln/>
        </p:spPr>
        <p:txBody>
          <a:bodyPr wrap="square" lIns="0" tIns="0" rIns="0" bIns="0" rtlCol="0" anchor="ctr"/>
          <a:lstStyle/>
          <a:p>
            <a:pPr indent="0" marL="0">
              <a:buNone/>
            </a:pPr>
            <a:r>
              <a:rPr lang="en-US" sz="1400" b="1" dirty="0">
                <a:solidFill>
                  <a:srgbClr val="1A237E"/>
                </a:solidFill>
                <a:latin typeface="Trebuchet MS" pitchFamily="34" charset="0"/>
                <a:ea typeface="Trebuchet MS" pitchFamily="34" charset="-122"/>
                <a:cs typeface="Trebuchet MS" pitchFamily="34" charset="-120"/>
              </a:rPr>
              <a:t>Before Cloud: The On-Premise Nightmare</a:t>
            </a:r>
            <a:endParaRPr lang="en-US" sz="1400" dirty="0"/>
          </a:p>
        </p:txBody>
      </p:sp>
      <p:sp>
        <p:nvSpPr>
          <p:cNvPr id="10" name="Shape 8"/>
          <p:cNvSpPr/>
          <p:nvPr/>
        </p:nvSpPr>
        <p:spPr>
          <a:xfrm>
            <a:off x="228600" y="1161288"/>
            <a:ext cx="4297680" cy="2468880"/>
          </a:xfrm>
          <a:prstGeom prst="rect">
            <a:avLst/>
          </a:prstGeom>
          <a:solidFill>
            <a:srgbClr val="FFF3E0"/>
          </a:solidFill>
          <a:ln w="19050">
            <a:solidFill>
              <a:srgbClr val="E65100"/>
            </a:solidFill>
            <a:prstDash val="solid"/>
          </a:ln>
        </p:spPr>
      </p:sp>
      <p:sp>
        <p:nvSpPr>
          <p:cNvPr id="11" name="Shape 9"/>
          <p:cNvSpPr/>
          <p:nvPr/>
        </p:nvSpPr>
        <p:spPr>
          <a:xfrm>
            <a:off x="228600" y="1161288"/>
            <a:ext cx="4297680" cy="347472"/>
          </a:xfrm>
          <a:prstGeom prst="rect">
            <a:avLst/>
          </a:prstGeom>
          <a:solidFill>
            <a:srgbClr val="E65100"/>
          </a:solidFill>
          <a:ln w="12700">
            <a:solidFill>
              <a:srgbClr val="E65100"/>
            </a:solidFill>
            <a:prstDash val="solid"/>
          </a:ln>
        </p:spPr>
      </p:sp>
      <p:sp>
        <p:nvSpPr>
          <p:cNvPr id="12" name="Text 10"/>
          <p:cNvSpPr/>
          <p:nvPr/>
        </p:nvSpPr>
        <p:spPr>
          <a:xfrm>
            <a:off x="320040" y="117043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ShopEasy E-Commerce — 2005</a:t>
            </a:r>
            <a:endParaRPr lang="en-US" sz="1100" dirty="0"/>
          </a:p>
        </p:txBody>
      </p:sp>
      <p:sp>
        <p:nvSpPr>
          <p:cNvPr id="13" name="Text 11"/>
          <p:cNvSpPr/>
          <p:nvPr/>
        </p:nvSpPr>
        <p:spPr>
          <a:xfrm>
            <a:off x="320040" y="1554480"/>
            <a:ext cx="4114800" cy="1965960"/>
          </a:xfrm>
          <a:prstGeom prst="rect">
            <a:avLst/>
          </a:prstGeom>
          <a:noFill/>
          <a:ln/>
        </p:spPr>
        <p:txBody>
          <a:bodyPr wrap="square" rtlCol="0" anchor="t"/>
          <a:lstStyle/>
          <a:p>
            <a:pPr marL="342900" indent="-342900">
              <a:spcAft>
                <a:spcPts val="500"/>
              </a:spcAft>
              <a:buSzPct val="100000"/>
              <a:buChar char="•"/>
            </a:pPr>
            <a:r>
              <a:rPr lang="en-US" sz="1050" dirty="0">
                <a:solidFill>
                  <a:srgbClr val="4A1500"/>
                </a:solidFill>
                <a:latin typeface="Calibri" pitchFamily="34" charset="0"/>
                <a:ea typeface="Calibri" pitchFamily="34" charset="-122"/>
                <a:cs typeface="Calibri" pitchFamily="34" charset="-120"/>
              </a:rPr>
              <a:t>10,000 users/day → Diwali arrives → 500,000 users/day</a:t>
            </a:r>
            <a:endParaRPr lang="en-US" sz="1050" dirty="0"/>
          </a:p>
          <a:p>
            <a:pPr marL="342900" indent="-342900">
              <a:spcAft>
                <a:spcPts val="500"/>
              </a:spcAft>
              <a:buSzPct val="100000"/>
              <a:buChar char="•"/>
            </a:pPr>
            <a:r>
              <a:rPr lang="en-US" sz="1050" dirty="0">
                <a:solidFill>
                  <a:srgbClr val="4A1500"/>
                </a:solidFill>
                <a:latin typeface="Calibri" pitchFamily="34" charset="0"/>
                <a:ea typeface="Calibri" pitchFamily="34" charset="-122"/>
                <a:cs typeface="Calibri" pitchFamily="34" charset="-120"/>
              </a:rPr>
              <a:t>Website CRASHES — doctors on call, revenue lost every hour</a:t>
            </a:r>
            <a:endParaRPr lang="en-US" sz="1050" dirty="0"/>
          </a:p>
          <a:p>
            <a:pPr marL="342900" indent="-342900">
              <a:spcAft>
                <a:spcPts val="500"/>
              </a:spcAft>
              <a:buSzPct val="100000"/>
              <a:buChar char="•"/>
            </a:pPr>
            <a:r>
              <a:rPr lang="en-US" sz="1050" dirty="0">
                <a:solidFill>
                  <a:srgbClr val="4A1500"/>
                </a:solidFill>
                <a:latin typeface="Calibri" pitchFamily="34" charset="0"/>
                <a:ea typeface="Calibri" pitchFamily="34" charset="-122"/>
                <a:cs typeface="Calibri" pitchFamily="34" charset="-120"/>
              </a:rPr>
              <a:t>Buy new servers: ₹50 lakhs — 3 weeks delivery — manual setup</a:t>
            </a:r>
            <a:endParaRPr lang="en-US" sz="1050" dirty="0"/>
          </a:p>
          <a:p>
            <a:pPr marL="342900" indent="-342900">
              <a:spcAft>
                <a:spcPts val="500"/>
              </a:spcAft>
              <a:buSzPct val="100000"/>
              <a:buChar char="•"/>
            </a:pPr>
            <a:r>
              <a:rPr lang="en-US" sz="1050" dirty="0">
                <a:solidFill>
                  <a:srgbClr val="4A1500"/>
                </a:solidFill>
                <a:latin typeface="Calibri" pitchFamily="34" charset="0"/>
                <a:ea typeface="Calibri" pitchFamily="34" charset="-122"/>
                <a:cs typeface="Calibri" pitchFamily="34" charset="-120"/>
              </a:rPr>
              <a:t>After Diwali: 10x servers sitting idle, burning money</a:t>
            </a:r>
            <a:endParaRPr lang="en-US" sz="1050" dirty="0"/>
          </a:p>
          <a:p>
            <a:pPr marL="342900" indent="-342900">
              <a:spcAft>
                <a:spcPts val="500"/>
              </a:spcAft>
              <a:buSzPct val="100000"/>
              <a:buChar char="•"/>
            </a:pPr>
            <a:r>
              <a:rPr lang="en-US" sz="1050" dirty="0">
                <a:solidFill>
                  <a:srgbClr val="4A1500"/>
                </a:solidFill>
                <a:latin typeface="Calibri" pitchFamily="34" charset="0"/>
                <a:ea typeface="Calibri" pitchFamily="34" charset="-122"/>
                <a:cs typeface="Calibri" pitchFamily="34" charset="-120"/>
              </a:rPr>
              <a:t>This is called OVER-PROVISIONING — the old world's curse</a:t>
            </a:r>
            <a:endParaRPr lang="en-US" sz="1050" dirty="0"/>
          </a:p>
        </p:txBody>
      </p:sp>
      <p:sp>
        <p:nvSpPr>
          <p:cNvPr id="14" name="Shape 12"/>
          <p:cNvSpPr/>
          <p:nvPr/>
        </p:nvSpPr>
        <p:spPr>
          <a:xfrm>
            <a:off x="4709160" y="1161288"/>
            <a:ext cx="4206240" cy="2468880"/>
          </a:xfrm>
          <a:prstGeom prst="rect">
            <a:avLst/>
          </a:prstGeom>
          <a:solidFill>
            <a:srgbClr val="E8F5E9"/>
          </a:solidFill>
          <a:ln w="19050">
            <a:solidFill>
              <a:srgbClr val="43A047"/>
            </a:solidFill>
            <a:prstDash val="solid"/>
          </a:ln>
        </p:spPr>
      </p:sp>
      <p:sp>
        <p:nvSpPr>
          <p:cNvPr id="15" name="Shape 13"/>
          <p:cNvSpPr/>
          <p:nvPr/>
        </p:nvSpPr>
        <p:spPr>
          <a:xfrm>
            <a:off x="4709160" y="1161288"/>
            <a:ext cx="4206240" cy="347472"/>
          </a:xfrm>
          <a:prstGeom prst="rect">
            <a:avLst/>
          </a:prstGeom>
          <a:solidFill>
            <a:srgbClr val="43A047"/>
          </a:solidFill>
          <a:ln w="12700">
            <a:solidFill>
              <a:srgbClr val="43A047"/>
            </a:solidFill>
            <a:prstDash val="solid"/>
          </a:ln>
        </p:spPr>
      </p:sp>
      <p:sp>
        <p:nvSpPr>
          <p:cNvPr id="16" name="Text 14"/>
          <p:cNvSpPr/>
          <p:nvPr/>
        </p:nvSpPr>
        <p:spPr>
          <a:xfrm>
            <a:off x="4800600" y="1170432"/>
            <a:ext cx="402336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Cloud Computing — The Solution</a:t>
            </a:r>
            <a:endParaRPr lang="en-US" sz="1100" dirty="0"/>
          </a:p>
        </p:txBody>
      </p:sp>
      <p:sp>
        <p:nvSpPr>
          <p:cNvPr id="17" name="Text 15"/>
          <p:cNvSpPr/>
          <p:nvPr/>
        </p:nvSpPr>
        <p:spPr>
          <a:xfrm>
            <a:off x="4800600" y="1554480"/>
            <a:ext cx="4023360" cy="1965960"/>
          </a:xfrm>
          <a:prstGeom prst="rect">
            <a:avLst/>
          </a:prstGeom>
          <a:noFill/>
          <a:ln/>
        </p:spPr>
        <p:txBody>
          <a:bodyPr wrap="square" rtlCol="0" anchor="t"/>
          <a:lstStyle/>
          <a:p>
            <a:pPr marL="342900" indent="-342900">
              <a:spcAft>
                <a:spcPts val="500"/>
              </a:spcAft>
              <a:buSzPct val="100000"/>
              <a:buChar char="•"/>
            </a:pPr>
            <a:r>
              <a:rPr lang="en-US" sz="1050" dirty="0">
                <a:solidFill>
                  <a:srgbClr val="1B3A1B"/>
                </a:solidFill>
                <a:latin typeface="Calibri" pitchFamily="34" charset="0"/>
                <a:ea typeface="Calibri" pitchFamily="34" charset="-122"/>
                <a:cs typeface="Calibri" pitchFamily="34" charset="-120"/>
              </a:rPr>
              <a:t>Rent infrastructure on demand — by the hour</a:t>
            </a:r>
            <a:endParaRPr lang="en-US" sz="1050" dirty="0"/>
          </a:p>
          <a:p>
            <a:pPr marL="342900" indent="-342900">
              <a:spcAft>
                <a:spcPts val="500"/>
              </a:spcAft>
              <a:buSzPct val="100000"/>
              <a:buChar char="•"/>
            </a:pPr>
            <a:r>
              <a:rPr lang="en-US" sz="1050" dirty="0">
                <a:solidFill>
                  <a:srgbClr val="1B3A1B"/>
                </a:solidFill>
                <a:latin typeface="Calibri" pitchFamily="34" charset="0"/>
                <a:ea typeface="Calibri" pitchFamily="34" charset="-122"/>
                <a:cs typeface="Calibri" pitchFamily="34" charset="-120"/>
              </a:rPr>
              <a:t>Scale UP instantly when Diwali traffic spikes</a:t>
            </a:r>
            <a:endParaRPr lang="en-US" sz="1050" dirty="0"/>
          </a:p>
          <a:p>
            <a:pPr marL="342900" indent="-342900">
              <a:spcAft>
                <a:spcPts val="500"/>
              </a:spcAft>
              <a:buSzPct val="100000"/>
              <a:buChar char="•"/>
            </a:pPr>
            <a:r>
              <a:rPr lang="en-US" sz="1050" dirty="0">
                <a:solidFill>
                  <a:srgbClr val="1B3A1B"/>
                </a:solidFill>
                <a:latin typeface="Calibri" pitchFamily="34" charset="0"/>
                <a:ea typeface="Calibri" pitchFamily="34" charset="-122"/>
                <a:cs typeface="Calibri" pitchFamily="34" charset="-120"/>
              </a:rPr>
              <a:t>Scale DOWN in January — pay only for what you used</a:t>
            </a:r>
            <a:endParaRPr lang="en-US" sz="1050" dirty="0"/>
          </a:p>
          <a:p>
            <a:pPr marL="342900" indent="-342900">
              <a:spcAft>
                <a:spcPts val="500"/>
              </a:spcAft>
              <a:buSzPct val="100000"/>
              <a:buChar char="•"/>
            </a:pPr>
            <a:r>
              <a:rPr lang="en-US" sz="1050" dirty="0">
                <a:solidFill>
                  <a:srgbClr val="1B3A1B"/>
                </a:solidFill>
                <a:latin typeface="Calibri" pitchFamily="34" charset="0"/>
                <a:ea typeface="Calibri" pitchFamily="34" charset="-122"/>
                <a:cs typeface="Calibri" pitchFamily="34" charset="-120"/>
              </a:rPr>
              <a:t>No hardware purchase — no delivery wait — no idle waste</a:t>
            </a:r>
            <a:endParaRPr lang="en-US" sz="1050" dirty="0"/>
          </a:p>
          <a:p>
            <a:pPr marL="342900" indent="-342900">
              <a:spcAft>
                <a:spcPts val="500"/>
              </a:spcAft>
              <a:buSzPct val="100000"/>
              <a:buChar char="•"/>
            </a:pPr>
            <a:r>
              <a:rPr lang="en-US" sz="1050" dirty="0">
                <a:solidFill>
                  <a:srgbClr val="1B3A1B"/>
                </a:solidFill>
                <a:latin typeface="Calibri" pitchFamily="34" charset="0"/>
                <a:ea typeface="Calibri" pitchFamily="34" charset="-122"/>
                <a:cs typeface="Calibri" pitchFamily="34" charset="-120"/>
              </a:rPr>
              <a:t>Like the electricity grid: use what you need, pay accordingly</a:t>
            </a:r>
            <a:endParaRPr lang="en-US" sz="1050" dirty="0"/>
          </a:p>
        </p:txBody>
      </p:sp>
      <p:sp>
        <p:nvSpPr>
          <p:cNvPr id="18" name="Shape 16"/>
          <p:cNvSpPr/>
          <p:nvPr/>
        </p:nvSpPr>
        <p:spPr>
          <a:xfrm>
            <a:off x="228600" y="3749040"/>
            <a:ext cx="8686800" cy="594360"/>
          </a:xfrm>
          <a:prstGeom prst="rect">
            <a:avLst/>
          </a:prstGeom>
          <a:solidFill>
            <a:srgbClr val="DBEAFE"/>
          </a:solidFill>
          <a:ln w="12700">
            <a:solidFill>
              <a:srgbClr val="1565C0"/>
            </a:solidFill>
            <a:prstDash val="solid"/>
          </a:ln>
        </p:spPr>
      </p:sp>
      <p:sp>
        <p:nvSpPr>
          <p:cNvPr id="19" name="Text 17"/>
          <p:cNvSpPr/>
          <p:nvPr/>
        </p:nvSpPr>
        <p:spPr>
          <a:xfrm>
            <a:off x="320040" y="3749040"/>
            <a:ext cx="8503920" cy="594360"/>
          </a:xfrm>
          <a:prstGeom prst="rect">
            <a:avLst/>
          </a:prstGeom>
          <a:noFill/>
          <a:ln/>
        </p:spPr>
        <p:txBody>
          <a:bodyPr wrap="square" lIns="0" tIns="0" rIns="0" bIns="0" rtlCol="0" anchor="ctr"/>
          <a:lstStyle/>
          <a:p>
            <a:pPr algn="ctr" indent="0" marL="0">
              <a:buNone/>
            </a:pPr>
            <a:r>
              <a:rPr lang="en-US" sz="1150" i="1" dirty="0">
                <a:solidFill>
                  <a:srgbClr val="1565C0"/>
                </a:solidFill>
                <a:latin typeface="Calibri" pitchFamily="34" charset="0"/>
                <a:ea typeface="Calibri" pitchFamily="34" charset="-122"/>
                <a:cs typeface="Calibri" pitchFamily="34" charset="-120"/>
              </a:rPr>
              <a:t>"Cloud is the IT equivalent of the electricity grid — use exactly what you need, pay only for what you consume."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Cloud Delivery Models — IaaS, PaaS &amp; SaaS</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Shape 7"/>
          <p:cNvSpPr/>
          <p:nvPr/>
        </p:nvSpPr>
        <p:spPr>
          <a:xfrm>
            <a:off x="201168"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01168" y="749808"/>
            <a:ext cx="2834640" cy="914400"/>
          </a:xfrm>
          <a:prstGeom prst="rect">
            <a:avLst/>
          </a:prstGeom>
          <a:solidFill>
            <a:srgbClr val="1A237E"/>
          </a:solidFill>
          <a:ln w="12700">
            <a:solidFill>
              <a:srgbClr val="1A237E"/>
            </a:solidFill>
            <a:prstDash val="solid"/>
          </a:ln>
        </p:spPr>
      </p:sp>
      <p:sp>
        <p:nvSpPr>
          <p:cNvPr id="11" name="Text 9"/>
          <p:cNvSpPr/>
          <p:nvPr/>
        </p:nvSpPr>
        <p:spPr>
          <a:xfrm>
            <a:off x="310896" y="777240"/>
            <a:ext cx="2615184"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IaaS</a:t>
            </a:r>
            <a:endParaRPr lang="en-US" sz="2800" dirty="0"/>
          </a:p>
        </p:txBody>
      </p:sp>
      <p:sp>
        <p:nvSpPr>
          <p:cNvPr id="12" name="Text 10"/>
          <p:cNvSpPr/>
          <p:nvPr/>
        </p:nvSpPr>
        <p:spPr>
          <a:xfrm>
            <a:off x="310896" y="1261872"/>
            <a:ext cx="2615184"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Infrastructure as a Service</a:t>
            </a:r>
            <a:endParaRPr lang="en-US" sz="950" dirty="0"/>
          </a:p>
        </p:txBody>
      </p:sp>
      <p:sp>
        <p:nvSpPr>
          <p:cNvPr id="13" name="Text 11"/>
          <p:cNvSpPr/>
          <p:nvPr/>
        </p:nvSpPr>
        <p:spPr>
          <a:xfrm>
            <a:off x="310896" y="1737360"/>
            <a:ext cx="2615184" cy="320040"/>
          </a:xfrm>
          <a:prstGeom prst="rect">
            <a:avLst/>
          </a:prstGeom>
          <a:noFill/>
          <a:ln/>
        </p:spPr>
        <p:txBody>
          <a:bodyPr wrap="square" lIns="0" tIns="0" rIns="0" bIns="0" rtlCol="0" anchor="ctr"/>
          <a:lstStyle/>
          <a:p>
            <a:pPr indent="0" marL="0">
              <a:buNone/>
            </a:pPr>
            <a:r>
              <a:rPr lang="en-US" sz="1100" b="1" dirty="0">
                <a:solidFill>
                  <a:srgbClr val="1A237E"/>
                </a:solidFill>
                <a:latin typeface="Calibri" pitchFamily="34" charset="0"/>
                <a:ea typeface="Calibri" pitchFamily="34" charset="-122"/>
                <a:cs typeface="Calibri" pitchFamily="34" charset="-120"/>
              </a:rPr>
              <a:t>🏠  Renting an empty flat</a:t>
            </a:r>
            <a:endParaRPr lang="en-US" sz="1100" dirty="0"/>
          </a:p>
        </p:txBody>
      </p:sp>
      <p:sp>
        <p:nvSpPr>
          <p:cNvPr id="14" name="Text 12"/>
          <p:cNvSpPr/>
          <p:nvPr/>
        </p:nvSpPr>
        <p:spPr>
          <a:xfrm>
            <a:off x="310896" y="2103120"/>
            <a:ext cx="2615184" cy="10972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You get: VMs, storage, networking.</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You manage: OS, runtime, app, data.</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Azure Example: Azure Virtual Machines</a:t>
            </a:r>
            <a:endParaRPr lang="en-US" sz="950" dirty="0"/>
          </a:p>
        </p:txBody>
      </p:sp>
      <p:sp>
        <p:nvSpPr>
          <p:cNvPr id="15" name="Shape 13"/>
          <p:cNvSpPr/>
          <p:nvPr/>
        </p:nvSpPr>
        <p:spPr>
          <a:xfrm>
            <a:off x="310896" y="3218688"/>
            <a:ext cx="2615184" cy="9144"/>
          </a:xfrm>
          <a:prstGeom prst="rect">
            <a:avLst/>
          </a:prstGeom>
          <a:solidFill>
            <a:srgbClr val="E2E8F0"/>
          </a:solidFill>
          <a:ln w="12700">
            <a:solidFill>
              <a:srgbClr val="E2E8F0"/>
            </a:solidFill>
            <a:prstDash val="solid"/>
          </a:ln>
        </p:spPr>
      </p:sp>
      <p:sp>
        <p:nvSpPr>
          <p:cNvPr id="16" name="Shape 14"/>
          <p:cNvSpPr/>
          <p:nvPr/>
        </p:nvSpPr>
        <p:spPr>
          <a:xfrm>
            <a:off x="310896" y="3246120"/>
            <a:ext cx="2615184" cy="548640"/>
          </a:xfrm>
          <a:prstGeom prst="rect">
            <a:avLst/>
          </a:prstGeom>
          <a:solidFill>
            <a:srgbClr val="F8F9FA"/>
          </a:solidFill>
          <a:ln w="12700">
            <a:solidFill>
              <a:srgbClr val="E2E8F0"/>
            </a:solidFill>
            <a:prstDash val="solid"/>
          </a:ln>
        </p:spPr>
      </p:sp>
      <p:sp>
        <p:nvSpPr>
          <p:cNvPr id="17" name="Text 15"/>
          <p:cNvSpPr/>
          <p:nvPr/>
        </p:nvSpPr>
        <p:spPr>
          <a:xfrm>
            <a:off x="310896" y="3246120"/>
            <a:ext cx="2615184" cy="548640"/>
          </a:xfrm>
          <a:prstGeom prst="rect">
            <a:avLst/>
          </a:prstGeom>
          <a:noFill/>
          <a:ln/>
        </p:spPr>
        <p:txBody>
          <a:bodyPr wrap="square" lIns="38100" tIns="38100" rIns="38100" bIns="38100" rtlCol="0" anchor="t"/>
          <a:lstStyle/>
          <a:p>
            <a:pPr indent="0" marL="0">
              <a:buNone/>
            </a:pPr>
            <a:r>
              <a:rPr lang="en-US" sz="850" dirty="0">
                <a:solidFill>
                  <a:srgbClr val="1B5E20"/>
                </a:solidFill>
                <a:latin typeface="Calibri" pitchFamily="34" charset="0"/>
                <a:ea typeface="Calibri" pitchFamily="34" charset="-122"/>
                <a:cs typeface="Calibri" pitchFamily="34" charset="-120"/>
              </a:rPr>
              <a:t>✅  Azure manages: Hardware, data center, virtualization</a:t>
            </a:r>
            <a:endParaRPr lang="en-US" sz="850" dirty="0"/>
          </a:p>
        </p:txBody>
      </p:sp>
      <p:sp>
        <p:nvSpPr>
          <p:cNvPr id="18" name="Text 16"/>
          <p:cNvSpPr/>
          <p:nvPr/>
        </p:nvSpPr>
        <p:spPr>
          <a:xfrm>
            <a:off x="310896" y="3822192"/>
            <a:ext cx="2615184"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Best for: Teams needing full OS control</a:t>
            </a:r>
            <a:endParaRPr lang="en-US" sz="900" dirty="0"/>
          </a:p>
        </p:txBody>
      </p:sp>
      <p:sp>
        <p:nvSpPr>
          <p:cNvPr id="19" name="Shape 17"/>
          <p:cNvSpPr/>
          <p:nvPr/>
        </p:nvSpPr>
        <p:spPr>
          <a:xfrm>
            <a:off x="3172968"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172968" y="749808"/>
            <a:ext cx="2834640" cy="914400"/>
          </a:xfrm>
          <a:prstGeom prst="rect">
            <a:avLst/>
          </a:prstGeom>
          <a:solidFill>
            <a:srgbClr val="1565C0"/>
          </a:solidFill>
          <a:ln w="12700">
            <a:solidFill>
              <a:srgbClr val="1565C0"/>
            </a:solidFill>
            <a:prstDash val="solid"/>
          </a:ln>
        </p:spPr>
      </p:sp>
      <p:sp>
        <p:nvSpPr>
          <p:cNvPr id="21" name="Text 19"/>
          <p:cNvSpPr/>
          <p:nvPr/>
        </p:nvSpPr>
        <p:spPr>
          <a:xfrm>
            <a:off x="3282696" y="777240"/>
            <a:ext cx="2615184"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PaaS</a:t>
            </a:r>
            <a:endParaRPr lang="en-US" sz="2800" dirty="0"/>
          </a:p>
        </p:txBody>
      </p:sp>
      <p:sp>
        <p:nvSpPr>
          <p:cNvPr id="22" name="Text 20"/>
          <p:cNvSpPr/>
          <p:nvPr/>
        </p:nvSpPr>
        <p:spPr>
          <a:xfrm>
            <a:off x="3282696" y="1261872"/>
            <a:ext cx="2615184"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Platform as a Service</a:t>
            </a:r>
            <a:endParaRPr lang="en-US" sz="950" dirty="0"/>
          </a:p>
        </p:txBody>
      </p:sp>
      <p:sp>
        <p:nvSpPr>
          <p:cNvPr id="23" name="Text 21"/>
          <p:cNvSpPr/>
          <p:nvPr/>
        </p:nvSpPr>
        <p:spPr>
          <a:xfrm>
            <a:off x="3282696" y="1737360"/>
            <a:ext cx="2615184" cy="32004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Fully furnished serviced apartment</a:t>
            </a:r>
            <a:endParaRPr lang="en-US" sz="1100" dirty="0"/>
          </a:p>
        </p:txBody>
      </p:sp>
      <p:sp>
        <p:nvSpPr>
          <p:cNvPr id="24" name="Text 22"/>
          <p:cNvSpPr/>
          <p:nvPr/>
        </p:nvSpPr>
        <p:spPr>
          <a:xfrm>
            <a:off x="3282696" y="2103120"/>
            <a:ext cx="2615184" cy="10972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You get: Runtime, OS, web server.</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You manage: App code and data only.</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Azure Example: Azure App Service</a:t>
            </a:r>
            <a:endParaRPr lang="en-US" sz="950" dirty="0"/>
          </a:p>
        </p:txBody>
      </p:sp>
      <p:sp>
        <p:nvSpPr>
          <p:cNvPr id="25" name="Shape 23"/>
          <p:cNvSpPr/>
          <p:nvPr/>
        </p:nvSpPr>
        <p:spPr>
          <a:xfrm>
            <a:off x="3282696" y="3218688"/>
            <a:ext cx="2615184" cy="9144"/>
          </a:xfrm>
          <a:prstGeom prst="rect">
            <a:avLst/>
          </a:prstGeom>
          <a:solidFill>
            <a:srgbClr val="E2E8F0"/>
          </a:solidFill>
          <a:ln w="12700">
            <a:solidFill>
              <a:srgbClr val="E2E8F0"/>
            </a:solidFill>
            <a:prstDash val="solid"/>
          </a:ln>
        </p:spPr>
      </p:sp>
      <p:sp>
        <p:nvSpPr>
          <p:cNvPr id="26" name="Shape 24"/>
          <p:cNvSpPr/>
          <p:nvPr/>
        </p:nvSpPr>
        <p:spPr>
          <a:xfrm>
            <a:off x="3282696" y="3246120"/>
            <a:ext cx="2615184" cy="548640"/>
          </a:xfrm>
          <a:prstGeom prst="rect">
            <a:avLst/>
          </a:prstGeom>
          <a:solidFill>
            <a:srgbClr val="F8F9FA"/>
          </a:solidFill>
          <a:ln w="12700">
            <a:solidFill>
              <a:srgbClr val="E2E8F0"/>
            </a:solidFill>
            <a:prstDash val="solid"/>
          </a:ln>
        </p:spPr>
      </p:sp>
      <p:sp>
        <p:nvSpPr>
          <p:cNvPr id="27" name="Text 25"/>
          <p:cNvSpPr/>
          <p:nvPr/>
        </p:nvSpPr>
        <p:spPr>
          <a:xfrm>
            <a:off x="3282696" y="3246120"/>
            <a:ext cx="2615184" cy="548640"/>
          </a:xfrm>
          <a:prstGeom prst="rect">
            <a:avLst/>
          </a:prstGeom>
          <a:noFill/>
          <a:ln/>
        </p:spPr>
        <p:txBody>
          <a:bodyPr wrap="square" lIns="38100" tIns="38100" rIns="38100" bIns="38100" rtlCol="0" anchor="t"/>
          <a:lstStyle/>
          <a:p>
            <a:pPr indent="0" marL="0">
              <a:buNone/>
            </a:pPr>
            <a:r>
              <a:rPr lang="en-US" sz="850" dirty="0">
                <a:solidFill>
                  <a:srgbClr val="1B5E20"/>
                </a:solidFill>
                <a:latin typeface="Calibri" pitchFamily="34" charset="0"/>
                <a:ea typeface="Calibri" pitchFamily="34" charset="-122"/>
                <a:cs typeface="Calibri" pitchFamily="34" charset="-120"/>
              </a:rPr>
              <a:t>✅  Azure manages: OS, runtime, scaling, patching, load balancing</a:t>
            </a:r>
            <a:endParaRPr lang="en-US" sz="850" dirty="0"/>
          </a:p>
        </p:txBody>
      </p:sp>
      <p:sp>
        <p:nvSpPr>
          <p:cNvPr id="28" name="Text 26"/>
          <p:cNvSpPr/>
          <p:nvPr/>
        </p:nvSpPr>
        <p:spPr>
          <a:xfrm>
            <a:off x="3282696" y="3822192"/>
            <a:ext cx="2615184"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Best for: Developers focused on code, not infrastructure</a:t>
            </a:r>
            <a:endParaRPr lang="en-US" sz="900" dirty="0"/>
          </a:p>
        </p:txBody>
      </p:sp>
      <p:sp>
        <p:nvSpPr>
          <p:cNvPr id="29" name="Shape 27"/>
          <p:cNvSpPr/>
          <p:nvPr/>
        </p:nvSpPr>
        <p:spPr>
          <a:xfrm>
            <a:off x="6144768" y="749808"/>
            <a:ext cx="2834640"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144768" y="749808"/>
            <a:ext cx="2834640" cy="914400"/>
          </a:xfrm>
          <a:prstGeom prst="rect">
            <a:avLst/>
          </a:prstGeom>
          <a:solidFill>
            <a:srgbClr val="00897B"/>
          </a:solidFill>
          <a:ln w="12700">
            <a:solidFill>
              <a:srgbClr val="00897B"/>
            </a:solidFill>
            <a:prstDash val="solid"/>
          </a:ln>
        </p:spPr>
      </p:sp>
      <p:sp>
        <p:nvSpPr>
          <p:cNvPr id="31" name="Text 29"/>
          <p:cNvSpPr/>
          <p:nvPr/>
        </p:nvSpPr>
        <p:spPr>
          <a:xfrm>
            <a:off x="6254496" y="777240"/>
            <a:ext cx="2615184"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SaaS</a:t>
            </a:r>
            <a:endParaRPr lang="en-US" sz="2800" dirty="0"/>
          </a:p>
        </p:txBody>
      </p:sp>
      <p:sp>
        <p:nvSpPr>
          <p:cNvPr id="32" name="Text 30"/>
          <p:cNvSpPr/>
          <p:nvPr/>
        </p:nvSpPr>
        <p:spPr>
          <a:xfrm>
            <a:off x="6254496" y="1261872"/>
            <a:ext cx="2615184"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Software as a Service</a:t>
            </a:r>
            <a:endParaRPr lang="en-US" sz="950" dirty="0"/>
          </a:p>
        </p:txBody>
      </p:sp>
      <p:sp>
        <p:nvSpPr>
          <p:cNvPr id="33" name="Text 31"/>
          <p:cNvSpPr/>
          <p:nvPr/>
        </p:nvSpPr>
        <p:spPr>
          <a:xfrm>
            <a:off x="6254496" y="1737360"/>
            <a:ext cx="2615184" cy="32004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Staying in a hotel</a:t>
            </a:r>
            <a:endParaRPr lang="en-US" sz="1100" dirty="0"/>
          </a:p>
        </p:txBody>
      </p:sp>
      <p:sp>
        <p:nvSpPr>
          <p:cNvPr id="34" name="Text 32"/>
          <p:cNvSpPr/>
          <p:nvPr/>
        </p:nvSpPr>
        <p:spPr>
          <a:xfrm>
            <a:off x="6254496" y="2103120"/>
            <a:ext cx="2615184" cy="10972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You get: A complete application.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You manage: Nothing.</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Azure Example: Microsoft 365, Teams</a:t>
            </a:r>
            <a:endParaRPr lang="en-US" sz="950" dirty="0"/>
          </a:p>
        </p:txBody>
      </p:sp>
      <p:sp>
        <p:nvSpPr>
          <p:cNvPr id="35" name="Shape 33"/>
          <p:cNvSpPr/>
          <p:nvPr/>
        </p:nvSpPr>
        <p:spPr>
          <a:xfrm>
            <a:off x="6254496" y="3218688"/>
            <a:ext cx="2615184" cy="9144"/>
          </a:xfrm>
          <a:prstGeom prst="rect">
            <a:avLst/>
          </a:prstGeom>
          <a:solidFill>
            <a:srgbClr val="E2E8F0"/>
          </a:solidFill>
          <a:ln w="12700">
            <a:solidFill>
              <a:srgbClr val="E2E8F0"/>
            </a:solidFill>
            <a:prstDash val="solid"/>
          </a:ln>
        </p:spPr>
      </p:sp>
      <p:sp>
        <p:nvSpPr>
          <p:cNvPr id="36" name="Shape 34"/>
          <p:cNvSpPr/>
          <p:nvPr/>
        </p:nvSpPr>
        <p:spPr>
          <a:xfrm>
            <a:off x="6254496" y="3246120"/>
            <a:ext cx="2615184" cy="548640"/>
          </a:xfrm>
          <a:prstGeom prst="rect">
            <a:avLst/>
          </a:prstGeom>
          <a:solidFill>
            <a:srgbClr val="F8F9FA"/>
          </a:solidFill>
          <a:ln w="12700">
            <a:solidFill>
              <a:srgbClr val="E2E8F0"/>
            </a:solidFill>
            <a:prstDash val="solid"/>
          </a:ln>
        </p:spPr>
      </p:sp>
      <p:sp>
        <p:nvSpPr>
          <p:cNvPr id="37" name="Text 35"/>
          <p:cNvSpPr/>
          <p:nvPr/>
        </p:nvSpPr>
        <p:spPr>
          <a:xfrm>
            <a:off x="6254496" y="3246120"/>
            <a:ext cx="2615184" cy="548640"/>
          </a:xfrm>
          <a:prstGeom prst="rect">
            <a:avLst/>
          </a:prstGeom>
          <a:noFill/>
          <a:ln/>
        </p:spPr>
        <p:txBody>
          <a:bodyPr wrap="square" lIns="38100" tIns="38100" rIns="38100" bIns="38100" rtlCol="0" anchor="t"/>
          <a:lstStyle/>
          <a:p>
            <a:pPr indent="0" marL="0">
              <a:buNone/>
            </a:pPr>
            <a:r>
              <a:rPr lang="en-US" sz="850" dirty="0">
                <a:solidFill>
                  <a:srgbClr val="1B5E20"/>
                </a:solidFill>
                <a:latin typeface="Calibri" pitchFamily="34" charset="0"/>
                <a:ea typeface="Calibri" pitchFamily="34" charset="-122"/>
                <a:cs typeface="Calibri" pitchFamily="34" charset="-120"/>
              </a:rPr>
              <a:t>✅  Azure manages: Everything end-to-end</a:t>
            </a:r>
            <a:endParaRPr lang="en-US" sz="850" dirty="0"/>
          </a:p>
        </p:txBody>
      </p:sp>
      <p:sp>
        <p:nvSpPr>
          <p:cNvPr id="38" name="Text 36"/>
          <p:cNvSpPr/>
          <p:nvPr/>
        </p:nvSpPr>
        <p:spPr>
          <a:xfrm>
            <a:off x="6254496" y="3822192"/>
            <a:ext cx="2615184"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Best for: End-users consuming software</a:t>
            </a:r>
            <a:endParaRPr lang="en-US" sz="900" dirty="0"/>
          </a:p>
        </p:txBody>
      </p:sp>
      <p:sp>
        <p:nvSpPr>
          <p:cNvPr id="39" name="Text 37"/>
          <p:cNvSpPr/>
          <p:nvPr/>
        </p:nvSpPr>
        <p:spPr>
          <a:xfrm>
            <a:off x="228600" y="4681728"/>
            <a:ext cx="8686800" cy="228600"/>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As a Java Developer you will primarily work with PaaS — focus on code, let Azure manage infrastructure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Microsoft Azure — The Enterprise Cloud Platform</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Shape 7"/>
          <p:cNvSpPr/>
          <p:nvPr/>
        </p:nvSpPr>
        <p:spPr>
          <a:xfrm>
            <a:off x="228600" y="804672"/>
            <a:ext cx="1920240" cy="1188720"/>
          </a:xfrm>
          <a:prstGeom prst="rect">
            <a:avLst/>
          </a:prstGeom>
          <a:solidFill>
            <a:srgbClr val="1565C0"/>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228600" y="850392"/>
            <a:ext cx="19202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300+</a:t>
            </a:r>
            <a:endParaRPr lang="en-US" sz="3800" dirty="0"/>
          </a:p>
        </p:txBody>
      </p:sp>
      <p:sp>
        <p:nvSpPr>
          <p:cNvPr id="11" name="Text 9"/>
          <p:cNvSpPr/>
          <p:nvPr/>
        </p:nvSpPr>
        <p:spPr>
          <a:xfrm>
            <a:off x="228600" y="1581912"/>
            <a:ext cx="192024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Azure Services</a:t>
            </a:r>
            <a:endParaRPr lang="en-US" sz="950" dirty="0"/>
          </a:p>
        </p:txBody>
      </p:sp>
      <p:sp>
        <p:nvSpPr>
          <p:cNvPr id="12" name="Shape 10"/>
          <p:cNvSpPr/>
          <p:nvPr/>
        </p:nvSpPr>
        <p:spPr>
          <a:xfrm>
            <a:off x="2331720" y="804672"/>
            <a:ext cx="1920240" cy="1188720"/>
          </a:xfrm>
          <a:prstGeom prst="rect">
            <a:avLst/>
          </a:prstGeom>
          <a:solidFill>
            <a:srgbClr val="00897B"/>
          </a:solidFill>
          <a:ln w="12700">
            <a:solidFill>
              <a:srgbClr val="00897B"/>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331720" y="850392"/>
            <a:ext cx="19202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60+</a:t>
            </a:r>
            <a:endParaRPr lang="en-US" sz="3800" dirty="0"/>
          </a:p>
        </p:txBody>
      </p:sp>
      <p:sp>
        <p:nvSpPr>
          <p:cNvPr id="14" name="Text 12"/>
          <p:cNvSpPr/>
          <p:nvPr/>
        </p:nvSpPr>
        <p:spPr>
          <a:xfrm>
            <a:off x="2331720" y="1581912"/>
            <a:ext cx="192024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Global Regions</a:t>
            </a:r>
            <a:endParaRPr lang="en-US" sz="950" dirty="0"/>
          </a:p>
        </p:txBody>
      </p:sp>
      <p:sp>
        <p:nvSpPr>
          <p:cNvPr id="15" name="Shape 13"/>
          <p:cNvSpPr/>
          <p:nvPr/>
        </p:nvSpPr>
        <p:spPr>
          <a:xfrm>
            <a:off x="4434840" y="804672"/>
            <a:ext cx="1920240" cy="1188720"/>
          </a:xfrm>
          <a:prstGeom prst="rect">
            <a:avLst/>
          </a:prstGeom>
          <a:solidFill>
            <a:srgbClr val="1A237E"/>
          </a:solidFill>
          <a:ln w="12700">
            <a:solidFill>
              <a:srgbClr val="1A237E"/>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434840" y="850392"/>
            <a:ext cx="19202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95%</a:t>
            </a:r>
            <a:endParaRPr lang="en-US" sz="3800" dirty="0"/>
          </a:p>
        </p:txBody>
      </p:sp>
      <p:sp>
        <p:nvSpPr>
          <p:cNvPr id="17" name="Text 15"/>
          <p:cNvSpPr/>
          <p:nvPr/>
        </p:nvSpPr>
        <p:spPr>
          <a:xfrm>
            <a:off x="4434840" y="1581912"/>
            <a:ext cx="192024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Fortune 500 Companies</a:t>
            </a:r>
            <a:endParaRPr lang="en-US" sz="950" dirty="0"/>
          </a:p>
        </p:txBody>
      </p:sp>
      <p:sp>
        <p:nvSpPr>
          <p:cNvPr id="18" name="Shape 16"/>
          <p:cNvSpPr/>
          <p:nvPr/>
        </p:nvSpPr>
        <p:spPr>
          <a:xfrm>
            <a:off x="6537960" y="804672"/>
            <a:ext cx="1920240" cy="1188720"/>
          </a:xfrm>
          <a:prstGeom prst="rect">
            <a:avLst/>
          </a:prstGeom>
          <a:solidFill>
            <a:srgbClr val="E65100"/>
          </a:solidFill>
          <a:ln w="12700">
            <a:solidFill>
              <a:srgbClr val="E65100"/>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6537960" y="850392"/>
            <a:ext cx="19202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#2</a:t>
            </a:r>
            <a:endParaRPr lang="en-US" sz="3800" dirty="0"/>
          </a:p>
        </p:txBody>
      </p:sp>
      <p:sp>
        <p:nvSpPr>
          <p:cNvPr id="20" name="Text 18"/>
          <p:cNvSpPr/>
          <p:nvPr/>
        </p:nvSpPr>
        <p:spPr>
          <a:xfrm>
            <a:off x="6537960" y="1581912"/>
            <a:ext cx="192024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Cloud Platform Globally</a:t>
            </a:r>
            <a:endParaRPr lang="en-US" sz="950" dirty="0"/>
          </a:p>
        </p:txBody>
      </p:sp>
      <p:sp>
        <p:nvSpPr>
          <p:cNvPr id="21" name="Text 19"/>
          <p:cNvSpPr/>
          <p:nvPr/>
        </p:nvSpPr>
        <p:spPr>
          <a:xfrm>
            <a:off x="228600" y="2176272"/>
            <a:ext cx="4206240" cy="320040"/>
          </a:xfrm>
          <a:prstGeom prst="rect">
            <a:avLst/>
          </a:prstGeom>
          <a:noFill/>
          <a:ln/>
        </p:spPr>
        <p:txBody>
          <a:bodyPr wrap="square" lIns="0" tIns="0" rIns="0" bIns="0" rtlCol="0" anchor="ctr"/>
          <a:lstStyle/>
          <a:p>
            <a:pPr indent="0" marL="0">
              <a:buNone/>
            </a:pPr>
            <a:r>
              <a:rPr lang="en-US" sz="1400" b="1" dirty="0">
                <a:solidFill>
                  <a:srgbClr val="1A237E"/>
                </a:solidFill>
                <a:latin typeface="Trebuchet MS" pitchFamily="34" charset="0"/>
                <a:ea typeface="Trebuchet MS" pitchFamily="34" charset="-122"/>
                <a:cs typeface="Trebuchet MS" pitchFamily="34" charset="-120"/>
              </a:rPr>
              <a:t>Why Enterprises Choose Azure</a:t>
            </a:r>
            <a:endParaRPr lang="en-US" sz="1400" dirty="0"/>
          </a:p>
        </p:txBody>
      </p:sp>
      <p:sp>
        <p:nvSpPr>
          <p:cNvPr id="22" name="Text 20"/>
          <p:cNvSpPr/>
          <p:nvPr/>
        </p:nvSpPr>
        <p:spPr>
          <a:xfrm>
            <a:off x="228600" y="2532888"/>
            <a:ext cx="4114800" cy="2240280"/>
          </a:xfrm>
          <a:prstGeom prst="rect">
            <a:avLst/>
          </a:prstGeom>
          <a:noFill/>
          <a:ln/>
        </p:spPr>
        <p:txBody>
          <a:bodyPr wrap="square" rtlCol="0" anchor="t"/>
          <a:lstStyle/>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Deep Microsoft ecosystem: Active Directory, SQL Server, .NET, Office 365 integration</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Launched 2010 — built enterprise-first from day one, unlike AWS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95% of Fortune 500 companies trust Azure for critical workloads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95+ compliance certifications including HIPAA, ISO 27001, SOC 2</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Azure Hybrid Benefit — bring existing Microsoft licenses to cloud</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Industry leader in healthcare, banking, and government sectors</a:t>
            </a:r>
            <a:endParaRPr lang="en-US" sz="1050" dirty="0"/>
          </a:p>
        </p:txBody>
      </p:sp>
      <p:sp>
        <p:nvSpPr>
          <p:cNvPr id="23" name="Text 21"/>
          <p:cNvSpPr/>
          <p:nvPr/>
        </p:nvSpPr>
        <p:spPr>
          <a:xfrm>
            <a:off x="4663440" y="2176272"/>
            <a:ext cx="4206240" cy="320040"/>
          </a:xfrm>
          <a:prstGeom prst="rect">
            <a:avLst/>
          </a:prstGeom>
          <a:noFill/>
          <a:ln/>
        </p:spPr>
        <p:txBody>
          <a:bodyPr wrap="square" lIns="0" tIns="0" rIns="0" bIns="0" rtlCol="0" anchor="ctr"/>
          <a:lstStyle/>
          <a:p>
            <a:pPr indent="0" marL="0">
              <a:buNone/>
            </a:pPr>
            <a:r>
              <a:rPr lang="en-US" sz="1400" b="1" dirty="0">
                <a:solidFill>
                  <a:srgbClr val="1A237E"/>
                </a:solidFill>
                <a:latin typeface="Trebuchet MS" pitchFamily="34" charset="0"/>
                <a:ea typeface="Trebuchet MS" pitchFamily="34" charset="-122"/>
                <a:cs typeface="Trebuchet MS" pitchFamily="34" charset="-120"/>
              </a:rPr>
              <a:t>Azure vs AWS vs Google Cloud</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2532888"/>
          <a:ext cx="4224528" cy="1645920"/>
        </p:xfrm>
        <a:graphic>
          <a:graphicData uri="http://schemas.openxmlformats.org/drawingml/2006/table">
            <a:tbl>
              <a:tblPr/>
              <a:tblGrid>
                <a:gridCol w="1005840"/>
                <a:gridCol w="1920240"/>
                <a:gridCol w="1298448"/>
              </a:tblGrid>
              <a:tr h="411480">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Platform</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Strength</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Best For</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r>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Azure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65C0"/>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Enterprise, .NET, Microsoft stack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3F2FD"/>
                    </a:solidFill>
                  </a:tcPr>
                </a:tc>
                <a:tc>
                  <a:txBody>
                    <a:bodyPr/>
                    <a:lstStyle/>
                    <a:p>
                      <a:pPr indent="0" marL="0">
                        <a:buNone/>
                      </a:pPr>
                      <a:r>
                        <a:rPr lang="en-US" sz="1000" i="1" dirty="0">
                          <a:solidFill>
                            <a:srgbClr val="64748B"/>
                          </a:solidFill>
                          <a:latin typeface="Calibri" pitchFamily="34" charset="0"/>
                          <a:ea typeface="Calibri" pitchFamily="34" charset="-122"/>
                          <a:cs typeface="Calibri" pitchFamily="34" charset="-120"/>
                        </a:rPr>
                        <a:t>Banking, Healthcare, Govt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3F2FD"/>
                    </a:solidFill>
                  </a:tcPr>
                </a:tc>
              </a:tr>
              <a:tr h="41148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AWS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Widest services, market leader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i="1" dirty="0">
                          <a:solidFill>
                            <a:srgbClr val="64748B"/>
                          </a:solidFill>
                          <a:latin typeface="Calibri" pitchFamily="34" charset="0"/>
                          <a:ea typeface="Calibri" pitchFamily="34" charset="-122"/>
                          <a:cs typeface="Calibri" pitchFamily="34" charset="-120"/>
                        </a:rPr>
                        <a:t>Tech startups, e-commerce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GCP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AI/ML, big data analytics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i="1" dirty="0">
                          <a:solidFill>
                            <a:srgbClr val="64748B"/>
                          </a:solidFill>
                          <a:latin typeface="Calibri" pitchFamily="34" charset="0"/>
                          <a:ea typeface="Calibri" pitchFamily="34" charset="-122"/>
                          <a:cs typeface="Calibri" pitchFamily="34" charset="-120"/>
                        </a:rPr>
                        <a:t>Data engineering, AI-first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hape 22"/>
          <p:cNvSpPr/>
          <p:nvPr/>
        </p:nvSpPr>
        <p:spPr>
          <a:xfrm>
            <a:off x="4663440" y="4224528"/>
            <a:ext cx="4224528" cy="594360"/>
          </a:xfrm>
          <a:prstGeom prst="rect">
            <a:avLst/>
          </a:prstGeom>
          <a:solidFill>
            <a:srgbClr val="DBEAFE"/>
          </a:solidFill>
          <a:ln w="12700">
            <a:solidFill>
              <a:srgbClr val="1565C0"/>
            </a:solidFill>
            <a:prstDash val="solid"/>
          </a:ln>
        </p:spPr>
      </p:sp>
      <p:sp>
        <p:nvSpPr>
          <p:cNvPr id="26" name="Text 23"/>
          <p:cNvSpPr/>
          <p:nvPr/>
        </p:nvSpPr>
        <p:spPr>
          <a:xfrm>
            <a:off x="4754880" y="4242816"/>
            <a:ext cx="4041648" cy="557784"/>
          </a:xfrm>
          <a:prstGeom prst="rect">
            <a:avLst/>
          </a:prstGeom>
          <a:noFill/>
          <a:ln/>
        </p:spPr>
        <p:txBody>
          <a:bodyPr wrap="square" lIns="0" tIns="0" rIns="0" bIns="0" rtlCol="0" anchor="t"/>
          <a:lstStyle/>
          <a:p>
            <a:pPr indent="0" marL="0">
              <a:buNone/>
            </a:pPr>
            <a:r>
              <a:rPr lang="en-US" sz="900" dirty="0">
                <a:solidFill>
                  <a:srgbClr val="1565C0"/>
                </a:solidFill>
                <a:latin typeface="Calibri" pitchFamily="34" charset="0"/>
                <a:ea typeface="Calibri" pitchFamily="34" charset="-122"/>
                <a:cs typeface="Calibri" pitchFamily="34" charset="-120"/>
              </a:rPr>
              <a:t>For Java backend developers targeting enterprise roles: Azure is the primary employer requirement in India — TCS, Infosys, Wipro, HCL all deliver Azure projects for banking &amp; insurance clients.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Organizational Hierarchy — The Management Structure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92608"/>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Every Azure resource exists in a hierarchy. Understanding this is what separates a junior developer from a cloud architect.</a:t>
            </a:r>
            <a:endParaRPr lang="en-US" sz="1050" dirty="0"/>
          </a:p>
        </p:txBody>
      </p:sp>
      <p:sp>
        <p:nvSpPr>
          <p:cNvPr id="10" name="Shape 8"/>
          <p:cNvSpPr/>
          <p:nvPr/>
        </p:nvSpPr>
        <p:spPr>
          <a:xfrm>
            <a:off x="914400" y="1097280"/>
            <a:ext cx="7315200" cy="566928"/>
          </a:xfrm>
          <a:prstGeom prst="rect">
            <a:avLst/>
          </a:prstGeom>
          <a:solidFill>
            <a:srgbClr val="1A237E"/>
          </a:solidFill>
          <a:ln w="12700">
            <a:solidFill>
              <a:srgbClr val="1A237E"/>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1051560" y="1124712"/>
            <a:ext cx="7040880" cy="27432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1. Azure Tenant / Active Directory</a:t>
            </a:r>
            <a:endParaRPr lang="en-US" sz="1250" dirty="0"/>
          </a:p>
        </p:txBody>
      </p:sp>
      <p:sp>
        <p:nvSpPr>
          <p:cNvPr id="12" name="Text 10"/>
          <p:cNvSpPr/>
          <p:nvPr/>
        </p:nvSpPr>
        <p:spPr>
          <a:xfrm>
            <a:off x="1051560" y="1399032"/>
            <a:ext cx="7040880" cy="237744"/>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Organization's identity in cloud  •  Manages users, groups, access control</a:t>
            </a:r>
            <a:endParaRPr lang="en-US" sz="900" dirty="0"/>
          </a:p>
        </p:txBody>
      </p:sp>
      <p:sp>
        <p:nvSpPr>
          <p:cNvPr id="13" name="Shape 11"/>
          <p:cNvSpPr/>
          <p:nvPr/>
        </p:nvSpPr>
        <p:spPr>
          <a:xfrm>
            <a:off x="1280160" y="1847088"/>
            <a:ext cx="6583680" cy="566928"/>
          </a:xfrm>
          <a:prstGeom prst="rect">
            <a:avLst/>
          </a:prstGeom>
          <a:solidFill>
            <a:srgbClr val="1565C0"/>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1417320" y="1874520"/>
            <a:ext cx="6309360" cy="27432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2. Subscription</a:t>
            </a:r>
            <a:endParaRPr lang="en-US" sz="1250" dirty="0"/>
          </a:p>
        </p:txBody>
      </p:sp>
      <p:sp>
        <p:nvSpPr>
          <p:cNvPr id="15" name="Text 13"/>
          <p:cNvSpPr/>
          <p:nvPr/>
        </p:nvSpPr>
        <p:spPr>
          <a:xfrm>
            <a:off x="1417320" y="2148840"/>
            <a:ext cx="6309360" cy="237744"/>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Billing &amp; access boundary  •  One for Production, one for Development, one for Testing</a:t>
            </a:r>
            <a:endParaRPr lang="en-US" sz="900" dirty="0"/>
          </a:p>
        </p:txBody>
      </p:sp>
      <p:sp>
        <p:nvSpPr>
          <p:cNvPr id="16" name="Shape 14"/>
          <p:cNvSpPr/>
          <p:nvPr/>
        </p:nvSpPr>
        <p:spPr>
          <a:xfrm>
            <a:off x="1645920" y="2596896"/>
            <a:ext cx="5852160" cy="566928"/>
          </a:xfrm>
          <a:prstGeom prst="rect">
            <a:avLst/>
          </a:prstGeom>
          <a:solidFill>
            <a:srgbClr val="00897B"/>
          </a:solidFill>
          <a:ln w="12700">
            <a:solidFill>
              <a:srgbClr val="00897B"/>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1783080" y="2624328"/>
            <a:ext cx="5577840" cy="27432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3. Resource Group</a:t>
            </a:r>
            <a:endParaRPr lang="en-US" sz="1250" dirty="0"/>
          </a:p>
        </p:txBody>
      </p:sp>
      <p:sp>
        <p:nvSpPr>
          <p:cNvPr id="18" name="Text 16"/>
          <p:cNvSpPr/>
          <p:nvPr/>
        </p:nvSpPr>
        <p:spPr>
          <a:xfrm>
            <a:off x="1783080" y="2898648"/>
            <a:ext cx="5577840" cy="237744"/>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Logical container for related resources  •  Management boundary for access, cost &amp; policy</a:t>
            </a:r>
            <a:endParaRPr lang="en-US" sz="900" dirty="0"/>
          </a:p>
        </p:txBody>
      </p:sp>
      <p:sp>
        <p:nvSpPr>
          <p:cNvPr id="19" name="Shape 17"/>
          <p:cNvSpPr/>
          <p:nvPr/>
        </p:nvSpPr>
        <p:spPr>
          <a:xfrm>
            <a:off x="2011680" y="3346704"/>
            <a:ext cx="5120640" cy="566928"/>
          </a:xfrm>
          <a:prstGeom prst="rect">
            <a:avLst/>
          </a:prstGeom>
          <a:solidFill>
            <a:srgbClr val="E65100"/>
          </a:solidFill>
          <a:ln w="12700">
            <a:solidFill>
              <a:srgbClr val="E6510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2148840" y="3374136"/>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4. Resources</a:t>
            </a:r>
            <a:endParaRPr lang="en-US" sz="1250" dirty="0"/>
          </a:p>
        </p:txBody>
      </p:sp>
      <p:sp>
        <p:nvSpPr>
          <p:cNvPr id="21" name="Text 19"/>
          <p:cNvSpPr/>
          <p:nvPr/>
        </p:nvSpPr>
        <p:spPr>
          <a:xfrm>
            <a:off x="2148840" y="3648456"/>
            <a:ext cx="4846320" cy="237744"/>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The actual Azure services: App Service, SQL Database, Storage, Key Vault, Redis…</a:t>
            </a:r>
            <a:endParaRPr lang="en-US" sz="900" dirty="0"/>
          </a:p>
        </p:txBody>
      </p:sp>
      <p:sp>
        <p:nvSpPr>
          <p:cNvPr id="22" name="Shape 20"/>
          <p:cNvSpPr/>
          <p:nvPr/>
        </p:nvSpPr>
        <p:spPr>
          <a:xfrm>
            <a:off x="4480560" y="1664208"/>
            <a:ext cx="182880" cy="182880"/>
          </a:xfrm>
          <a:prstGeom prst="rect">
            <a:avLst/>
          </a:prstGeom>
          <a:solidFill>
            <a:srgbClr val="64748B"/>
          </a:solidFill>
          <a:ln w="12700">
            <a:solidFill>
              <a:srgbClr val="64748B"/>
            </a:solidFill>
            <a:prstDash val="solid"/>
          </a:ln>
        </p:spPr>
      </p:sp>
      <p:sp>
        <p:nvSpPr>
          <p:cNvPr id="23" name="Shape 21"/>
          <p:cNvSpPr/>
          <p:nvPr/>
        </p:nvSpPr>
        <p:spPr>
          <a:xfrm>
            <a:off x="4480560" y="2414016"/>
            <a:ext cx="182880" cy="182880"/>
          </a:xfrm>
          <a:prstGeom prst="rect">
            <a:avLst/>
          </a:prstGeom>
          <a:solidFill>
            <a:srgbClr val="64748B"/>
          </a:solidFill>
          <a:ln w="12700">
            <a:solidFill>
              <a:srgbClr val="64748B"/>
            </a:solidFill>
            <a:prstDash val="solid"/>
          </a:ln>
        </p:spPr>
      </p:sp>
      <p:sp>
        <p:nvSpPr>
          <p:cNvPr id="24" name="Shape 22"/>
          <p:cNvSpPr/>
          <p:nvPr/>
        </p:nvSpPr>
        <p:spPr>
          <a:xfrm>
            <a:off x="4480560" y="3163824"/>
            <a:ext cx="182880" cy="182880"/>
          </a:xfrm>
          <a:prstGeom prst="rect">
            <a:avLst/>
          </a:prstGeom>
          <a:solidFill>
            <a:srgbClr val="64748B"/>
          </a:solidFill>
          <a:ln w="12700">
            <a:solidFill>
              <a:srgbClr val="64748B"/>
            </a:solidFill>
            <a:prstDash val="solid"/>
          </a:ln>
        </p:spPr>
      </p:sp>
      <p:sp>
        <p:nvSpPr>
          <p:cNvPr id="25" name="Shape 23"/>
          <p:cNvSpPr/>
          <p:nvPr/>
        </p:nvSpPr>
        <p:spPr>
          <a:xfrm>
            <a:off x="228600" y="4069080"/>
            <a:ext cx="8686800" cy="713232"/>
          </a:xfrm>
          <a:prstGeom prst="rect">
            <a:avLst/>
          </a:prstGeom>
          <a:solidFill>
            <a:srgbClr val="F0F4FF"/>
          </a:solidFill>
          <a:ln w="12700">
            <a:solidFill>
              <a:srgbClr val="1565C0"/>
            </a:solidFill>
            <a:prstDash val="solid"/>
          </a:ln>
        </p:spPr>
      </p:sp>
      <p:sp>
        <p:nvSpPr>
          <p:cNvPr id="26" name="Text 24"/>
          <p:cNvSpPr/>
          <p:nvPr/>
        </p:nvSpPr>
        <p:spPr>
          <a:xfrm>
            <a:off x="320040" y="4087368"/>
            <a:ext cx="8503920" cy="676656"/>
          </a:xfrm>
          <a:prstGeom prst="rect">
            <a:avLst/>
          </a:prstGeom>
          <a:noFill/>
          <a:ln/>
        </p:spPr>
        <p:txBody>
          <a:bodyPr wrap="square" lIns="0" tIns="0" rIns="0" bIns="0" rtlCol="0" anchor="ctr"/>
          <a:lstStyle/>
          <a:p>
            <a:pPr indent="0" marL="0">
              <a:buNone/>
            </a:pPr>
            <a:r>
              <a:rPr lang="en-US" sz="950" dirty="0">
                <a:solidFill>
                  <a:srgbClr val="1A237E"/>
                </a:solidFill>
                <a:latin typeface="Calibri" pitchFamily="34" charset="0"/>
                <a:ea typeface="Calibri" pitchFamily="34" charset="-122"/>
                <a:cs typeface="Calibri" pitchFamily="34" charset="-120"/>
              </a:rPr>
              <a:t>MediCare Example:  Tenant: medicare-india.onmicrosoft.com  →  Subscription: MediCare-Production  →  Resource Groups: medicare-backend-rg | medicare-storage-rg | medicare-network-rg  →  Resources: App Service + SQL + Redis + Key Vault + ACR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Resource Groups — Far More Than Just Folders</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92608"/>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Resource Groups are Management Boundaries with real behavioral implications — not merely organizational folders.</a:t>
            </a:r>
            <a:endParaRPr lang="en-US" sz="1050" dirty="0"/>
          </a:p>
        </p:txBody>
      </p:sp>
      <p:sp>
        <p:nvSpPr>
          <p:cNvPr id="10" name="Shape 8"/>
          <p:cNvSpPr/>
          <p:nvPr/>
        </p:nvSpPr>
        <p:spPr>
          <a:xfrm>
            <a:off x="228600" y="11155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28600" y="1115568"/>
            <a:ext cx="2816352" cy="64008"/>
          </a:xfrm>
          <a:prstGeom prst="rect">
            <a:avLst/>
          </a:prstGeom>
          <a:solidFill>
            <a:srgbClr val="1565C0"/>
          </a:solidFill>
          <a:ln w="12700">
            <a:solidFill>
              <a:srgbClr val="1565C0"/>
            </a:solidFill>
            <a:prstDash val="solid"/>
          </a:ln>
        </p:spPr>
      </p:sp>
      <p:sp>
        <p:nvSpPr>
          <p:cNvPr id="12" name="Text 10"/>
          <p:cNvSpPr/>
          <p:nvPr/>
        </p:nvSpPr>
        <p:spPr>
          <a:xfrm>
            <a:off x="338328" y="12070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Lifecycle Management</a:t>
            </a:r>
            <a:endParaRPr lang="en-US" sz="1200" dirty="0"/>
          </a:p>
        </p:txBody>
      </p:sp>
      <p:sp>
        <p:nvSpPr>
          <p:cNvPr id="13" name="Text 11"/>
          <p:cNvSpPr/>
          <p:nvPr/>
        </p:nvSpPr>
        <p:spPr>
          <a:xfrm>
            <a:off x="338328" y="15179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Resources deploy &amp; delete together. Run `az group delete` = entire environment gone instantly. Contain blast radius.</a:t>
            </a:r>
            <a:endParaRPr lang="en-US" sz="950" dirty="0"/>
          </a:p>
        </p:txBody>
      </p:sp>
      <p:sp>
        <p:nvSpPr>
          <p:cNvPr id="14" name="Shape 12"/>
          <p:cNvSpPr/>
          <p:nvPr/>
        </p:nvSpPr>
        <p:spPr>
          <a:xfrm>
            <a:off x="3172968" y="11155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172968" y="1115568"/>
            <a:ext cx="2816352" cy="64008"/>
          </a:xfrm>
          <a:prstGeom prst="rect">
            <a:avLst/>
          </a:prstGeom>
          <a:solidFill>
            <a:srgbClr val="00897B"/>
          </a:solidFill>
          <a:ln w="12700">
            <a:solidFill>
              <a:srgbClr val="00897B"/>
            </a:solidFill>
            <a:prstDash val="solid"/>
          </a:ln>
        </p:spPr>
      </p:sp>
      <p:sp>
        <p:nvSpPr>
          <p:cNvPr id="16" name="Text 14"/>
          <p:cNvSpPr/>
          <p:nvPr/>
        </p:nvSpPr>
        <p:spPr>
          <a:xfrm>
            <a:off x="3282696" y="12070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Access Control (RBAC)</a:t>
            </a:r>
            <a:endParaRPr lang="en-US" sz="1200" dirty="0"/>
          </a:p>
        </p:txBody>
      </p:sp>
      <p:sp>
        <p:nvSpPr>
          <p:cNvPr id="17" name="Text 15"/>
          <p:cNvSpPr/>
          <p:nvPr/>
        </p:nvSpPr>
        <p:spPr>
          <a:xfrm>
            <a:off x="3282696" y="15179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Grant a developer access to only one Resource Group. Zero visibility into other groups. Principle of least privilege.</a:t>
            </a:r>
            <a:endParaRPr lang="en-US" sz="950" dirty="0"/>
          </a:p>
        </p:txBody>
      </p:sp>
      <p:sp>
        <p:nvSpPr>
          <p:cNvPr id="18" name="Shape 16"/>
          <p:cNvSpPr/>
          <p:nvPr/>
        </p:nvSpPr>
        <p:spPr>
          <a:xfrm>
            <a:off x="6117336" y="11155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117336" y="1115568"/>
            <a:ext cx="2816352" cy="64008"/>
          </a:xfrm>
          <a:prstGeom prst="rect">
            <a:avLst/>
          </a:prstGeom>
          <a:solidFill>
            <a:srgbClr val="1A237E"/>
          </a:solidFill>
          <a:ln w="12700">
            <a:solidFill>
              <a:srgbClr val="1A237E"/>
            </a:solidFill>
            <a:prstDash val="solid"/>
          </a:ln>
        </p:spPr>
      </p:sp>
      <p:sp>
        <p:nvSpPr>
          <p:cNvPr id="20" name="Text 18"/>
          <p:cNvSpPr/>
          <p:nvPr/>
        </p:nvSpPr>
        <p:spPr>
          <a:xfrm>
            <a:off x="6227064" y="12070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Cost Tracking</a:t>
            </a:r>
            <a:endParaRPr lang="en-US" sz="1200" dirty="0"/>
          </a:p>
        </p:txBody>
      </p:sp>
      <p:sp>
        <p:nvSpPr>
          <p:cNvPr id="21" name="Text 19"/>
          <p:cNvSpPr/>
          <p:nvPr/>
        </p:nvSpPr>
        <p:spPr>
          <a:xfrm>
            <a:off x="6227064" y="15179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Azure shows total cost per Resource Group. Know exactly how much medicare-backend-rg costs vs medicare-storage-rg.</a:t>
            </a:r>
            <a:endParaRPr lang="en-US" sz="950" dirty="0"/>
          </a:p>
        </p:txBody>
      </p:sp>
      <p:sp>
        <p:nvSpPr>
          <p:cNvPr id="22" name="Shape 20"/>
          <p:cNvSpPr/>
          <p:nvPr/>
        </p:nvSpPr>
        <p:spPr>
          <a:xfrm>
            <a:off x="228600" y="27157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28600" y="2715768"/>
            <a:ext cx="2816352" cy="64008"/>
          </a:xfrm>
          <a:prstGeom prst="rect">
            <a:avLst/>
          </a:prstGeom>
          <a:solidFill>
            <a:srgbClr val="E65100"/>
          </a:solidFill>
          <a:ln w="12700">
            <a:solidFill>
              <a:srgbClr val="E65100"/>
            </a:solidFill>
            <a:prstDash val="solid"/>
          </a:ln>
        </p:spPr>
      </p:sp>
      <p:sp>
        <p:nvSpPr>
          <p:cNvPr id="24" name="Text 22"/>
          <p:cNvSpPr/>
          <p:nvPr/>
        </p:nvSpPr>
        <p:spPr>
          <a:xfrm>
            <a:off x="338328" y="28072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Policy Enforcement</a:t>
            </a:r>
            <a:endParaRPr lang="en-US" sz="1200" dirty="0"/>
          </a:p>
        </p:txBody>
      </p:sp>
      <p:sp>
        <p:nvSpPr>
          <p:cNvPr id="25" name="Text 23"/>
          <p:cNvSpPr/>
          <p:nvPr/>
        </p:nvSpPr>
        <p:spPr>
          <a:xfrm>
            <a:off x="338328" y="31181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Apply Azure Policies at group level — all resources inherit. E.g., 'Only Standard_S2 App Service Plans allowed in this group.'</a:t>
            </a:r>
            <a:endParaRPr lang="en-US" sz="950" dirty="0"/>
          </a:p>
        </p:txBody>
      </p:sp>
      <p:sp>
        <p:nvSpPr>
          <p:cNvPr id="26" name="Shape 24"/>
          <p:cNvSpPr/>
          <p:nvPr/>
        </p:nvSpPr>
        <p:spPr>
          <a:xfrm>
            <a:off x="3172968" y="27157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3172968" y="2715768"/>
            <a:ext cx="2816352" cy="64008"/>
          </a:xfrm>
          <a:prstGeom prst="rect">
            <a:avLst/>
          </a:prstGeom>
          <a:solidFill>
            <a:srgbClr val="B71C1C"/>
          </a:solidFill>
          <a:ln w="12700">
            <a:solidFill>
              <a:srgbClr val="B71C1C"/>
            </a:solidFill>
            <a:prstDash val="solid"/>
          </a:ln>
        </p:spPr>
      </p:sp>
      <p:sp>
        <p:nvSpPr>
          <p:cNvPr id="28" name="Text 26"/>
          <p:cNvSpPr/>
          <p:nvPr/>
        </p:nvSpPr>
        <p:spPr>
          <a:xfrm>
            <a:off x="3282696" y="28072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Resource Locks</a:t>
            </a:r>
            <a:endParaRPr lang="en-US" sz="1200" dirty="0"/>
          </a:p>
        </p:txBody>
      </p:sp>
      <p:sp>
        <p:nvSpPr>
          <p:cNvPr id="29" name="Text 27"/>
          <p:cNvSpPr/>
          <p:nvPr/>
        </p:nvSpPr>
        <p:spPr>
          <a:xfrm>
            <a:off x="3282696" y="31181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Delete Lock prevents accidental deletion even for users with delete permissions. Essential for production hospital environments.</a:t>
            </a:r>
            <a:endParaRPr lang="en-US" sz="950" dirty="0"/>
          </a:p>
        </p:txBody>
      </p:sp>
      <p:sp>
        <p:nvSpPr>
          <p:cNvPr id="30" name="Shape 28"/>
          <p:cNvSpPr/>
          <p:nvPr/>
        </p:nvSpPr>
        <p:spPr>
          <a:xfrm>
            <a:off x="6117336" y="2715768"/>
            <a:ext cx="2816352"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6117336" y="2715768"/>
            <a:ext cx="2816352" cy="64008"/>
          </a:xfrm>
          <a:prstGeom prst="rect">
            <a:avLst/>
          </a:prstGeom>
          <a:solidFill>
            <a:srgbClr val="6D28D9"/>
          </a:solidFill>
          <a:ln w="12700">
            <a:solidFill>
              <a:srgbClr val="6D28D9"/>
            </a:solidFill>
            <a:prstDash val="solid"/>
          </a:ln>
        </p:spPr>
      </p:sp>
      <p:sp>
        <p:nvSpPr>
          <p:cNvPr id="32" name="Text 30"/>
          <p:cNvSpPr/>
          <p:nvPr/>
        </p:nvSpPr>
        <p:spPr>
          <a:xfrm>
            <a:off x="6227064" y="2807208"/>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Tagging &amp; Governance</a:t>
            </a:r>
            <a:endParaRPr lang="en-US" sz="1200" dirty="0"/>
          </a:p>
        </p:txBody>
      </p:sp>
      <p:sp>
        <p:nvSpPr>
          <p:cNvPr id="33" name="Text 31"/>
          <p:cNvSpPr/>
          <p:nvPr/>
        </p:nvSpPr>
        <p:spPr>
          <a:xfrm>
            <a:off x="6227064" y="3118104"/>
            <a:ext cx="2615184" cy="96926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Environment, Project, Department, CostCenter, Owner tags. Define tagging conventions BEFORE creating first resource.</a:t>
            </a:r>
            <a:endParaRPr lang="en-US" sz="950" dirty="0"/>
          </a:p>
        </p:txBody>
      </p:sp>
      <p:sp>
        <p:nvSpPr>
          <p:cNvPr id="34" name="Shape 32"/>
          <p:cNvSpPr/>
          <p:nvPr/>
        </p:nvSpPr>
        <p:spPr>
          <a:xfrm>
            <a:off x="228600" y="4343400"/>
            <a:ext cx="8686800" cy="438912"/>
          </a:xfrm>
          <a:prstGeom prst="rect">
            <a:avLst/>
          </a:prstGeom>
          <a:solidFill>
            <a:srgbClr val="FFF3E0"/>
          </a:solidFill>
          <a:ln w="12700">
            <a:solidFill>
              <a:srgbClr val="E65100"/>
            </a:solidFill>
            <a:prstDash val="solid"/>
          </a:ln>
        </p:spPr>
      </p:sp>
      <p:sp>
        <p:nvSpPr>
          <p:cNvPr id="35" name="Text 33"/>
          <p:cNvSpPr/>
          <p:nvPr/>
        </p:nvSpPr>
        <p:spPr>
          <a:xfrm>
            <a:off x="320040" y="4352544"/>
            <a:ext cx="8503920" cy="420624"/>
          </a:xfrm>
          <a:prstGeom prst="rect">
            <a:avLst/>
          </a:prstGeom>
          <a:noFill/>
          <a:ln/>
        </p:spPr>
        <p:txBody>
          <a:bodyPr wrap="square" lIns="0" tIns="0" rIns="0" bIns="0" rtlCol="0" anchor="ctr"/>
          <a:lstStyle/>
          <a:p>
            <a:pPr indent="0" marL="0">
              <a:buNone/>
            </a:pPr>
            <a:r>
              <a:rPr lang="en-US" sz="950" dirty="0">
                <a:solidFill>
                  <a:srgbClr val="E65100"/>
                </a:solidFill>
                <a:latin typeface="Calibri" pitchFamily="34" charset="0"/>
                <a:ea typeface="Calibri" pitchFamily="34" charset="-122"/>
                <a:cs typeface="Calibri" pitchFamily="34" charset="-120"/>
              </a:rPr>
              <a:t>⚠  Beginner Mistake: Dumping all resources into one Resource Group or the default group. Use: medicare-dev-rg | medicare-staging-rg | medicare-prod-rg for proper separation.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Cloud Fundamentals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Real-World Project: MediCare Hospital Management System</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Shape 7"/>
          <p:cNvSpPr/>
          <p:nvPr/>
        </p:nvSpPr>
        <p:spPr>
          <a:xfrm>
            <a:off x="201168" y="749808"/>
            <a:ext cx="4343400" cy="347472"/>
          </a:xfrm>
          <a:prstGeom prst="rect">
            <a:avLst/>
          </a:prstGeom>
          <a:solidFill>
            <a:srgbClr val="B71C1C"/>
          </a:solidFill>
          <a:ln w="12700">
            <a:solidFill>
              <a:srgbClr val="B71C1C"/>
            </a:solidFill>
            <a:prstDash val="solid"/>
          </a:ln>
        </p:spPr>
      </p:sp>
      <p:sp>
        <p:nvSpPr>
          <p:cNvPr id="10" name="Text 8"/>
          <p:cNvSpPr/>
          <p:nvPr/>
        </p:nvSpPr>
        <p:spPr>
          <a:xfrm>
            <a:off x="292608" y="758952"/>
            <a:ext cx="416052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Business Problems (Pre-Azure)</a:t>
            </a:r>
            <a:endParaRPr lang="en-US" sz="1200" dirty="0"/>
          </a:p>
        </p:txBody>
      </p:sp>
      <p:sp>
        <p:nvSpPr>
          <p:cNvPr id="11" name="Text 9"/>
          <p:cNvSpPr/>
          <p:nvPr/>
        </p:nvSpPr>
        <p:spPr>
          <a:xfrm>
            <a:off x="201168" y="1133856"/>
            <a:ext cx="4343400" cy="2331720"/>
          </a:xfrm>
          <a:prstGeom prst="rect">
            <a:avLst/>
          </a:prstGeom>
          <a:noFill/>
          <a:ln/>
        </p:spPr>
        <p:txBody>
          <a:bodyPr wrap="square" rtlCol="0" anchor="t"/>
          <a:lstStyle/>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Patient records on physical servers — crash = records lost permanently</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Booking system crashes during peak hours (evenings, weekends)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Mumbai doctors cannot access Delhi patient records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IT team spends 40% of time managing servers, not building features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No disaster recovery — one power outage = total data loss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15 hospitals across India with siloed, incompatible systems</a:t>
            </a:r>
            <a:endParaRPr lang="en-US" sz="1050" dirty="0"/>
          </a:p>
        </p:txBody>
      </p:sp>
      <p:sp>
        <p:nvSpPr>
          <p:cNvPr id="12" name="Shape 10"/>
          <p:cNvSpPr/>
          <p:nvPr/>
        </p:nvSpPr>
        <p:spPr>
          <a:xfrm>
            <a:off x="4727448" y="749808"/>
            <a:ext cx="4206240" cy="347472"/>
          </a:xfrm>
          <a:prstGeom prst="rect">
            <a:avLst/>
          </a:prstGeom>
          <a:solidFill>
            <a:srgbClr val="43A047"/>
          </a:solidFill>
          <a:ln w="12700">
            <a:solidFill>
              <a:srgbClr val="43A047"/>
            </a:solidFill>
            <a:prstDash val="solid"/>
          </a:ln>
        </p:spPr>
      </p:sp>
      <p:sp>
        <p:nvSpPr>
          <p:cNvPr id="13" name="Text 11"/>
          <p:cNvSpPr/>
          <p:nvPr/>
        </p:nvSpPr>
        <p:spPr>
          <a:xfrm>
            <a:off x="4818888" y="758952"/>
            <a:ext cx="402336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Architecture (Our Course Project)</a:t>
            </a:r>
            <a:endParaRPr lang="en-US" sz="1200" dirty="0"/>
          </a:p>
        </p:txBody>
      </p:sp>
      <p:sp>
        <p:nvSpPr>
          <p:cNvPr id="14" name="Shape 12"/>
          <p:cNvSpPr/>
          <p:nvPr/>
        </p:nvSpPr>
        <p:spPr>
          <a:xfrm>
            <a:off x="4727448" y="1133856"/>
            <a:ext cx="1280160" cy="292608"/>
          </a:xfrm>
          <a:prstGeom prst="rect">
            <a:avLst/>
          </a:prstGeom>
          <a:solidFill>
            <a:srgbClr val="DBEAFE"/>
          </a:solidFill>
          <a:ln w="12700">
            <a:solidFill>
              <a:srgbClr val="1565C0"/>
            </a:solidFill>
            <a:prstDash val="solid"/>
          </a:ln>
        </p:spPr>
      </p:sp>
      <p:sp>
        <p:nvSpPr>
          <p:cNvPr id="15" name="Text 13"/>
          <p:cNvSpPr/>
          <p:nvPr/>
        </p:nvSpPr>
        <p:spPr>
          <a:xfrm>
            <a:off x="4727448" y="1133856"/>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App Service</a:t>
            </a:r>
            <a:endParaRPr lang="en-US" sz="950" dirty="0"/>
          </a:p>
        </p:txBody>
      </p:sp>
      <p:sp>
        <p:nvSpPr>
          <p:cNvPr id="16" name="Text 14"/>
          <p:cNvSpPr/>
          <p:nvPr/>
        </p:nvSpPr>
        <p:spPr>
          <a:xfrm>
            <a:off x="6053328" y="1133856"/>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Spring Boot backend API — scalable, auto-patched</a:t>
            </a:r>
            <a:endParaRPr lang="en-US" sz="950" dirty="0"/>
          </a:p>
        </p:txBody>
      </p:sp>
      <p:sp>
        <p:nvSpPr>
          <p:cNvPr id="17" name="Shape 15"/>
          <p:cNvSpPr/>
          <p:nvPr/>
        </p:nvSpPr>
        <p:spPr>
          <a:xfrm>
            <a:off x="4727448" y="1472184"/>
            <a:ext cx="1280160" cy="292608"/>
          </a:xfrm>
          <a:prstGeom prst="rect">
            <a:avLst/>
          </a:prstGeom>
          <a:solidFill>
            <a:srgbClr val="DBEAFE"/>
          </a:solidFill>
          <a:ln w="12700">
            <a:solidFill>
              <a:srgbClr val="1565C0"/>
            </a:solidFill>
            <a:prstDash val="solid"/>
          </a:ln>
        </p:spPr>
      </p:sp>
      <p:sp>
        <p:nvSpPr>
          <p:cNvPr id="18" name="Text 16"/>
          <p:cNvSpPr/>
          <p:nvPr/>
        </p:nvSpPr>
        <p:spPr>
          <a:xfrm>
            <a:off x="4727448" y="1472184"/>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Azure SQL DB</a:t>
            </a:r>
            <a:endParaRPr lang="en-US" sz="950" dirty="0"/>
          </a:p>
        </p:txBody>
      </p:sp>
      <p:sp>
        <p:nvSpPr>
          <p:cNvPr id="19" name="Text 17"/>
          <p:cNvSpPr/>
          <p:nvPr/>
        </p:nvSpPr>
        <p:spPr>
          <a:xfrm>
            <a:off x="6053328" y="1472184"/>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Patient records, appointments, billing — HA, backed up</a:t>
            </a:r>
            <a:endParaRPr lang="en-US" sz="950" dirty="0"/>
          </a:p>
        </p:txBody>
      </p:sp>
      <p:sp>
        <p:nvSpPr>
          <p:cNvPr id="20" name="Shape 18"/>
          <p:cNvSpPr/>
          <p:nvPr/>
        </p:nvSpPr>
        <p:spPr>
          <a:xfrm>
            <a:off x="4727448" y="1810512"/>
            <a:ext cx="1280160" cy="292608"/>
          </a:xfrm>
          <a:prstGeom prst="rect">
            <a:avLst/>
          </a:prstGeom>
          <a:solidFill>
            <a:srgbClr val="DBEAFE"/>
          </a:solidFill>
          <a:ln w="12700">
            <a:solidFill>
              <a:srgbClr val="1565C0"/>
            </a:solidFill>
            <a:prstDash val="solid"/>
          </a:ln>
        </p:spPr>
      </p:sp>
      <p:sp>
        <p:nvSpPr>
          <p:cNvPr id="21" name="Text 19"/>
          <p:cNvSpPr/>
          <p:nvPr/>
        </p:nvSpPr>
        <p:spPr>
          <a:xfrm>
            <a:off x="4727448" y="1810512"/>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Blob Storage</a:t>
            </a:r>
            <a:endParaRPr lang="en-US" sz="950" dirty="0"/>
          </a:p>
        </p:txBody>
      </p:sp>
      <p:sp>
        <p:nvSpPr>
          <p:cNvPr id="22" name="Text 20"/>
          <p:cNvSpPr/>
          <p:nvPr/>
        </p:nvSpPr>
        <p:spPr>
          <a:xfrm>
            <a:off x="6053328" y="1810512"/>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Medical images: X-rays, MRIs — cheap, durable</a:t>
            </a:r>
            <a:endParaRPr lang="en-US" sz="950" dirty="0"/>
          </a:p>
        </p:txBody>
      </p:sp>
      <p:sp>
        <p:nvSpPr>
          <p:cNvPr id="23" name="Shape 21"/>
          <p:cNvSpPr/>
          <p:nvPr/>
        </p:nvSpPr>
        <p:spPr>
          <a:xfrm>
            <a:off x="4727448" y="2148840"/>
            <a:ext cx="1280160" cy="292608"/>
          </a:xfrm>
          <a:prstGeom prst="rect">
            <a:avLst/>
          </a:prstGeom>
          <a:solidFill>
            <a:srgbClr val="DBEAFE"/>
          </a:solidFill>
          <a:ln w="12700">
            <a:solidFill>
              <a:srgbClr val="1565C0"/>
            </a:solidFill>
            <a:prstDash val="solid"/>
          </a:ln>
        </p:spPr>
      </p:sp>
      <p:sp>
        <p:nvSpPr>
          <p:cNvPr id="24" name="Text 22"/>
          <p:cNvSpPr/>
          <p:nvPr/>
        </p:nvSpPr>
        <p:spPr>
          <a:xfrm>
            <a:off x="4727448" y="2148840"/>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Azure AD</a:t>
            </a:r>
            <a:endParaRPr lang="en-US" sz="950" dirty="0"/>
          </a:p>
        </p:txBody>
      </p:sp>
      <p:sp>
        <p:nvSpPr>
          <p:cNvPr id="25" name="Text 23"/>
          <p:cNvSpPr/>
          <p:nvPr/>
        </p:nvSpPr>
        <p:spPr>
          <a:xfrm>
            <a:off x="6053328" y="2148840"/>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Doctor/nurse/admin login — MFA, conditional access</a:t>
            </a:r>
            <a:endParaRPr lang="en-US" sz="950" dirty="0"/>
          </a:p>
        </p:txBody>
      </p:sp>
      <p:sp>
        <p:nvSpPr>
          <p:cNvPr id="26" name="Shape 24"/>
          <p:cNvSpPr/>
          <p:nvPr/>
        </p:nvSpPr>
        <p:spPr>
          <a:xfrm>
            <a:off x="4727448" y="2487168"/>
            <a:ext cx="1280160" cy="292608"/>
          </a:xfrm>
          <a:prstGeom prst="rect">
            <a:avLst/>
          </a:prstGeom>
          <a:solidFill>
            <a:srgbClr val="DBEAFE"/>
          </a:solidFill>
          <a:ln w="12700">
            <a:solidFill>
              <a:srgbClr val="1565C0"/>
            </a:solidFill>
            <a:prstDash val="solid"/>
          </a:ln>
        </p:spPr>
      </p:sp>
      <p:sp>
        <p:nvSpPr>
          <p:cNvPr id="27" name="Text 25"/>
          <p:cNvSpPr/>
          <p:nvPr/>
        </p:nvSpPr>
        <p:spPr>
          <a:xfrm>
            <a:off x="4727448" y="2487168"/>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API Management</a:t>
            </a:r>
            <a:endParaRPr lang="en-US" sz="950" dirty="0"/>
          </a:p>
        </p:txBody>
      </p:sp>
      <p:sp>
        <p:nvSpPr>
          <p:cNvPr id="28" name="Text 26"/>
          <p:cNvSpPr/>
          <p:nvPr/>
        </p:nvSpPr>
        <p:spPr>
          <a:xfrm>
            <a:off x="6053328" y="2487168"/>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Secure, rate-limited API gateway for all consumers</a:t>
            </a:r>
            <a:endParaRPr lang="en-US" sz="950" dirty="0"/>
          </a:p>
        </p:txBody>
      </p:sp>
      <p:sp>
        <p:nvSpPr>
          <p:cNvPr id="29" name="Shape 27"/>
          <p:cNvSpPr/>
          <p:nvPr/>
        </p:nvSpPr>
        <p:spPr>
          <a:xfrm>
            <a:off x="4727448" y="2825496"/>
            <a:ext cx="1280160" cy="292608"/>
          </a:xfrm>
          <a:prstGeom prst="rect">
            <a:avLst/>
          </a:prstGeom>
          <a:solidFill>
            <a:srgbClr val="DBEAFE"/>
          </a:solidFill>
          <a:ln w="12700">
            <a:solidFill>
              <a:srgbClr val="1565C0"/>
            </a:solidFill>
            <a:prstDash val="solid"/>
          </a:ln>
        </p:spPr>
      </p:sp>
      <p:sp>
        <p:nvSpPr>
          <p:cNvPr id="30" name="Text 28"/>
          <p:cNvSpPr/>
          <p:nvPr/>
        </p:nvSpPr>
        <p:spPr>
          <a:xfrm>
            <a:off x="4727448" y="2825496"/>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Azure Monitor</a:t>
            </a:r>
            <a:endParaRPr lang="en-US" sz="950" dirty="0"/>
          </a:p>
        </p:txBody>
      </p:sp>
      <p:sp>
        <p:nvSpPr>
          <p:cNvPr id="31" name="Text 29"/>
          <p:cNvSpPr/>
          <p:nvPr/>
        </p:nvSpPr>
        <p:spPr>
          <a:xfrm>
            <a:off x="6053328" y="2825496"/>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Alerts team if system degrades — proactive ops</a:t>
            </a:r>
            <a:endParaRPr lang="en-US" sz="950" dirty="0"/>
          </a:p>
        </p:txBody>
      </p:sp>
      <p:sp>
        <p:nvSpPr>
          <p:cNvPr id="32" name="Shape 30"/>
          <p:cNvSpPr/>
          <p:nvPr/>
        </p:nvSpPr>
        <p:spPr>
          <a:xfrm>
            <a:off x="4727448" y="3163824"/>
            <a:ext cx="1280160" cy="292608"/>
          </a:xfrm>
          <a:prstGeom prst="rect">
            <a:avLst/>
          </a:prstGeom>
          <a:solidFill>
            <a:srgbClr val="DBEAFE"/>
          </a:solidFill>
          <a:ln w="12700">
            <a:solidFill>
              <a:srgbClr val="1565C0"/>
            </a:solidFill>
            <a:prstDash val="solid"/>
          </a:ln>
        </p:spPr>
      </p:sp>
      <p:sp>
        <p:nvSpPr>
          <p:cNvPr id="33" name="Text 31"/>
          <p:cNvSpPr/>
          <p:nvPr/>
        </p:nvSpPr>
        <p:spPr>
          <a:xfrm>
            <a:off x="4727448" y="3163824"/>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Azure DevOps</a:t>
            </a:r>
            <a:endParaRPr lang="en-US" sz="950" dirty="0"/>
          </a:p>
        </p:txBody>
      </p:sp>
      <p:sp>
        <p:nvSpPr>
          <p:cNvPr id="34" name="Text 32"/>
          <p:cNvSpPr/>
          <p:nvPr/>
        </p:nvSpPr>
        <p:spPr>
          <a:xfrm>
            <a:off x="6053328" y="3163824"/>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Automated CI/CD — code to production, zero downtime</a:t>
            </a:r>
            <a:endParaRPr lang="en-US" sz="950" dirty="0"/>
          </a:p>
        </p:txBody>
      </p:sp>
      <p:sp>
        <p:nvSpPr>
          <p:cNvPr id="35" name="Shape 33"/>
          <p:cNvSpPr/>
          <p:nvPr/>
        </p:nvSpPr>
        <p:spPr>
          <a:xfrm>
            <a:off x="4727448" y="3502152"/>
            <a:ext cx="1280160" cy="292608"/>
          </a:xfrm>
          <a:prstGeom prst="rect">
            <a:avLst/>
          </a:prstGeom>
          <a:solidFill>
            <a:srgbClr val="DBEAFE"/>
          </a:solidFill>
          <a:ln w="12700">
            <a:solidFill>
              <a:srgbClr val="1565C0"/>
            </a:solidFill>
            <a:prstDash val="solid"/>
          </a:ln>
        </p:spPr>
      </p:sp>
      <p:sp>
        <p:nvSpPr>
          <p:cNvPr id="36" name="Text 34"/>
          <p:cNvSpPr/>
          <p:nvPr/>
        </p:nvSpPr>
        <p:spPr>
          <a:xfrm>
            <a:off x="4727448" y="3502152"/>
            <a:ext cx="1280160" cy="292608"/>
          </a:xfrm>
          <a:prstGeom prst="rect">
            <a:avLst/>
          </a:prstGeom>
          <a:noFill/>
          <a:ln/>
        </p:spPr>
        <p:txBody>
          <a:bodyPr wrap="square" lIns="0" tIns="0" rIns="0" bIns="0"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Key Vault</a:t>
            </a:r>
            <a:endParaRPr lang="en-US" sz="950" dirty="0"/>
          </a:p>
        </p:txBody>
      </p:sp>
      <p:sp>
        <p:nvSpPr>
          <p:cNvPr id="37" name="Text 35"/>
          <p:cNvSpPr/>
          <p:nvPr/>
        </p:nvSpPr>
        <p:spPr>
          <a:xfrm>
            <a:off x="6053328" y="3502152"/>
            <a:ext cx="2852928" cy="2926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All secrets: DB passwords, API keys — never in code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App Hosting</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App Service — Host Your Spring Boot Application</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PaaS web hosting for Java, .NET, Node.js, Python — without managing VMs, OS, or web servers.</a:t>
            </a:r>
            <a:endParaRPr lang="en-US" sz="1050" dirty="0"/>
          </a:p>
        </p:txBody>
      </p:sp>
      <p:sp>
        <p:nvSpPr>
          <p:cNvPr id="10" name="Text 8"/>
          <p:cNvSpPr/>
          <p:nvPr/>
        </p:nvSpPr>
        <p:spPr>
          <a:xfrm>
            <a:off x="228600" y="1069848"/>
            <a:ext cx="4114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What Azure Manages For You</a:t>
            </a:r>
            <a:endParaRPr lang="en-US" sz="1300" dirty="0"/>
          </a:p>
        </p:txBody>
      </p:sp>
      <p:sp>
        <p:nvSpPr>
          <p:cNvPr id="11" name="Text 9"/>
          <p:cNvSpPr/>
          <p:nvPr/>
        </p:nvSpPr>
        <p:spPr>
          <a:xfrm>
            <a:off x="228600" y="1389888"/>
            <a:ext cx="4114800" cy="2560320"/>
          </a:xfrm>
          <a:prstGeom prst="rect">
            <a:avLst/>
          </a:prstGeom>
          <a:noFill/>
          <a:ln/>
        </p:spPr>
        <p:txBody>
          <a:bodyPr wrap="square" rtlCol="0" anchor="t"/>
          <a:lstStyle/>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Operating System (Windows or Linux)</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Java Runtime (11, 17, 21)</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Web server infrastructure</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SSL/TLS certificate management</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Load balancing across instances</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Automatic OS patching &amp; updates</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Health monitoring &amp; restart</a:t>
            </a:r>
            <a:endParaRPr lang="en-US" sz="1050" dirty="0"/>
          </a:p>
          <a:p>
            <a:pPr marL="342900" indent="-342900">
              <a:spcAft>
                <a:spcPts val="600"/>
              </a:spcAft>
              <a:buSzPct val="100000"/>
              <a:buChar char="•"/>
            </a:pPr>
            <a:r>
              <a:rPr lang="en-US" sz="1050" dirty="0">
                <a:solidFill>
                  <a:srgbClr val="1B5E20"/>
                </a:solidFill>
                <a:latin typeface="Calibri" pitchFamily="34" charset="0"/>
                <a:ea typeface="Calibri" pitchFamily="34" charset="-122"/>
                <a:cs typeface="Calibri" pitchFamily="34" charset="-120"/>
              </a:rPr>
              <a:t>Global CDN integration</a:t>
            </a:r>
            <a:endParaRPr lang="en-US" sz="1050" dirty="0"/>
          </a:p>
        </p:txBody>
      </p:sp>
      <p:sp>
        <p:nvSpPr>
          <p:cNvPr id="12" name="Text 10"/>
          <p:cNvSpPr/>
          <p:nvPr/>
        </p:nvSpPr>
        <p:spPr>
          <a:xfrm>
            <a:off x="4572000" y="1069848"/>
            <a:ext cx="429768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Standout Features</a:t>
            </a:r>
            <a:endParaRPr lang="en-US" sz="1300" dirty="0"/>
          </a:p>
        </p:txBody>
      </p:sp>
      <p:sp>
        <p:nvSpPr>
          <p:cNvPr id="13" name="Shape 11"/>
          <p:cNvSpPr/>
          <p:nvPr/>
        </p:nvSpPr>
        <p:spPr>
          <a:xfrm>
            <a:off x="4572000" y="1389888"/>
            <a:ext cx="2057400" cy="13533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572000" y="1389888"/>
            <a:ext cx="2057400" cy="64008"/>
          </a:xfrm>
          <a:prstGeom prst="rect">
            <a:avLst/>
          </a:prstGeom>
          <a:solidFill>
            <a:srgbClr val="1565C0"/>
          </a:solidFill>
          <a:ln w="12700">
            <a:solidFill>
              <a:srgbClr val="1565C0"/>
            </a:solidFill>
            <a:prstDash val="solid"/>
          </a:ln>
        </p:spPr>
      </p:sp>
      <p:sp>
        <p:nvSpPr>
          <p:cNvPr id="15" name="Text 13"/>
          <p:cNvSpPr/>
          <p:nvPr/>
        </p:nvSpPr>
        <p:spPr>
          <a:xfrm>
            <a:off x="4681728" y="1481328"/>
            <a:ext cx="18562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Deployment Slots</a:t>
            </a:r>
            <a:endParaRPr lang="en-US" sz="1200" dirty="0"/>
          </a:p>
        </p:txBody>
      </p:sp>
      <p:sp>
        <p:nvSpPr>
          <p:cNvPr id="16" name="Text 14"/>
          <p:cNvSpPr/>
          <p:nvPr/>
        </p:nvSpPr>
        <p:spPr>
          <a:xfrm>
            <a:off x="4681728" y="1792224"/>
            <a:ext cx="1856232"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Staging + Production slots. Deploy to staging → test → swap to prod. Zero downtime, instant rollback.</a:t>
            </a:r>
            <a:endParaRPr lang="en-US" sz="900" dirty="0"/>
          </a:p>
        </p:txBody>
      </p:sp>
      <p:sp>
        <p:nvSpPr>
          <p:cNvPr id="17" name="Shape 15"/>
          <p:cNvSpPr/>
          <p:nvPr/>
        </p:nvSpPr>
        <p:spPr>
          <a:xfrm>
            <a:off x="6720840" y="1389888"/>
            <a:ext cx="2057400" cy="13533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6720840" y="1389888"/>
            <a:ext cx="2057400" cy="64008"/>
          </a:xfrm>
          <a:prstGeom prst="rect">
            <a:avLst/>
          </a:prstGeom>
          <a:solidFill>
            <a:srgbClr val="00897B"/>
          </a:solidFill>
          <a:ln w="12700">
            <a:solidFill>
              <a:srgbClr val="00897B"/>
            </a:solidFill>
            <a:prstDash val="solid"/>
          </a:ln>
        </p:spPr>
      </p:sp>
      <p:sp>
        <p:nvSpPr>
          <p:cNvPr id="19" name="Text 17"/>
          <p:cNvSpPr/>
          <p:nvPr/>
        </p:nvSpPr>
        <p:spPr>
          <a:xfrm>
            <a:off x="6830568" y="1481328"/>
            <a:ext cx="18562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Auto-Scaling</a:t>
            </a:r>
            <a:endParaRPr lang="en-US" sz="1200" dirty="0"/>
          </a:p>
        </p:txBody>
      </p:sp>
      <p:sp>
        <p:nvSpPr>
          <p:cNvPr id="20" name="Text 18"/>
          <p:cNvSpPr/>
          <p:nvPr/>
        </p:nvSpPr>
        <p:spPr>
          <a:xfrm>
            <a:off x="6830568" y="1792224"/>
            <a:ext cx="1856232"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'If CPU &gt; 70% for 5min → add 2 instances.' Scale down automatically. Pay only for peak.</a:t>
            </a:r>
            <a:endParaRPr lang="en-US" sz="900" dirty="0"/>
          </a:p>
        </p:txBody>
      </p:sp>
      <p:sp>
        <p:nvSpPr>
          <p:cNvPr id="21" name="Shape 19"/>
          <p:cNvSpPr/>
          <p:nvPr/>
        </p:nvSpPr>
        <p:spPr>
          <a:xfrm>
            <a:off x="4572000" y="2852928"/>
            <a:ext cx="2057400" cy="13533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572000" y="2852928"/>
            <a:ext cx="2057400" cy="64008"/>
          </a:xfrm>
          <a:prstGeom prst="rect">
            <a:avLst/>
          </a:prstGeom>
          <a:solidFill>
            <a:srgbClr val="E65100"/>
          </a:solidFill>
          <a:ln w="12700">
            <a:solidFill>
              <a:srgbClr val="E65100"/>
            </a:solidFill>
            <a:prstDash val="solid"/>
          </a:ln>
        </p:spPr>
      </p:sp>
      <p:sp>
        <p:nvSpPr>
          <p:cNvPr id="23" name="Text 21"/>
          <p:cNvSpPr/>
          <p:nvPr/>
        </p:nvSpPr>
        <p:spPr>
          <a:xfrm>
            <a:off x="4681728" y="2944368"/>
            <a:ext cx="18562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Always On</a:t>
            </a:r>
            <a:endParaRPr lang="en-US" sz="1200" dirty="0"/>
          </a:p>
        </p:txBody>
      </p:sp>
      <p:sp>
        <p:nvSpPr>
          <p:cNvPr id="24" name="Text 22"/>
          <p:cNvSpPr/>
          <p:nvPr/>
        </p:nvSpPr>
        <p:spPr>
          <a:xfrm>
            <a:off x="4681728" y="3255264"/>
            <a:ext cx="1856232"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Keeps app warm — no cold start delays. Essential for production, disable in dev to save cost.</a:t>
            </a:r>
            <a:endParaRPr lang="en-US" sz="900" dirty="0"/>
          </a:p>
        </p:txBody>
      </p:sp>
      <p:sp>
        <p:nvSpPr>
          <p:cNvPr id="25" name="Shape 23"/>
          <p:cNvSpPr/>
          <p:nvPr/>
        </p:nvSpPr>
        <p:spPr>
          <a:xfrm>
            <a:off x="6720840" y="2852928"/>
            <a:ext cx="2057400" cy="13533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720840" y="2852928"/>
            <a:ext cx="2057400" cy="64008"/>
          </a:xfrm>
          <a:prstGeom prst="rect">
            <a:avLst/>
          </a:prstGeom>
          <a:solidFill>
            <a:srgbClr val="6D28D9"/>
          </a:solidFill>
          <a:ln w="12700">
            <a:solidFill>
              <a:srgbClr val="6D28D9"/>
            </a:solidFill>
            <a:prstDash val="solid"/>
          </a:ln>
        </p:spPr>
      </p:sp>
      <p:sp>
        <p:nvSpPr>
          <p:cNvPr id="27" name="Text 25"/>
          <p:cNvSpPr/>
          <p:nvPr/>
        </p:nvSpPr>
        <p:spPr>
          <a:xfrm>
            <a:off x="6830568" y="2944368"/>
            <a:ext cx="18562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Custom Domains &amp; SSL</a:t>
            </a:r>
            <a:endParaRPr lang="en-US" sz="1200" dirty="0"/>
          </a:p>
        </p:txBody>
      </p:sp>
      <p:sp>
        <p:nvSpPr>
          <p:cNvPr id="28" name="Text 26"/>
          <p:cNvSpPr/>
          <p:nvPr/>
        </p:nvSpPr>
        <p:spPr>
          <a:xfrm>
            <a:off x="6830568" y="3255264"/>
            <a:ext cx="1856232"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Map your domain, auto-renew SSL certificates — all managed by Azure.</a:t>
            </a:r>
            <a:endParaRPr lang="en-US" sz="900" dirty="0"/>
          </a:p>
        </p:txBody>
      </p:sp>
      <p:sp>
        <p:nvSpPr>
          <p:cNvPr id="29" name="Shape 27"/>
          <p:cNvSpPr/>
          <p:nvPr/>
        </p:nvSpPr>
        <p:spPr>
          <a:xfrm>
            <a:off x="228600" y="4343400"/>
            <a:ext cx="8686800" cy="438912"/>
          </a:xfrm>
          <a:prstGeom prst="rect">
            <a:avLst/>
          </a:prstGeom>
          <a:solidFill>
            <a:srgbClr val="DBEAFE"/>
          </a:solidFill>
          <a:ln w="12700">
            <a:solidFill>
              <a:srgbClr val="1565C0"/>
            </a:solidFill>
            <a:prstDash val="solid"/>
          </a:ln>
        </p:spPr>
      </p:sp>
      <p:sp>
        <p:nvSpPr>
          <p:cNvPr id="30" name="Text 28"/>
          <p:cNvSpPr/>
          <p:nvPr/>
        </p:nvSpPr>
        <p:spPr>
          <a:xfrm>
            <a:off x="320040" y="4352544"/>
            <a:ext cx="8503920" cy="420624"/>
          </a:xfrm>
          <a:prstGeom prst="rect">
            <a:avLst/>
          </a:prstGeom>
          <a:noFill/>
          <a:ln/>
        </p:spPr>
        <p:txBody>
          <a:bodyPr wrap="square" lIns="0" tIns="0" rIns="0" bIns="0" rtlCol="0" anchor="ctr"/>
          <a:lstStyle/>
          <a:p>
            <a:pPr indent="0" marL="0">
              <a:buNone/>
            </a:pPr>
            <a:r>
              <a:rPr lang="en-US" sz="950" dirty="0">
                <a:solidFill>
                  <a:srgbClr val="1565C0"/>
                </a:solidFill>
                <a:latin typeface="Calibri" pitchFamily="34" charset="0"/>
                <a:ea typeface="Calibri" pitchFamily="34" charset="-122"/>
                <a:cs typeface="Calibri" pitchFamily="34" charset="-120"/>
              </a:rPr>
              <a:t>MediCare: Standard S2 App Service Plan — supports auto-scaling to 10 instances. During evening appointment rush, Azure automatically adds instances. After midnight, scales back down. You pay for peak only.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App Hosting</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App Service Plans — The Pricing &amp; Scaling Engine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Plan defines compute power and billing. Multiple App Services can share one plan — cost optimization strategy.</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28600" y="1078992"/>
          <a:ext cx="8686800" cy="2606040"/>
        </p:xfrm>
        <a:graphic>
          <a:graphicData uri="http://schemas.openxmlformats.org/drawingml/2006/table">
            <a:tbl>
              <a:tblPr/>
              <a:tblGrid>
                <a:gridCol w="1371600"/>
                <a:gridCol w="1417320"/>
                <a:gridCol w="2011680"/>
                <a:gridCol w="1097280"/>
                <a:gridCol w="1554480"/>
                <a:gridCol w="1234440"/>
              </a:tblGrid>
              <a:tr h="434340">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Tier</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Compute</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Features</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Scaling</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Use Case</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Prod?</a:t>
                      </a:r>
                      <a:endParaRPr lang="en-US" sz="1000" dirty="0">
                        <a:latin typeface="Trebuchet MS" charset="0"/>
                        <a:ea typeface="Trebuchet MS" charset="0"/>
                        <a:cs typeface="Trebuchet M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7E"/>
                    </a:solidFill>
                  </a:tcPr>
                </a:tc>
              </a:tr>
              <a:tr h="43434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Free (F1)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60 min CPU/day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Dev/Learning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B71C1C"/>
                          </a:solidFill>
                          <a:latin typeface="Calibri" pitchFamily="34" charset="0"/>
                          <a:ea typeface="Calibri" pitchFamily="34" charset="-122"/>
                          <a:cs typeface="Calibri" pitchFamily="34" charset="-120"/>
                        </a:rPr>
                        <a:t>❌ Production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3434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Basic (B1-B3)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Dedicated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Custom domain, SSL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Manual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Small apps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b="1" dirty="0">
                          <a:solidFill>
                            <a:srgbClr val="1B5E20"/>
                          </a:solidFill>
                          <a:latin typeface="Calibri" pitchFamily="34" charset="0"/>
                          <a:ea typeface="Calibri" pitchFamily="34" charset="-122"/>
                          <a:cs typeface="Calibri" pitchFamily="34" charset="-120"/>
                        </a:rPr>
                        <a:t>✅ Low traffic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43434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Standard (S1-S3)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Dedicated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Slots, VNet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Auto (10x)</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Most apps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Calibri" pitchFamily="34" charset="0"/>
                          <a:ea typeface="Calibri" pitchFamily="34" charset="-122"/>
                          <a:cs typeface="Calibri" pitchFamily="34" charset="-120"/>
                        </a:rPr>
                        <a:t>✅ Recommended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3434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Premium (P1v3-P3v3)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High perf</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All Standard features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Auto (30x)</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High traffic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indent="0" marL="0">
                        <a:buNone/>
                      </a:pPr>
                      <a:r>
                        <a:rPr lang="en-US" sz="1000" b="1" dirty="0">
                          <a:solidFill>
                            <a:srgbClr val="1B5E20"/>
                          </a:solidFill>
                          <a:latin typeface="Calibri" pitchFamily="34" charset="0"/>
                          <a:ea typeface="Calibri" pitchFamily="34" charset="-122"/>
                          <a:cs typeface="Calibri" pitchFamily="34" charset="-120"/>
                        </a:rPr>
                        <a:t>✅ Enterprise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43434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Isolated (I1-I3)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Dedicated VNet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All + Private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Auto (100x)</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Banking/Healthcare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Calibri" pitchFamily="34" charset="0"/>
                          <a:ea typeface="Calibri" pitchFamily="34" charset="-122"/>
                          <a:cs typeface="Calibri" pitchFamily="34" charset="-120"/>
                        </a:rPr>
                        <a:t>✅ Max security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1" name="Text 8"/>
          <p:cNvSpPr/>
          <p:nvPr/>
        </p:nvSpPr>
        <p:spPr>
          <a:xfrm>
            <a:off x="228600" y="3749040"/>
            <a:ext cx="8686800" cy="292608"/>
          </a:xfrm>
          <a:prstGeom prst="rect">
            <a:avLst/>
          </a:prstGeom>
          <a:noFill/>
          <a:ln/>
        </p:spPr>
        <p:txBody>
          <a:bodyPr wrap="square" lIns="0" tIns="0" rIns="0" bIns="0"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Important: App Service Plan is the BILLING UNIT. Host multiple App Services on one plan to share cost.</a:t>
            </a:r>
            <a:endParaRPr lang="en-US" sz="1100" dirty="0"/>
          </a:p>
        </p:txBody>
      </p:sp>
      <p:sp>
        <p:nvSpPr>
          <p:cNvPr id="12" name="Text 9"/>
          <p:cNvSpPr/>
          <p:nvPr/>
        </p:nvSpPr>
        <p:spPr>
          <a:xfrm>
            <a:off x="228600" y="4078224"/>
            <a:ext cx="8686800" cy="6400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MediCare Recommendation: Standard S2 for production API (supports autoscaling + deployment slots + VNet integration). Basic B1 for dev/staging environments.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Data Layer</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SQL Database — Managed Enterprise Database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Fully managed SQL Server — PaaS. No VM management, automatic backups, 99.99% SLA, built-in HA.</a:t>
            </a:r>
            <a:endParaRPr lang="en-US" sz="1050" dirty="0"/>
          </a:p>
        </p:txBody>
      </p:sp>
      <p:sp>
        <p:nvSpPr>
          <p:cNvPr id="10" name="Text 8"/>
          <p:cNvSpPr/>
          <p:nvPr/>
        </p:nvSpPr>
        <p:spPr>
          <a:xfrm>
            <a:off x="228600" y="1069848"/>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IaaS (SQL on VM) vs PaaS (Azure SQL Database)</a:t>
            </a:r>
            <a:endParaRPr lang="en-US" sz="1300" dirty="0"/>
          </a:p>
        </p:txBody>
      </p:sp>
      <p:sp>
        <p:nvSpPr>
          <p:cNvPr id="11" name="Shape 9"/>
          <p:cNvSpPr/>
          <p:nvPr/>
        </p:nvSpPr>
        <p:spPr>
          <a:xfrm>
            <a:off x="228600" y="1399032"/>
            <a:ext cx="4297680" cy="320040"/>
          </a:xfrm>
          <a:prstGeom prst="rect">
            <a:avLst/>
          </a:prstGeom>
          <a:solidFill>
            <a:srgbClr val="E65100"/>
          </a:solidFill>
          <a:ln w="12700">
            <a:solidFill>
              <a:srgbClr val="E65100"/>
            </a:solidFill>
            <a:prstDash val="solid"/>
          </a:ln>
        </p:spPr>
      </p:sp>
      <p:sp>
        <p:nvSpPr>
          <p:cNvPr id="12" name="Text 10"/>
          <p:cNvSpPr/>
          <p:nvPr/>
        </p:nvSpPr>
        <p:spPr>
          <a:xfrm>
            <a:off x="320040" y="1399032"/>
            <a:ext cx="41148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SQL on VM (IaaS)</a:t>
            </a:r>
            <a:endParaRPr lang="en-US" sz="1100" dirty="0"/>
          </a:p>
        </p:txBody>
      </p:sp>
      <p:sp>
        <p:nvSpPr>
          <p:cNvPr id="13" name="Text 11"/>
          <p:cNvSpPr/>
          <p:nvPr/>
        </p:nvSpPr>
        <p:spPr>
          <a:xfrm>
            <a:off x="320040" y="1755648"/>
            <a:ext cx="4114800" cy="1417320"/>
          </a:xfrm>
          <a:prstGeom prst="rect">
            <a:avLst/>
          </a:prstGeom>
          <a:noFill/>
          <a:ln/>
        </p:spPr>
        <p:txBody>
          <a:bodyPr wrap="square"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You install &amp; patch SQL Server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You configure backups manually</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You handle HA and failover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You manage OS security</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Full control — full responsibility</a:t>
            </a:r>
            <a:endParaRPr lang="en-US" sz="1050" dirty="0"/>
          </a:p>
        </p:txBody>
      </p:sp>
      <p:sp>
        <p:nvSpPr>
          <p:cNvPr id="14" name="Shape 12"/>
          <p:cNvSpPr/>
          <p:nvPr/>
        </p:nvSpPr>
        <p:spPr>
          <a:xfrm>
            <a:off x="4690872" y="1399032"/>
            <a:ext cx="4297680" cy="320040"/>
          </a:xfrm>
          <a:prstGeom prst="rect">
            <a:avLst/>
          </a:prstGeom>
          <a:solidFill>
            <a:srgbClr val="43A047"/>
          </a:solidFill>
          <a:ln w="12700">
            <a:solidFill>
              <a:srgbClr val="43A047"/>
            </a:solidFill>
            <a:prstDash val="solid"/>
          </a:ln>
        </p:spPr>
      </p:sp>
      <p:sp>
        <p:nvSpPr>
          <p:cNvPr id="15" name="Text 13"/>
          <p:cNvSpPr/>
          <p:nvPr/>
        </p:nvSpPr>
        <p:spPr>
          <a:xfrm>
            <a:off x="4782312" y="1399032"/>
            <a:ext cx="41148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Azure SQL Database (PaaS)</a:t>
            </a:r>
            <a:endParaRPr lang="en-US" sz="1100" dirty="0"/>
          </a:p>
        </p:txBody>
      </p:sp>
      <p:sp>
        <p:nvSpPr>
          <p:cNvPr id="16" name="Text 14"/>
          <p:cNvSpPr/>
          <p:nvPr/>
        </p:nvSpPr>
        <p:spPr>
          <a:xfrm>
            <a:off x="4782312" y="1755648"/>
            <a:ext cx="4114800" cy="1417320"/>
          </a:xfrm>
          <a:prstGeom prst="rect">
            <a:avLst/>
          </a:prstGeom>
          <a:noFill/>
          <a:ln/>
        </p:spPr>
        <p:txBody>
          <a:bodyPr wrap="square"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Microsoft manages all the above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Auto-backup every 5-12 minutes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Built-in HA with 99.99% SLA</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Threat detection built in</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You focus on schemas &amp; queries</a:t>
            </a:r>
            <a:endParaRPr lang="en-US" sz="1050" dirty="0"/>
          </a:p>
        </p:txBody>
      </p:sp>
      <p:sp>
        <p:nvSpPr>
          <p:cNvPr id="17" name="Text 15"/>
          <p:cNvSpPr/>
          <p:nvPr/>
        </p:nvSpPr>
        <p:spPr>
          <a:xfrm>
            <a:off x="228600" y="3246120"/>
            <a:ext cx="4572000" cy="256032"/>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Spring Boot application.properties connection:</a:t>
            </a:r>
            <a:endParaRPr lang="en-US" sz="1100" dirty="0"/>
          </a:p>
        </p:txBody>
      </p:sp>
      <p:sp>
        <p:nvSpPr>
          <p:cNvPr id="18" name="Shape 16"/>
          <p:cNvSpPr/>
          <p:nvPr/>
        </p:nvSpPr>
        <p:spPr>
          <a:xfrm>
            <a:off x="228600" y="3538728"/>
            <a:ext cx="4663440" cy="1207008"/>
          </a:xfrm>
          <a:prstGeom prst="rect">
            <a:avLst/>
          </a:prstGeom>
          <a:solidFill>
            <a:srgbClr val="0D1117"/>
          </a:solidFill>
          <a:ln w="19050">
            <a:solidFill>
              <a:srgbClr val="00ACC1"/>
            </a:solidFill>
            <a:prstDash val="solid"/>
          </a:ln>
        </p:spPr>
      </p:sp>
      <p:sp>
        <p:nvSpPr>
          <p:cNvPr id="19" name="Text 17"/>
          <p:cNvSpPr/>
          <p:nvPr/>
        </p:nvSpPr>
        <p:spPr>
          <a:xfrm>
            <a:off x="320040" y="3584448"/>
            <a:ext cx="4480560" cy="1115568"/>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spring.datasource.url=jdbc:sqlserver://medicare-sql.database.windows.net:1433;</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database=MediCareDB;encrypt=true;trustServerCertificate=false;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spring.datasource.username=adminuser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spring.datasource.password=${sql-admin-password}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spring.datasource.driver-class-name=com.microsoft.sqlserver.jdbc.SQLServerDriver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spring.jpa.hibernate.ddl-auto=update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spring.jpa.database-platform=org.hibernate.dialect.SQLServerDialect</a:t>
            </a:r>
            <a:endParaRPr lang="en-US" sz="850" dirty="0"/>
          </a:p>
        </p:txBody>
      </p:sp>
      <p:sp>
        <p:nvSpPr>
          <p:cNvPr id="20" name="Text 18"/>
          <p:cNvSpPr/>
          <p:nvPr/>
        </p:nvSpPr>
        <p:spPr>
          <a:xfrm>
            <a:off x="5120640" y="3246120"/>
            <a:ext cx="3749040" cy="256032"/>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Key Enterprise Features</a:t>
            </a:r>
            <a:endParaRPr lang="en-US" sz="1100" dirty="0"/>
          </a:p>
        </p:txBody>
      </p:sp>
      <p:sp>
        <p:nvSpPr>
          <p:cNvPr id="21" name="Text 19"/>
          <p:cNvSpPr/>
          <p:nvPr/>
        </p:nvSpPr>
        <p:spPr>
          <a:xfrm>
            <a:off x="5120640" y="3538728"/>
            <a:ext cx="3794760" cy="1234440"/>
          </a:xfrm>
          <a:prstGeom prst="rect">
            <a:avLst/>
          </a:prstGeom>
          <a:noFill/>
          <a:ln/>
        </p:spPr>
        <p:txBody>
          <a:bodyPr wrap="square" rtlCol="0" anchor="t"/>
          <a:lstStyle/>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Point-in-time restore up to 35 days — accidental delete? Restore to T-1 minute</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Geo-replication — secondary database in another region for DR</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Transparent Data Encryption (TDE) — data encrypted at rest always</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Advanced Threat Protection — detects SQL injection in real-time</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Serverless tier — auto-pause when not in use, reduce dev costs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Tooling</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CLI — Infrastructure at the Speed of Thought</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Why CLI beats Portal for professional work: Repeatable, automatable, scriptable, version-controllable, and 10x faster.</a:t>
            </a:r>
            <a:endParaRPr lang="en-US" sz="1050" dirty="0"/>
          </a:p>
        </p:txBody>
      </p:sp>
      <p:sp>
        <p:nvSpPr>
          <p:cNvPr id="10" name="Text 8"/>
          <p:cNvSpPr/>
          <p:nvPr/>
        </p:nvSpPr>
        <p:spPr>
          <a:xfrm>
            <a:off x="228600" y="1069848"/>
            <a:ext cx="475488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Core CLI Commands — MediCare Setup</a:t>
            </a:r>
            <a:endParaRPr lang="en-US" sz="1300" dirty="0"/>
          </a:p>
        </p:txBody>
      </p:sp>
      <p:sp>
        <p:nvSpPr>
          <p:cNvPr id="11" name="Shape 9"/>
          <p:cNvSpPr/>
          <p:nvPr/>
        </p:nvSpPr>
        <p:spPr>
          <a:xfrm>
            <a:off x="228600" y="1371600"/>
            <a:ext cx="4572000" cy="3364992"/>
          </a:xfrm>
          <a:prstGeom prst="rect">
            <a:avLst/>
          </a:prstGeom>
          <a:solidFill>
            <a:srgbClr val="0D1117"/>
          </a:solidFill>
          <a:ln w="19050">
            <a:solidFill>
              <a:srgbClr val="00ACC1"/>
            </a:solidFill>
            <a:prstDash val="solid"/>
          </a:ln>
        </p:spPr>
      </p:sp>
      <p:sp>
        <p:nvSpPr>
          <p:cNvPr id="12" name="Text 10"/>
          <p:cNvSpPr/>
          <p:nvPr/>
        </p:nvSpPr>
        <p:spPr>
          <a:xfrm>
            <a:off x="320040" y="1417320"/>
            <a:ext cx="4389120" cy="3273552"/>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Login &amp; set subscription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login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account set --subscription "MediCare-Production"</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Create Resource Group with tags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group create --name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--location centralindia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--tags Environment=Production Project=MediCare</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Create App Service Plan (Linux, Standard S2)</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appservice plan create --name medicare-asp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--sku S2 --is-linux</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Create Java 17 Web App</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webapp create --name medicare-api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--plan medicare-asp --runtime "JAVA:17-java17"</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Deploy Spring Boot JAR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webapp deploy --name medicare-api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--src-path ./target/medicare-api-1.0.jar --type jar</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Create SQL Server &amp; Database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sql server create --name medicare-sqlserver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--location centralindia --admin-user adminuser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--admin-password "Secure@Pass123!"</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sql db create --server medicare-sqlserver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MediCareDB --service-objective S2</a:t>
            </a:r>
            <a:endParaRPr lang="en-US" sz="850" dirty="0"/>
          </a:p>
        </p:txBody>
      </p:sp>
      <p:sp>
        <p:nvSpPr>
          <p:cNvPr id="13" name="Text 11"/>
          <p:cNvSpPr/>
          <p:nvPr/>
        </p:nvSpPr>
        <p:spPr>
          <a:xfrm>
            <a:off x="5074920" y="1069848"/>
            <a:ext cx="374904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CLI vs Portal — The Professional Case</a:t>
            </a:r>
            <a:endParaRPr lang="en-US" sz="1300" dirty="0"/>
          </a:p>
        </p:txBody>
      </p:sp>
      <p:sp>
        <p:nvSpPr>
          <p:cNvPr id="14" name="Shape 12"/>
          <p:cNvSpPr/>
          <p:nvPr/>
        </p:nvSpPr>
        <p:spPr>
          <a:xfrm>
            <a:off x="5074920" y="1389888"/>
            <a:ext cx="3749040" cy="8412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5074920" y="1389888"/>
            <a:ext cx="3749040" cy="64008"/>
          </a:xfrm>
          <a:prstGeom prst="rect">
            <a:avLst/>
          </a:prstGeom>
          <a:solidFill>
            <a:srgbClr val="1565C0"/>
          </a:solidFill>
          <a:ln w="12700">
            <a:solidFill>
              <a:srgbClr val="1565C0"/>
            </a:solidFill>
            <a:prstDash val="solid"/>
          </a:ln>
        </p:spPr>
      </p:sp>
      <p:sp>
        <p:nvSpPr>
          <p:cNvPr id="16" name="Text 14"/>
          <p:cNvSpPr/>
          <p:nvPr/>
        </p:nvSpPr>
        <p:spPr>
          <a:xfrm>
            <a:off x="5184648" y="1481328"/>
            <a:ext cx="35478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Repeatability</a:t>
            </a:r>
            <a:endParaRPr lang="en-US" sz="1200" dirty="0"/>
          </a:p>
        </p:txBody>
      </p:sp>
      <p:sp>
        <p:nvSpPr>
          <p:cNvPr id="17" name="Text 15"/>
          <p:cNvSpPr/>
          <p:nvPr/>
        </p:nvSpPr>
        <p:spPr>
          <a:xfrm>
            <a:off x="5184648" y="1792224"/>
            <a:ext cx="3547872" cy="3291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Save as shell script. Run identically 1000 times. No human error.</a:t>
            </a:r>
            <a:endParaRPr lang="en-US" sz="950" dirty="0"/>
          </a:p>
        </p:txBody>
      </p:sp>
      <p:sp>
        <p:nvSpPr>
          <p:cNvPr id="18" name="Shape 16"/>
          <p:cNvSpPr/>
          <p:nvPr/>
        </p:nvSpPr>
        <p:spPr>
          <a:xfrm>
            <a:off x="5074920" y="2304288"/>
            <a:ext cx="3749040" cy="8412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5074920" y="2304288"/>
            <a:ext cx="3749040" cy="64008"/>
          </a:xfrm>
          <a:prstGeom prst="rect">
            <a:avLst/>
          </a:prstGeom>
          <a:solidFill>
            <a:srgbClr val="1565C0"/>
          </a:solidFill>
          <a:ln w="12700">
            <a:solidFill>
              <a:srgbClr val="1565C0"/>
            </a:solidFill>
            <a:prstDash val="solid"/>
          </a:ln>
        </p:spPr>
      </p:sp>
      <p:sp>
        <p:nvSpPr>
          <p:cNvPr id="20" name="Text 18"/>
          <p:cNvSpPr/>
          <p:nvPr/>
        </p:nvSpPr>
        <p:spPr>
          <a:xfrm>
            <a:off x="5184648" y="2395728"/>
            <a:ext cx="35478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CI/CD Integration</a:t>
            </a:r>
            <a:endParaRPr lang="en-US" sz="1200" dirty="0"/>
          </a:p>
        </p:txBody>
      </p:sp>
      <p:sp>
        <p:nvSpPr>
          <p:cNvPr id="21" name="Text 19"/>
          <p:cNvSpPr/>
          <p:nvPr/>
        </p:nvSpPr>
        <p:spPr>
          <a:xfrm>
            <a:off x="5184648" y="2706624"/>
            <a:ext cx="3547872" cy="3291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Pipelines cannot click portal UIs. CLI is the only way to automate.</a:t>
            </a:r>
            <a:endParaRPr lang="en-US" sz="950" dirty="0"/>
          </a:p>
        </p:txBody>
      </p:sp>
      <p:sp>
        <p:nvSpPr>
          <p:cNvPr id="22" name="Shape 20"/>
          <p:cNvSpPr/>
          <p:nvPr/>
        </p:nvSpPr>
        <p:spPr>
          <a:xfrm>
            <a:off x="5074920" y="3218688"/>
            <a:ext cx="3749040" cy="8412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5074920" y="3218688"/>
            <a:ext cx="3749040" cy="64008"/>
          </a:xfrm>
          <a:prstGeom prst="rect">
            <a:avLst/>
          </a:prstGeom>
          <a:solidFill>
            <a:srgbClr val="1565C0"/>
          </a:solidFill>
          <a:ln w="12700">
            <a:solidFill>
              <a:srgbClr val="1565C0"/>
            </a:solidFill>
            <a:prstDash val="solid"/>
          </a:ln>
        </p:spPr>
      </p:sp>
      <p:sp>
        <p:nvSpPr>
          <p:cNvPr id="24" name="Text 22"/>
          <p:cNvSpPr/>
          <p:nvPr/>
        </p:nvSpPr>
        <p:spPr>
          <a:xfrm>
            <a:off x="5184648" y="3310128"/>
            <a:ext cx="35478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Speed</a:t>
            </a:r>
            <a:endParaRPr lang="en-US" sz="1200" dirty="0"/>
          </a:p>
        </p:txBody>
      </p:sp>
      <p:sp>
        <p:nvSpPr>
          <p:cNvPr id="25" name="Text 23"/>
          <p:cNvSpPr/>
          <p:nvPr/>
        </p:nvSpPr>
        <p:spPr>
          <a:xfrm>
            <a:off x="5184648" y="3621024"/>
            <a:ext cx="3547872" cy="3291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7 commands provision full backend. Portal: 15+ minutes of wizard clicking.</a:t>
            </a:r>
            <a:endParaRPr lang="en-US" sz="950" dirty="0"/>
          </a:p>
        </p:txBody>
      </p:sp>
      <p:sp>
        <p:nvSpPr>
          <p:cNvPr id="26" name="Shape 24"/>
          <p:cNvSpPr/>
          <p:nvPr/>
        </p:nvSpPr>
        <p:spPr>
          <a:xfrm>
            <a:off x="5074920" y="4133088"/>
            <a:ext cx="3749040" cy="8412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5074920" y="4133088"/>
            <a:ext cx="3749040" cy="64008"/>
          </a:xfrm>
          <a:prstGeom prst="rect">
            <a:avLst/>
          </a:prstGeom>
          <a:solidFill>
            <a:srgbClr val="1565C0"/>
          </a:solidFill>
          <a:ln w="12700">
            <a:solidFill>
              <a:srgbClr val="1565C0"/>
            </a:solidFill>
            <a:prstDash val="solid"/>
          </a:ln>
        </p:spPr>
      </p:sp>
      <p:sp>
        <p:nvSpPr>
          <p:cNvPr id="28" name="Text 26"/>
          <p:cNvSpPr/>
          <p:nvPr/>
        </p:nvSpPr>
        <p:spPr>
          <a:xfrm>
            <a:off x="5184648" y="4224528"/>
            <a:ext cx="35478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Documentation</a:t>
            </a:r>
            <a:endParaRPr lang="en-US" sz="1200" dirty="0"/>
          </a:p>
        </p:txBody>
      </p:sp>
      <p:sp>
        <p:nvSpPr>
          <p:cNvPr id="29" name="Text 27"/>
          <p:cNvSpPr/>
          <p:nvPr/>
        </p:nvSpPr>
        <p:spPr>
          <a:xfrm>
            <a:off x="5184648" y="4535424"/>
            <a:ext cx="3547872" cy="3291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 shell script IS your infrastructure documentation. Self-evident.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Architecture</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Resource Manager — The Control Plane of Azure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Every Azure action — portal click, CLI command, SDK call, REST API — passes through one engine: ARM.</a:t>
            </a:r>
            <a:endParaRPr lang="en-US" sz="1050" dirty="0"/>
          </a:p>
        </p:txBody>
      </p:sp>
      <p:sp>
        <p:nvSpPr>
          <p:cNvPr id="10" name="Shape 8"/>
          <p:cNvSpPr/>
          <p:nvPr/>
        </p:nvSpPr>
        <p:spPr>
          <a:xfrm>
            <a:off x="3200400" y="1371600"/>
            <a:ext cx="2743200" cy="1417320"/>
          </a:xfrm>
          <a:prstGeom prst="rect">
            <a:avLst/>
          </a:prstGeom>
          <a:solidFill>
            <a:srgbClr val="1A237E"/>
          </a:solidFill>
          <a:ln w="12700">
            <a:solidFill>
              <a:srgbClr val="1A237E"/>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200400" y="1371600"/>
            <a:ext cx="27432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Azure Resource</a:t>
            </a:r>
            <a:endParaRPr lang="en-US" sz="1600" dirty="0"/>
          </a:p>
          <a:p>
            <a:pPr algn="ctr" indent="0" marL="0">
              <a:buNone/>
            </a:pPr>
            <a:r>
              <a:rPr lang="en-US" sz="1600" b="1" dirty="0">
                <a:solidFill>
                  <a:srgbClr val="FFFFFF"/>
                </a:solidFill>
                <a:latin typeface="Trebuchet MS" pitchFamily="34" charset="0"/>
                <a:ea typeface="Trebuchet MS" pitchFamily="34" charset="-122"/>
                <a:cs typeface="Trebuchet MS" pitchFamily="34" charset="-120"/>
              </a:rPr>
              <a:t>Manager (ARM)</a:t>
            </a:r>
            <a:endParaRPr lang="en-US" sz="1600" dirty="0"/>
          </a:p>
        </p:txBody>
      </p:sp>
      <p:sp>
        <p:nvSpPr>
          <p:cNvPr id="12" name="Text 10"/>
          <p:cNvSpPr/>
          <p:nvPr/>
        </p:nvSpPr>
        <p:spPr>
          <a:xfrm>
            <a:off x="3200400" y="2176272"/>
            <a:ext cx="2743200" cy="566928"/>
          </a:xfrm>
          <a:prstGeom prst="rect">
            <a:avLst/>
          </a:prstGeom>
          <a:noFill/>
          <a:ln/>
        </p:spPr>
        <p:txBody>
          <a:bodyPr wrap="square" lIns="0" tIns="0" rIns="0" bIns="0" rtlCol="0" anchor="t"/>
          <a:lstStyle/>
          <a:p>
            <a:pPr algn="ctr" indent="0" marL="0">
              <a:buNone/>
            </a:pPr>
            <a:r>
              <a:rPr lang="en-US" sz="900" dirty="0">
                <a:solidFill>
                  <a:srgbClr val="90CAF9"/>
                </a:solidFill>
                <a:latin typeface="Calibri" pitchFamily="34" charset="0"/>
                <a:ea typeface="Calibri" pitchFamily="34" charset="-122"/>
                <a:cs typeface="Calibri" pitchFamily="34" charset="-120"/>
              </a:rPr>
              <a:t>Authentication → Authorization</a:t>
            </a:r>
            <a:endParaRPr lang="en-US" sz="900" dirty="0"/>
          </a:p>
          <a:p>
            <a:pPr algn="ctr" indent="0" marL="0">
              <a:buNone/>
            </a:pPr>
            <a:r>
              <a:rPr lang="en-US" sz="900" dirty="0">
                <a:solidFill>
                  <a:srgbClr val="90CAF9"/>
                </a:solidFill>
                <a:latin typeface="Calibri" pitchFamily="34" charset="0"/>
                <a:ea typeface="Calibri" pitchFamily="34" charset="-122"/>
                <a:cs typeface="Calibri" pitchFamily="34" charset="-120"/>
              </a:rPr>
              <a:t>Policy Evaluation → Operation</a:t>
            </a:r>
            <a:endParaRPr lang="en-US" sz="900" dirty="0"/>
          </a:p>
        </p:txBody>
      </p:sp>
      <p:sp>
        <p:nvSpPr>
          <p:cNvPr id="13" name="Shape 11"/>
          <p:cNvSpPr/>
          <p:nvPr/>
        </p:nvSpPr>
        <p:spPr>
          <a:xfrm>
            <a:off x="182880" y="1719072"/>
            <a:ext cx="2011680" cy="658368"/>
          </a:xfrm>
          <a:prstGeom prst="rect">
            <a:avLst/>
          </a:prstGeom>
          <a:solidFill>
            <a:srgbClr val="1565C0"/>
          </a:solidFill>
          <a:ln w="12700">
            <a:solidFill>
              <a:srgbClr val="1565C0"/>
            </a:solidFill>
            <a:prstDash val="solid"/>
          </a:ln>
        </p:spPr>
      </p:sp>
      <p:sp>
        <p:nvSpPr>
          <p:cNvPr id="14" name="Text 12"/>
          <p:cNvSpPr/>
          <p:nvPr/>
        </p:nvSpPr>
        <p:spPr>
          <a:xfrm>
            <a:off x="182880" y="1719072"/>
            <a:ext cx="2011680" cy="65836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Portal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(portal.azure.com)</a:t>
            </a:r>
            <a:endParaRPr lang="en-US" sz="1000" dirty="0"/>
          </a:p>
        </p:txBody>
      </p:sp>
      <p:sp>
        <p:nvSpPr>
          <p:cNvPr id="15" name="Shape 13"/>
          <p:cNvSpPr/>
          <p:nvPr/>
        </p:nvSpPr>
        <p:spPr>
          <a:xfrm>
            <a:off x="182880" y="2514600"/>
            <a:ext cx="2011680" cy="658368"/>
          </a:xfrm>
          <a:prstGeom prst="rect">
            <a:avLst/>
          </a:prstGeom>
          <a:solidFill>
            <a:srgbClr val="00897B"/>
          </a:solidFill>
          <a:ln w="12700">
            <a:solidFill>
              <a:srgbClr val="00897B"/>
            </a:solidFill>
            <a:prstDash val="solid"/>
          </a:ln>
        </p:spPr>
      </p:sp>
      <p:sp>
        <p:nvSpPr>
          <p:cNvPr id="16" name="Text 14"/>
          <p:cNvSpPr/>
          <p:nvPr/>
        </p:nvSpPr>
        <p:spPr>
          <a:xfrm>
            <a:off x="182880" y="2514600"/>
            <a:ext cx="2011680" cy="65836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Azure CLI</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(az commands)</a:t>
            </a:r>
            <a:endParaRPr lang="en-US" sz="1000" dirty="0"/>
          </a:p>
        </p:txBody>
      </p:sp>
      <p:sp>
        <p:nvSpPr>
          <p:cNvPr id="17" name="Shape 15"/>
          <p:cNvSpPr/>
          <p:nvPr/>
        </p:nvSpPr>
        <p:spPr>
          <a:xfrm>
            <a:off x="6858000" y="1719072"/>
            <a:ext cx="2011680" cy="658368"/>
          </a:xfrm>
          <a:prstGeom prst="rect">
            <a:avLst/>
          </a:prstGeom>
          <a:solidFill>
            <a:srgbClr val="E65100"/>
          </a:solidFill>
          <a:ln w="12700">
            <a:solidFill>
              <a:srgbClr val="E65100"/>
            </a:solidFill>
            <a:prstDash val="solid"/>
          </a:ln>
        </p:spPr>
      </p:sp>
      <p:sp>
        <p:nvSpPr>
          <p:cNvPr id="18" name="Text 16"/>
          <p:cNvSpPr/>
          <p:nvPr/>
        </p:nvSpPr>
        <p:spPr>
          <a:xfrm>
            <a:off x="6858000" y="1719072"/>
            <a:ext cx="2011680" cy="65836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REST API</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(HTTPS calls)</a:t>
            </a:r>
            <a:endParaRPr lang="en-US" sz="1000" dirty="0"/>
          </a:p>
        </p:txBody>
      </p:sp>
      <p:sp>
        <p:nvSpPr>
          <p:cNvPr id="19" name="Shape 17"/>
          <p:cNvSpPr/>
          <p:nvPr/>
        </p:nvSpPr>
        <p:spPr>
          <a:xfrm>
            <a:off x="6858000" y="2514600"/>
            <a:ext cx="2011680" cy="658368"/>
          </a:xfrm>
          <a:prstGeom prst="rect">
            <a:avLst/>
          </a:prstGeom>
          <a:solidFill>
            <a:srgbClr val="6D28D9"/>
          </a:solidFill>
          <a:ln w="12700">
            <a:solidFill>
              <a:srgbClr val="6D28D9"/>
            </a:solidFill>
            <a:prstDash val="solid"/>
          </a:ln>
        </p:spPr>
      </p:sp>
      <p:sp>
        <p:nvSpPr>
          <p:cNvPr id="20" name="Text 18"/>
          <p:cNvSpPr/>
          <p:nvPr/>
        </p:nvSpPr>
        <p:spPr>
          <a:xfrm>
            <a:off x="6858000" y="2514600"/>
            <a:ext cx="2011680" cy="65836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SDK / SDK</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(Java, Python, .NET)</a:t>
            </a:r>
            <a:endParaRPr lang="en-US" sz="1000" dirty="0"/>
          </a:p>
        </p:txBody>
      </p:sp>
      <p:sp>
        <p:nvSpPr>
          <p:cNvPr id="21" name="Shape 19"/>
          <p:cNvSpPr/>
          <p:nvPr/>
        </p:nvSpPr>
        <p:spPr>
          <a:xfrm>
            <a:off x="2194560" y="2212848"/>
            <a:ext cx="1005840" cy="73152"/>
          </a:xfrm>
          <a:prstGeom prst="rect">
            <a:avLst/>
          </a:prstGeom>
          <a:solidFill>
            <a:srgbClr val="00ACC1"/>
          </a:solidFill>
          <a:ln w="12700">
            <a:solidFill>
              <a:srgbClr val="00ACC1"/>
            </a:solidFill>
            <a:prstDash val="solid"/>
          </a:ln>
        </p:spPr>
      </p:sp>
      <p:sp>
        <p:nvSpPr>
          <p:cNvPr id="22" name="Shape 20"/>
          <p:cNvSpPr/>
          <p:nvPr/>
        </p:nvSpPr>
        <p:spPr>
          <a:xfrm>
            <a:off x="6858000" y="2212848"/>
            <a:ext cx="1005840" cy="73152"/>
          </a:xfrm>
          <a:prstGeom prst="rect">
            <a:avLst/>
          </a:prstGeom>
          <a:solidFill>
            <a:srgbClr val="00ACC1"/>
          </a:solidFill>
          <a:ln w="12700">
            <a:solidFill>
              <a:srgbClr val="00ACC1"/>
            </a:solidFill>
            <a:prstDash val="solid"/>
          </a:ln>
        </p:spPr>
      </p:sp>
      <p:sp>
        <p:nvSpPr>
          <p:cNvPr id="23" name="Text 21"/>
          <p:cNvSpPr/>
          <p:nvPr/>
        </p:nvSpPr>
        <p:spPr>
          <a:xfrm>
            <a:off x="228600" y="3035808"/>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Why ARM is Architecturally Brilliant</a:t>
            </a:r>
            <a:endParaRPr lang="en-US" sz="1300" dirty="0"/>
          </a:p>
        </p:txBody>
      </p:sp>
      <p:sp>
        <p:nvSpPr>
          <p:cNvPr id="24" name="Shape 22"/>
          <p:cNvSpPr/>
          <p:nvPr/>
        </p:nvSpPr>
        <p:spPr>
          <a:xfrm>
            <a:off x="228600" y="3364992"/>
            <a:ext cx="2084832"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228600" y="3364992"/>
            <a:ext cx="2084832" cy="64008"/>
          </a:xfrm>
          <a:prstGeom prst="rect">
            <a:avLst/>
          </a:prstGeom>
          <a:solidFill>
            <a:srgbClr val="1565C0"/>
          </a:solidFill>
          <a:ln w="12700">
            <a:solidFill>
              <a:srgbClr val="1565C0"/>
            </a:solidFill>
            <a:prstDash val="solid"/>
          </a:ln>
        </p:spPr>
      </p:sp>
      <p:sp>
        <p:nvSpPr>
          <p:cNvPr id="26" name="Text 24"/>
          <p:cNvSpPr/>
          <p:nvPr/>
        </p:nvSpPr>
        <p:spPr>
          <a:xfrm>
            <a:off x="338328" y="3456432"/>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Unified Interface</a:t>
            </a:r>
            <a:endParaRPr lang="en-US" sz="1200" dirty="0"/>
          </a:p>
        </p:txBody>
      </p:sp>
      <p:sp>
        <p:nvSpPr>
          <p:cNvPr id="27" name="Text 25"/>
          <p:cNvSpPr/>
          <p:nvPr/>
        </p:nvSpPr>
        <p:spPr>
          <a:xfrm>
            <a:off x="338328" y="3767328"/>
            <a:ext cx="1883664" cy="877824"/>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Every tool uses same ARM APIs. Learn one model, all tools behave identically.</a:t>
            </a:r>
            <a:endParaRPr lang="en-US" sz="900" dirty="0"/>
          </a:p>
        </p:txBody>
      </p:sp>
      <p:sp>
        <p:nvSpPr>
          <p:cNvPr id="28" name="Shape 26"/>
          <p:cNvSpPr/>
          <p:nvPr/>
        </p:nvSpPr>
        <p:spPr>
          <a:xfrm>
            <a:off x="2404872" y="3364992"/>
            <a:ext cx="2084832"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2404872" y="3364992"/>
            <a:ext cx="2084832" cy="64008"/>
          </a:xfrm>
          <a:prstGeom prst="rect">
            <a:avLst/>
          </a:prstGeom>
          <a:solidFill>
            <a:srgbClr val="00897B"/>
          </a:solidFill>
          <a:ln w="12700">
            <a:solidFill>
              <a:srgbClr val="00897B"/>
            </a:solidFill>
            <a:prstDash val="solid"/>
          </a:ln>
        </p:spPr>
      </p:sp>
      <p:sp>
        <p:nvSpPr>
          <p:cNvPr id="30" name="Text 28"/>
          <p:cNvSpPr/>
          <p:nvPr/>
        </p:nvSpPr>
        <p:spPr>
          <a:xfrm>
            <a:off x="2514600" y="3456432"/>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Consistent RBAC</a:t>
            </a:r>
            <a:endParaRPr lang="en-US" sz="1200" dirty="0"/>
          </a:p>
        </p:txBody>
      </p:sp>
      <p:sp>
        <p:nvSpPr>
          <p:cNvPr id="31" name="Text 29"/>
          <p:cNvSpPr/>
          <p:nvPr/>
        </p:nvSpPr>
        <p:spPr>
          <a:xfrm>
            <a:off x="2514600" y="3767328"/>
            <a:ext cx="1883664" cy="877824"/>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Access control applied at ARM layer — applies regardless of how you access resources.</a:t>
            </a:r>
            <a:endParaRPr lang="en-US" sz="900" dirty="0"/>
          </a:p>
        </p:txBody>
      </p:sp>
      <p:sp>
        <p:nvSpPr>
          <p:cNvPr id="32" name="Shape 30"/>
          <p:cNvSpPr/>
          <p:nvPr/>
        </p:nvSpPr>
        <p:spPr>
          <a:xfrm>
            <a:off x="4581144" y="3364992"/>
            <a:ext cx="2084832"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581144" y="3364992"/>
            <a:ext cx="2084832" cy="64008"/>
          </a:xfrm>
          <a:prstGeom prst="rect">
            <a:avLst/>
          </a:prstGeom>
          <a:solidFill>
            <a:srgbClr val="1565C0"/>
          </a:solidFill>
          <a:ln w="12700">
            <a:solidFill>
              <a:srgbClr val="1565C0"/>
            </a:solidFill>
            <a:prstDash val="solid"/>
          </a:ln>
        </p:spPr>
      </p:sp>
      <p:sp>
        <p:nvSpPr>
          <p:cNvPr id="34" name="Text 32"/>
          <p:cNvSpPr/>
          <p:nvPr/>
        </p:nvSpPr>
        <p:spPr>
          <a:xfrm>
            <a:off x="4690872" y="3456432"/>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Idempotent Templates</a:t>
            </a:r>
            <a:endParaRPr lang="en-US" sz="1200" dirty="0"/>
          </a:p>
        </p:txBody>
      </p:sp>
      <p:sp>
        <p:nvSpPr>
          <p:cNvPr id="35" name="Text 33"/>
          <p:cNvSpPr/>
          <p:nvPr/>
        </p:nvSpPr>
        <p:spPr>
          <a:xfrm>
            <a:off x="4690872" y="3767328"/>
            <a:ext cx="1883664" cy="877824"/>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ARM Templates describe desired state. Deploy 50 times — same result. No duplicates.</a:t>
            </a:r>
            <a:endParaRPr lang="en-US" sz="900" dirty="0"/>
          </a:p>
        </p:txBody>
      </p:sp>
      <p:sp>
        <p:nvSpPr>
          <p:cNvPr id="36" name="Shape 34"/>
          <p:cNvSpPr/>
          <p:nvPr/>
        </p:nvSpPr>
        <p:spPr>
          <a:xfrm>
            <a:off x="6757416" y="3364992"/>
            <a:ext cx="2084832"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6757416" y="3364992"/>
            <a:ext cx="2084832" cy="64008"/>
          </a:xfrm>
          <a:prstGeom prst="rect">
            <a:avLst/>
          </a:prstGeom>
          <a:solidFill>
            <a:srgbClr val="00897B"/>
          </a:solidFill>
          <a:ln w="12700">
            <a:solidFill>
              <a:srgbClr val="00897B"/>
            </a:solidFill>
            <a:prstDash val="solid"/>
          </a:ln>
        </p:spPr>
      </p:sp>
      <p:sp>
        <p:nvSpPr>
          <p:cNvPr id="38" name="Text 36"/>
          <p:cNvSpPr/>
          <p:nvPr/>
        </p:nvSpPr>
        <p:spPr>
          <a:xfrm>
            <a:off x="6867144" y="3456432"/>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Dependency Management</a:t>
            </a:r>
            <a:endParaRPr lang="en-US" sz="1200" dirty="0"/>
          </a:p>
        </p:txBody>
      </p:sp>
      <p:sp>
        <p:nvSpPr>
          <p:cNvPr id="39" name="Text 37"/>
          <p:cNvSpPr/>
          <p:nvPr/>
        </p:nvSpPr>
        <p:spPr>
          <a:xfrm>
            <a:off x="6867144" y="3767328"/>
            <a:ext cx="1883664" cy="877824"/>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ARM resolves resource dependencies automatically. Create App Service only after Plan exists.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IaC Introduction</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Infrastructure as Code — ARM Templates, Bicep &amp; Terraform</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Shape 7"/>
          <p:cNvSpPr/>
          <p:nvPr/>
        </p:nvSpPr>
        <p:spPr>
          <a:xfrm>
            <a:off x="201168" y="749808"/>
            <a:ext cx="2852928"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01168" y="749808"/>
            <a:ext cx="2852928" cy="777240"/>
          </a:xfrm>
          <a:prstGeom prst="rect">
            <a:avLst/>
          </a:prstGeom>
          <a:solidFill>
            <a:srgbClr val="1565C0"/>
          </a:solidFill>
          <a:ln w="12700">
            <a:solidFill>
              <a:srgbClr val="1565C0"/>
            </a:solidFill>
            <a:prstDash val="solid"/>
          </a:ln>
        </p:spPr>
      </p:sp>
      <p:sp>
        <p:nvSpPr>
          <p:cNvPr id="11" name="Text 9"/>
          <p:cNvSpPr/>
          <p:nvPr/>
        </p:nvSpPr>
        <p:spPr>
          <a:xfrm>
            <a:off x="310896" y="786384"/>
            <a:ext cx="2633472"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ARM Templates</a:t>
            </a:r>
            <a:endParaRPr lang="en-US" sz="1400" dirty="0"/>
          </a:p>
        </p:txBody>
      </p:sp>
      <p:sp>
        <p:nvSpPr>
          <p:cNvPr id="12" name="Text 10"/>
          <p:cNvSpPr/>
          <p:nvPr/>
        </p:nvSpPr>
        <p:spPr>
          <a:xfrm>
            <a:off x="310896" y="1207008"/>
            <a:ext cx="2633472"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Language: JSON</a:t>
            </a:r>
            <a:endParaRPr lang="en-US" sz="900" dirty="0"/>
          </a:p>
        </p:txBody>
      </p:sp>
      <p:sp>
        <p:nvSpPr>
          <p:cNvPr id="13" name="Text 11"/>
          <p:cNvSpPr/>
          <p:nvPr/>
        </p:nvSpPr>
        <p:spPr>
          <a:xfrm>
            <a:off x="310896" y="1600200"/>
            <a:ext cx="2633472" cy="201168"/>
          </a:xfrm>
          <a:prstGeom prst="rect">
            <a:avLst/>
          </a:prstGeom>
          <a:noFill/>
          <a:ln/>
        </p:spPr>
        <p:txBody>
          <a:bodyPr wrap="square" lIns="0" tIns="0" rIns="0" bIns="0" rtlCol="0" anchor="ctr"/>
          <a:lstStyle/>
          <a:p>
            <a:pPr indent="0" marL="0">
              <a:buNone/>
            </a:pPr>
            <a:r>
              <a:rPr lang="en-US" sz="1000" b="1" dirty="0">
                <a:solidFill>
                  <a:srgbClr val="1B5E20"/>
                </a:solidFill>
                <a:latin typeface="Calibri" pitchFamily="34" charset="0"/>
                <a:ea typeface="Calibri" pitchFamily="34" charset="-122"/>
                <a:cs typeface="Calibri" pitchFamily="34" charset="-120"/>
              </a:rPr>
              <a:t>✅ Pros:</a:t>
            </a:r>
            <a:endParaRPr lang="en-US" sz="1000" dirty="0"/>
          </a:p>
        </p:txBody>
      </p:sp>
      <p:sp>
        <p:nvSpPr>
          <p:cNvPr id="14" name="Text 12"/>
          <p:cNvSpPr/>
          <p:nvPr/>
        </p:nvSpPr>
        <p:spPr>
          <a:xfrm>
            <a:off x="310896" y="1810512"/>
            <a:ext cx="2633472" cy="1170432"/>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Native Azure format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Supports all features day-one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Idempotent deployment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Deeply integrated with Azure DevOps</a:t>
            </a:r>
            <a:endParaRPr lang="en-US" sz="900" dirty="0"/>
          </a:p>
        </p:txBody>
      </p:sp>
      <p:sp>
        <p:nvSpPr>
          <p:cNvPr id="15" name="Text 13"/>
          <p:cNvSpPr/>
          <p:nvPr/>
        </p:nvSpPr>
        <p:spPr>
          <a:xfrm>
            <a:off x="310896" y="2871216"/>
            <a:ext cx="2633472" cy="201168"/>
          </a:xfrm>
          <a:prstGeom prst="rect">
            <a:avLst/>
          </a:prstGeom>
          <a:noFill/>
          <a:ln/>
        </p:spPr>
        <p:txBody>
          <a:bodyPr wrap="square" lIns="0" tIns="0" rIns="0" bIns="0" rtlCol="0" anchor="ctr"/>
          <a:lstStyle/>
          <a:p>
            <a:pPr indent="0" marL="0">
              <a:buNone/>
            </a:pPr>
            <a:r>
              <a:rPr lang="en-US" sz="1000" b="1" dirty="0">
                <a:solidFill>
                  <a:srgbClr val="E65100"/>
                </a:solidFill>
                <a:latin typeface="Calibri" pitchFamily="34" charset="0"/>
                <a:ea typeface="Calibri" pitchFamily="34" charset="-122"/>
                <a:cs typeface="Calibri" pitchFamily="34" charset="-120"/>
              </a:rPr>
              <a:t>⚠ Cons:</a:t>
            </a:r>
            <a:endParaRPr lang="en-US" sz="1000" dirty="0"/>
          </a:p>
        </p:txBody>
      </p:sp>
      <p:sp>
        <p:nvSpPr>
          <p:cNvPr id="16" name="Text 14"/>
          <p:cNvSpPr/>
          <p:nvPr/>
        </p:nvSpPr>
        <p:spPr>
          <a:xfrm>
            <a:off x="310896" y="3090672"/>
            <a:ext cx="2633472" cy="594360"/>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Very verbose — hundreds of lines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Complex nested JSON structure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Hard to read and maintain</a:t>
            </a:r>
            <a:endParaRPr lang="en-US" sz="900" dirty="0"/>
          </a:p>
        </p:txBody>
      </p:sp>
      <p:sp>
        <p:nvSpPr>
          <p:cNvPr id="17" name="Shape 15"/>
          <p:cNvSpPr/>
          <p:nvPr/>
        </p:nvSpPr>
        <p:spPr>
          <a:xfrm>
            <a:off x="292608" y="4133088"/>
            <a:ext cx="2670048" cy="548640"/>
          </a:xfrm>
          <a:prstGeom prst="rect">
            <a:avLst/>
          </a:prstGeom>
          <a:solidFill>
            <a:srgbClr val="F8F9FA"/>
          </a:solidFill>
          <a:ln w="12700">
            <a:solidFill>
              <a:srgbClr val="E2E8F0"/>
            </a:solidFill>
            <a:prstDash val="solid"/>
          </a:ln>
        </p:spPr>
      </p:sp>
      <p:sp>
        <p:nvSpPr>
          <p:cNvPr id="18" name="Text 16"/>
          <p:cNvSpPr/>
          <p:nvPr/>
        </p:nvSpPr>
        <p:spPr>
          <a:xfrm>
            <a:off x="292608" y="4142232"/>
            <a:ext cx="2670048" cy="530352"/>
          </a:xfrm>
          <a:prstGeom prst="rect">
            <a:avLst/>
          </a:prstGeom>
          <a:noFill/>
          <a:ln/>
        </p:spPr>
        <p:txBody>
          <a:bodyPr wrap="square" lIns="38100" tIns="38100" rIns="38100" bIns="38100" rtlCol="0" anchor="t"/>
          <a:lstStyle/>
          <a:p>
            <a:pPr indent="0" marL="0">
              <a:buNone/>
            </a:pPr>
            <a:r>
              <a:rPr lang="en-US" sz="850" b="1" dirty="0">
                <a:solidFill>
                  <a:srgbClr val="1565C0"/>
                </a:solidFill>
                <a:latin typeface="Calibri" pitchFamily="34" charset="0"/>
                <a:ea typeface="Calibri" pitchFamily="34" charset="-122"/>
                <a:cs typeface="Calibri" pitchFamily="34" charset="-120"/>
              </a:rPr>
              <a:t>Use when: Legacy projects; when Bicep isn't supported</a:t>
            </a:r>
            <a:endParaRPr lang="en-US" sz="850" dirty="0"/>
          </a:p>
        </p:txBody>
      </p:sp>
      <p:sp>
        <p:nvSpPr>
          <p:cNvPr id="19" name="Shape 17"/>
          <p:cNvSpPr/>
          <p:nvPr/>
        </p:nvSpPr>
        <p:spPr>
          <a:xfrm>
            <a:off x="3172968" y="749808"/>
            <a:ext cx="2852928"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172968" y="749808"/>
            <a:ext cx="2852928" cy="777240"/>
          </a:xfrm>
          <a:prstGeom prst="rect">
            <a:avLst/>
          </a:prstGeom>
          <a:solidFill>
            <a:srgbClr val="00897B"/>
          </a:solidFill>
          <a:ln w="12700">
            <a:solidFill>
              <a:srgbClr val="00897B"/>
            </a:solidFill>
            <a:prstDash val="solid"/>
          </a:ln>
        </p:spPr>
      </p:sp>
      <p:sp>
        <p:nvSpPr>
          <p:cNvPr id="21" name="Text 19"/>
          <p:cNvSpPr/>
          <p:nvPr/>
        </p:nvSpPr>
        <p:spPr>
          <a:xfrm>
            <a:off x="3282696" y="786384"/>
            <a:ext cx="2633472"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Azure Bicep</a:t>
            </a:r>
            <a:endParaRPr lang="en-US" sz="1400" dirty="0"/>
          </a:p>
        </p:txBody>
      </p:sp>
      <p:sp>
        <p:nvSpPr>
          <p:cNvPr id="22" name="Text 20"/>
          <p:cNvSpPr/>
          <p:nvPr/>
        </p:nvSpPr>
        <p:spPr>
          <a:xfrm>
            <a:off x="3282696" y="1207008"/>
            <a:ext cx="2633472"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Language: HCL-like DSL</a:t>
            </a:r>
            <a:endParaRPr lang="en-US" sz="900" dirty="0"/>
          </a:p>
        </p:txBody>
      </p:sp>
      <p:sp>
        <p:nvSpPr>
          <p:cNvPr id="23" name="Text 21"/>
          <p:cNvSpPr/>
          <p:nvPr/>
        </p:nvSpPr>
        <p:spPr>
          <a:xfrm>
            <a:off x="3282696" y="1600200"/>
            <a:ext cx="2633472" cy="201168"/>
          </a:xfrm>
          <a:prstGeom prst="rect">
            <a:avLst/>
          </a:prstGeom>
          <a:noFill/>
          <a:ln/>
        </p:spPr>
        <p:txBody>
          <a:bodyPr wrap="square" lIns="0" tIns="0" rIns="0" bIns="0" rtlCol="0" anchor="ctr"/>
          <a:lstStyle/>
          <a:p>
            <a:pPr indent="0" marL="0">
              <a:buNone/>
            </a:pPr>
            <a:r>
              <a:rPr lang="en-US" sz="1000" b="1" dirty="0">
                <a:solidFill>
                  <a:srgbClr val="1B5E20"/>
                </a:solidFill>
                <a:latin typeface="Calibri" pitchFamily="34" charset="0"/>
                <a:ea typeface="Calibri" pitchFamily="34" charset="-122"/>
                <a:cs typeface="Calibri" pitchFamily="34" charset="-120"/>
              </a:rPr>
              <a:t>✅ Pros:</a:t>
            </a:r>
            <a:endParaRPr lang="en-US" sz="1000" dirty="0"/>
          </a:p>
        </p:txBody>
      </p:sp>
      <p:sp>
        <p:nvSpPr>
          <p:cNvPr id="24" name="Text 22"/>
          <p:cNvSpPr/>
          <p:nvPr/>
        </p:nvSpPr>
        <p:spPr>
          <a:xfrm>
            <a:off x="3282696" y="1810512"/>
            <a:ext cx="2633472" cy="1170432"/>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Compiles to ARM JSON (same engine)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Dramatically cleaner syntax</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Full IntelliSense in VS Code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Microsoft's official recommendation</a:t>
            </a:r>
            <a:endParaRPr lang="en-US" sz="900" dirty="0"/>
          </a:p>
        </p:txBody>
      </p:sp>
      <p:sp>
        <p:nvSpPr>
          <p:cNvPr id="25" name="Text 23"/>
          <p:cNvSpPr/>
          <p:nvPr/>
        </p:nvSpPr>
        <p:spPr>
          <a:xfrm>
            <a:off x="3282696" y="2871216"/>
            <a:ext cx="2633472" cy="201168"/>
          </a:xfrm>
          <a:prstGeom prst="rect">
            <a:avLst/>
          </a:prstGeom>
          <a:noFill/>
          <a:ln/>
        </p:spPr>
        <p:txBody>
          <a:bodyPr wrap="square" lIns="0" tIns="0" rIns="0" bIns="0" rtlCol="0" anchor="ctr"/>
          <a:lstStyle/>
          <a:p>
            <a:pPr indent="0" marL="0">
              <a:buNone/>
            </a:pPr>
            <a:r>
              <a:rPr lang="en-US" sz="1000" b="1" dirty="0">
                <a:solidFill>
                  <a:srgbClr val="E65100"/>
                </a:solidFill>
                <a:latin typeface="Calibri" pitchFamily="34" charset="0"/>
                <a:ea typeface="Calibri" pitchFamily="34" charset="-122"/>
                <a:cs typeface="Calibri" pitchFamily="34" charset="-120"/>
              </a:rPr>
              <a:t>⚠ Cons:</a:t>
            </a:r>
            <a:endParaRPr lang="en-US" sz="1000" dirty="0"/>
          </a:p>
        </p:txBody>
      </p:sp>
      <p:sp>
        <p:nvSpPr>
          <p:cNvPr id="26" name="Text 24"/>
          <p:cNvSpPr/>
          <p:nvPr/>
        </p:nvSpPr>
        <p:spPr>
          <a:xfrm>
            <a:off x="3282696" y="3090672"/>
            <a:ext cx="2633472" cy="594360"/>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Azure-only — no multi-cloud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Relatively newer ecosystem</a:t>
            </a:r>
            <a:endParaRPr lang="en-US" sz="900" dirty="0"/>
          </a:p>
        </p:txBody>
      </p:sp>
      <p:sp>
        <p:nvSpPr>
          <p:cNvPr id="27" name="Shape 25"/>
          <p:cNvSpPr/>
          <p:nvPr/>
        </p:nvSpPr>
        <p:spPr>
          <a:xfrm>
            <a:off x="3264408" y="4133088"/>
            <a:ext cx="2670048" cy="548640"/>
          </a:xfrm>
          <a:prstGeom prst="rect">
            <a:avLst/>
          </a:prstGeom>
          <a:solidFill>
            <a:srgbClr val="F8F9FA"/>
          </a:solidFill>
          <a:ln w="12700">
            <a:solidFill>
              <a:srgbClr val="E2E8F0"/>
            </a:solidFill>
            <a:prstDash val="solid"/>
          </a:ln>
        </p:spPr>
      </p:sp>
      <p:sp>
        <p:nvSpPr>
          <p:cNvPr id="28" name="Text 26"/>
          <p:cNvSpPr/>
          <p:nvPr/>
        </p:nvSpPr>
        <p:spPr>
          <a:xfrm>
            <a:off x="3264408" y="4142232"/>
            <a:ext cx="2670048" cy="530352"/>
          </a:xfrm>
          <a:prstGeom prst="rect">
            <a:avLst/>
          </a:prstGeom>
          <a:noFill/>
          <a:ln/>
        </p:spPr>
        <p:txBody>
          <a:bodyPr wrap="square" lIns="38100" tIns="38100" rIns="38100" bIns="38100" rtlCol="0" anchor="t"/>
          <a:lstStyle/>
          <a:p>
            <a:pPr indent="0" marL="0">
              <a:buNone/>
            </a:pPr>
            <a:r>
              <a:rPr lang="en-US" sz="850" b="1" dirty="0">
                <a:solidFill>
                  <a:srgbClr val="00897B"/>
                </a:solidFill>
                <a:latin typeface="Calibri" pitchFamily="34" charset="0"/>
                <a:ea typeface="Calibri" pitchFamily="34" charset="-122"/>
                <a:cs typeface="Calibri" pitchFamily="34" charset="-120"/>
              </a:rPr>
              <a:t>Use when: ✅ New Azure-only projects (recommended)</a:t>
            </a:r>
            <a:endParaRPr lang="en-US" sz="850" dirty="0"/>
          </a:p>
        </p:txBody>
      </p:sp>
      <p:sp>
        <p:nvSpPr>
          <p:cNvPr id="29" name="Shape 27"/>
          <p:cNvSpPr/>
          <p:nvPr/>
        </p:nvSpPr>
        <p:spPr>
          <a:xfrm>
            <a:off x="6144768" y="749808"/>
            <a:ext cx="2852928" cy="4069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144768" y="749808"/>
            <a:ext cx="2852928" cy="777240"/>
          </a:xfrm>
          <a:prstGeom prst="rect">
            <a:avLst/>
          </a:prstGeom>
          <a:solidFill>
            <a:srgbClr val="E65100"/>
          </a:solidFill>
          <a:ln w="12700">
            <a:solidFill>
              <a:srgbClr val="E65100"/>
            </a:solidFill>
            <a:prstDash val="solid"/>
          </a:ln>
        </p:spPr>
      </p:sp>
      <p:sp>
        <p:nvSpPr>
          <p:cNvPr id="31" name="Text 29"/>
          <p:cNvSpPr/>
          <p:nvPr/>
        </p:nvSpPr>
        <p:spPr>
          <a:xfrm>
            <a:off x="6254496" y="786384"/>
            <a:ext cx="2633472"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Terraform</a:t>
            </a:r>
            <a:endParaRPr lang="en-US" sz="1400" dirty="0"/>
          </a:p>
        </p:txBody>
      </p:sp>
      <p:sp>
        <p:nvSpPr>
          <p:cNvPr id="32" name="Text 30"/>
          <p:cNvSpPr/>
          <p:nvPr/>
        </p:nvSpPr>
        <p:spPr>
          <a:xfrm>
            <a:off x="6254496" y="1207008"/>
            <a:ext cx="2633472"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Language: HCL</a:t>
            </a:r>
            <a:endParaRPr lang="en-US" sz="900" dirty="0"/>
          </a:p>
        </p:txBody>
      </p:sp>
      <p:sp>
        <p:nvSpPr>
          <p:cNvPr id="33" name="Text 31"/>
          <p:cNvSpPr/>
          <p:nvPr/>
        </p:nvSpPr>
        <p:spPr>
          <a:xfrm>
            <a:off x="6254496" y="1600200"/>
            <a:ext cx="2633472" cy="201168"/>
          </a:xfrm>
          <a:prstGeom prst="rect">
            <a:avLst/>
          </a:prstGeom>
          <a:noFill/>
          <a:ln/>
        </p:spPr>
        <p:txBody>
          <a:bodyPr wrap="square" lIns="0" tIns="0" rIns="0" bIns="0" rtlCol="0" anchor="ctr"/>
          <a:lstStyle/>
          <a:p>
            <a:pPr indent="0" marL="0">
              <a:buNone/>
            </a:pPr>
            <a:r>
              <a:rPr lang="en-US" sz="1000" b="1" dirty="0">
                <a:solidFill>
                  <a:srgbClr val="1B5E20"/>
                </a:solidFill>
                <a:latin typeface="Calibri" pitchFamily="34" charset="0"/>
                <a:ea typeface="Calibri" pitchFamily="34" charset="-122"/>
                <a:cs typeface="Calibri" pitchFamily="34" charset="-120"/>
              </a:rPr>
              <a:t>✅ Pros:</a:t>
            </a:r>
            <a:endParaRPr lang="en-US" sz="1000" dirty="0"/>
          </a:p>
        </p:txBody>
      </p:sp>
      <p:sp>
        <p:nvSpPr>
          <p:cNvPr id="34" name="Text 32"/>
          <p:cNvSpPr/>
          <p:nvPr/>
        </p:nvSpPr>
        <p:spPr>
          <a:xfrm>
            <a:off x="6254496" y="1810512"/>
            <a:ext cx="2633472" cy="1170432"/>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Multi-cloud: Azure + AWS + GCP</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Massive ecosystem &amp; modules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State management &amp; drift detection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Industry-standard in enterprises</a:t>
            </a:r>
            <a:endParaRPr lang="en-US" sz="900" dirty="0"/>
          </a:p>
        </p:txBody>
      </p:sp>
      <p:sp>
        <p:nvSpPr>
          <p:cNvPr id="35" name="Text 33"/>
          <p:cNvSpPr/>
          <p:nvPr/>
        </p:nvSpPr>
        <p:spPr>
          <a:xfrm>
            <a:off x="6254496" y="2871216"/>
            <a:ext cx="2633472" cy="201168"/>
          </a:xfrm>
          <a:prstGeom prst="rect">
            <a:avLst/>
          </a:prstGeom>
          <a:noFill/>
          <a:ln/>
        </p:spPr>
        <p:txBody>
          <a:bodyPr wrap="square" lIns="0" tIns="0" rIns="0" bIns="0" rtlCol="0" anchor="ctr"/>
          <a:lstStyle/>
          <a:p>
            <a:pPr indent="0" marL="0">
              <a:buNone/>
            </a:pPr>
            <a:r>
              <a:rPr lang="en-US" sz="1000" b="1" dirty="0">
                <a:solidFill>
                  <a:srgbClr val="E65100"/>
                </a:solidFill>
                <a:latin typeface="Calibri" pitchFamily="34" charset="0"/>
                <a:ea typeface="Calibri" pitchFamily="34" charset="-122"/>
                <a:cs typeface="Calibri" pitchFamily="34" charset="-120"/>
              </a:rPr>
              <a:t>⚠ Cons:</a:t>
            </a:r>
            <a:endParaRPr lang="en-US" sz="1000" dirty="0"/>
          </a:p>
        </p:txBody>
      </p:sp>
      <p:sp>
        <p:nvSpPr>
          <p:cNvPr id="36" name="Text 34"/>
          <p:cNvSpPr/>
          <p:nvPr/>
        </p:nvSpPr>
        <p:spPr>
          <a:xfrm>
            <a:off x="6254496" y="3090672"/>
            <a:ext cx="2633472" cy="594360"/>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State file management complexity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Slight Azure feature lag vs ARM</a:t>
            </a:r>
            <a:endParaRPr lang="en-US" sz="900" dirty="0"/>
          </a:p>
        </p:txBody>
      </p:sp>
      <p:sp>
        <p:nvSpPr>
          <p:cNvPr id="37" name="Shape 35"/>
          <p:cNvSpPr/>
          <p:nvPr/>
        </p:nvSpPr>
        <p:spPr>
          <a:xfrm>
            <a:off x="6236208" y="4133088"/>
            <a:ext cx="2670048" cy="548640"/>
          </a:xfrm>
          <a:prstGeom prst="rect">
            <a:avLst/>
          </a:prstGeom>
          <a:solidFill>
            <a:srgbClr val="F8F9FA"/>
          </a:solidFill>
          <a:ln w="12700">
            <a:solidFill>
              <a:srgbClr val="E2E8F0"/>
            </a:solidFill>
            <a:prstDash val="solid"/>
          </a:ln>
        </p:spPr>
      </p:sp>
      <p:sp>
        <p:nvSpPr>
          <p:cNvPr id="38" name="Text 36"/>
          <p:cNvSpPr/>
          <p:nvPr/>
        </p:nvSpPr>
        <p:spPr>
          <a:xfrm>
            <a:off x="6236208" y="4142232"/>
            <a:ext cx="2670048" cy="530352"/>
          </a:xfrm>
          <a:prstGeom prst="rect">
            <a:avLst/>
          </a:prstGeom>
          <a:noFill/>
          <a:ln/>
        </p:spPr>
        <p:txBody>
          <a:bodyPr wrap="square" lIns="38100" tIns="38100" rIns="38100" bIns="38100" rtlCol="0" anchor="t"/>
          <a:lstStyle/>
          <a:p>
            <a:pPr indent="0" marL="0">
              <a:buNone/>
            </a:pPr>
            <a:r>
              <a:rPr lang="en-US" sz="850" b="1" dirty="0">
                <a:solidFill>
                  <a:srgbClr val="E65100"/>
                </a:solidFill>
                <a:latin typeface="Calibri" pitchFamily="34" charset="0"/>
                <a:ea typeface="Calibri" pitchFamily="34" charset="-122"/>
                <a:cs typeface="Calibri" pitchFamily="34" charset="-120"/>
              </a:rPr>
              <a:t>Use when: ✅ Multi-cloud &amp; enterprise at scale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01 — Operations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App Service Debugging — Finding Issues in Production</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Production debugging toolkit — how to diagnose issues when you can't open IntelliJ and set a breakpoint.</a:t>
            </a:r>
            <a:endParaRPr lang="en-US" sz="1050" dirty="0"/>
          </a:p>
        </p:txBody>
      </p:sp>
      <p:sp>
        <p:nvSpPr>
          <p:cNvPr id="10" name="Shape 8"/>
          <p:cNvSpPr/>
          <p:nvPr/>
        </p:nvSpPr>
        <p:spPr>
          <a:xfrm>
            <a:off x="228600" y="1069848"/>
            <a:ext cx="4160520" cy="1371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28600" y="1069848"/>
            <a:ext cx="4160520" cy="64008"/>
          </a:xfrm>
          <a:prstGeom prst="rect">
            <a:avLst/>
          </a:prstGeom>
          <a:solidFill>
            <a:srgbClr val="1565C0"/>
          </a:solidFill>
          <a:ln w="12700">
            <a:solidFill>
              <a:srgbClr val="1565C0"/>
            </a:solidFill>
            <a:prstDash val="solid"/>
          </a:ln>
        </p:spPr>
      </p:sp>
      <p:sp>
        <p:nvSpPr>
          <p:cNvPr id="12" name="Text 10"/>
          <p:cNvSpPr/>
          <p:nvPr/>
        </p:nvSpPr>
        <p:spPr>
          <a:xfrm>
            <a:off x="338328" y="1161288"/>
            <a:ext cx="3959352"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Log Stream</a:t>
            </a:r>
            <a:endParaRPr lang="en-US" sz="1200" dirty="0"/>
          </a:p>
        </p:txBody>
      </p:sp>
      <p:sp>
        <p:nvSpPr>
          <p:cNvPr id="13" name="Text 11"/>
          <p:cNvSpPr/>
          <p:nvPr/>
        </p:nvSpPr>
        <p:spPr>
          <a:xfrm>
            <a:off x="338328" y="1481328"/>
            <a:ext cx="3959352" cy="8686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Real-time log tailing from terminal:</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az webapp log tail --name medicare-api --resource-group medicare-backend-rg</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Like tail -f on a log file. First line of defense.</a:t>
            </a:r>
            <a:endParaRPr lang="en-US" sz="950" dirty="0"/>
          </a:p>
        </p:txBody>
      </p:sp>
      <p:sp>
        <p:nvSpPr>
          <p:cNvPr id="14" name="Shape 12"/>
          <p:cNvSpPr/>
          <p:nvPr/>
        </p:nvSpPr>
        <p:spPr>
          <a:xfrm>
            <a:off x="4572000" y="1069848"/>
            <a:ext cx="4343400" cy="1371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572000" y="1069848"/>
            <a:ext cx="4343400" cy="64008"/>
          </a:xfrm>
          <a:prstGeom prst="rect">
            <a:avLst/>
          </a:prstGeom>
          <a:solidFill>
            <a:srgbClr val="00897B"/>
          </a:solidFill>
          <a:ln w="12700">
            <a:solidFill>
              <a:srgbClr val="00897B"/>
            </a:solidFill>
            <a:prstDash val="solid"/>
          </a:ln>
        </p:spPr>
      </p:sp>
      <p:sp>
        <p:nvSpPr>
          <p:cNvPr id="16" name="Text 14"/>
          <p:cNvSpPr/>
          <p:nvPr/>
        </p:nvSpPr>
        <p:spPr>
          <a:xfrm>
            <a:off x="4681728" y="1161288"/>
            <a:ext cx="4142232"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Kudu Console (SCM Site)</a:t>
            </a:r>
            <a:endParaRPr lang="en-US" sz="1200" dirty="0"/>
          </a:p>
        </p:txBody>
      </p:sp>
      <p:sp>
        <p:nvSpPr>
          <p:cNvPr id="17" name="Text 15"/>
          <p:cNvSpPr/>
          <p:nvPr/>
        </p:nvSpPr>
        <p:spPr>
          <a:xfrm>
            <a:off x="4681728" y="1481328"/>
            <a:ext cx="4142232" cy="8686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Access at: https://medicare-api.scm.azurewebsites.net</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File explorer, Bash console, Process explorer, Environment variables, Historical log files.</a:t>
            </a:r>
            <a:endParaRPr lang="en-US" sz="950" dirty="0"/>
          </a:p>
        </p:txBody>
      </p:sp>
      <p:sp>
        <p:nvSpPr>
          <p:cNvPr id="18" name="Shape 16"/>
          <p:cNvSpPr/>
          <p:nvPr/>
        </p:nvSpPr>
        <p:spPr>
          <a:xfrm>
            <a:off x="228600" y="2532888"/>
            <a:ext cx="416052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28600" y="2532888"/>
            <a:ext cx="4160520" cy="64008"/>
          </a:xfrm>
          <a:prstGeom prst="rect">
            <a:avLst/>
          </a:prstGeom>
          <a:solidFill>
            <a:srgbClr val="E65100"/>
          </a:solidFill>
          <a:ln w="12700">
            <a:solidFill>
              <a:srgbClr val="E65100"/>
            </a:solidFill>
            <a:prstDash val="solid"/>
          </a:ln>
        </p:spPr>
      </p:sp>
      <p:sp>
        <p:nvSpPr>
          <p:cNvPr id="20" name="Text 18"/>
          <p:cNvSpPr/>
          <p:nvPr/>
        </p:nvSpPr>
        <p:spPr>
          <a:xfrm>
            <a:off x="338328" y="2624328"/>
            <a:ext cx="3959352"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App Settings (Environment Variables)</a:t>
            </a:r>
            <a:endParaRPr lang="en-US" sz="1200" dirty="0"/>
          </a:p>
        </p:txBody>
      </p:sp>
      <p:sp>
        <p:nvSpPr>
          <p:cNvPr id="21" name="Text 19"/>
          <p:cNvSpPr/>
          <p:nvPr/>
        </p:nvSpPr>
        <p:spPr>
          <a:xfrm>
            <a:off x="338328" y="2944368"/>
            <a:ext cx="3959352" cy="9144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Never hardcode secrets in app. Use Azure App Settings: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az webapp config appsettings set --settings SPRING_DATASOURCE_PASSWORD=...</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Spring Boot maps SPRING_DATASOURCE_URL → spring.datasource.url automatically.</a:t>
            </a:r>
            <a:endParaRPr lang="en-US" sz="950" dirty="0"/>
          </a:p>
        </p:txBody>
      </p:sp>
      <p:sp>
        <p:nvSpPr>
          <p:cNvPr id="22" name="Shape 20"/>
          <p:cNvSpPr/>
          <p:nvPr/>
        </p:nvSpPr>
        <p:spPr>
          <a:xfrm>
            <a:off x="4572000" y="2532888"/>
            <a:ext cx="43434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572000" y="2532888"/>
            <a:ext cx="4343400" cy="64008"/>
          </a:xfrm>
          <a:prstGeom prst="rect">
            <a:avLst/>
          </a:prstGeom>
          <a:solidFill>
            <a:srgbClr val="1A237E"/>
          </a:solidFill>
          <a:ln w="12700">
            <a:solidFill>
              <a:srgbClr val="1A237E"/>
            </a:solidFill>
            <a:prstDash val="solid"/>
          </a:ln>
        </p:spPr>
      </p:sp>
      <p:sp>
        <p:nvSpPr>
          <p:cNvPr id="24" name="Text 22"/>
          <p:cNvSpPr/>
          <p:nvPr/>
        </p:nvSpPr>
        <p:spPr>
          <a:xfrm>
            <a:off x="4681728" y="2624328"/>
            <a:ext cx="4142232"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Application Insights Integration</a:t>
            </a:r>
            <a:endParaRPr lang="en-US" sz="1200" dirty="0"/>
          </a:p>
        </p:txBody>
      </p:sp>
      <p:sp>
        <p:nvSpPr>
          <p:cNvPr id="25" name="Text 23"/>
          <p:cNvSpPr/>
          <p:nvPr/>
        </p:nvSpPr>
        <p:spPr>
          <a:xfrm>
            <a:off x="4681728" y="2944368"/>
            <a:ext cx="4142232" cy="9144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Add App Insights connection string as App Setting. Every HTTP request, SQL query, exception, and dependency call tracked automatically — no code changes.</a:t>
            </a:r>
            <a:endParaRPr lang="en-US" sz="950" dirty="0"/>
          </a:p>
        </p:txBody>
      </p:sp>
      <p:sp>
        <p:nvSpPr>
          <p:cNvPr id="26" name="Shape 24"/>
          <p:cNvSpPr/>
          <p:nvPr/>
        </p:nvSpPr>
        <p:spPr>
          <a:xfrm>
            <a:off x="228600" y="4023360"/>
            <a:ext cx="8686800" cy="749808"/>
          </a:xfrm>
          <a:prstGeom prst="rect">
            <a:avLst/>
          </a:prstGeom>
          <a:solidFill>
            <a:srgbClr val="FFF3E0"/>
          </a:solidFill>
          <a:ln w="12700">
            <a:solidFill>
              <a:srgbClr val="E65100"/>
            </a:solidFill>
            <a:prstDash val="solid"/>
          </a:ln>
        </p:spPr>
      </p:sp>
      <p:sp>
        <p:nvSpPr>
          <p:cNvPr id="27" name="Text 25"/>
          <p:cNvSpPr/>
          <p:nvPr/>
        </p:nvSpPr>
        <p:spPr>
          <a:xfrm>
            <a:off x="320040" y="4041648"/>
            <a:ext cx="8503920" cy="713232"/>
          </a:xfrm>
          <a:prstGeom prst="rect">
            <a:avLst/>
          </a:prstGeom>
          <a:noFill/>
          <a:ln/>
        </p:spPr>
        <p:txBody>
          <a:bodyPr wrap="square" lIns="0" tIns="0" rIns="0" bIns="0" rtlCol="0" anchor="ctr"/>
          <a:lstStyle/>
          <a:p>
            <a:pPr indent="0" marL="0">
              <a:buNone/>
            </a:pPr>
            <a:r>
              <a:rPr lang="en-US" sz="1000" b="1" dirty="0">
                <a:solidFill>
                  <a:srgbClr val="E65100"/>
                </a:solidFill>
                <a:latin typeface="Calibri" pitchFamily="34" charset="0"/>
                <a:ea typeface="Calibri" pitchFamily="34" charset="-122"/>
                <a:cs typeface="Calibri" pitchFamily="34" charset="-120"/>
              </a:rPr>
              <a:t>⚠  Critical Security Rule: NEVER commit database passwords, API keys, or any secrets to Git. Use App Settings for all sensitive values. For maximum security, store secrets in Azure Key Vault and reference them from App Settings using Key Vault References.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rgbClr val="283593"/>
          </a:solidFill>
          <a:ln w="12700">
            <a:solidFill>
              <a:srgbClr val="283593"/>
            </a:solidFill>
            <a:prstDash val="solid"/>
          </a:ln>
        </p:spPr>
      </p:sp>
      <p:sp>
        <p:nvSpPr>
          <p:cNvPr id="3" name="Shape 1"/>
          <p:cNvSpPr/>
          <p:nvPr/>
        </p:nvSpPr>
        <p:spPr>
          <a:xfrm>
            <a:off x="0" y="0"/>
            <a:ext cx="320040" cy="5143500"/>
          </a:xfrm>
          <a:prstGeom prst="rect">
            <a:avLst/>
          </a:prstGeom>
          <a:solidFill>
            <a:srgbClr val="00ACC1"/>
          </a:solidFill>
          <a:ln w="12700">
            <a:solidFill>
              <a:srgbClr val="00ACC1"/>
            </a:solidFill>
            <a:prstDash val="solid"/>
          </a:ln>
        </p:spPr>
      </p:sp>
      <p:sp>
        <p:nvSpPr>
          <p:cNvPr id="4" name="Text 2"/>
          <p:cNvSpPr/>
          <p:nvPr/>
        </p:nvSpPr>
        <p:spPr>
          <a:xfrm>
            <a:off x="457200" y="182880"/>
            <a:ext cx="8229600" cy="365760"/>
          </a:xfrm>
          <a:prstGeom prst="rect">
            <a:avLst/>
          </a:prstGeom>
          <a:noFill/>
          <a:ln/>
        </p:spPr>
        <p:txBody>
          <a:bodyPr wrap="square" lIns="0" tIns="0" rIns="0" bIns="0" rtlCol="0" anchor="ctr"/>
          <a:lstStyle/>
          <a:p>
            <a:pPr indent="0" marL="0">
              <a:buNone/>
            </a:pPr>
            <a:r>
              <a:rPr lang="en-US" sz="1300" b="1" spc="300" kern="0" dirty="0">
                <a:solidFill>
                  <a:srgbClr val="90CAF9"/>
                </a:solidFill>
                <a:latin typeface="Calibri" pitchFamily="34" charset="0"/>
                <a:ea typeface="Calibri" pitchFamily="34" charset="-122"/>
                <a:cs typeface="Calibri" pitchFamily="34" charset="-120"/>
              </a:rPr>
              <a:t>Session 01</a:t>
            </a:r>
            <a:endParaRPr lang="en-US" sz="1300" dirty="0"/>
          </a:p>
        </p:txBody>
      </p:sp>
      <p:sp>
        <p:nvSpPr>
          <p:cNvPr id="5" name="Text 3"/>
          <p:cNvSpPr/>
          <p:nvPr/>
        </p:nvSpPr>
        <p:spPr>
          <a:xfrm>
            <a:off x="457200" y="530352"/>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6" name="Shape 4"/>
          <p:cNvSpPr/>
          <p:nvPr/>
        </p:nvSpPr>
        <p:spPr>
          <a:xfrm>
            <a:off x="457200" y="1298448"/>
            <a:ext cx="2743200" cy="1371600"/>
          </a:xfrm>
          <a:prstGeom prst="rect">
            <a:avLst/>
          </a:prstGeom>
          <a:solidFill>
            <a:srgbClr val="283593"/>
          </a:solidFill>
          <a:ln w="19050">
            <a:solidFill>
              <a:srgbClr val="1565C0"/>
            </a:solidFill>
            <a:prstDash val="solid"/>
          </a:ln>
        </p:spPr>
      </p:sp>
      <p:sp>
        <p:nvSpPr>
          <p:cNvPr id="7" name="Shape 5"/>
          <p:cNvSpPr/>
          <p:nvPr/>
        </p:nvSpPr>
        <p:spPr>
          <a:xfrm>
            <a:off x="457200" y="1298448"/>
            <a:ext cx="320040" cy="1371600"/>
          </a:xfrm>
          <a:prstGeom prst="rect">
            <a:avLst/>
          </a:prstGeom>
          <a:solidFill>
            <a:srgbClr val="1565C0"/>
          </a:solidFill>
          <a:ln w="12700">
            <a:solidFill>
              <a:srgbClr val="1565C0"/>
            </a:solidFill>
            <a:prstDash val="solid"/>
          </a:ln>
        </p:spPr>
      </p:sp>
      <p:sp>
        <p:nvSpPr>
          <p:cNvPr id="8" name="Text 6"/>
          <p:cNvSpPr/>
          <p:nvPr/>
        </p:nvSpPr>
        <p:spPr>
          <a:xfrm>
            <a:off x="86868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Cloud Computing</a:t>
            </a:r>
            <a:endParaRPr lang="en-US" sz="1200" dirty="0"/>
          </a:p>
        </p:txBody>
      </p:sp>
      <p:sp>
        <p:nvSpPr>
          <p:cNvPr id="9" name="Text 7"/>
          <p:cNvSpPr/>
          <p:nvPr/>
        </p:nvSpPr>
        <p:spPr>
          <a:xfrm>
            <a:off x="86868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Solve over-provisioning with pay-as-you-go elastic infrastructure. CapEx → OpEx shift.</a:t>
            </a:r>
            <a:endParaRPr lang="en-US" sz="950" dirty="0"/>
          </a:p>
        </p:txBody>
      </p:sp>
      <p:sp>
        <p:nvSpPr>
          <p:cNvPr id="10" name="Shape 8"/>
          <p:cNvSpPr/>
          <p:nvPr/>
        </p:nvSpPr>
        <p:spPr>
          <a:xfrm>
            <a:off x="3337560" y="1298448"/>
            <a:ext cx="2743200" cy="1371600"/>
          </a:xfrm>
          <a:prstGeom prst="rect">
            <a:avLst/>
          </a:prstGeom>
          <a:solidFill>
            <a:srgbClr val="283593"/>
          </a:solidFill>
          <a:ln w="19050">
            <a:solidFill>
              <a:srgbClr val="00897B"/>
            </a:solidFill>
            <a:prstDash val="solid"/>
          </a:ln>
        </p:spPr>
      </p:sp>
      <p:sp>
        <p:nvSpPr>
          <p:cNvPr id="11" name="Shape 9"/>
          <p:cNvSpPr/>
          <p:nvPr/>
        </p:nvSpPr>
        <p:spPr>
          <a:xfrm>
            <a:off x="3337560" y="1298448"/>
            <a:ext cx="320040" cy="1371600"/>
          </a:xfrm>
          <a:prstGeom prst="rect">
            <a:avLst/>
          </a:prstGeom>
          <a:solidFill>
            <a:srgbClr val="00897B"/>
          </a:solidFill>
          <a:ln w="12700">
            <a:solidFill>
              <a:srgbClr val="00897B"/>
            </a:solidFill>
            <a:prstDash val="solid"/>
          </a:ln>
        </p:spPr>
      </p:sp>
      <p:sp>
        <p:nvSpPr>
          <p:cNvPr id="12" name="Text 10"/>
          <p:cNvSpPr/>
          <p:nvPr/>
        </p:nvSpPr>
        <p:spPr>
          <a:xfrm>
            <a:off x="374904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Hierarchy</a:t>
            </a:r>
            <a:endParaRPr lang="en-US" sz="1200" dirty="0"/>
          </a:p>
        </p:txBody>
      </p:sp>
      <p:sp>
        <p:nvSpPr>
          <p:cNvPr id="13" name="Text 11"/>
          <p:cNvSpPr/>
          <p:nvPr/>
        </p:nvSpPr>
        <p:spPr>
          <a:xfrm>
            <a:off x="374904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Tenant → Subscription → Resource Group → Resource. Organize by environment and project.</a:t>
            </a:r>
            <a:endParaRPr lang="en-US" sz="950" dirty="0"/>
          </a:p>
        </p:txBody>
      </p:sp>
      <p:sp>
        <p:nvSpPr>
          <p:cNvPr id="14" name="Shape 12"/>
          <p:cNvSpPr/>
          <p:nvPr/>
        </p:nvSpPr>
        <p:spPr>
          <a:xfrm>
            <a:off x="6217920" y="1298448"/>
            <a:ext cx="2743200" cy="1371600"/>
          </a:xfrm>
          <a:prstGeom prst="rect">
            <a:avLst/>
          </a:prstGeom>
          <a:solidFill>
            <a:srgbClr val="283593"/>
          </a:solidFill>
          <a:ln w="19050">
            <a:solidFill>
              <a:srgbClr val="E65100"/>
            </a:solidFill>
            <a:prstDash val="solid"/>
          </a:ln>
        </p:spPr>
      </p:sp>
      <p:sp>
        <p:nvSpPr>
          <p:cNvPr id="15" name="Shape 13"/>
          <p:cNvSpPr/>
          <p:nvPr/>
        </p:nvSpPr>
        <p:spPr>
          <a:xfrm>
            <a:off x="6217920" y="1298448"/>
            <a:ext cx="320040" cy="1371600"/>
          </a:xfrm>
          <a:prstGeom prst="rect">
            <a:avLst/>
          </a:prstGeom>
          <a:solidFill>
            <a:srgbClr val="E65100"/>
          </a:solidFill>
          <a:ln w="12700">
            <a:solidFill>
              <a:srgbClr val="E65100"/>
            </a:solidFill>
            <a:prstDash val="solid"/>
          </a:ln>
        </p:spPr>
      </p:sp>
      <p:sp>
        <p:nvSpPr>
          <p:cNvPr id="16" name="Text 14"/>
          <p:cNvSpPr/>
          <p:nvPr/>
        </p:nvSpPr>
        <p:spPr>
          <a:xfrm>
            <a:off x="662940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App Service (PaaS)</a:t>
            </a:r>
            <a:endParaRPr lang="en-US" sz="1200" dirty="0"/>
          </a:p>
        </p:txBody>
      </p:sp>
      <p:sp>
        <p:nvSpPr>
          <p:cNvPr id="17" name="Text 15"/>
          <p:cNvSpPr/>
          <p:nvPr/>
        </p:nvSpPr>
        <p:spPr>
          <a:xfrm>
            <a:off x="662940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Host Java without managing VMs. Deployment slots = zero-downtime deployments.</a:t>
            </a:r>
            <a:endParaRPr lang="en-US" sz="950" dirty="0"/>
          </a:p>
        </p:txBody>
      </p:sp>
      <p:sp>
        <p:nvSpPr>
          <p:cNvPr id="18" name="Shape 16"/>
          <p:cNvSpPr/>
          <p:nvPr/>
        </p:nvSpPr>
        <p:spPr>
          <a:xfrm>
            <a:off x="457200" y="2779776"/>
            <a:ext cx="2743200" cy="1371600"/>
          </a:xfrm>
          <a:prstGeom prst="rect">
            <a:avLst/>
          </a:prstGeom>
          <a:solidFill>
            <a:srgbClr val="283593"/>
          </a:solidFill>
          <a:ln w="19050">
            <a:solidFill>
              <a:srgbClr val="6D28D9"/>
            </a:solidFill>
            <a:prstDash val="solid"/>
          </a:ln>
        </p:spPr>
      </p:sp>
      <p:sp>
        <p:nvSpPr>
          <p:cNvPr id="19" name="Shape 17"/>
          <p:cNvSpPr/>
          <p:nvPr/>
        </p:nvSpPr>
        <p:spPr>
          <a:xfrm>
            <a:off x="457200" y="2779776"/>
            <a:ext cx="320040" cy="1371600"/>
          </a:xfrm>
          <a:prstGeom prst="rect">
            <a:avLst/>
          </a:prstGeom>
          <a:solidFill>
            <a:srgbClr val="6D28D9"/>
          </a:solidFill>
          <a:ln w="12700">
            <a:solidFill>
              <a:srgbClr val="6D28D9"/>
            </a:solidFill>
            <a:prstDash val="solid"/>
          </a:ln>
        </p:spPr>
      </p:sp>
      <p:sp>
        <p:nvSpPr>
          <p:cNvPr id="20" name="Text 18"/>
          <p:cNvSpPr/>
          <p:nvPr/>
        </p:nvSpPr>
        <p:spPr>
          <a:xfrm>
            <a:off x="86868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SQL Database</a:t>
            </a:r>
            <a:endParaRPr lang="en-US" sz="1200" dirty="0"/>
          </a:p>
        </p:txBody>
      </p:sp>
      <p:sp>
        <p:nvSpPr>
          <p:cNvPr id="21" name="Text 19"/>
          <p:cNvSpPr/>
          <p:nvPr/>
        </p:nvSpPr>
        <p:spPr>
          <a:xfrm>
            <a:off x="86868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Managed SQL Server with auto-backup, HA, and point-in-time restore up to 35 days.</a:t>
            </a:r>
            <a:endParaRPr lang="en-US" sz="950" dirty="0"/>
          </a:p>
        </p:txBody>
      </p:sp>
      <p:sp>
        <p:nvSpPr>
          <p:cNvPr id="22" name="Shape 20"/>
          <p:cNvSpPr/>
          <p:nvPr/>
        </p:nvSpPr>
        <p:spPr>
          <a:xfrm>
            <a:off x="3337560" y="2779776"/>
            <a:ext cx="2743200" cy="1371600"/>
          </a:xfrm>
          <a:prstGeom prst="rect">
            <a:avLst/>
          </a:prstGeom>
          <a:solidFill>
            <a:srgbClr val="283593"/>
          </a:solidFill>
          <a:ln w="19050">
            <a:solidFill>
              <a:srgbClr val="43A047"/>
            </a:solidFill>
            <a:prstDash val="solid"/>
          </a:ln>
        </p:spPr>
      </p:sp>
      <p:sp>
        <p:nvSpPr>
          <p:cNvPr id="23" name="Shape 21"/>
          <p:cNvSpPr/>
          <p:nvPr/>
        </p:nvSpPr>
        <p:spPr>
          <a:xfrm>
            <a:off x="3337560" y="2779776"/>
            <a:ext cx="320040" cy="1371600"/>
          </a:xfrm>
          <a:prstGeom prst="rect">
            <a:avLst/>
          </a:prstGeom>
          <a:solidFill>
            <a:srgbClr val="43A047"/>
          </a:solidFill>
          <a:ln w="12700">
            <a:solidFill>
              <a:srgbClr val="43A047"/>
            </a:solidFill>
            <a:prstDash val="solid"/>
          </a:ln>
        </p:spPr>
      </p:sp>
      <p:sp>
        <p:nvSpPr>
          <p:cNvPr id="24" name="Text 22"/>
          <p:cNvSpPr/>
          <p:nvPr/>
        </p:nvSpPr>
        <p:spPr>
          <a:xfrm>
            <a:off x="374904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CLI &amp; ARM</a:t>
            </a:r>
            <a:endParaRPr lang="en-US" sz="1200" dirty="0"/>
          </a:p>
        </p:txBody>
      </p:sp>
      <p:sp>
        <p:nvSpPr>
          <p:cNvPr id="25" name="Text 23"/>
          <p:cNvSpPr/>
          <p:nvPr/>
        </p:nvSpPr>
        <p:spPr>
          <a:xfrm>
            <a:off x="374904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Provision infrastructure through commands. ARM = unified control plane for everything.</a:t>
            </a:r>
            <a:endParaRPr lang="en-US" sz="950" dirty="0"/>
          </a:p>
        </p:txBody>
      </p:sp>
      <p:sp>
        <p:nvSpPr>
          <p:cNvPr id="26" name="Shape 24"/>
          <p:cNvSpPr/>
          <p:nvPr/>
        </p:nvSpPr>
        <p:spPr>
          <a:xfrm>
            <a:off x="6217920" y="2779776"/>
            <a:ext cx="2743200" cy="1371600"/>
          </a:xfrm>
          <a:prstGeom prst="rect">
            <a:avLst/>
          </a:prstGeom>
          <a:solidFill>
            <a:srgbClr val="283593"/>
          </a:solidFill>
          <a:ln w="19050">
            <a:solidFill>
              <a:srgbClr val="F59E0B"/>
            </a:solidFill>
            <a:prstDash val="solid"/>
          </a:ln>
        </p:spPr>
      </p:sp>
      <p:sp>
        <p:nvSpPr>
          <p:cNvPr id="27" name="Shape 25"/>
          <p:cNvSpPr/>
          <p:nvPr/>
        </p:nvSpPr>
        <p:spPr>
          <a:xfrm>
            <a:off x="6217920" y="2779776"/>
            <a:ext cx="320040" cy="1371600"/>
          </a:xfrm>
          <a:prstGeom prst="rect">
            <a:avLst/>
          </a:prstGeom>
          <a:solidFill>
            <a:srgbClr val="F59E0B"/>
          </a:solidFill>
          <a:ln w="12700">
            <a:solidFill>
              <a:srgbClr val="F59E0B"/>
            </a:solidFill>
            <a:prstDash val="solid"/>
          </a:ln>
        </p:spPr>
      </p:sp>
      <p:sp>
        <p:nvSpPr>
          <p:cNvPr id="28" name="Text 26"/>
          <p:cNvSpPr/>
          <p:nvPr/>
        </p:nvSpPr>
        <p:spPr>
          <a:xfrm>
            <a:off x="662940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IaC Philosophy</a:t>
            </a:r>
            <a:endParaRPr lang="en-US" sz="1200" dirty="0"/>
          </a:p>
        </p:txBody>
      </p:sp>
      <p:sp>
        <p:nvSpPr>
          <p:cNvPr id="29" name="Text 27"/>
          <p:cNvSpPr/>
          <p:nvPr/>
        </p:nvSpPr>
        <p:spPr>
          <a:xfrm>
            <a:off x="662940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ARM, Bicep, Terraform. Idempotent, repeatable, auditable infrastructure deployment.</a:t>
            </a:r>
            <a:endParaRPr lang="en-US" sz="950" dirty="0"/>
          </a:p>
        </p:txBody>
      </p:sp>
      <p:sp>
        <p:nvSpPr>
          <p:cNvPr id="30" name="Text 28"/>
          <p:cNvSpPr/>
          <p:nvPr/>
        </p:nvSpPr>
        <p:spPr>
          <a:xfrm>
            <a:off x="457200" y="4846320"/>
            <a:ext cx="8229600" cy="274320"/>
          </a:xfrm>
          <a:prstGeom prst="rect">
            <a:avLst/>
          </a:prstGeom>
          <a:noFill/>
          <a:ln/>
        </p:spPr>
        <p:txBody>
          <a:bodyPr wrap="square" lIns="0" tIns="0" rIns="0" bIns="0" rtlCol="0" anchor="ctr"/>
          <a:lstStyle/>
          <a:p>
            <a:pPr indent="0" marL="0">
              <a:buNone/>
            </a:pPr>
            <a:r>
              <a:rPr lang="en-US" sz="900" dirty="0">
                <a:solidFill>
                  <a:srgbClr val="90CAF9"/>
                </a:solidFill>
                <a:latin typeface="Calibri" pitchFamily="34" charset="0"/>
                <a:ea typeface="Calibri" pitchFamily="34" charset="-122"/>
                <a:cs typeface="Calibri" pitchFamily="34" charset="-120"/>
              </a:rPr>
              <a:t>Next: Security, IaC &amp; DevOps Automation →  Session 02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5120640" y="0"/>
            <a:ext cx="4023360" cy="5143500"/>
          </a:xfrm>
          <a:prstGeom prst="rect">
            <a:avLst/>
          </a:prstGeom>
          <a:solidFill>
            <a:srgbClr val="DBEAFE"/>
          </a:solidFill>
          <a:ln w="12700">
            <a:solidFill>
              <a:srgbClr val="DBEAFE"/>
            </a:solidFill>
            <a:prstDash val="solid"/>
          </a:ln>
        </p:spPr>
      </p:sp>
      <p:sp>
        <p:nvSpPr>
          <p:cNvPr id="3" name="Shape 1"/>
          <p:cNvSpPr/>
          <p:nvPr/>
        </p:nvSpPr>
        <p:spPr>
          <a:xfrm>
            <a:off x="5120640" y="0"/>
            <a:ext cx="118872" cy="5143500"/>
          </a:xfrm>
          <a:prstGeom prst="rect">
            <a:avLst/>
          </a:prstGeom>
          <a:solidFill>
            <a:srgbClr val="00ACC1"/>
          </a:solidFill>
          <a:ln w="12700">
            <a:solidFill>
              <a:srgbClr val="00ACC1"/>
            </a:solidFill>
            <a:prstDash val="solid"/>
          </a:ln>
        </p:spPr>
      </p:sp>
      <p:sp>
        <p:nvSpPr>
          <p:cNvPr id="4" name="Shape 2"/>
          <p:cNvSpPr/>
          <p:nvPr/>
        </p:nvSpPr>
        <p:spPr>
          <a:xfrm>
            <a:off x="0" y="4937760"/>
            <a:ext cx="5120640" cy="205740"/>
          </a:xfrm>
          <a:prstGeom prst="rect">
            <a:avLst/>
          </a:prstGeom>
          <a:solidFill>
            <a:srgbClr val="283593"/>
          </a:solidFill>
          <a:ln w="12700">
            <a:solidFill>
              <a:srgbClr val="283593"/>
            </a:solidFill>
            <a:prstDash val="solid"/>
          </a:ln>
        </p:spPr>
      </p:sp>
      <p:sp>
        <p:nvSpPr>
          <p:cNvPr id="5" name="Text 3"/>
          <p:cNvSpPr/>
          <p:nvPr/>
        </p:nvSpPr>
        <p:spPr>
          <a:xfrm>
            <a:off x="274320" y="274320"/>
            <a:ext cx="4572000" cy="2011680"/>
          </a:xfrm>
          <a:prstGeom prst="rect">
            <a:avLst/>
          </a:prstGeom>
          <a:noFill/>
          <a:ln/>
        </p:spPr>
        <p:txBody>
          <a:bodyPr wrap="square" lIns="0" tIns="0" rIns="0" bIns="0" rtlCol="0" anchor="ctr"/>
          <a:lstStyle/>
          <a:p>
            <a:pPr indent="0" marL="0">
              <a:buNone/>
            </a:pPr>
            <a:r>
              <a:rPr lang="en-US" sz="11000" b="1" dirty="0">
                <a:solidFill>
                  <a:srgbClr val="283593"/>
                </a:solidFill>
                <a:latin typeface="Trebuchet MS" pitchFamily="34" charset="0"/>
                <a:ea typeface="Trebuchet MS" pitchFamily="34" charset="-122"/>
                <a:cs typeface="Trebuchet MS" pitchFamily="34" charset="-120"/>
              </a:rPr>
              <a:t>02</a:t>
            </a:r>
            <a:endParaRPr lang="en-US" sz="11000" dirty="0"/>
          </a:p>
        </p:txBody>
      </p:sp>
      <p:sp>
        <p:nvSpPr>
          <p:cNvPr id="6" name="Text 4"/>
          <p:cNvSpPr/>
          <p:nvPr/>
        </p:nvSpPr>
        <p:spPr>
          <a:xfrm>
            <a:off x="320040" y="2240280"/>
            <a:ext cx="4572000" cy="685800"/>
          </a:xfrm>
          <a:prstGeom prst="rect">
            <a:avLst/>
          </a:prstGeom>
          <a:noFill/>
          <a:ln/>
        </p:spPr>
        <p:txBody>
          <a:bodyPr wrap="square" lIns="0" tIns="0" rIns="0" bIns="0" rtlCol="0" anchor="ctr"/>
          <a:lstStyle/>
          <a:p>
            <a:pPr indent="0" marL="0">
              <a:buNone/>
            </a:pPr>
            <a:r>
              <a:rPr lang="en-US" sz="2500" b="1" dirty="0">
                <a:solidFill>
                  <a:srgbClr val="FFFFFF"/>
                </a:solidFill>
                <a:latin typeface="Trebuchet MS" pitchFamily="34" charset="0"/>
                <a:ea typeface="Trebuchet MS" pitchFamily="34" charset="-122"/>
                <a:cs typeface="Trebuchet MS" pitchFamily="34" charset="-120"/>
              </a:rPr>
              <a:t>Security, IaC &amp;</a:t>
            </a:r>
            <a:endParaRPr lang="en-US" sz="2500" dirty="0"/>
          </a:p>
          <a:p>
            <a:pPr indent="0" marL="0">
              <a:buNone/>
            </a:pPr>
            <a:r>
              <a:rPr lang="en-US" sz="2500" b="1" dirty="0">
                <a:solidFill>
                  <a:srgbClr val="FFFFFF"/>
                </a:solidFill>
                <a:latin typeface="Trebuchet MS" pitchFamily="34" charset="0"/>
                <a:ea typeface="Trebuchet MS" pitchFamily="34" charset="-122"/>
                <a:cs typeface="Trebuchet MS" pitchFamily="34" charset="-120"/>
              </a:rPr>
              <a:t>DevOps Automation</a:t>
            </a:r>
            <a:endParaRPr lang="en-US" sz="2500" dirty="0"/>
          </a:p>
        </p:txBody>
      </p:sp>
      <p:sp>
        <p:nvSpPr>
          <p:cNvPr id="7" name="Text 5"/>
          <p:cNvSpPr/>
          <p:nvPr/>
        </p:nvSpPr>
        <p:spPr>
          <a:xfrm>
            <a:off x="320040" y="2926080"/>
            <a:ext cx="4572000" cy="502920"/>
          </a:xfrm>
          <a:prstGeom prst="rect">
            <a:avLst/>
          </a:prstGeom>
          <a:noFill/>
          <a:ln/>
        </p:spPr>
        <p:txBody>
          <a:bodyPr wrap="square" lIns="0" tIns="0" rIns="0" bIns="0" rtlCol="0" anchor="ctr"/>
          <a:lstStyle/>
          <a:p>
            <a:pPr indent="0" marL="0">
              <a:buNone/>
            </a:pPr>
            <a:r>
              <a:rPr lang="en-US" sz="1250" dirty="0">
                <a:solidFill>
                  <a:srgbClr val="90CAF9"/>
                </a:solidFill>
                <a:latin typeface="Calibri" pitchFamily="34" charset="0"/>
                <a:ea typeface="Calibri" pitchFamily="34" charset="-122"/>
                <a:cs typeface="Calibri" pitchFamily="34" charset="-120"/>
              </a:rPr>
              <a:t>Building Production-Ready, Secure, Automated Azure Systems</a:t>
            </a:r>
            <a:endParaRPr lang="en-US" sz="1250" dirty="0"/>
          </a:p>
        </p:txBody>
      </p:sp>
      <p:sp>
        <p:nvSpPr>
          <p:cNvPr id="8" name="Text 6"/>
          <p:cNvSpPr/>
          <p:nvPr/>
        </p:nvSpPr>
        <p:spPr>
          <a:xfrm>
            <a:off x="320040" y="4956048"/>
            <a:ext cx="4480560" cy="164592"/>
          </a:xfrm>
          <a:prstGeom prst="rect">
            <a:avLst/>
          </a:prstGeom>
          <a:noFill/>
          <a:ln/>
        </p:spPr>
        <p:txBody>
          <a:bodyPr wrap="square" lIns="0" tIns="0" rIns="0" bIns="0" rtlCol="0" anchor="ctr"/>
          <a:lstStyle/>
          <a:p>
            <a:pPr indent="0" marL="0">
              <a:buNone/>
            </a:pPr>
            <a:r>
              <a:rPr lang="en-US" sz="750" dirty="0">
                <a:solidFill>
                  <a:srgbClr val="90CAF9"/>
                </a:solidFill>
              </a:rPr>
              <a:t>Azure Cloud Masterclass</a:t>
            </a:r>
            <a:endParaRPr lang="en-US" sz="750" dirty="0"/>
          </a:p>
        </p:txBody>
      </p:sp>
      <p:sp>
        <p:nvSpPr>
          <p:cNvPr id="9" name="Text 7"/>
          <p:cNvSpPr/>
          <p:nvPr/>
        </p:nvSpPr>
        <p:spPr>
          <a:xfrm>
            <a:off x="5394960" y="274320"/>
            <a:ext cx="347472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KEY TOPICS</a:t>
            </a:r>
            <a:endParaRPr lang="en-US" sz="1000" dirty="0"/>
          </a:p>
        </p:txBody>
      </p:sp>
      <p:sp>
        <p:nvSpPr>
          <p:cNvPr id="10" name="Text 8"/>
          <p:cNvSpPr/>
          <p:nvPr/>
        </p:nvSpPr>
        <p:spPr>
          <a:xfrm>
            <a:off x="5394960" y="594360"/>
            <a:ext cx="3520440" cy="4297680"/>
          </a:xfrm>
          <a:prstGeom prst="rect">
            <a:avLst/>
          </a:prstGeom>
          <a:noFill/>
          <a:ln/>
        </p:spPr>
        <p:txBody>
          <a:bodyPr wrap="square" rtlCol="0" anchor="t"/>
          <a:lstStyle/>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IaC Philosophy — Declarative vs Imperative</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Bicep — Modern IaC Language</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Virtual Networks &amp; Network Security Groups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Defense in Depth — 8 Security Layers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Key Vault &amp; Managed Identity</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Active Directory &amp; RBAC</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DevOps CI/CD Pipeline</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Monitor &amp; Application Insights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KQL — Kusto Query Language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IaC</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Infrastructure as Code — The Philosophy &amp; 4 Core Principles</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IaC is not just a tool — it is a mindset shift that permanently changes how you think about infrastructure.</a:t>
            </a:r>
            <a:endParaRPr lang="en-US" sz="1050" dirty="0"/>
          </a:p>
        </p:txBody>
      </p:sp>
      <p:sp>
        <p:nvSpPr>
          <p:cNvPr id="10" name="Text 8"/>
          <p:cNvSpPr/>
          <p:nvPr/>
        </p:nvSpPr>
        <p:spPr>
          <a:xfrm>
            <a:off x="228600" y="1069848"/>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Declarative vs Imperative IaC</a:t>
            </a:r>
            <a:endParaRPr lang="en-US" sz="1300" dirty="0"/>
          </a:p>
        </p:txBody>
      </p:sp>
      <p:sp>
        <p:nvSpPr>
          <p:cNvPr id="11" name="Shape 9"/>
          <p:cNvSpPr/>
          <p:nvPr/>
        </p:nvSpPr>
        <p:spPr>
          <a:xfrm>
            <a:off x="228600" y="1399032"/>
            <a:ext cx="4206240" cy="1051560"/>
          </a:xfrm>
          <a:prstGeom prst="rect">
            <a:avLst/>
          </a:prstGeom>
          <a:solidFill>
            <a:srgbClr val="FFF3E0"/>
          </a:solidFill>
          <a:ln w="12700">
            <a:solidFill>
              <a:srgbClr val="E65100"/>
            </a:solidFill>
            <a:prstDash val="solid"/>
          </a:ln>
        </p:spPr>
      </p:sp>
      <p:sp>
        <p:nvSpPr>
          <p:cNvPr id="12" name="Text 10"/>
          <p:cNvSpPr/>
          <p:nvPr/>
        </p:nvSpPr>
        <p:spPr>
          <a:xfrm>
            <a:off x="320040" y="1417320"/>
            <a:ext cx="4023360" cy="274320"/>
          </a:xfrm>
          <a:prstGeom prst="rect">
            <a:avLst/>
          </a:prstGeom>
          <a:noFill/>
          <a:ln/>
        </p:spPr>
        <p:txBody>
          <a:bodyPr wrap="square" lIns="0" tIns="0" rIns="0" bIns="0" rtlCol="0" anchor="ctr"/>
          <a:lstStyle/>
          <a:p>
            <a:pPr indent="0" marL="0">
              <a:buNone/>
            </a:pPr>
            <a:r>
              <a:rPr lang="en-US" sz="1200" b="1" dirty="0">
                <a:solidFill>
                  <a:srgbClr val="E65100"/>
                </a:solidFill>
                <a:latin typeface="Trebuchet MS" pitchFamily="34" charset="0"/>
                <a:ea typeface="Trebuchet MS" pitchFamily="34" charset="-122"/>
                <a:cs typeface="Trebuchet MS" pitchFamily="34" charset="-120"/>
              </a:rPr>
              <a:t>Imperative</a:t>
            </a:r>
            <a:endParaRPr lang="en-US" sz="1200" dirty="0"/>
          </a:p>
        </p:txBody>
      </p:sp>
      <p:sp>
        <p:nvSpPr>
          <p:cNvPr id="13" name="Text 11"/>
          <p:cNvSpPr/>
          <p:nvPr/>
        </p:nvSpPr>
        <p:spPr>
          <a:xfrm>
            <a:off x="320040" y="1709928"/>
            <a:ext cx="4023360" cy="6858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'Do this, then do this, then do this.'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Sequence of commands (Azure CLI scripts).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Not idempotent — running twice causes errors.</a:t>
            </a:r>
            <a:endParaRPr lang="en-US" sz="1000" dirty="0"/>
          </a:p>
        </p:txBody>
      </p:sp>
      <p:sp>
        <p:nvSpPr>
          <p:cNvPr id="14" name="Shape 12"/>
          <p:cNvSpPr/>
          <p:nvPr/>
        </p:nvSpPr>
        <p:spPr>
          <a:xfrm>
            <a:off x="4709160" y="1399032"/>
            <a:ext cx="4206240" cy="1051560"/>
          </a:xfrm>
          <a:prstGeom prst="rect">
            <a:avLst/>
          </a:prstGeom>
          <a:solidFill>
            <a:srgbClr val="E8F5E9"/>
          </a:solidFill>
          <a:ln w="12700">
            <a:solidFill>
              <a:srgbClr val="43A047"/>
            </a:solidFill>
            <a:prstDash val="solid"/>
          </a:ln>
        </p:spPr>
      </p:sp>
      <p:sp>
        <p:nvSpPr>
          <p:cNvPr id="15" name="Text 13"/>
          <p:cNvSpPr/>
          <p:nvPr/>
        </p:nvSpPr>
        <p:spPr>
          <a:xfrm>
            <a:off x="4800600" y="1417320"/>
            <a:ext cx="4023360" cy="274320"/>
          </a:xfrm>
          <a:prstGeom prst="rect">
            <a:avLst/>
          </a:prstGeom>
          <a:noFill/>
          <a:ln/>
        </p:spPr>
        <p:txBody>
          <a:bodyPr wrap="square" lIns="0" tIns="0" rIns="0" bIns="0" rtlCol="0" anchor="ctr"/>
          <a:lstStyle/>
          <a:p>
            <a:pPr indent="0" marL="0">
              <a:buNone/>
            </a:pPr>
            <a:r>
              <a:rPr lang="en-US" sz="1200" b="1" dirty="0">
                <a:solidFill>
                  <a:srgbClr val="1B5E20"/>
                </a:solidFill>
                <a:latin typeface="Trebuchet MS" pitchFamily="34" charset="0"/>
                <a:ea typeface="Trebuchet MS" pitchFamily="34" charset="-122"/>
                <a:cs typeface="Trebuchet MS" pitchFamily="34" charset="-120"/>
              </a:rPr>
              <a:t>Declarative ✅ Recommended</a:t>
            </a:r>
            <a:endParaRPr lang="en-US" sz="1200" dirty="0"/>
          </a:p>
        </p:txBody>
      </p:sp>
      <p:sp>
        <p:nvSpPr>
          <p:cNvPr id="16" name="Text 14"/>
          <p:cNvSpPr/>
          <p:nvPr/>
        </p:nvSpPr>
        <p:spPr>
          <a:xfrm>
            <a:off x="4800600" y="1709928"/>
            <a:ext cx="4023360" cy="6858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 want the world to look like this.'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Describe desired end state (Bicep, Terraform).</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Idempotent — run 50 times, same result.</a:t>
            </a:r>
            <a:endParaRPr lang="en-US" sz="1000" dirty="0"/>
          </a:p>
        </p:txBody>
      </p:sp>
      <p:sp>
        <p:nvSpPr>
          <p:cNvPr id="17" name="Text 15"/>
          <p:cNvSpPr/>
          <p:nvPr/>
        </p:nvSpPr>
        <p:spPr>
          <a:xfrm>
            <a:off x="228600" y="2542032"/>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The 4 Non-Negotiable Principles of IaC</a:t>
            </a:r>
            <a:endParaRPr lang="en-US" sz="1300" dirty="0"/>
          </a:p>
        </p:txBody>
      </p:sp>
      <p:sp>
        <p:nvSpPr>
          <p:cNvPr id="18" name="Shape 16"/>
          <p:cNvSpPr/>
          <p:nvPr/>
        </p:nvSpPr>
        <p:spPr>
          <a:xfrm>
            <a:off x="228600" y="2871216"/>
            <a:ext cx="2084832" cy="14447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28600" y="2871216"/>
            <a:ext cx="2084832" cy="64008"/>
          </a:xfrm>
          <a:prstGeom prst="rect">
            <a:avLst/>
          </a:prstGeom>
          <a:solidFill>
            <a:srgbClr val="1565C0"/>
          </a:solidFill>
          <a:ln w="12700">
            <a:solidFill>
              <a:srgbClr val="1565C0"/>
            </a:solidFill>
            <a:prstDash val="solid"/>
          </a:ln>
        </p:spPr>
      </p:sp>
      <p:sp>
        <p:nvSpPr>
          <p:cNvPr id="20" name="Text 18"/>
          <p:cNvSpPr/>
          <p:nvPr/>
        </p:nvSpPr>
        <p:spPr>
          <a:xfrm>
            <a:off x="338328" y="2962656"/>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Idempotency</a:t>
            </a:r>
            <a:endParaRPr lang="en-US" sz="1200" dirty="0"/>
          </a:p>
        </p:txBody>
      </p:sp>
      <p:sp>
        <p:nvSpPr>
          <p:cNvPr id="21" name="Text 19"/>
          <p:cNvSpPr/>
          <p:nvPr/>
        </p:nvSpPr>
        <p:spPr>
          <a:xfrm>
            <a:off x="338328" y="3273552"/>
            <a:ext cx="1883664" cy="93268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Run the same template 50 times — identical result every time. No duplicates, no errors on re-run.</a:t>
            </a:r>
            <a:endParaRPr lang="en-US" sz="950" dirty="0"/>
          </a:p>
        </p:txBody>
      </p:sp>
      <p:sp>
        <p:nvSpPr>
          <p:cNvPr id="22" name="Shape 20"/>
          <p:cNvSpPr/>
          <p:nvPr/>
        </p:nvSpPr>
        <p:spPr>
          <a:xfrm>
            <a:off x="2404872" y="2871216"/>
            <a:ext cx="2084832" cy="14447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404872" y="2871216"/>
            <a:ext cx="2084832" cy="64008"/>
          </a:xfrm>
          <a:prstGeom prst="rect">
            <a:avLst/>
          </a:prstGeom>
          <a:solidFill>
            <a:srgbClr val="00897B"/>
          </a:solidFill>
          <a:ln w="12700">
            <a:solidFill>
              <a:srgbClr val="00897B"/>
            </a:solidFill>
            <a:prstDash val="solid"/>
          </a:ln>
        </p:spPr>
      </p:sp>
      <p:sp>
        <p:nvSpPr>
          <p:cNvPr id="24" name="Text 22"/>
          <p:cNvSpPr/>
          <p:nvPr/>
        </p:nvSpPr>
        <p:spPr>
          <a:xfrm>
            <a:off x="2514600" y="2962656"/>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Consistency</a:t>
            </a:r>
            <a:endParaRPr lang="en-US" sz="1200" dirty="0"/>
          </a:p>
        </p:txBody>
      </p:sp>
      <p:sp>
        <p:nvSpPr>
          <p:cNvPr id="25" name="Text 23"/>
          <p:cNvSpPr/>
          <p:nvPr/>
        </p:nvSpPr>
        <p:spPr>
          <a:xfrm>
            <a:off x="2514600" y="3273552"/>
            <a:ext cx="1883664" cy="93268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Dev, staging, and production environments are guaranteed identical — deployed from same template with different params.</a:t>
            </a:r>
            <a:endParaRPr lang="en-US" sz="950" dirty="0"/>
          </a:p>
        </p:txBody>
      </p:sp>
      <p:sp>
        <p:nvSpPr>
          <p:cNvPr id="26" name="Shape 24"/>
          <p:cNvSpPr/>
          <p:nvPr/>
        </p:nvSpPr>
        <p:spPr>
          <a:xfrm>
            <a:off x="4581144" y="2871216"/>
            <a:ext cx="2084832" cy="14447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581144" y="2871216"/>
            <a:ext cx="2084832" cy="64008"/>
          </a:xfrm>
          <a:prstGeom prst="rect">
            <a:avLst/>
          </a:prstGeom>
          <a:solidFill>
            <a:srgbClr val="E65100"/>
          </a:solidFill>
          <a:ln w="12700">
            <a:solidFill>
              <a:srgbClr val="E65100"/>
            </a:solidFill>
            <a:prstDash val="solid"/>
          </a:ln>
        </p:spPr>
      </p:sp>
      <p:sp>
        <p:nvSpPr>
          <p:cNvPr id="28" name="Text 26"/>
          <p:cNvSpPr/>
          <p:nvPr/>
        </p:nvSpPr>
        <p:spPr>
          <a:xfrm>
            <a:off x="4690872" y="2962656"/>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Repeatability</a:t>
            </a:r>
            <a:endParaRPr lang="en-US" sz="1200" dirty="0"/>
          </a:p>
        </p:txBody>
      </p:sp>
      <p:sp>
        <p:nvSpPr>
          <p:cNvPr id="29" name="Text 27"/>
          <p:cNvSpPr/>
          <p:nvPr/>
        </p:nvSpPr>
        <p:spPr>
          <a:xfrm>
            <a:off x="4690872" y="3273552"/>
            <a:ext cx="1883664" cy="93268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New environment? Re-deploy template in 5 minutes. Disaster recovery in another region? 10 minutes.</a:t>
            </a:r>
            <a:endParaRPr lang="en-US" sz="950" dirty="0"/>
          </a:p>
        </p:txBody>
      </p:sp>
      <p:sp>
        <p:nvSpPr>
          <p:cNvPr id="30" name="Shape 28"/>
          <p:cNvSpPr/>
          <p:nvPr/>
        </p:nvSpPr>
        <p:spPr>
          <a:xfrm>
            <a:off x="6757416" y="2871216"/>
            <a:ext cx="2084832" cy="14447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6757416" y="2871216"/>
            <a:ext cx="2084832" cy="64008"/>
          </a:xfrm>
          <a:prstGeom prst="rect">
            <a:avLst/>
          </a:prstGeom>
          <a:solidFill>
            <a:srgbClr val="6D28D9"/>
          </a:solidFill>
          <a:ln w="12700">
            <a:solidFill>
              <a:srgbClr val="6D28D9"/>
            </a:solidFill>
            <a:prstDash val="solid"/>
          </a:ln>
        </p:spPr>
      </p:sp>
      <p:sp>
        <p:nvSpPr>
          <p:cNvPr id="32" name="Text 30"/>
          <p:cNvSpPr/>
          <p:nvPr/>
        </p:nvSpPr>
        <p:spPr>
          <a:xfrm>
            <a:off x="6867144" y="2962656"/>
            <a:ext cx="188366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Auditability</a:t>
            </a:r>
            <a:endParaRPr lang="en-US" sz="1200" dirty="0"/>
          </a:p>
        </p:txBody>
      </p:sp>
      <p:sp>
        <p:nvSpPr>
          <p:cNvPr id="33" name="Text 31"/>
          <p:cNvSpPr/>
          <p:nvPr/>
        </p:nvSpPr>
        <p:spPr>
          <a:xfrm>
            <a:off x="6867144" y="3273552"/>
            <a:ext cx="1883664" cy="93268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IaC lives in Git. Every change tracked: who, when, why. Infrastructure audit trail — compliance teams rejoice.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IaC</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Bicep — Modern Infrastructure as Code for Azure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Bicep compiles to ARM JSON — same engine, same power, dramatically cleaner syntax. Microsoft's official IaC recommendation.</a:t>
            </a:r>
            <a:endParaRPr lang="en-US" sz="1050" dirty="0"/>
          </a:p>
        </p:txBody>
      </p:sp>
      <p:sp>
        <p:nvSpPr>
          <p:cNvPr id="10" name="Text 8"/>
          <p:cNvSpPr/>
          <p:nvPr/>
        </p:nvSpPr>
        <p:spPr>
          <a:xfrm>
            <a:off x="228600" y="1069848"/>
            <a:ext cx="45720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Bicep File Structure — MediCare Infrastructure</a:t>
            </a:r>
            <a:endParaRPr lang="en-US" sz="1200" dirty="0"/>
          </a:p>
        </p:txBody>
      </p:sp>
      <p:sp>
        <p:nvSpPr>
          <p:cNvPr id="11" name="Shape 9"/>
          <p:cNvSpPr/>
          <p:nvPr/>
        </p:nvSpPr>
        <p:spPr>
          <a:xfrm>
            <a:off x="228600" y="1389888"/>
            <a:ext cx="4572000" cy="3337560"/>
          </a:xfrm>
          <a:prstGeom prst="rect">
            <a:avLst/>
          </a:prstGeom>
          <a:solidFill>
            <a:srgbClr val="0D1117"/>
          </a:solidFill>
          <a:ln w="19050">
            <a:solidFill>
              <a:srgbClr val="00ACC1"/>
            </a:solidFill>
            <a:prstDash val="solid"/>
          </a:ln>
        </p:spPr>
      </p:sp>
      <p:sp>
        <p:nvSpPr>
          <p:cNvPr id="12" name="Text 10"/>
          <p:cNvSpPr/>
          <p:nvPr/>
        </p:nvSpPr>
        <p:spPr>
          <a:xfrm>
            <a:off x="320040" y="1435608"/>
            <a:ext cx="4389120" cy="324612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PARAMETERS — inputs (like function arguments)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@description('Environment: dev, staging, prod')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@allowed(['dev', 'staging', 'prod'])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param environment string = 'dev'</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@secure()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param sqlAdminPassword string</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VARIABLES — computed values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var appName = 'medicare-api-${environment}'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var isProd = environment == 'prod'</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RESOURCES — actual Azure services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resource appServicePlan 'Microsoft.Web/serverfarms@2022-03-01' =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'medicare-asp-${environment}'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location: resourceGroup().location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sku: { name: isProd ? 'S2' : 'B1' }  // ← Env-aware sizing!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kind: 'linux'</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properties: { reserved: true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resource webApp 'Microsoft.Web/sites@2022-03-01' =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appName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location: resourceGroup().location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properties: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serverFarmId: appServicePlan.id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siteConfig: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linuxFxVersion: 'JAVA|17-java17'</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alwaysOn: isProd   // ← Warm in prod, cold in dev</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httpsOnly: true    // ← HTTPS enforced always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OUTPUTS — returned values after deployment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output webAppUrl string = 'https://${webApp.properties.defaultHostName}'</a:t>
            </a:r>
            <a:endParaRPr lang="en-US" sz="850" dirty="0"/>
          </a:p>
        </p:txBody>
      </p:sp>
      <p:sp>
        <p:nvSpPr>
          <p:cNvPr id="13" name="Text 11"/>
          <p:cNvSpPr/>
          <p:nvPr/>
        </p:nvSpPr>
        <p:spPr>
          <a:xfrm>
            <a:off x="4983480" y="1069848"/>
            <a:ext cx="393192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Deploy Command</a:t>
            </a:r>
            <a:endParaRPr lang="en-US" sz="1200" dirty="0"/>
          </a:p>
        </p:txBody>
      </p:sp>
      <p:sp>
        <p:nvSpPr>
          <p:cNvPr id="14" name="Shape 12"/>
          <p:cNvSpPr/>
          <p:nvPr/>
        </p:nvSpPr>
        <p:spPr>
          <a:xfrm>
            <a:off x="4983480" y="1389888"/>
            <a:ext cx="3931920" cy="1554480"/>
          </a:xfrm>
          <a:prstGeom prst="rect">
            <a:avLst/>
          </a:prstGeom>
          <a:solidFill>
            <a:srgbClr val="0D1117"/>
          </a:solidFill>
          <a:ln w="19050">
            <a:solidFill>
              <a:srgbClr val="00ACC1"/>
            </a:solidFill>
            <a:prstDash val="solid"/>
          </a:ln>
        </p:spPr>
      </p:sp>
      <p:sp>
        <p:nvSpPr>
          <p:cNvPr id="15" name="Text 13"/>
          <p:cNvSpPr/>
          <p:nvPr/>
        </p:nvSpPr>
        <p:spPr>
          <a:xfrm>
            <a:off x="5074920" y="1435608"/>
            <a:ext cx="3749040" cy="146304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Preview BEFORE applying (what-if)</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deployment group what-if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--template-file main.bicep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--parameters environment=prod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sqlAdminPassword=$SQL_PWD</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Apply the template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deployment group create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--template-file main.bicep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--parameters environment=prod</a:t>
            </a:r>
            <a:endParaRPr lang="en-US" sz="850" dirty="0"/>
          </a:p>
        </p:txBody>
      </p:sp>
      <p:sp>
        <p:nvSpPr>
          <p:cNvPr id="16" name="Text 14"/>
          <p:cNvSpPr/>
          <p:nvPr/>
        </p:nvSpPr>
        <p:spPr>
          <a:xfrm>
            <a:off x="4983480" y="3017520"/>
            <a:ext cx="393192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Architectural Decisions in Bicep</a:t>
            </a:r>
            <a:endParaRPr lang="en-US" sz="1200" dirty="0"/>
          </a:p>
        </p:txBody>
      </p:sp>
      <p:sp>
        <p:nvSpPr>
          <p:cNvPr id="17" name="Text 15"/>
          <p:cNvSpPr/>
          <p:nvPr/>
        </p:nvSpPr>
        <p:spPr>
          <a:xfrm>
            <a:off x="4983480" y="3328416"/>
            <a:ext cx="3931920" cy="1417320"/>
          </a:xfrm>
          <a:prstGeom prst="rect">
            <a:avLst/>
          </a:prstGeom>
          <a:noFill/>
          <a:ln/>
        </p:spPr>
        <p:txBody>
          <a:bodyPr wrap="square" rtlCol="0" anchor="t"/>
          <a:lstStyle/>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env == 'prod' ? 'S2' : 'B1' — Environment-aware sizing saves dev costs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httpsOnly: true — Security enforced at platform level, not app code</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@secure() on passwords — Never logged, never shown in portal history</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alwaysOn based on env — Warm in prod (no cold starts for patients)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commonTags applied to all resources — Governance built-in from day one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Networking &amp; Security</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Virtual Networks — Drawing the Security Boundary</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VNet = your private, isolated network inside Azure. Resources inside VNet can communicate. Internet access is explicit and controlled.</a:t>
            </a:r>
            <a:endParaRPr lang="en-US" sz="1050" dirty="0"/>
          </a:p>
        </p:txBody>
      </p:sp>
      <p:sp>
        <p:nvSpPr>
          <p:cNvPr id="10" name="Shape 8"/>
          <p:cNvSpPr/>
          <p:nvPr/>
        </p:nvSpPr>
        <p:spPr>
          <a:xfrm>
            <a:off x="201168" y="1069848"/>
            <a:ext cx="4572000" cy="3611880"/>
          </a:xfrm>
          <a:prstGeom prst="rect">
            <a:avLst/>
          </a:prstGeom>
          <a:solidFill>
            <a:srgbClr val="F0F4FF"/>
          </a:solidFill>
          <a:ln w="19050">
            <a:solidFill>
              <a:srgbClr val="1565C0"/>
            </a:solidFill>
            <a:prstDash val="solid"/>
          </a:ln>
        </p:spPr>
      </p:sp>
      <p:sp>
        <p:nvSpPr>
          <p:cNvPr id="11" name="Text 9"/>
          <p:cNvSpPr/>
          <p:nvPr/>
        </p:nvSpPr>
        <p:spPr>
          <a:xfrm>
            <a:off x="292608" y="1097280"/>
            <a:ext cx="4389120" cy="292608"/>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MediCare VNet  10.0.0.0/16</a:t>
            </a:r>
            <a:endParaRPr lang="en-US" sz="1100" dirty="0"/>
          </a:p>
        </p:txBody>
      </p:sp>
      <p:sp>
        <p:nvSpPr>
          <p:cNvPr id="12" name="Shape 10"/>
          <p:cNvSpPr/>
          <p:nvPr/>
        </p:nvSpPr>
        <p:spPr>
          <a:xfrm>
            <a:off x="411480" y="1444752"/>
            <a:ext cx="4160520" cy="475488"/>
          </a:xfrm>
          <a:prstGeom prst="rect">
            <a:avLst/>
          </a:prstGeom>
          <a:solidFill>
            <a:srgbClr val="1565C0"/>
          </a:solidFill>
          <a:ln w="12700">
            <a:solidFill>
              <a:srgbClr val="1565C0"/>
            </a:solidFill>
            <a:prstDash val="solid"/>
          </a:ln>
        </p:spPr>
      </p:sp>
      <p:sp>
        <p:nvSpPr>
          <p:cNvPr id="13" name="Text 11"/>
          <p:cNvSpPr/>
          <p:nvPr/>
        </p:nvSpPr>
        <p:spPr>
          <a:xfrm>
            <a:off x="548640" y="1463040"/>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Frontend Subnet  10.0.1.0/24</a:t>
            </a:r>
            <a:endParaRPr lang="en-US" sz="1000" dirty="0"/>
          </a:p>
        </p:txBody>
      </p:sp>
      <p:sp>
        <p:nvSpPr>
          <p:cNvPr id="14" name="Text 12"/>
          <p:cNvSpPr/>
          <p:nvPr/>
        </p:nvSpPr>
        <p:spPr>
          <a:xfrm>
            <a:off x="548640" y="1700784"/>
            <a:ext cx="274320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App Service Integration</a:t>
            </a:r>
            <a:endParaRPr lang="en-US" sz="850" dirty="0"/>
          </a:p>
        </p:txBody>
      </p:sp>
      <p:sp>
        <p:nvSpPr>
          <p:cNvPr id="15" name="Shape 13"/>
          <p:cNvSpPr/>
          <p:nvPr/>
        </p:nvSpPr>
        <p:spPr>
          <a:xfrm>
            <a:off x="411480" y="2029968"/>
            <a:ext cx="4160520" cy="475488"/>
          </a:xfrm>
          <a:prstGeom prst="rect">
            <a:avLst/>
          </a:prstGeom>
          <a:solidFill>
            <a:srgbClr val="00897B"/>
          </a:solidFill>
          <a:ln w="12700">
            <a:solidFill>
              <a:srgbClr val="00897B"/>
            </a:solidFill>
            <a:prstDash val="solid"/>
          </a:ln>
        </p:spPr>
      </p:sp>
      <p:sp>
        <p:nvSpPr>
          <p:cNvPr id="16" name="Text 14"/>
          <p:cNvSpPr/>
          <p:nvPr/>
        </p:nvSpPr>
        <p:spPr>
          <a:xfrm>
            <a:off x="548640" y="2048256"/>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Backend Subnet  10.0.2.0/24</a:t>
            </a:r>
            <a:endParaRPr lang="en-US" sz="1000" dirty="0"/>
          </a:p>
        </p:txBody>
      </p:sp>
      <p:sp>
        <p:nvSpPr>
          <p:cNvPr id="17" name="Text 15"/>
          <p:cNvSpPr/>
          <p:nvPr/>
        </p:nvSpPr>
        <p:spPr>
          <a:xfrm>
            <a:off x="548640" y="2286000"/>
            <a:ext cx="274320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Internal APIs</a:t>
            </a:r>
            <a:endParaRPr lang="en-US" sz="850" dirty="0"/>
          </a:p>
        </p:txBody>
      </p:sp>
      <p:sp>
        <p:nvSpPr>
          <p:cNvPr id="18" name="Shape 16"/>
          <p:cNvSpPr/>
          <p:nvPr/>
        </p:nvSpPr>
        <p:spPr>
          <a:xfrm>
            <a:off x="411480" y="2615184"/>
            <a:ext cx="4160520" cy="475488"/>
          </a:xfrm>
          <a:prstGeom prst="rect">
            <a:avLst/>
          </a:prstGeom>
          <a:solidFill>
            <a:srgbClr val="1A237E"/>
          </a:solidFill>
          <a:ln w="12700">
            <a:solidFill>
              <a:srgbClr val="1A237E"/>
            </a:solidFill>
            <a:prstDash val="solid"/>
          </a:ln>
        </p:spPr>
      </p:sp>
      <p:sp>
        <p:nvSpPr>
          <p:cNvPr id="19" name="Text 17"/>
          <p:cNvSpPr/>
          <p:nvPr/>
        </p:nvSpPr>
        <p:spPr>
          <a:xfrm>
            <a:off x="548640" y="2633472"/>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Database Subnet  10.0.3.0/24</a:t>
            </a:r>
            <a:endParaRPr lang="en-US" sz="1000" dirty="0"/>
          </a:p>
        </p:txBody>
      </p:sp>
      <p:sp>
        <p:nvSpPr>
          <p:cNvPr id="20" name="Text 18"/>
          <p:cNvSpPr/>
          <p:nvPr/>
        </p:nvSpPr>
        <p:spPr>
          <a:xfrm>
            <a:off x="548640" y="2871216"/>
            <a:ext cx="274320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SQL Private Endpoint</a:t>
            </a:r>
            <a:endParaRPr lang="en-US" sz="850" dirty="0"/>
          </a:p>
        </p:txBody>
      </p:sp>
      <p:sp>
        <p:nvSpPr>
          <p:cNvPr id="21" name="Shape 19"/>
          <p:cNvSpPr/>
          <p:nvPr/>
        </p:nvSpPr>
        <p:spPr>
          <a:xfrm>
            <a:off x="411480" y="3200400"/>
            <a:ext cx="4160520" cy="475488"/>
          </a:xfrm>
          <a:prstGeom prst="rect">
            <a:avLst/>
          </a:prstGeom>
          <a:solidFill>
            <a:srgbClr val="64748B"/>
          </a:solidFill>
          <a:ln w="12700">
            <a:solidFill>
              <a:srgbClr val="64748B"/>
            </a:solidFill>
            <a:prstDash val="solid"/>
          </a:ln>
        </p:spPr>
      </p:sp>
      <p:sp>
        <p:nvSpPr>
          <p:cNvPr id="22" name="Text 20"/>
          <p:cNvSpPr/>
          <p:nvPr/>
        </p:nvSpPr>
        <p:spPr>
          <a:xfrm>
            <a:off x="548640" y="3218688"/>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Mgmt Subnet  10.0.4.0/24</a:t>
            </a:r>
            <a:endParaRPr lang="en-US" sz="1000" dirty="0"/>
          </a:p>
        </p:txBody>
      </p:sp>
      <p:sp>
        <p:nvSpPr>
          <p:cNvPr id="23" name="Text 21"/>
          <p:cNvSpPr/>
          <p:nvPr/>
        </p:nvSpPr>
        <p:spPr>
          <a:xfrm>
            <a:off x="548640" y="3456432"/>
            <a:ext cx="274320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Admin Tools, Bastion</a:t>
            </a:r>
            <a:endParaRPr lang="en-US" sz="850" dirty="0"/>
          </a:p>
        </p:txBody>
      </p:sp>
      <p:sp>
        <p:nvSpPr>
          <p:cNvPr id="24" name="Text 22"/>
          <p:cNvSpPr/>
          <p:nvPr/>
        </p:nvSpPr>
        <p:spPr>
          <a:xfrm>
            <a:off x="4983480" y="1069848"/>
            <a:ext cx="393192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Network Security Groups (NSGs)</a:t>
            </a:r>
            <a:endParaRPr lang="en-US" sz="1200" dirty="0"/>
          </a:p>
        </p:txBody>
      </p:sp>
      <p:sp>
        <p:nvSpPr>
          <p:cNvPr id="25" name="Shape 23"/>
          <p:cNvSpPr/>
          <p:nvPr/>
        </p:nvSpPr>
        <p:spPr>
          <a:xfrm>
            <a:off x="4983480" y="1389888"/>
            <a:ext cx="3931920" cy="1554480"/>
          </a:xfrm>
          <a:prstGeom prst="rect">
            <a:avLst/>
          </a:prstGeom>
          <a:solidFill>
            <a:srgbClr val="0D1117"/>
          </a:solidFill>
          <a:ln w="19050">
            <a:solidFill>
              <a:srgbClr val="00ACC1"/>
            </a:solidFill>
            <a:prstDash val="solid"/>
          </a:ln>
        </p:spPr>
      </p:sp>
      <p:sp>
        <p:nvSpPr>
          <p:cNvPr id="26" name="Text 24"/>
          <p:cNvSpPr/>
          <p:nvPr/>
        </p:nvSpPr>
        <p:spPr>
          <a:xfrm>
            <a:off x="5074920" y="1435608"/>
            <a:ext cx="3749040" cy="146304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NSG Rule: Only backend subnet → SQL (port 1433)</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Priority 100 | Source: backend-subnet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Destination: database-subnet | Port: 1433 | ALLOW</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Priority 4096 | Any → Any | DENY (default deny all)</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network nsg rule create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AllowBackendToSQL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--nsg-name medicare-db-nsg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--priority 100 --direction Inbound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--source-address-prefix 10.0.2.0/24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--destination-port-ranges 1433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--access Allow</a:t>
            </a:r>
            <a:endParaRPr lang="en-US" sz="850" dirty="0"/>
          </a:p>
        </p:txBody>
      </p:sp>
      <p:sp>
        <p:nvSpPr>
          <p:cNvPr id="27" name="Text 25"/>
          <p:cNvSpPr/>
          <p:nvPr/>
        </p:nvSpPr>
        <p:spPr>
          <a:xfrm>
            <a:off x="4983480" y="3017520"/>
            <a:ext cx="393192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Private Endpoints — Gold Standard</a:t>
            </a:r>
            <a:endParaRPr lang="en-US" sz="1200" dirty="0"/>
          </a:p>
        </p:txBody>
      </p:sp>
      <p:sp>
        <p:nvSpPr>
          <p:cNvPr id="28" name="Shape 26"/>
          <p:cNvSpPr/>
          <p:nvPr/>
        </p:nvSpPr>
        <p:spPr>
          <a:xfrm>
            <a:off x="4983480" y="3328416"/>
            <a:ext cx="3931920" cy="1353312"/>
          </a:xfrm>
          <a:prstGeom prst="rect">
            <a:avLst/>
          </a:prstGeom>
          <a:solidFill>
            <a:srgbClr val="E8F5E9"/>
          </a:solidFill>
          <a:ln w="12700">
            <a:solidFill>
              <a:srgbClr val="43A047"/>
            </a:solidFill>
            <a:prstDash val="solid"/>
          </a:ln>
        </p:spPr>
      </p:sp>
      <p:sp>
        <p:nvSpPr>
          <p:cNvPr id="29" name="Text 27"/>
          <p:cNvSpPr/>
          <p:nvPr/>
        </p:nvSpPr>
        <p:spPr>
          <a:xfrm>
            <a:off x="5074920" y="3346704"/>
            <a:ext cx="3749040" cy="1307592"/>
          </a:xfrm>
          <a:prstGeom prst="rect">
            <a:avLst/>
          </a:prstGeom>
          <a:noFill/>
          <a:ln/>
        </p:spPr>
        <p:txBody>
          <a:bodyPr wrap="square" rtlCol="0" anchor="t"/>
          <a:lstStyle/>
          <a:p>
            <a:pPr marL="342900" indent="-342900">
              <a:spcAft>
                <a:spcPts val="700"/>
              </a:spcAft>
              <a:buSzPct val="100000"/>
              <a:buChar char="•"/>
            </a:pPr>
            <a:r>
              <a:rPr lang="en-US" sz="950" dirty="0">
                <a:solidFill>
                  <a:srgbClr val="1B5E20"/>
                </a:solidFill>
                <a:latin typeface="Calibri" pitchFamily="34" charset="0"/>
                <a:ea typeface="Calibri" pitchFamily="34" charset="-122"/>
                <a:cs typeface="Calibri" pitchFamily="34" charset="-120"/>
              </a:rPr>
              <a:t>WITHOUT Private Endpoint: Database accessible via public URL (firewalled, but exists publicly)</a:t>
            </a:r>
            <a:endParaRPr lang="en-US" sz="950" dirty="0"/>
          </a:p>
          <a:p>
            <a:pPr marL="342900" indent="-342900">
              <a:spcAft>
                <a:spcPts val="700"/>
              </a:spcAft>
              <a:buSzPct val="100000"/>
              <a:buChar char="•"/>
            </a:pPr>
            <a:r>
              <a:rPr lang="en-US" sz="950" dirty="0">
                <a:solidFill>
                  <a:srgbClr val="1B5E20"/>
                </a:solidFill>
                <a:latin typeface="Calibri" pitchFamily="34" charset="0"/>
                <a:ea typeface="Calibri" pitchFamily="34" charset="-122"/>
                <a:cs typeface="Calibri" pitchFamily="34" charset="-120"/>
              </a:rPr>
              <a:t>WITH Private Endpoint: Database gets private IP 10.0.3.5 — no public endpoint exists at all</a:t>
            </a:r>
            <a:endParaRPr lang="en-US" sz="950" dirty="0"/>
          </a:p>
          <a:p>
            <a:pPr marL="342900" indent="-342900">
              <a:spcAft>
                <a:spcPts val="700"/>
              </a:spcAft>
              <a:buSzPct val="100000"/>
              <a:buChar char="•"/>
            </a:pPr>
            <a:r>
              <a:rPr lang="en-US" sz="950" dirty="0">
                <a:solidFill>
                  <a:srgbClr val="1B5E20"/>
                </a:solidFill>
                <a:latin typeface="Calibri" pitchFamily="34" charset="0"/>
                <a:ea typeface="Calibri" pitchFamily="34" charset="-122"/>
                <a:cs typeface="Calibri" pitchFamily="34" charset="-120"/>
              </a:rPr>
              <a:t>Internet cannot reach your SQL database under ANY circumstance</a:t>
            </a:r>
            <a:endParaRPr lang="en-US" sz="950" dirty="0"/>
          </a:p>
          <a:p>
            <a:pPr marL="342900" indent="-342900">
              <a:spcAft>
                <a:spcPts val="700"/>
              </a:spcAft>
              <a:buSzPct val="100000"/>
              <a:buChar char="•"/>
            </a:pPr>
            <a:r>
              <a:rPr lang="en-US" sz="950" dirty="0">
                <a:solidFill>
                  <a:srgbClr val="1B5E20"/>
                </a:solidFill>
                <a:latin typeface="Calibri" pitchFamily="34" charset="0"/>
                <a:ea typeface="Calibri" pitchFamily="34" charset="-122"/>
                <a:cs typeface="Calibri" pitchFamily="34" charset="-120"/>
              </a:rPr>
              <a:t>For MediCare: Patient data compliance requires Private Endpoints — non-negotiable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Security</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Defense in Depth — 8-Layer Security Architecture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 senior Azure architect never relies on a single security control. Layer multiple defenses — if one fails, others catch it.</a:t>
            </a:r>
            <a:endParaRPr lang="en-US" sz="1050" dirty="0"/>
          </a:p>
        </p:txBody>
      </p:sp>
      <p:sp>
        <p:nvSpPr>
          <p:cNvPr id="10" name="Shape 8"/>
          <p:cNvSpPr/>
          <p:nvPr/>
        </p:nvSpPr>
        <p:spPr>
          <a:xfrm>
            <a:off x="201168" y="1069848"/>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01168" y="1069848"/>
            <a:ext cx="2084832" cy="384048"/>
          </a:xfrm>
          <a:prstGeom prst="rect">
            <a:avLst/>
          </a:prstGeom>
          <a:solidFill>
            <a:srgbClr val="B71C1C"/>
          </a:solidFill>
          <a:ln w="12700">
            <a:solidFill>
              <a:srgbClr val="B71C1C"/>
            </a:solidFill>
            <a:prstDash val="solid"/>
          </a:ln>
        </p:spPr>
      </p:sp>
      <p:sp>
        <p:nvSpPr>
          <p:cNvPr id="12" name="Text 10"/>
          <p:cNvSpPr/>
          <p:nvPr/>
        </p:nvSpPr>
        <p:spPr>
          <a:xfrm>
            <a:off x="292608" y="1088136"/>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1</a:t>
            </a:r>
            <a:endParaRPr lang="en-US" sz="800" dirty="0"/>
          </a:p>
        </p:txBody>
      </p:sp>
      <p:sp>
        <p:nvSpPr>
          <p:cNvPr id="13" name="Text 11"/>
          <p:cNvSpPr/>
          <p:nvPr/>
        </p:nvSpPr>
        <p:spPr>
          <a:xfrm>
            <a:off x="292608" y="1252728"/>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Azure DDoS Protection</a:t>
            </a:r>
            <a:endParaRPr lang="en-US" sz="950" dirty="0"/>
          </a:p>
        </p:txBody>
      </p:sp>
      <p:sp>
        <p:nvSpPr>
          <p:cNvPr id="14" name="Text 12"/>
          <p:cNvSpPr/>
          <p:nvPr/>
        </p:nvSpPr>
        <p:spPr>
          <a:xfrm>
            <a:off x="292608" y="1508760"/>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Blocks volumetric attacks at network edge — outside your environment</a:t>
            </a:r>
            <a:endParaRPr lang="en-US" sz="900" dirty="0"/>
          </a:p>
        </p:txBody>
      </p:sp>
      <p:sp>
        <p:nvSpPr>
          <p:cNvPr id="15" name="Shape 13"/>
          <p:cNvSpPr/>
          <p:nvPr/>
        </p:nvSpPr>
        <p:spPr>
          <a:xfrm>
            <a:off x="2395728" y="1069848"/>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395728" y="1069848"/>
            <a:ext cx="2084832" cy="384048"/>
          </a:xfrm>
          <a:prstGeom prst="rect">
            <a:avLst/>
          </a:prstGeom>
          <a:solidFill>
            <a:srgbClr val="E65100"/>
          </a:solidFill>
          <a:ln w="12700">
            <a:solidFill>
              <a:srgbClr val="E65100"/>
            </a:solidFill>
            <a:prstDash val="solid"/>
          </a:ln>
        </p:spPr>
      </p:sp>
      <p:sp>
        <p:nvSpPr>
          <p:cNvPr id="17" name="Text 15"/>
          <p:cNvSpPr/>
          <p:nvPr/>
        </p:nvSpPr>
        <p:spPr>
          <a:xfrm>
            <a:off x="2487168" y="1088136"/>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2</a:t>
            </a:r>
            <a:endParaRPr lang="en-US" sz="800" dirty="0"/>
          </a:p>
        </p:txBody>
      </p:sp>
      <p:sp>
        <p:nvSpPr>
          <p:cNvPr id="18" name="Text 16"/>
          <p:cNvSpPr/>
          <p:nvPr/>
        </p:nvSpPr>
        <p:spPr>
          <a:xfrm>
            <a:off x="2487168" y="1252728"/>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Azure Firewall &amp; NSG</a:t>
            </a:r>
            <a:endParaRPr lang="en-US" sz="950" dirty="0"/>
          </a:p>
        </p:txBody>
      </p:sp>
      <p:sp>
        <p:nvSpPr>
          <p:cNvPr id="19" name="Text 17"/>
          <p:cNvSpPr/>
          <p:nvPr/>
        </p:nvSpPr>
        <p:spPr>
          <a:xfrm>
            <a:off x="2487168" y="1508760"/>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Only allowed ports &amp; IPs can communicate within VNet</a:t>
            </a:r>
            <a:endParaRPr lang="en-US" sz="900" dirty="0"/>
          </a:p>
        </p:txBody>
      </p:sp>
      <p:sp>
        <p:nvSpPr>
          <p:cNvPr id="20" name="Shape 18"/>
          <p:cNvSpPr/>
          <p:nvPr/>
        </p:nvSpPr>
        <p:spPr>
          <a:xfrm>
            <a:off x="4590288" y="1069848"/>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590288" y="1069848"/>
            <a:ext cx="2084832" cy="384048"/>
          </a:xfrm>
          <a:prstGeom prst="rect">
            <a:avLst/>
          </a:prstGeom>
          <a:solidFill>
            <a:srgbClr val="F59E0B"/>
          </a:solidFill>
          <a:ln w="12700">
            <a:solidFill>
              <a:srgbClr val="F59E0B"/>
            </a:solidFill>
            <a:prstDash val="solid"/>
          </a:ln>
        </p:spPr>
      </p:sp>
      <p:sp>
        <p:nvSpPr>
          <p:cNvPr id="22" name="Text 20"/>
          <p:cNvSpPr/>
          <p:nvPr/>
        </p:nvSpPr>
        <p:spPr>
          <a:xfrm>
            <a:off x="4681728" y="1088136"/>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3</a:t>
            </a:r>
            <a:endParaRPr lang="en-US" sz="800" dirty="0"/>
          </a:p>
        </p:txBody>
      </p:sp>
      <p:sp>
        <p:nvSpPr>
          <p:cNvPr id="23" name="Text 21"/>
          <p:cNvSpPr/>
          <p:nvPr/>
        </p:nvSpPr>
        <p:spPr>
          <a:xfrm>
            <a:off x="4681728" y="1252728"/>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Private Endpoints</a:t>
            </a:r>
            <a:endParaRPr lang="en-US" sz="950" dirty="0"/>
          </a:p>
        </p:txBody>
      </p:sp>
      <p:sp>
        <p:nvSpPr>
          <p:cNvPr id="24" name="Text 22"/>
          <p:cNvSpPr/>
          <p:nvPr/>
        </p:nvSpPr>
        <p:spPr>
          <a:xfrm>
            <a:off x="4681728" y="1508760"/>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Database not reachable from internet — private IP only</a:t>
            </a:r>
            <a:endParaRPr lang="en-US" sz="900" dirty="0"/>
          </a:p>
        </p:txBody>
      </p:sp>
      <p:sp>
        <p:nvSpPr>
          <p:cNvPr id="25" name="Shape 23"/>
          <p:cNvSpPr/>
          <p:nvPr/>
        </p:nvSpPr>
        <p:spPr>
          <a:xfrm>
            <a:off x="6784848" y="1069848"/>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784848" y="1069848"/>
            <a:ext cx="2084832" cy="384048"/>
          </a:xfrm>
          <a:prstGeom prst="rect">
            <a:avLst/>
          </a:prstGeom>
          <a:solidFill>
            <a:srgbClr val="43A047"/>
          </a:solidFill>
          <a:ln w="12700">
            <a:solidFill>
              <a:srgbClr val="43A047"/>
            </a:solidFill>
            <a:prstDash val="solid"/>
          </a:ln>
        </p:spPr>
      </p:sp>
      <p:sp>
        <p:nvSpPr>
          <p:cNvPr id="27" name="Text 25"/>
          <p:cNvSpPr/>
          <p:nvPr/>
        </p:nvSpPr>
        <p:spPr>
          <a:xfrm>
            <a:off x="6876288" y="1088136"/>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4</a:t>
            </a:r>
            <a:endParaRPr lang="en-US" sz="800" dirty="0"/>
          </a:p>
        </p:txBody>
      </p:sp>
      <p:sp>
        <p:nvSpPr>
          <p:cNvPr id="28" name="Text 26"/>
          <p:cNvSpPr/>
          <p:nvPr/>
        </p:nvSpPr>
        <p:spPr>
          <a:xfrm>
            <a:off x="6876288" y="1252728"/>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App Authentication</a:t>
            </a:r>
            <a:endParaRPr lang="en-US" sz="950" dirty="0"/>
          </a:p>
        </p:txBody>
      </p:sp>
      <p:sp>
        <p:nvSpPr>
          <p:cNvPr id="29" name="Text 27"/>
          <p:cNvSpPr/>
          <p:nvPr/>
        </p:nvSpPr>
        <p:spPr>
          <a:xfrm>
            <a:off x="6876288" y="1508760"/>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JWT tokens required &amp; validated for every API call</a:t>
            </a:r>
            <a:endParaRPr lang="en-US" sz="900" dirty="0"/>
          </a:p>
        </p:txBody>
      </p:sp>
      <p:sp>
        <p:nvSpPr>
          <p:cNvPr id="30" name="Shape 28"/>
          <p:cNvSpPr/>
          <p:nvPr/>
        </p:nvSpPr>
        <p:spPr>
          <a:xfrm>
            <a:off x="201168" y="2606040"/>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201168" y="2606040"/>
            <a:ext cx="2084832" cy="384048"/>
          </a:xfrm>
          <a:prstGeom prst="rect">
            <a:avLst/>
          </a:prstGeom>
          <a:solidFill>
            <a:srgbClr val="00897B"/>
          </a:solidFill>
          <a:ln w="12700">
            <a:solidFill>
              <a:srgbClr val="00897B"/>
            </a:solidFill>
            <a:prstDash val="solid"/>
          </a:ln>
        </p:spPr>
      </p:sp>
      <p:sp>
        <p:nvSpPr>
          <p:cNvPr id="32" name="Text 30"/>
          <p:cNvSpPr/>
          <p:nvPr/>
        </p:nvSpPr>
        <p:spPr>
          <a:xfrm>
            <a:off x="292608" y="2624328"/>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5</a:t>
            </a:r>
            <a:endParaRPr lang="en-US" sz="800" dirty="0"/>
          </a:p>
        </p:txBody>
      </p:sp>
      <p:sp>
        <p:nvSpPr>
          <p:cNvPr id="33" name="Text 31"/>
          <p:cNvSpPr/>
          <p:nvPr/>
        </p:nvSpPr>
        <p:spPr>
          <a:xfrm>
            <a:off x="292608" y="2788920"/>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Azure SQL Firewall</a:t>
            </a:r>
            <a:endParaRPr lang="en-US" sz="950" dirty="0"/>
          </a:p>
        </p:txBody>
      </p:sp>
      <p:sp>
        <p:nvSpPr>
          <p:cNvPr id="34" name="Text 32"/>
          <p:cNvSpPr/>
          <p:nvPr/>
        </p:nvSpPr>
        <p:spPr>
          <a:xfrm>
            <a:off x="292608" y="3044952"/>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Additional IP-based filtering at database layer</a:t>
            </a:r>
            <a:endParaRPr lang="en-US" sz="900" dirty="0"/>
          </a:p>
        </p:txBody>
      </p:sp>
      <p:sp>
        <p:nvSpPr>
          <p:cNvPr id="35" name="Shape 33"/>
          <p:cNvSpPr/>
          <p:nvPr/>
        </p:nvSpPr>
        <p:spPr>
          <a:xfrm>
            <a:off x="2395728" y="2606040"/>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2395728" y="2606040"/>
            <a:ext cx="2084832" cy="384048"/>
          </a:xfrm>
          <a:prstGeom prst="rect">
            <a:avLst/>
          </a:prstGeom>
          <a:solidFill>
            <a:srgbClr val="1565C0"/>
          </a:solidFill>
          <a:ln w="12700">
            <a:solidFill>
              <a:srgbClr val="1565C0"/>
            </a:solidFill>
            <a:prstDash val="solid"/>
          </a:ln>
        </p:spPr>
      </p:sp>
      <p:sp>
        <p:nvSpPr>
          <p:cNvPr id="37" name="Text 35"/>
          <p:cNvSpPr/>
          <p:nvPr/>
        </p:nvSpPr>
        <p:spPr>
          <a:xfrm>
            <a:off x="2487168" y="2624328"/>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6</a:t>
            </a:r>
            <a:endParaRPr lang="en-US" sz="800" dirty="0"/>
          </a:p>
        </p:txBody>
      </p:sp>
      <p:sp>
        <p:nvSpPr>
          <p:cNvPr id="38" name="Text 36"/>
          <p:cNvSpPr/>
          <p:nvPr/>
        </p:nvSpPr>
        <p:spPr>
          <a:xfrm>
            <a:off x="2487168" y="2788920"/>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TDE Encryption</a:t>
            </a:r>
            <a:endParaRPr lang="en-US" sz="950" dirty="0"/>
          </a:p>
        </p:txBody>
      </p:sp>
      <p:sp>
        <p:nvSpPr>
          <p:cNvPr id="39" name="Text 37"/>
          <p:cNvSpPr/>
          <p:nvPr/>
        </p:nvSpPr>
        <p:spPr>
          <a:xfrm>
            <a:off x="2487168" y="3044952"/>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Data encrypted at rest — Transparent Data Encryption always on</a:t>
            </a:r>
            <a:endParaRPr lang="en-US" sz="900" dirty="0"/>
          </a:p>
        </p:txBody>
      </p:sp>
      <p:sp>
        <p:nvSpPr>
          <p:cNvPr id="40" name="Shape 38"/>
          <p:cNvSpPr/>
          <p:nvPr/>
        </p:nvSpPr>
        <p:spPr>
          <a:xfrm>
            <a:off x="4590288" y="2606040"/>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4590288" y="2606040"/>
            <a:ext cx="2084832" cy="384048"/>
          </a:xfrm>
          <a:prstGeom prst="rect">
            <a:avLst/>
          </a:prstGeom>
          <a:solidFill>
            <a:srgbClr val="1A237E"/>
          </a:solidFill>
          <a:ln w="12700">
            <a:solidFill>
              <a:srgbClr val="1A237E"/>
            </a:solidFill>
            <a:prstDash val="solid"/>
          </a:ln>
        </p:spPr>
      </p:sp>
      <p:sp>
        <p:nvSpPr>
          <p:cNvPr id="42" name="Text 40"/>
          <p:cNvSpPr/>
          <p:nvPr/>
        </p:nvSpPr>
        <p:spPr>
          <a:xfrm>
            <a:off x="4681728" y="2624328"/>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7</a:t>
            </a:r>
            <a:endParaRPr lang="en-US" sz="800" dirty="0"/>
          </a:p>
        </p:txBody>
      </p:sp>
      <p:sp>
        <p:nvSpPr>
          <p:cNvPr id="43" name="Text 41"/>
          <p:cNvSpPr/>
          <p:nvPr/>
        </p:nvSpPr>
        <p:spPr>
          <a:xfrm>
            <a:off x="4681728" y="2788920"/>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Azure Key Vault</a:t>
            </a:r>
            <a:endParaRPr lang="en-US" sz="950" dirty="0"/>
          </a:p>
        </p:txBody>
      </p:sp>
      <p:sp>
        <p:nvSpPr>
          <p:cNvPr id="44" name="Text 42"/>
          <p:cNvSpPr/>
          <p:nvPr/>
        </p:nvSpPr>
        <p:spPr>
          <a:xfrm>
            <a:off x="4681728" y="3044952"/>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Credentials never stored in code — accessed via Managed Identity only</a:t>
            </a:r>
            <a:endParaRPr lang="en-US" sz="900" dirty="0"/>
          </a:p>
        </p:txBody>
      </p:sp>
      <p:sp>
        <p:nvSpPr>
          <p:cNvPr id="45" name="Shape 43"/>
          <p:cNvSpPr/>
          <p:nvPr/>
        </p:nvSpPr>
        <p:spPr>
          <a:xfrm>
            <a:off x="6784848" y="2606040"/>
            <a:ext cx="208483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6784848" y="2606040"/>
            <a:ext cx="2084832" cy="384048"/>
          </a:xfrm>
          <a:prstGeom prst="rect">
            <a:avLst/>
          </a:prstGeom>
          <a:solidFill>
            <a:srgbClr val="6D28D9"/>
          </a:solidFill>
          <a:ln w="12700">
            <a:solidFill>
              <a:srgbClr val="6D28D9"/>
            </a:solidFill>
            <a:prstDash val="solid"/>
          </a:ln>
        </p:spPr>
      </p:sp>
      <p:sp>
        <p:nvSpPr>
          <p:cNvPr id="47" name="Text 45"/>
          <p:cNvSpPr/>
          <p:nvPr/>
        </p:nvSpPr>
        <p:spPr>
          <a:xfrm>
            <a:off x="6876288" y="2624328"/>
            <a:ext cx="640080"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Layer 8</a:t>
            </a:r>
            <a:endParaRPr lang="en-US" sz="800" dirty="0"/>
          </a:p>
        </p:txBody>
      </p:sp>
      <p:sp>
        <p:nvSpPr>
          <p:cNvPr id="48" name="Text 46"/>
          <p:cNvSpPr/>
          <p:nvPr/>
        </p:nvSpPr>
        <p:spPr>
          <a:xfrm>
            <a:off x="6876288" y="2788920"/>
            <a:ext cx="190195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Defender for SQL</a:t>
            </a:r>
            <a:endParaRPr lang="en-US" sz="950" dirty="0"/>
          </a:p>
        </p:txBody>
      </p:sp>
      <p:sp>
        <p:nvSpPr>
          <p:cNvPr id="49" name="Text 47"/>
          <p:cNvSpPr/>
          <p:nvPr/>
        </p:nvSpPr>
        <p:spPr>
          <a:xfrm>
            <a:off x="6876288" y="3044952"/>
            <a:ext cx="1901952" cy="89611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Detects SQL injection, anomalous access patterns in real-time</a:t>
            </a:r>
            <a:endParaRPr lang="en-US" sz="900" dirty="0"/>
          </a:p>
        </p:txBody>
      </p:sp>
      <p:sp>
        <p:nvSpPr>
          <p:cNvPr id="50" name="Shape 48"/>
          <p:cNvSpPr/>
          <p:nvPr/>
        </p:nvSpPr>
        <p:spPr>
          <a:xfrm>
            <a:off x="228600" y="4206240"/>
            <a:ext cx="8686800" cy="566928"/>
          </a:xfrm>
          <a:prstGeom prst="rect">
            <a:avLst/>
          </a:prstGeom>
          <a:solidFill>
            <a:srgbClr val="F0F4FF"/>
          </a:solidFill>
          <a:ln w="12700">
            <a:solidFill>
              <a:srgbClr val="1565C0"/>
            </a:solidFill>
            <a:prstDash val="solid"/>
          </a:ln>
        </p:spPr>
      </p:sp>
      <p:sp>
        <p:nvSpPr>
          <p:cNvPr id="51" name="Text 49"/>
          <p:cNvSpPr/>
          <p:nvPr/>
        </p:nvSpPr>
        <p:spPr>
          <a:xfrm>
            <a:off x="320040" y="4224528"/>
            <a:ext cx="8503920" cy="530352"/>
          </a:xfrm>
          <a:prstGeom prst="rect">
            <a:avLst/>
          </a:prstGeom>
          <a:noFill/>
          <a:ln/>
        </p:spPr>
        <p:txBody>
          <a:bodyPr wrap="square" lIns="0" tIns="0" rIns="0" bIns="0" rtlCol="0" anchor="ctr"/>
          <a:lstStyle/>
          <a:p>
            <a:pPr indent="0" marL="0">
              <a:buNone/>
            </a:pPr>
            <a:r>
              <a:rPr lang="en-US" sz="1000" b="1" dirty="0">
                <a:solidFill>
                  <a:srgbClr val="1A237E"/>
                </a:solidFill>
                <a:latin typeface="Calibri" pitchFamily="34" charset="0"/>
                <a:ea typeface="Calibri" pitchFamily="34" charset="-122"/>
                <a:cs typeface="Calibri" pitchFamily="34" charset="-120"/>
              </a:rPr>
              <a:t>An attacker must breach ALL 8 layers to access patient data. This is enterprise healthcare security architecture. Each layer assumes the previous layer has already been breached.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Security</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Key Vault + Managed Identity — Zero-Credential Security</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Key Vault stores 3 types of sensitive objects:</a:t>
            </a:r>
            <a:endParaRPr lang="en-US" sz="1100" dirty="0"/>
          </a:p>
        </p:txBody>
      </p:sp>
      <p:sp>
        <p:nvSpPr>
          <p:cNvPr id="10" name="Shape 8"/>
          <p:cNvSpPr/>
          <p:nvPr/>
        </p:nvSpPr>
        <p:spPr>
          <a:xfrm>
            <a:off x="228600" y="1060704"/>
            <a:ext cx="2834640" cy="914400"/>
          </a:xfrm>
          <a:prstGeom prst="rect">
            <a:avLst/>
          </a:prstGeom>
          <a:solidFill>
            <a:srgbClr val="B71C1C"/>
          </a:solidFill>
          <a:ln w="12700">
            <a:solidFill>
              <a:srgbClr val="B71C1C"/>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47472" y="1078992"/>
            <a:ext cx="2596896" cy="29260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Secrets</a:t>
            </a:r>
            <a:endParaRPr lang="en-US" sz="1400" dirty="0"/>
          </a:p>
        </p:txBody>
      </p:sp>
      <p:sp>
        <p:nvSpPr>
          <p:cNvPr id="12" name="Text 10"/>
          <p:cNvSpPr/>
          <p:nvPr/>
        </p:nvSpPr>
        <p:spPr>
          <a:xfrm>
            <a:off x="347472" y="1389888"/>
            <a:ext cx="2596896" cy="5486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Database passwords, API keys, connection strings, third-party tokens. Accessed at runtime.</a:t>
            </a:r>
            <a:endParaRPr lang="en-US" sz="950" dirty="0"/>
          </a:p>
        </p:txBody>
      </p:sp>
      <p:sp>
        <p:nvSpPr>
          <p:cNvPr id="13" name="Shape 11"/>
          <p:cNvSpPr/>
          <p:nvPr/>
        </p:nvSpPr>
        <p:spPr>
          <a:xfrm>
            <a:off x="3200400" y="1060704"/>
            <a:ext cx="2834640" cy="914400"/>
          </a:xfrm>
          <a:prstGeom prst="rect">
            <a:avLst/>
          </a:prstGeom>
          <a:solidFill>
            <a:srgbClr val="1A237E"/>
          </a:solidFill>
          <a:ln w="12700">
            <a:solidFill>
              <a:srgbClr val="1A237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319272" y="1078992"/>
            <a:ext cx="2596896" cy="29260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Keys</a:t>
            </a:r>
            <a:endParaRPr lang="en-US" sz="1400" dirty="0"/>
          </a:p>
        </p:txBody>
      </p:sp>
      <p:sp>
        <p:nvSpPr>
          <p:cNvPr id="15" name="Text 13"/>
          <p:cNvSpPr/>
          <p:nvPr/>
        </p:nvSpPr>
        <p:spPr>
          <a:xfrm>
            <a:off x="3319272" y="1389888"/>
            <a:ext cx="2596896" cy="5486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Cryptographic keys for encryption. Key material NEVER leaves Key Vault. Your app sends data TO KV.</a:t>
            </a:r>
            <a:endParaRPr lang="en-US" sz="950" dirty="0"/>
          </a:p>
        </p:txBody>
      </p:sp>
      <p:sp>
        <p:nvSpPr>
          <p:cNvPr id="16" name="Shape 14"/>
          <p:cNvSpPr/>
          <p:nvPr/>
        </p:nvSpPr>
        <p:spPr>
          <a:xfrm>
            <a:off x="6172200" y="1060704"/>
            <a:ext cx="2834640" cy="914400"/>
          </a:xfrm>
          <a:prstGeom prst="rect">
            <a:avLst/>
          </a:prstGeom>
          <a:solidFill>
            <a:srgbClr val="00897B"/>
          </a:solidFill>
          <a:ln w="12700">
            <a:solidFill>
              <a:srgbClr val="00897B"/>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291072" y="1078992"/>
            <a:ext cx="2596896" cy="29260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Certificates</a:t>
            </a:r>
            <a:endParaRPr lang="en-US" sz="1400" dirty="0"/>
          </a:p>
        </p:txBody>
      </p:sp>
      <p:sp>
        <p:nvSpPr>
          <p:cNvPr id="18" name="Text 16"/>
          <p:cNvSpPr/>
          <p:nvPr/>
        </p:nvSpPr>
        <p:spPr>
          <a:xfrm>
            <a:off x="6291072" y="1389888"/>
            <a:ext cx="2596896" cy="5486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SSL/TLS certificates with automatic renewal. No manual certificate rotation ever again.</a:t>
            </a:r>
            <a:endParaRPr lang="en-US" sz="950" dirty="0"/>
          </a:p>
        </p:txBody>
      </p:sp>
      <p:sp>
        <p:nvSpPr>
          <p:cNvPr id="19" name="Text 17"/>
          <p:cNvSpPr/>
          <p:nvPr/>
        </p:nvSpPr>
        <p:spPr>
          <a:xfrm>
            <a:off x="228600" y="2084832"/>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Managed Identity — Eliminating the 'Secret Zero' Problem</a:t>
            </a:r>
            <a:endParaRPr lang="en-US" sz="1300" dirty="0"/>
          </a:p>
        </p:txBody>
      </p:sp>
      <p:sp>
        <p:nvSpPr>
          <p:cNvPr id="20" name="Shape 18"/>
          <p:cNvSpPr/>
          <p:nvPr/>
        </p:nvSpPr>
        <p:spPr>
          <a:xfrm>
            <a:off x="228600" y="2414016"/>
            <a:ext cx="4160520" cy="1828800"/>
          </a:xfrm>
          <a:prstGeom prst="rect">
            <a:avLst/>
          </a:prstGeom>
          <a:solidFill>
            <a:srgbClr val="F0F4FF"/>
          </a:solidFill>
          <a:ln w="12700">
            <a:solidFill>
              <a:srgbClr val="1565C0"/>
            </a:solidFill>
            <a:prstDash val="solid"/>
          </a:ln>
        </p:spPr>
      </p:sp>
      <p:sp>
        <p:nvSpPr>
          <p:cNvPr id="21" name="Text 19"/>
          <p:cNvSpPr/>
          <p:nvPr/>
        </p:nvSpPr>
        <p:spPr>
          <a:xfrm>
            <a:off x="320040" y="2432304"/>
            <a:ext cx="3977640" cy="256032"/>
          </a:xfrm>
          <a:prstGeom prst="rect">
            <a:avLst/>
          </a:prstGeom>
          <a:noFill/>
          <a:ln/>
        </p:spPr>
        <p:txBody>
          <a:bodyPr wrap="square" lIns="0" tIns="0" rIns="0" bIns="0" rtlCol="0" anchor="ctr"/>
          <a:lstStyle/>
          <a:p>
            <a:pPr indent="0" marL="0">
              <a:buNone/>
            </a:pPr>
            <a:r>
              <a:rPr lang="en-US" sz="1100" b="1" dirty="0">
                <a:solidFill>
                  <a:srgbClr val="B71C1C"/>
                </a:solidFill>
                <a:latin typeface="Trebuchet MS" pitchFamily="34" charset="0"/>
                <a:ea typeface="Trebuchet MS" pitchFamily="34" charset="-122"/>
                <a:cs typeface="Trebuchet MS" pitchFamily="34" charset="-120"/>
              </a:rPr>
              <a:t>The Old Problem:</a:t>
            </a:r>
            <a:endParaRPr lang="en-US" sz="1100" dirty="0"/>
          </a:p>
        </p:txBody>
      </p:sp>
      <p:sp>
        <p:nvSpPr>
          <p:cNvPr id="22" name="Text 20"/>
          <p:cNvSpPr/>
          <p:nvPr/>
        </p:nvSpPr>
        <p:spPr>
          <a:xfrm>
            <a:off x="320040" y="2706624"/>
            <a:ext cx="3977640" cy="6858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App reads Key Vault → needs credentials to authenticate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Where do you store THOSE credentials?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Back to square one. The 'Secret Zero' paradox.</a:t>
            </a:r>
            <a:endParaRPr lang="en-US" sz="1000" dirty="0"/>
          </a:p>
        </p:txBody>
      </p:sp>
      <p:sp>
        <p:nvSpPr>
          <p:cNvPr id="23" name="Text 21"/>
          <p:cNvSpPr/>
          <p:nvPr/>
        </p:nvSpPr>
        <p:spPr>
          <a:xfrm>
            <a:off x="320040" y="3410712"/>
            <a:ext cx="3977640" cy="256032"/>
          </a:xfrm>
          <a:prstGeom prst="rect">
            <a:avLst/>
          </a:prstGeom>
          <a:noFill/>
          <a:ln/>
        </p:spPr>
        <p:txBody>
          <a:bodyPr wrap="square" lIns="0" tIns="0" rIns="0" bIns="0" rtlCol="0" anchor="ctr"/>
          <a:lstStyle/>
          <a:p>
            <a:pPr indent="0" marL="0">
              <a:buNone/>
            </a:pPr>
            <a:r>
              <a:rPr lang="en-US" sz="1100" b="1" dirty="0">
                <a:solidFill>
                  <a:srgbClr val="1B5E20"/>
                </a:solidFill>
                <a:latin typeface="Trebuchet MS" pitchFamily="34" charset="0"/>
                <a:ea typeface="Trebuchet MS" pitchFamily="34" charset="-122"/>
                <a:cs typeface="Trebuchet MS" pitchFamily="34" charset="-120"/>
              </a:rPr>
              <a:t>Managed Identity Solution:</a:t>
            </a:r>
            <a:endParaRPr lang="en-US" sz="1100" dirty="0"/>
          </a:p>
        </p:txBody>
      </p:sp>
      <p:sp>
        <p:nvSpPr>
          <p:cNvPr id="24" name="Text 22"/>
          <p:cNvSpPr/>
          <p:nvPr/>
        </p:nvSpPr>
        <p:spPr>
          <a:xfrm>
            <a:off x="320040" y="3685032"/>
            <a:ext cx="3977640" cy="52120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Azure issues App Service an 'employee badge' (Managed Identity). Badge is managed by Azure — you never see the password, never rotate it, never store it anywhere. App presents badge to Key Vault automatically.</a:t>
            </a:r>
            <a:endParaRPr lang="en-US" sz="950" dirty="0"/>
          </a:p>
        </p:txBody>
      </p:sp>
      <p:sp>
        <p:nvSpPr>
          <p:cNvPr id="25" name="Text 23"/>
          <p:cNvSpPr/>
          <p:nvPr/>
        </p:nvSpPr>
        <p:spPr>
          <a:xfrm>
            <a:off x="4617720" y="2414016"/>
            <a:ext cx="4297680" cy="256032"/>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Spring Boot Integration:</a:t>
            </a:r>
            <a:endParaRPr lang="en-US" sz="1100" dirty="0"/>
          </a:p>
        </p:txBody>
      </p:sp>
      <p:sp>
        <p:nvSpPr>
          <p:cNvPr id="26" name="Shape 24"/>
          <p:cNvSpPr/>
          <p:nvPr/>
        </p:nvSpPr>
        <p:spPr>
          <a:xfrm>
            <a:off x="4617720" y="2706624"/>
            <a:ext cx="4297680" cy="2029968"/>
          </a:xfrm>
          <a:prstGeom prst="rect">
            <a:avLst/>
          </a:prstGeom>
          <a:solidFill>
            <a:srgbClr val="0D1117"/>
          </a:solidFill>
          <a:ln w="19050">
            <a:solidFill>
              <a:srgbClr val="00ACC1"/>
            </a:solidFill>
            <a:prstDash val="solid"/>
          </a:ln>
        </p:spPr>
      </p:sp>
      <p:sp>
        <p:nvSpPr>
          <p:cNvPr id="27" name="Text 25"/>
          <p:cNvSpPr/>
          <p:nvPr/>
        </p:nvSpPr>
        <p:spPr>
          <a:xfrm>
            <a:off x="4709160" y="2752344"/>
            <a:ext cx="4114800" cy="1938528"/>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1. Enable Managed Identity on App Service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webapp identity assign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medicare-api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2. Grant identity access to Key Vault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keyvault set-policy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medicare-keyvault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--object-id &lt;principalId&gt;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--secret-permissions get list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application.properties (NO actual passwords!)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spring.cloud.azure.keyvault.secret.property-sources\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[0].endpoint=https://medicare-keyvault.vault.azure.net/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spring.datasource.password=${sql-admin-password}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spring.datasource.url=${sql-connection-string}</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Identity &amp; Access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Active Directory &amp; Role-Based Access Control</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Shape 7"/>
          <p:cNvSpPr/>
          <p:nvPr/>
        </p:nvSpPr>
        <p:spPr>
          <a:xfrm>
            <a:off x="228600" y="749808"/>
            <a:ext cx="4251960" cy="1024128"/>
          </a:xfrm>
          <a:prstGeom prst="rect">
            <a:avLst/>
          </a:prstGeom>
          <a:solidFill>
            <a:srgbClr val="DBEAFE"/>
          </a:solidFill>
          <a:ln w="12700">
            <a:solidFill>
              <a:srgbClr val="1565C0"/>
            </a:solidFill>
            <a:prstDash val="solid"/>
          </a:ln>
        </p:spPr>
      </p:sp>
      <p:sp>
        <p:nvSpPr>
          <p:cNvPr id="10" name="Text 8"/>
          <p:cNvSpPr/>
          <p:nvPr/>
        </p:nvSpPr>
        <p:spPr>
          <a:xfrm>
            <a:off x="320040" y="768096"/>
            <a:ext cx="4069080" cy="274320"/>
          </a:xfrm>
          <a:prstGeom prst="rect">
            <a:avLst/>
          </a:prstGeom>
          <a:noFill/>
          <a:ln/>
        </p:spPr>
        <p:txBody>
          <a:bodyPr wrap="square" lIns="0" tIns="0" rIns="0" bIns="0" rtlCol="0" anchor="ctr"/>
          <a:lstStyle/>
          <a:p>
            <a:pPr indent="0" marL="0">
              <a:buNone/>
            </a:pPr>
            <a:r>
              <a:rPr lang="en-US" sz="1400" b="1" dirty="0">
                <a:solidFill>
                  <a:srgbClr val="1565C0"/>
                </a:solidFill>
                <a:latin typeface="Trebuchet MS" pitchFamily="34" charset="0"/>
                <a:ea typeface="Trebuchet MS" pitchFamily="34" charset="-122"/>
                <a:cs typeface="Trebuchet MS" pitchFamily="34" charset="-120"/>
              </a:rPr>
              <a:t>Authentication</a:t>
            </a:r>
            <a:endParaRPr lang="en-US" sz="1400" dirty="0"/>
          </a:p>
        </p:txBody>
      </p:sp>
      <p:sp>
        <p:nvSpPr>
          <p:cNvPr id="11" name="Text 9"/>
          <p:cNvSpPr/>
          <p:nvPr/>
        </p:nvSpPr>
        <p:spPr>
          <a:xfrm>
            <a:off x="320040" y="1060704"/>
            <a:ext cx="4069080" cy="65836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WHO ARE YOU?</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Proving identity: username+password, MFA, biometrics.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Handled by Azure Active Directory (Azure AD / Entra ID).</a:t>
            </a:r>
            <a:endParaRPr lang="en-US" sz="1000" dirty="0"/>
          </a:p>
        </p:txBody>
      </p:sp>
      <p:sp>
        <p:nvSpPr>
          <p:cNvPr id="12" name="Shape 10"/>
          <p:cNvSpPr/>
          <p:nvPr/>
        </p:nvSpPr>
        <p:spPr>
          <a:xfrm>
            <a:off x="4663440" y="749808"/>
            <a:ext cx="4251960" cy="1024128"/>
          </a:xfrm>
          <a:prstGeom prst="rect">
            <a:avLst/>
          </a:prstGeom>
          <a:solidFill>
            <a:srgbClr val="E8F5E9"/>
          </a:solidFill>
          <a:ln w="12700">
            <a:solidFill>
              <a:srgbClr val="43A047"/>
            </a:solidFill>
            <a:prstDash val="solid"/>
          </a:ln>
        </p:spPr>
      </p:sp>
      <p:sp>
        <p:nvSpPr>
          <p:cNvPr id="13" name="Text 11"/>
          <p:cNvSpPr/>
          <p:nvPr/>
        </p:nvSpPr>
        <p:spPr>
          <a:xfrm>
            <a:off x="4754880" y="768096"/>
            <a:ext cx="4069080" cy="274320"/>
          </a:xfrm>
          <a:prstGeom prst="rect">
            <a:avLst/>
          </a:prstGeom>
          <a:noFill/>
          <a:ln/>
        </p:spPr>
        <p:txBody>
          <a:bodyPr wrap="square" lIns="0" tIns="0" rIns="0" bIns="0" rtlCol="0" anchor="ctr"/>
          <a:lstStyle/>
          <a:p>
            <a:pPr indent="0" marL="0">
              <a:buNone/>
            </a:pPr>
            <a:r>
              <a:rPr lang="en-US" sz="1400" b="1" dirty="0">
                <a:solidFill>
                  <a:srgbClr val="1B5E20"/>
                </a:solidFill>
                <a:latin typeface="Trebuchet MS" pitchFamily="34" charset="0"/>
                <a:ea typeface="Trebuchet MS" pitchFamily="34" charset="-122"/>
                <a:cs typeface="Trebuchet MS" pitchFamily="34" charset="-120"/>
              </a:rPr>
              <a:t>Authorization</a:t>
            </a:r>
            <a:endParaRPr lang="en-US" sz="1400" dirty="0"/>
          </a:p>
        </p:txBody>
      </p:sp>
      <p:sp>
        <p:nvSpPr>
          <p:cNvPr id="14" name="Text 12"/>
          <p:cNvSpPr/>
          <p:nvPr/>
        </p:nvSpPr>
        <p:spPr>
          <a:xfrm>
            <a:off x="4754880" y="1060704"/>
            <a:ext cx="4069080" cy="65836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WHAT CAN YOU DO?</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Access control based on role and scope.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Handled by Azure RBAC — Role-Based Access Control.</a:t>
            </a:r>
            <a:endParaRPr lang="en-US" sz="1000" dirty="0"/>
          </a:p>
        </p:txBody>
      </p:sp>
      <p:sp>
        <p:nvSpPr>
          <p:cNvPr id="15" name="Text 13"/>
          <p:cNvSpPr/>
          <p:nvPr/>
        </p:nvSpPr>
        <p:spPr>
          <a:xfrm>
            <a:off x="228600" y="1847088"/>
            <a:ext cx="8686800" cy="292608"/>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RBAC = Security Principal  ×  Role Definition  ×  Scope</a:t>
            </a:r>
            <a:endParaRPr lang="en-US" sz="1300" dirty="0"/>
          </a:p>
        </p:txBody>
      </p:sp>
      <p:sp>
        <p:nvSpPr>
          <p:cNvPr id="16" name="Shape 14"/>
          <p:cNvSpPr/>
          <p:nvPr/>
        </p:nvSpPr>
        <p:spPr>
          <a:xfrm>
            <a:off x="228600" y="2176272"/>
            <a:ext cx="2834640" cy="320040"/>
          </a:xfrm>
          <a:prstGeom prst="rect">
            <a:avLst/>
          </a:prstGeom>
          <a:solidFill>
            <a:srgbClr val="1565C0"/>
          </a:solidFill>
          <a:ln w="12700">
            <a:solidFill>
              <a:srgbClr val="1565C0"/>
            </a:solidFill>
            <a:prstDash val="solid"/>
          </a:ln>
        </p:spPr>
      </p:sp>
      <p:sp>
        <p:nvSpPr>
          <p:cNvPr id="17" name="Text 15"/>
          <p:cNvSpPr/>
          <p:nvPr/>
        </p:nvSpPr>
        <p:spPr>
          <a:xfrm>
            <a:off x="320040" y="2176272"/>
            <a:ext cx="265176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Security Principal</a:t>
            </a:r>
            <a:endParaRPr lang="en-US" sz="1100" dirty="0"/>
          </a:p>
        </p:txBody>
      </p:sp>
      <p:sp>
        <p:nvSpPr>
          <p:cNvPr id="18" name="Text 16"/>
          <p:cNvSpPr/>
          <p:nvPr/>
        </p:nvSpPr>
        <p:spPr>
          <a:xfrm>
            <a:off x="320040" y="2532888"/>
            <a:ext cx="2651760" cy="132588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User (individual login)</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Group (team/dept)</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Service Principal (app identity)</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Managed Identity (auto-managed)</a:t>
            </a:r>
            <a:endParaRPr lang="en-US" sz="1000" dirty="0"/>
          </a:p>
        </p:txBody>
      </p:sp>
      <p:sp>
        <p:nvSpPr>
          <p:cNvPr id="19" name="Shape 17"/>
          <p:cNvSpPr/>
          <p:nvPr/>
        </p:nvSpPr>
        <p:spPr>
          <a:xfrm>
            <a:off x="3200400" y="2176272"/>
            <a:ext cx="2834640" cy="320040"/>
          </a:xfrm>
          <a:prstGeom prst="rect">
            <a:avLst/>
          </a:prstGeom>
          <a:solidFill>
            <a:srgbClr val="00897B"/>
          </a:solidFill>
          <a:ln w="12700">
            <a:solidFill>
              <a:srgbClr val="00897B"/>
            </a:solidFill>
            <a:prstDash val="solid"/>
          </a:ln>
        </p:spPr>
      </p:sp>
      <p:sp>
        <p:nvSpPr>
          <p:cNvPr id="20" name="Text 18"/>
          <p:cNvSpPr/>
          <p:nvPr/>
        </p:nvSpPr>
        <p:spPr>
          <a:xfrm>
            <a:off x="3291840" y="2176272"/>
            <a:ext cx="265176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Built-in Roles</a:t>
            </a:r>
            <a:endParaRPr lang="en-US" sz="1100" dirty="0"/>
          </a:p>
        </p:txBody>
      </p:sp>
      <p:sp>
        <p:nvSpPr>
          <p:cNvPr id="21" name="Text 19"/>
          <p:cNvSpPr/>
          <p:nvPr/>
        </p:nvSpPr>
        <p:spPr>
          <a:xfrm>
            <a:off x="3291840" y="2532888"/>
            <a:ext cx="2651760" cy="132588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Owner — full control incl. access mgmt</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Contributor — create/modify/delete, no RBAC</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Reader — read-only, for stakeholders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User Access Admin — manage RBAC assignments</a:t>
            </a:r>
            <a:endParaRPr lang="en-US" sz="1000" dirty="0"/>
          </a:p>
        </p:txBody>
      </p:sp>
      <p:sp>
        <p:nvSpPr>
          <p:cNvPr id="22" name="Shape 20"/>
          <p:cNvSpPr/>
          <p:nvPr/>
        </p:nvSpPr>
        <p:spPr>
          <a:xfrm>
            <a:off x="6172200" y="2176272"/>
            <a:ext cx="2834640" cy="320040"/>
          </a:xfrm>
          <a:prstGeom prst="rect">
            <a:avLst/>
          </a:prstGeom>
          <a:solidFill>
            <a:srgbClr val="E65100"/>
          </a:solidFill>
          <a:ln w="12700">
            <a:solidFill>
              <a:srgbClr val="E65100"/>
            </a:solidFill>
            <a:prstDash val="solid"/>
          </a:ln>
        </p:spPr>
      </p:sp>
      <p:sp>
        <p:nvSpPr>
          <p:cNvPr id="23" name="Text 21"/>
          <p:cNvSpPr/>
          <p:nvPr/>
        </p:nvSpPr>
        <p:spPr>
          <a:xfrm>
            <a:off x="6263640" y="2176272"/>
            <a:ext cx="265176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Scope Levels</a:t>
            </a:r>
            <a:endParaRPr lang="en-US" sz="1100" dirty="0"/>
          </a:p>
        </p:txBody>
      </p:sp>
      <p:sp>
        <p:nvSpPr>
          <p:cNvPr id="24" name="Text 22"/>
          <p:cNvSpPr/>
          <p:nvPr/>
        </p:nvSpPr>
        <p:spPr>
          <a:xfrm>
            <a:off x="6263640" y="2532888"/>
            <a:ext cx="2651760" cy="132588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Management Group — entire org</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Subscription — billing boundary</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Resource Group — project boundary</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Resource — single service</a:t>
            </a:r>
            <a:endParaRPr lang="en-US" sz="1000" dirty="0"/>
          </a:p>
        </p:txBody>
      </p:sp>
      <p:sp>
        <p:nvSpPr>
          <p:cNvPr id="25" name="Shape 23"/>
          <p:cNvSpPr/>
          <p:nvPr/>
        </p:nvSpPr>
        <p:spPr>
          <a:xfrm>
            <a:off x="228600" y="3913632"/>
            <a:ext cx="8686800" cy="868680"/>
          </a:xfrm>
          <a:prstGeom prst="rect">
            <a:avLst/>
          </a:prstGeom>
          <a:solidFill>
            <a:srgbClr val="0D1117"/>
          </a:solidFill>
          <a:ln w="19050">
            <a:solidFill>
              <a:srgbClr val="00ACC1"/>
            </a:solidFill>
            <a:prstDash val="solid"/>
          </a:ln>
        </p:spPr>
      </p:sp>
      <p:sp>
        <p:nvSpPr>
          <p:cNvPr id="26" name="Text 24"/>
          <p:cNvSpPr/>
          <p:nvPr/>
        </p:nvSpPr>
        <p:spPr>
          <a:xfrm>
            <a:off x="320040" y="3959352"/>
            <a:ext cx="8503920" cy="77724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Grant dev Contributor on DEV resource group only (Least Privilege Principle)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role assignment create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--assignee "developer@medicare.com"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--role "Contributor"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--scope "/subscriptions/&lt;sub-id&gt;/resourceGroups/medicare-dev-rg"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This dev has ZERO access to medicare-prod-rg</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DevOps Automation</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DevOps — Complete CI/CD Pipeline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Manual deployments are a liability. Automated CI/CD pipelines eliminate human error and enable zero-downtime deployments.</a:t>
            </a:r>
            <a:endParaRPr lang="en-US" sz="1050" dirty="0"/>
          </a:p>
        </p:txBody>
      </p:sp>
      <p:sp>
        <p:nvSpPr>
          <p:cNvPr id="10" name="Shape 8"/>
          <p:cNvSpPr/>
          <p:nvPr/>
        </p:nvSpPr>
        <p:spPr>
          <a:xfrm>
            <a:off x="201168" y="1069848"/>
            <a:ext cx="1627632" cy="822960"/>
          </a:xfrm>
          <a:prstGeom prst="rect">
            <a:avLst/>
          </a:prstGeom>
          <a:solidFill>
            <a:srgbClr val="64748B"/>
          </a:solidFill>
          <a:ln w="12700">
            <a:solidFill>
              <a:srgbClr val="64748B"/>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201168" y="1078992"/>
            <a:ext cx="16276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CODE</a:t>
            </a:r>
            <a:endParaRPr lang="en-US" sz="1500" dirty="0"/>
          </a:p>
        </p:txBody>
      </p:sp>
      <p:sp>
        <p:nvSpPr>
          <p:cNvPr id="12" name="Text 10"/>
          <p:cNvSpPr/>
          <p:nvPr/>
        </p:nvSpPr>
        <p:spPr>
          <a:xfrm>
            <a:off x="201168" y="1463040"/>
            <a:ext cx="1627632" cy="411480"/>
          </a:xfrm>
          <a:prstGeom prst="rect">
            <a:avLst/>
          </a:prstGeom>
          <a:noFill/>
          <a:ln/>
        </p:spPr>
        <p:txBody>
          <a:bodyPr wrap="square" lIns="25400" tIns="25400" rIns="25400" bIns="25400" rtlCol="0" anchor="t"/>
          <a:lstStyle/>
          <a:p>
            <a:pPr algn="ctr" indent="0" marL="0">
              <a:buNone/>
            </a:pPr>
            <a:r>
              <a:rPr lang="en-US" sz="750" dirty="0">
                <a:solidFill>
                  <a:srgbClr val="FFFFFF"/>
                </a:solidFill>
                <a:latin typeface="Calibri" pitchFamily="34" charset="0"/>
                <a:ea typeface="Calibri" pitchFamily="34" charset="-122"/>
                <a:cs typeface="Calibri" pitchFamily="34" charset="-120"/>
              </a:rPr>
              <a:t>Developer pushes to Git</a:t>
            </a:r>
            <a:endParaRPr lang="en-US" sz="750" dirty="0"/>
          </a:p>
        </p:txBody>
      </p:sp>
      <p:sp>
        <p:nvSpPr>
          <p:cNvPr id="13" name="Shape 11"/>
          <p:cNvSpPr/>
          <p:nvPr/>
        </p:nvSpPr>
        <p:spPr>
          <a:xfrm>
            <a:off x="1828800" y="1417320"/>
            <a:ext cx="128016" cy="109728"/>
          </a:xfrm>
          <a:prstGeom prst="rect">
            <a:avLst/>
          </a:prstGeom>
          <a:solidFill>
            <a:srgbClr val="00ACC1"/>
          </a:solidFill>
          <a:ln w="12700">
            <a:solidFill>
              <a:srgbClr val="00ACC1"/>
            </a:solidFill>
            <a:prstDash val="solid"/>
          </a:ln>
        </p:spPr>
      </p:sp>
      <p:sp>
        <p:nvSpPr>
          <p:cNvPr id="14" name="Shape 12"/>
          <p:cNvSpPr/>
          <p:nvPr/>
        </p:nvSpPr>
        <p:spPr>
          <a:xfrm>
            <a:off x="1956816" y="1069848"/>
            <a:ext cx="1627632" cy="822960"/>
          </a:xfrm>
          <a:prstGeom prst="rect">
            <a:avLst/>
          </a:prstGeom>
          <a:solidFill>
            <a:srgbClr val="1565C0"/>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1956816" y="1078992"/>
            <a:ext cx="16276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BUILD</a:t>
            </a:r>
            <a:endParaRPr lang="en-US" sz="1500" dirty="0"/>
          </a:p>
        </p:txBody>
      </p:sp>
      <p:sp>
        <p:nvSpPr>
          <p:cNvPr id="16" name="Text 14"/>
          <p:cNvSpPr/>
          <p:nvPr/>
        </p:nvSpPr>
        <p:spPr>
          <a:xfrm>
            <a:off x="1956816" y="1463040"/>
            <a:ext cx="1627632" cy="411480"/>
          </a:xfrm>
          <a:prstGeom prst="rect">
            <a:avLst/>
          </a:prstGeom>
          <a:noFill/>
          <a:ln/>
        </p:spPr>
        <p:txBody>
          <a:bodyPr wrap="square" lIns="25400" tIns="25400" rIns="25400" bIns="25400" rtlCol="0" anchor="t"/>
          <a:lstStyle/>
          <a:p>
            <a:pPr algn="ctr" indent="0" marL="0">
              <a:buNone/>
            </a:pPr>
            <a:r>
              <a:rPr lang="en-US" sz="750" dirty="0">
                <a:solidFill>
                  <a:srgbClr val="FFFFFF"/>
                </a:solidFill>
                <a:latin typeface="Calibri" pitchFamily="34" charset="0"/>
                <a:ea typeface="Calibri" pitchFamily="34" charset="-122"/>
                <a:cs typeface="Calibri" pitchFamily="34" charset="-120"/>
              </a:rPr>
              <a:t>Maven compile + JUnit tests + JAR artifact</a:t>
            </a:r>
            <a:endParaRPr lang="en-US" sz="750" dirty="0"/>
          </a:p>
        </p:txBody>
      </p:sp>
      <p:sp>
        <p:nvSpPr>
          <p:cNvPr id="17" name="Shape 15"/>
          <p:cNvSpPr/>
          <p:nvPr/>
        </p:nvSpPr>
        <p:spPr>
          <a:xfrm>
            <a:off x="3584448" y="1417320"/>
            <a:ext cx="128016" cy="109728"/>
          </a:xfrm>
          <a:prstGeom prst="rect">
            <a:avLst/>
          </a:prstGeom>
          <a:solidFill>
            <a:srgbClr val="00ACC1"/>
          </a:solidFill>
          <a:ln w="12700">
            <a:solidFill>
              <a:srgbClr val="00ACC1"/>
            </a:solidFill>
            <a:prstDash val="solid"/>
          </a:ln>
        </p:spPr>
      </p:sp>
      <p:sp>
        <p:nvSpPr>
          <p:cNvPr id="18" name="Shape 16"/>
          <p:cNvSpPr/>
          <p:nvPr/>
        </p:nvSpPr>
        <p:spPr>
          <a:xfrm>
            <a:off x="3712464" y="1069848"/>
            <a:ext cx="1627632" cy="822960"/>
          </a:xfrm>
          <a:prstGeom prst="rect">
            <a:avLst/>
          </a:prstGeom>
          <a:solidFill>
            <a:srgbClr val="00897B"/>
          </a:solidFill>
          <a:ln w="12700">
            <a:solidFill>
              <a:srgbClr val="00897B"/>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3712464" y="1078992"/>
            <a:ext cx="16276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STAGING</a:t>
            </a:r>
            <a:endParaRPr lang="en-US" sz="1500" dirty="0"/>
          </a:p>
        </p:txBody>
      </p:sp>
      <p:sp>
        <p:nvSpPr>
          <p:cNvPr id="20" name="Text 18"/>
          <p:cNvSpPr/>
          <p:nvPr/>
        </p:nvSpPr>
        <p:spPr>
          <a:xfrm>
            <a:off x="3712464" y="1463040"/>
            <a:ext cx="1627632" cy="411480"/>
          </a:xfrm>
          <a:prstGeom prst="rect">
            <a:avLst/>
          </a:prstGeom>
          <a:noFill/>
          <a:ln/>
        </p:spPr>
        <p:txBody>
          <a:bodyPr wrap="square" lIns="25400" tIns="25400" rIns="25400" bIns="25400" rtlCol="0" anchor="t"/>
          <a:lstStyle/>
          <a:p>
            <a:pPr algn="ctr" indent="0" marL="0">
              <a:buNone/>
            </a:pPr>
            <a:r>
              <a:rPr lang="en-US" sz="750" dirty="0">
                <a:solidFill>
                  <a:srgbClr val="FFFFFF"/>
                </a:solidFill>
                <a:latin typeface="Calibri" pitchFamily="34" charset="0"/>
                <a:ea typeface="Calibri" pitchFamily="34" charset="-122"/>
                <a:cs typeface="Calibri" pitchFamily="34" charset="-120"/>
              </a:rPr>
              <a:t>Deploy JAR to staging slot + smoke tests</a:t>
            </a:r>
            <a:endParaRPr lang="en-US" sz="750" dirty="0"/>
          </a:p>
        </p:txBody>
      </p:sp>
      <p:sp>
        <p:nvSpPr>
          <p:cNvPr id="21" name="Shape 19"/>
          <p:cNvSpPr/>
          <p:nvPr/>
        </p:nvSpPr>
        <p:spPr>
          <a:xfrm>
            <a:off x="5340096" y="1417320"/>
            <a:ext cx="128016" cy="109728"/>
          </a:xfrm>
          <a:prstGeom prst="rect">
            <a:avLst/>
          </a:prstGeom>
          <a:solidFill>
            <a:srgbClr val="00ACC1"/>
          </a:solidFill>
          <a:ln w="12700">
            <a:solidFill>
              <a:srgbClr val="00ACC1"/>
            </a:solidFill>
            <a:prstDash val="solid"/>
          </a:ln>
        </p:spPr>
      </p:sp>
      <p:sp>
        <p:nvSpPr>
          <p:cNvPr id="22" name="Shape 20"/>
          <p:cNvSpPr/>
          <p:nvPr/>
        </p:nvSpPr>
        <p:spPr>
          <a:xfrm>
            <a:off x="5468112" y="1069848"/>
            <a:ext cx="1627632" cy="822960"/>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5468112" y="1078992"/>
            <a:ext cx="16276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APPROVE</a:t>
            </a:r>
            <a:endParaRPr lang="en-US" sz="1500" dirty="0"/>
          </a:p>
        </p:txBody>
      </p:sp>
      <p:sp>
        <p:nvSpPr>
          <p:cNvPr id="24" name="Text 22"/>
          <p:cNvSpPr/>
          <p:nvPr/>
        </p:nvSpPr>
        <p:spPr>
          <a:xfrm>
            <a:off x="5468112" y="1463040"/>
            <a:ext cx="1627632" cy="411480"/>
          </a:xfrm>
          <a:prstGeom prst="rect">
            <a:avLst/>
          </a:prstGeom>
          <a:noFill/>
          <a:ln/>
        </p:spPr>
        <p:txBody>
          <a:bodyPr wrap="square" lIns="25400" tIns="25400" rIns="25400" bIns="25400" rtlCol="0" anchor="t"/>
          <a:lstStyle/>
          <a:p>
            <a:pPr algn="ctr" indent="0" marL="0">
              <a:buNone/>
            </a:pPr>
            <a:r>
              <a:rPr lang="en-US" sz="750" dirty="0">
                <a:solidFill>
                  <a:srgbClr val="FFFFFF"/>
                </a:solidFill>
                <a:latin typeface="Calibri" pitchFamily="34" charset="0"/>
                <a:ea typeface="Calibri" pitchFamily="34" charset="-122"/>
                <a:cs typeface="Calibri" pitchFamily="34" charset="-120"/>
              </a:rPr>
              <a:t>Senior developer reviews + approves</a:t>
            </a:r>
            <a:endParaRPr lang="en-US" sz="750" dirty="0"/>
          </a:p>
        </p:txBody>
      </p:sp>
      <p:sp>
        <p:nvSpPr>
          <p:cNvPr id="25" name="Shape 23"/>
          <p:cNvSpPr/>
          <p:nvPr/>
        </p:nvSpPr>
        <p:spPr>
          <a:xfrm>
            <a:off x="7095744" y="1417320"/>
            <a:ext cx="128016" cy="109728"/>
          </a:xfrm>
          <a:prstGeom prst="rect">
            <a:avLst/>
          </a:prstGeom>
          <a:solidFill>
            <a:srgbClr val="00ACC1"/>
          </a:solidFill>
          <a:ln w="12700">
            <a:solidFill>
              <a:srgbClr val="00ACC1"/>
            </a:solidFill>
            <a:prstDash val="solid"/>
          </a:ln>
        </p:spPr>
      </p:sp>
      <p:sp>
        <p:nvSpPr>
          <p:cNvPr id="26" name="Shape 24"/>
          <p:cNvSpPr/>
          <p:nvPr/>
        </p:nvSpPr>
        <p:spPr>
          <a:xfrm>
            <a:off x="7223760" y="1069848"/>
            <a:ext cx="1627632" cy="822960"/>
          </a:xfrm>
          <a:prstGeom prst="rect">
            <a:avLst/>
          </a:prstGeom>
          <a:solidFill>
            <a:srgbClr val="43A047"/>
          </a:solidFill>
          <a:ln w="12700">
            <a:solidFill>
              <a:srgbClr val="43A047"/>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7223760" y="1078992"/>
            <a:ext cx="16276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PROD</a:t>
            </a:r>
            <a:endParaRPr lang="en-US" sz="1500" dirty="0"/>
          </a:p>
        </p:txBody>
      </p:sp>
      <p:sp>
        <p:nvSpPr>
          <p:cNvPr id="28" name="Text 26"/>
          <p:cNvSpPr/>
          <p:nvPr/>
        </p:nvSpPr>
        <p:spPr>
          <a:xfrm>
            <a:off x="7223760" y="1463040"/>
            <a:ext cx="1627632" cy="411480"/>
          </a:xfrm>
          <a:prstGeom prst="rect">
            <a:avLst/>
          </a:prstGeom>
          <a:noFill/>
          <a:ln/>
        </p:spPr>
        <p:txBody>
          <a:bodyPr wrap="square" lIns="25400" tIns="25400" rIns="25400" bIns="25400" rtlCol="0" anchor="t"/>
          <a:lstStyle/>
          <a:p>
            <a:pPr algn="ctr" indent="0" marL="0">
              <a:buNone/>
            </a:pPr>
            <a:r>
              <a:rPr lang="en-US" sz="750" dirty="0">
                <a:solidFill>
                  <a:srgbClr val="FFFFFF"/>
                </a:solidFill>
                <a:latin typeface="Calibri" pitchFamily="34" charset="0"/>
                <a:ea typeface="Calibri" pitchFamily="34" charset="-122"/>
                <a:cs typeface="Calibri" pitchFamily="34" charset="-120"/>
              </a:rPr>
              <a:t>Slot swap → zero-downtime production</a:t>
            </a:r>
            <a:endParaRPr lang="en-US" sz="750" dirty="0"/>
          </a:p>
        </p:txBody>
      </p:sp>
      <p:sp>
        <p:nvSpPr>
          <p:cNvPr id="29" name="Text 27"/>
          <p:cNvSpPr/>
          <p:nvPr/>
        </p:nvSpPr>
        <p:spPr>
          <a:xfrm>
            <a:off x="228600" y="1993392"/>
            <a:ext cx="475488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azure-pipelines.yml — Pipeline as Code</a:t>
            </a:r>
            <a:endParaRPr lang="en-US" sz="1200" dirty="0"/>
          </a:p>
        </p:txBody>
      </p:sp>
      <p:sp>
        <p:nvSpPr>
          <p:cNvPr id="30" name="Shape 28"/>
          <p:cNvSpPr/>
          <p:nvPr/>
        </p:nvSpPr>
        <p:spPr>
          <a:xfrm>
            <a:off x="228600" y="2304288"/>
            <a:ext cx="4572000" cy="2423160"/>
          </a:xfrm>
          <a:prstGeom prst="rect">
            <a:avLst/>
          </a:prstGeom>
          <a:solidFill>
            <a:srgbClr val="0D1117"/>
          </a:solidFill>
          <a:ln w="19050">
            <a:solidFill>
              <a:srgbClr val="00ACC1"/>
            </a:solidFill>
            <a:prstDash val="solid"/>
          </a:ln>
        </p:spPr>
      </p:sp>
      <p:sp>
        <p:nvSpPr>
          <p:cNvPr id="31" name="Text 29"/>
          <p:cNvSpPr/>
          <p:nvPr/>
        </p:nvSpPr>
        <p:spPr>
          <a:xfrm>
            <a:off x="320040" y="2350008"/>
            <a:ext cx="4389120" cy="233172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trigger: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branches: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include: [main, develop]</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stages: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stage: BuildAndTest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jobs: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job: Build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steps: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task: Maven@3</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inputs: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goals: 'clean package'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publishJUnitResults: true</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stage: DeployStaging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dependsOn: BuildAndTest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jobs: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deployment: ToStaging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environment: 'MediCare-Staging'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steps: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task: AzureWebApp@1</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inputs: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appName: 'medicare-api'</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deployToSlotOrASE: true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slotName: 'staging'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script: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curl -f https://medicare-api-staging.azurewebsites.net/actuator/health</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stage: DeployProduction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dependsOn: DeployStaging</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condition: and(succeeded(), eq(variables['Build.SourceBranch'], 'refs/heads/main'))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jobs: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deployment: SwapToProduction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environment: 'MediCare-Production'  # ← Requires manual approval!</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steps: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task: AzureAppServiceManage@0</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inputs: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action: 'Swap Slots'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sourceSlot: 'staging'</a:t>
            </a:r>
            <a:endParaRPr lang="en-US" sz="850" dirty="0"/>
          </a:p>
        </p:txBody>
      </p:sp>
      <p:sp>
        <p:nvSpPr>
          <p:cNvPr id="32" name="Text 30"/>
          <p:cNvSpPr/>
          <p:nvPr/>
        </p:nvSpPr>
        <p:spPr>
          <a:xfrm>
            <a:off x="5029200" y="1993392"/>
            <a:ext cx="38862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Why This Pipeline Architecture</a:t>
            </a:r>
            <a:endParaRPr lang="en-US" sz="1200" dirty="0"/>
          </a:p>
        </p:txBody>
      </p:sp>
      <p:sp>
        <p:nvSpPr>
          <p:cNvPr id="33" name="Shape 31"/>
          <p:cNvSpPr/>
          <p:nvPr/>
        </p:nvSpPr>
        <p:spPr>
          <a:xfrm>
            <a:off x="5029200" y="2304288"/>
            <a:ext cx="388620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029200" y="2304288"/>
            <a:ext cx="3886200" cy="64008"/>
          </a:xfrm>
          <a:prstGeom prst="rect">
            <a:avLst/>
          </a:prstGeom>
          <a:solidFill>
            <a:srgbClr val="1565C0"/>
          </a:solidFill>
          <a:ln w="12700">
            <a:solidFill>
              <a:srgbClr val="1565C0"/>
            </a:solidFill>
            <a:prstDash val="solid"/>
          </a:ln>
        </p:spPr>
      </p:sp>
      <p:sp>
        <p:nvSpPr>
          <p:cNvPr id="35" name="Text 33"/>
          <p:cNvSpPr/>
          <p:nvPr/>
        </p:nvSpPr>
        <p:spPr>
          <a:xfrm>
            <a:off x="5138928" y="2395728"/>
            <a:ext cx="36850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Tests Gate Deployment</a:t>
            </a:r>
            <a:endParaRPr lang="en-US" sz="1200" dirty="0"/>
          </a:p>
        </p:txBody>
      </p:sp>
      <p:sp>
        <p:nvSpPr>
          <p:cNvPr id="36" name="Text 34"/>
          <p:cNvSpPr/>
          <p:nvPr/>
        </p:nvSpPr>
        <p:spPr>
          <a:xfrm>
            <a:off x="5138928" y="2706624"/>
            <a:ext cx="368503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If any unit test fails, pipeline stops. Broken code never reaches any environment.</a:t>
            </a:r>
            <a:endParaRPr lang="en-US" sz="900" dirty="0"/>
          </a:p>
        </p:txBody>
      </p:sp>
      <p:sp>
        <p:nvSpPr>
          <p:cNvPr id="37" name="Shape 35"/>
          <p:cNvSpPr/>
          <p:nvPr/>
        </p:nvSpPr>
        <p:spPr>
          <a:xfrm>
            <a:off x="5029200" y="3108960"/>
            <a:ext cx="388620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5029200" y="3108960"/>
            <a:ext cx="3886200" cy="64008"/>
          </a:xfrm>
          <a:prstGeom prst="rect">
            <a:avLst/>
          </a:prstGeom>
          <a:solidFill>
            <a:srgbClr val="00897B"/>
          </a:solidFill>
          <a:ln w="12700">
            <a:solidFill>
              <a:srgbClr val="00897B"/>
            </a:solidFill>
            <a:prstDash val="solid"/>
          </a:ln>
        </p:spPr>
      </p:sp>
      <p:sp>
        <p:nvSpPr>
          <p:cNvPr id="39" name="Text 37"/>
          <p:cNvSpPr/>
          <p:nvPr/>
        </p:nvSpPr>
        <p:spPr>
          <a:xfrm>
            <a:off x="5138928" y="3200400"/>
            <a:ext cx="36850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Staging Before Prod</a:t>
            </a:r>
            <a:endParaRPr lang="en-US" sz="1200" dirty="0"/>
          </a:p>
        </p:txBody>
      </p:sp>
      <p:sp>
        <p:nvSpPr>
          <p:cNvPr id="40" name="Text 38"/>
          <p:cNvSpPr/>
          <p:nvPr/>
        </p:nvSpPr>
        <p:spPr>
          <a:xfrm>
            <a:off x="5138928" y="3511296"/>
            <a:ext cx="368503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Every change validated in staging first. Smoke tests verify app starts correctly.</a:t>
            </a:r>
            <a:endParaRPr lang="en-US" sz="900" dirty="0"/>
          </a:p>
        </p:txBody>
      </p:sp>
      <p:sp>
        <p:nvSpPr>
          <p:cNvPr id="41" name="Shape 39"/>
          <p:cNvSpPr/>
          <p:nvPr/>
        </p:nvSpPr>
        <p:spPr>
          <a:xfrm>
            <a:off x="5029200" y="3913632"/>
            <a:ext cx="388620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5029200" y="3913632"/>
            <a:ext cx="3886200" cy="64008"/>
          </a:xfrm>
          <a:prstGeom prst="rect">
            <a:avLst/>
          </a:prstGeom>
          <a:solidFill>
            <a:srgbClr val="E65100"/>
          </a:solidFill>
          <a:ln w="12700">
            <a:solidFill>
              <a:srgbClr val="E65100"/>
            </a:solidFill>
            <a:prstDash val="solid"/>
          </a:ln>
        </p:spPr>
      </p:sp>
      <p:sp>
        <p:nvSpPr>
          <p:cNvPr id="43" name="Text 41"/>
          <p:cNvSpPr/>
          <p:nvPr/>
        </p:nvSpPr>
        <p:spPr>
          <a:xfrm>
            <a:off x="5138928" y="4005072"/>
            <a:ext cx="36850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Human Approval Gate</a:t>
            </a:r>
            <a:endParaRPr lang="en-US" sz="1200" dirty="0"/>
          </a:p>
        </p:txBody>
      </p:sp>
      <p:sp>
        <p:nvSpPr>
          <p:cNvPr id="44" name="Text 42"/>
          <p:cNvSpPr/>
          <p:nvPr/>
        </p:nvSpPr>
        <p:spPr>
          <a:xfrm>
            <a:off x="5138928" y="4315968"/>
            <a:ext cx="368503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Production requires senior developer sign-off. Automated up to point of human judgment.</a:t>
            </a:r>
            <a:endParaRPr lang="en-US" sz="900" dirty="0"/>
          </a:p>
        </p:txBody>
      </p:sp>
      <p:sp>
        <p:nvSpPr>
          <p:cNvPr id="45" name="Shape 43"/>
          <p:cNvSpPr/>
          <p:nvPr/>
        </p:nvSpPr>
        <p:spPr>
          <a:xfrm>
            <a:off x="5029200" y="4718304"/>
            <a:ext cx="388620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5029200" y="4718304"/>
            <a:ext cx="3886200" cy="64008"/>
          </a:xfrm>
          <a:prstGeom prst="rect">
            <a:avLst/>
          </a:prstGeom>
          <a:solidFill>
            <a:srgbClr val="43A047"/>
          </a:solidFill>
          <a:ln w="12700">
            <a:solidFill>
              <a:srgbClr val="43A047"/>
            </a:solidFill>
            <a:prstDash val="solid"/>
          </a:ln>
        </p:spPr>
      </p:sp>
      <p:sp>
        <p:nvSpPr>
          <p:cNvPr id="47" name="Text 45"/>
          <p:cNvSpPr/>
          <p:nvPr/>
        </p:nvSpPr>
        <p:spPr>
          <a:xfrm>
            <a:off x="5138928" y="4809744"/>
            <a:ext cx="368503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Slot Swap = Zero Downtime</a:t>
            </a:r>
            <a:endParaRPr lang="en-US" sz="1200" dirty="0"/>
          </a:p>
        </p:txBody>
      </p:sp>
      <p:sp>
        <p:nvSpPr>
          <p:cNvPr id="48" name="Text 46"/>
          <p:cNvSpPr/>
          <p:nvPr/>
        </p:nvSpPr>
        <p:spPr>
          <a:xfrm>
            <a:off x="5138928" y="5120640"/>
            <a:ext cx="368503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Staging becomes production instantly. Old production becomes new staging for rollback.</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02 — Operations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Monitor &amp; Application Insights — Observability Platform</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You can't manage what you can't see. Proactive observability means knowing about problems before patients do.</a:t>
            </a:r>
            <a:endParaRPr lang="en-US" sz="1050" dirty="0"/>
          </a:p>
        </p:txBody>
      </p:sp>
      <p:sp>
        <p:nvSpPr>
          <p:cNvPr id="10" name="Text 8"/>
          <p:cNvSpPr/>
          <p:nvPr/>
        </p:nvSpPr>
        <p:spPr>
          <a:xfrm>
            <a:off x="228600" y="106984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The Observability Triad</a:t>
            </a:r>
            <a:endParaRPr lang="en-US" sz="1300" dirty="0"/>
          </a:p>
        </p:txBody>
      </p:sp>
      <p:sp>
        <p:nvSpPr>
          <p:cNvPr id="11" name="Shape 9"/>
          <p:cNvSpPr/>
          <p:nvPr/>
        </p:nvSpPr>
        <p:spPr>
          <a:xfrm>
            <a:off x="201168" y="1389888"/>
            <a:ext cx="2852928"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01168" y="1389888"/>
            <a:ext cx="2852928" cy="658368"/>
          </a:xfrm>
          <a:prstGeom prst="rect">
            <a:avLst/>
          </a:prstGeom>
          <a:solidFill>
            <a:srgbClr val="1565C0"/>
          </a:solidFill>
          <a:ln w="12700">
            <a:solidFill>
              <a:srgbClr val="1565C0"/>
            </a:solidFill>
            <a:prstDash val="solid"/>
          </a:ln>
        </p:spPr>
      </p:sp>
      <p:sp>
        <p:nvSpPr>
          <p:cNvPr id="13" name="Text 11"/>
          <p:cNvSpPr/>
          <p:nvPr/>
        </p:nvSpPr>
        <p:spPr>
          <a:xfrm>
            <a:off x="292608" y="1408176"/>
            <a:ext cx="2670048"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  Metrics</a:t>
            </a:r>
            <a:endParaRPr lang="en-US" sz="1800" dirty="0"/>
          </a:p>
        </p:txBody>
      </p:sp>
      <p:sp>
        <p:nvSpPr>
          <p:cNvPr id="14" name="Text 12"/>
          <p:cNvSpPr/>
          <p:nvPr/>
        </p:nvSpPr>
        <p:spPr>
          <a:xfrm>
            <a:off x="292608" y="2084832"/>
            <a:ext cx="2670048" cy="749808"/>
          </a:xfrm>
          <a:prstGeom prst="rect">
            <a:avLst/>
          </a:prstGeom>
          <a:noFill/>
          <a:ln/>
        </p:spPr>
        <p:txBody>
          <a:bodyPr wrap="square" lIns="25400" tIns="25400" rIns="25400" bIns="25400" rtlCol="0" anchor="t"/>
          <a:lstStyle/>
          <a:p>
            <a:pPr indent="0" marL="0">
              <a:buNone/>
            </a:pPr>
            <a:r>
              <a:rPr lang="en-US" sz="950" dirty="0">
                <a:solidFill>
                  <a:srgbClr val="1E293B"/>
                </a:solidFill>
                <a:latin typeface="Calibri" pitchFamily="34" charset="0"/>
                <a:ea typeface="Calibri" pitchFamily="34" charset="-122"/>
                <a:cs typeface="Calibri" pitchFamily="34" charset="-120"/>
              </a:rPr>
              <a:t>Numeric measurements over time.</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CPU %, memory, request count,</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error rate, response time.</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Tells you WHAT is happening.</a:t>
            </a:r>
            <a:endParaRPr lang="en-US" sz="950" dirty="0"/>
          </a:p>
        </p:txBody>
      </p:sp>
      <p:sp>
        <p:nvSpPr>
          <p:cNvPr id="15" name="Shape 13"/>
          <p:cNvSpPr/>
          <p:nvPr/>
        </p:nvSpPr>
        <p:spPr>
          <a:xfrm>
            <a:off x="3172968" y="1389888"/>
            <a:ext cx="2852928"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172968" y="1389888"/>
            <a:ext cx="2852928" cy="658368"/>
          </a:xfrm>
          <a:prstGeom prst="rect">
            <a:avLst/>
          </a:prstGeom>
          <a:solidFill>
            <a:srgbClr val="00897B"/>
          </a:solidFill>
          <a:ln w="12700">
            <a:solidFill>
              <a:srgbClr val="00897B"/>
            </a:solidFill>
            <a:prstDash val="solid"/>
          </a:ln>
        </p:spPr>
      </p:sp>
      <p:sp>
        <p:nvSpPr>
          <p:cNvPr id="17" name="Text 15"/>
          <p:cNvSpPr/>
          <p:nvPr/>
        </p:nvSpPr>
        <p:spPr>
          <a:xfrm>
            <a:off x="3264408" y="1408176"/>
            <a:ext cx="2670048"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  Logs</a:t>
            </a:r>
            <a:endParaRPr lang="en-US" sz="1800" dirty="0"/>
          </a:p>
        </p:txBody>
      </p:sp>
      <p:sp>
        <p:nvSpPr>
          <p:cNvPr id="18" name="Text 16"/>
          <p:cNvSpPr/>
          <p:nvPr/>
        </p:nvSpPr>
        <p:spPr>
          <a:xfrm>
            <a:off x="3264408" y="2084832"/>
            <a:ext cx="2670048" cy="749808"/>
          </a:xfrm>
          <a:prstGeom prst="rect">
            <a:avLst/>
          </a:prstGeom>
          <a:noFill/>
          <a:ln/>
        </p:spPr>
        <p:txBody>
          <a:bodyPr wrap="square" lIns="25400" tIns="25400" rIns="25400" bIns="25400" rtlCol="0" anchor="t"/>
          <a:lstStyle/>
          <a:p>
            <a:pPr indent="0" marL="0">
              <a:buNone/>
            </a:pPr>
            <a:r>
              <a:rPr lang="en-US" sz="950" dirty="0">
                <a:solidFill>
                  <a:srgbClr val="1E293B"/>
                </a:solidFill>
                <a:latin typeface="Calibri" pitchFamily="34" charset="0"/>
                <a:ea typeface="Calibri" pitchFamily="34" charset="-122"/>
                <a:cs typeface="Calibri" pitchFamily="34" charset="-120"/>
              </a:rPr>
              <a:t>Text records of events.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Every exception, HTTP request,</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SQL query, dependency call.</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Tells you WHAT EXACTLY happened.</a:t>
            </a:r>
            <a:endParaRPr lang="en-US" sz="950" dirty="0"/>
          </a:p>
        </p:txBody>
      </p:sp>
      <p:sp>
        <p:nvSpPr>
          <p:cNvPr id="19" name="Shape 17"/>
          <p:cNvSpPr/>
          <p:nvPr/>
        </p:nvSpPr>
        <p:spPr>
          <a:xfrm>
            <a:off x="6144768" y="1389888"/>
            <a:ext cx="2852928"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44768" y="1389888"/>
            <a:ext cx="2852928" cy="658368"/>
          </a:xfrm>
          <a:prstGeom prst="rect">
            <a:avLst/>
          </a:prstGeom>
          <a:solidFill>
            <a:srgbClr val="E65100"/>
          </a:solidFill>
          <a:ln w="12700">
            <a:solidFill>
              <a:srgbClr val="E65100"/>
            </a:solidFill>
            <a:prstDash val="solid"/>
          </a:ln>
        </p:spPr>
      </p:sp>
      <p:sp>
        <p:nvSpPr>
          <p:cNvPr id="21" name="Text 19"/>
          <p:cNvSpPr/>
          <p:nvPr/>
        </p:nvSpPr>
        <p:spPr>
          <a:xfrm>
            <a:off x="6236208" y="1408176"/>
            <a:ext cx="2670048"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  Traces</a:t>
            </a:r>
            <a:endParaRPr lang="en-US" sz="1800" dirty="0"/>
          </a:p>
        </p:txBody>
      </p:sp>
      <p:sp>
        <p:nvSpPr>
          <p:cNvPr id="22" name="Text 20"/>
          <p:cNvSpPr/>
          <p:nvPr/>
        </p:nvSpPr>
        <p:spPr>
          <a:xfrm>
            <a:off x="6236208" y="2084832"/>
            <a:ext cx="2670048" cy="749808"/>
          </a:xfrm>
          <a:prstGeom prst="rect">
            <a:avLst/>
          </a:prstGeom>
          <a:noFill/>
          <a:ln/>
        </p:spPr>
        <p:txBody>
          <a:bodyPr wrap="square" lIns="25400" tIns="25400" rIns="25400" bIns="25400" rtlCol="0" anchor="t"/>
          <a:lstStyle/>
          <a:p>
            <a:pPr indent="0" marL="0">
              <a:buNone/>
            </a:pPr>
            <a:r>
              <a:rPr lang="en-US" sz="950" dirty="0">
                <a:solidFill>
                  <a:srgbClr val="1E293B"/>
                </a:solidFill>
                <a:latin typeface="Calibri" pitchFamily="34" charset="0"/>
                <a:ea typeface="Calibri" pitchFamily="34" charset="-122"/>
                <a:cs typeface="Calibri" pitchFamily="34" charset="-120"/>
              </a:rPr>
              <a:t>Journey of one request through</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multiple microservices.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Where did it slow down?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Which service caused the 500?</a:t>
            </a:r>
            <a:endParaRPr lang="en-US" sz="950" dirty="0"/>
          </a:p>
        </p:txBody>
      </p:sp>
      <p:sp>
        <p:nvSpPr>
          <p:cNvPr id="23" name="Text 21"/>
          <p:cNvSpPr/>
          <p:nvPr/>
        </p:nvSpPr>
        <p:spPr>
          <a:xfrm>
            <a:off x="228600" y="2944368"/>
            <a:ext cx="45720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Application Insights + KQL Queries — MediCare Examples</a:t>
            </a:r>
            <a:endParaRPr lang="en-US" sz="1200" dirty="0"/>
          </a:p>
        </p:txBody>
      </p:sp>
      <p:sp>
        <p:nvSpPr>
          <p:cNvPr id="24" name="Shape 22"/>
          <p:cNvSpPr/>
          <p:nvPr/>
        </p:nvSpPr>
        <p:spPr>
          <a:xfrm>
            <a:off x="228600" y="3255264"/>
            <a:ext cx="4572000" cy="1481328"/>
          </a:xfrm>
          <a:prstGeom prst="rect">
            <a:avLst/>
          </a:prstGeom>
          <a:solidFill>
            <a:srgbClr val="0D1117"/>
          </a:solidFill>
          <a:ln w="19050">
            <a:solidFill>
              <a:srgbClr val="00ACC1"/>
            </a:solidFill>
            <a:prstDash val="solid"/>
          </a:ln>
        </p:spPr>
      </p:sp>
      <p:sp>
        <p:nvSpPr>
          <p:cNvPr id="25" name="Text 23"/>
          <p:cNvSpPr/>
          <p:nvPr/>
        </p:nvSpPr>
        <p:spPr>
          <a:xfrm>
            <a:off x="320040" y="3300984"/>
            <a:ext cx="4389120" cy="1389888"/>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All HTTP 500 errors in last hour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requests | where timestamp &gt; ago(1h)</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where resultCode == "500"</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project timestamp, name, url, duration</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Average response time per endpoint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requests | where timestamp &gt; ago(24h)</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summarize avg(duration), count() by name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order by avg_duration desc</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Top 10 slowest SQL queries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dependencies | where type == "SQL"</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summarize avg(duration) by name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top 10 by avg_duration desc</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Exception count by type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exceptions | where timestamp &gt; ago(1h)</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summarize count() by type, outerMessage</a:t>
            </a:r>
            <a:endParaRPr lang="en-US" sz="850" dirty="0"/>
          </a:p>
        </p:txBody>
      </p:sp>
      <p:sp>
        <p:nvSpPr>
          <p:cNvPr id="26" name="Text 24"/>
          <p:cNvSpPr/>
          <p:nvPr/>
        </p:nvSpPr>
        <p:spPr>
          <a:xfrm>
            <a:off x="5029200" y="2944368"/>
            <a:ext cx="38862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Proactive Alerting</a:t>
            </a:r>
            <a:endParaRPr lang="en-US" sz="1200" dirty="0"/>
          </a:p>
        </p:txBody>
      </p:sp>
      <p:sp>
        <p:nvSpPr>
          <p:cNvPr id="27" name="Text 25"/>
          <p:cNvSpPr/>
          <p:nvPr/>
        </p:nvSpPr>
        <p:spPr>
          <a:xfrm>
            <a:off x="5029200" y="3255264"/>
            <a:ext cx="3886200" cy="1508760"/>
          </a:xfrm>
          <a:prstGeom prst="rect">
            <a:avLst/>
          </a:prstGeom>
          <a:noFill/>
          <a:ln/>
        </p:spPr>
        <p:txBody>
          <a:bodyPr wrap="square" rtlCol="0" anchor="t"/>
          <a:lstStyle/>
          <a:p>
            <a:pPr marL="342900" indent="-342900">
              <a:spcAft>
                <a:spcPts val="700"/>
              </a:spcAft>
              <a:buSzPct val="100000"/>
              <a:buChar char="•"/>
            </a:pPr>
            <a:r>
              <a:rPr lang="en-US" sz="950" dirty="0">
                <a:solidFill>
                  <a:srgbClr val="1E293B"/>
                </a:solidFill>
                <a:latin typeface="Calibri" pitchFamily="34" charset="0"/>
                <a:ea typeface="Calibri" pitchFamily="34" charset="-122"/>
                <a:cs typeface="Calibri" pitchFamily="34" charset="-120"/>
              </a:rPr>
              <a:t>Alert: HTTP 5xx error rate &gt; 5% for 5 minutes → SMS + Email to on-call team</a:t>
            </a:r>
            <a:endParaRPr lang="en-US" sz="950" dirty="0"/>
          </a:p>
          <a:p>
            <a:pPr marL="342900" indent="-342900">
              <a:spcAft>
                <a:spcPts val="700"/>
              </a:spcAft>
              <a:buSzPct val="100000"/>
              <a:buChar char="•"/>
            </a:pPr>
            <a:r>
              <a:rPr lang="en-US" sz="950" dirty="0">
                <a:solidFill>
                  <a:srgbClr val="1E293B"/>
                </a:solidFill>
                <a:latin typeface="Calibri" pitchFamily="34" charset="0"/>
                <a:ea typeface="Calibri" pitchFamily="34" charset="-122"/>
                <a:cs typeface="Calibri" pitchFamily="34" charset="-120"/>
              </a:rPr>
              <a:t>Alert: Response time p95 &gt; 2 seconds → Teams notification + auto-scale trigger</a:t>
            </a:r>
            <a:endParaRPr lang="en-US" sz="950" dirty="0"/>
          </a:p>
          <a:p>
            <a:pPr marL="342900" indent="-342900">
              <a:spcAft>
                <a:spcPts val="700"/>
              </a:spcAft>
              <a:buSzPct val="100000"/>
              <a:buChar char="•"/>
            </a:pPr>
            <a:r>
              <a:rPr lang="en-US" sz="950" dirty="0">
                <a:solidFill>
                  <a:srgbClr val="1E293B"/>
                </a:solidFill>
                <a:latin typeface="Calibri" pitchFamily="34" charset="0"/>
                <a:ea typeface="Calibri" pitchFamily="34" charset="-122"/>
                <a:cs typeface="Calibri" pitchFamily="34" charset="-120"/>
              </a:rPr>
              <a:t>Alert: SQL DTU &gt; 80% for 10 minutes → auto-scale database tier</a:t>
            </a:r>
            <a:endParaRPr lang="en-US" sz="950" dirty="0"/>
          </a:p>
          <a:p>
            <a:pPr marL="342900" indent="-342900">
              <a:spcAft>
                <a:spcPts val="700"/>
              </a:spcAft>
              <a:buSzPct val="100000"/>
              <a:buChar char="•"/>
            </a:pPr>
            <a:r>
              <a:rPr lang="en-US" sz="950" dirty="0">
                <a:solidFill>
                  <a:srgbClr val="1E293B"/>
                </a:solidFill>
                <a:latin typeface="Calibri" pitchFamily="34" charset="0"/>
                <a:ea typeface="Calibri" pitchFamily="34" charset="-122"/>
                <a:cs typeface="Calibri" pitchFamily="34" charset="-120"/>
              </a:rPr>
              <a:t>Alert: Application restart → immediate PagerDuty incident creation</a:t>
            </a:r>
            <a:endParaRPr lang="en-US" sz="950" dirty="0"/>
          </a:p>
          <a:p>
            <a:pPr marL="342900" indent="-342900">
              <a:spcAft>
                <a:spcPts val="700"/>
              </a:spcAft>
              <a:buSzPct val="100000"/>
              <a:buChar char="•"/>
            </a:pPr>
            <a:r>
              <a:rPr lang="en-US" sz="950" dirty="0">
                <a:solidFill>
                  <a:srgbClr val="1E293B"/>
                </a:solidFill>
                <a:latin typeface="Calibri" pitchFamily="34" charset="0"/>
                <a:ea typeface="Calibri" pitchFamily="34" charset="-122"/>
                <a:cs typeface="Calibri" pitchFamily="34" charset="-120"/>
              </a:rPr>
              <a:t>Action Groups: Email, SMS, Teams, Logic Apps, Azure Functions, Webhooks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rgbClr val="283593"/>
          </a:solidFill>
          <a:ln w="12700">
            <a:solidFill>
              <a:srgbClr val="283593"/>
            </a:solidFill>
            <a:prstDash val="solid"/>
          </a:ln>
        </p:spPr>
      </p:sp>
      <p:sp>
        <p:nvSpPr>
          <p:cNvPr id="3" name="Shape 1"/>
          <p:cNvSpPr/>
          <p:nvPr/>
        </p:nvSpPr>
        <p:spPr>
          <a:xfrm>
            <a:off x="0" y="0"/>
            <a:ext cx="320040" cy="5143500"/>
          </a:xfrm>
          <a:prstGeom prst="rect">
            <a:avLst/>
          </a:prstGeom>
          <a:solidFill>
            <a:srgbClr val="00897B"/>
          </a:solidFill>
          <a:ln w="12700">
            <a:solidFill>
              <a:srgbClr val="00897B"/>
            </a:solidFill>
            <a:prstDash val="solid"/>
          </a:ln>
        </p:spPr>
      </p:sp>
      <p:sp>
        <p:nvSpPr>
          <p:cNvPr id="4" name="Text 2"/>
          <p:cNvSpPr/>
          <p:nvPr/>
        </p:nvSpPr>
        <p:spPr>
          <a:xfrm>
            <a:off x="457200" y="182880"/>
            <a:ext cx="8229600" cy="365760"/>
          </a:xfrm>
          <a:prstGeom prst="rect">
            <a:avLst/>
          </a:prstGeom>
          <a:noFill/>
          <a:ln/>
        </p:spPr>
        <p:txBody>
          <a:bodyPr wrap="square" lIns="0" tIns="0" rIns="0" bIns="0" rtlCol="0" anchor="ctr"/>
          <a:lstStyle/>
          <a:p>
            <a:pPr indent="0" marL="0">
              <a:buNone/>
            </a:pPr>
            <a:r>
              <a:rPr lang="en-US" sz="1300" b="1" spc="300" kern="0" dirty="0">
                <a:solidFill>
                  <a:srgbClr val="90CAF9"/>
                </a:solidFill>
                <a:latin typeface="Calibri" pitchFamily="34" charset="0"/>
                <a:ea typeface="Calibri" pitchFamily="34" charset="-122"/>
                <a:cs typeface="Calibri" pitchFamily="34" charset="-120"/>
              </a:rPr>
              <a:t>Session 02</a:t>
            </a:r>
            <a:endParaRPr lang="en-US" sz="1300" dirty="0"/>
          </a:p>
        </p:txBody>
      </p:sp>
      <p:sp>
        <p:nvSpPr>
          <p:cNvPr id="5" name="Text 3"/>
          <p:cNvSpPr/>
          <p:nvPr/>
        </p:nvSpPr>
        <p:spPr>
          <a:xfrm>
            <a:off x="457200" y="530352"/>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6" name="Shape 4"/>
          <p:cNvSpPr/>
          <p:nvPr/>
        </p:nvSpPr>
        <p:spPr>
          <a:xfrm>
            <a:off x="457200" y="1298448"/>
            <a:ext cx="2743200" cy="1371600"/>
          </a:xfrm>
          <a:prstGeom prst="rect">
            <a:avLst/>
          </a:prstGeom>
          <a:solidFill>
            <a:srgbClr val="283593"/>
          </a:solidFill>
          <a:ln w="19050">
            <a:solidFill>
              <a:srgbClr val="1565C0"/>
            </a:solidFill>
            <a:prstDash val="solid"/>
          </a:ln>
        </p:spPr>
      </p:sp>
      <p:sp>
        <p:nvSpPr>
          <p:cNvPr id="7" name="Shape 5"/>
          <p:cNvSpPr/>
          <p:nvPr/>
        </p:nvSpPr>
        <p:spPr>
          <a:xfrm>
            <a:off x="457200" y="1298448"/>
            <a:ext cx="320040" cy="1371600"/>
          </a:xfrm>
          <a:prstGeom prst="rect">
            <a:avLst/>
          </a:prstGeom>
          <a:solidFill>
            <a:srgbClr val="1565C0"/>
          </a:solidFill>
          <a:ln w="12700">
            <a:solidFill>
              <a:srgbClr val="1565C0"/>
            </a:solidFill>
            <a:prstDash val="solid"/>
          </a:ln>
        </p:spPr>
      </p:sp>
      <p:sp>
        <p:nvSpPr>
          <p:cNvPr id="8" name="Text 6"/>
          <p:cNvSpPr/>
          <p:nvPr/>
        </p:nvSpPr>
        <p:spPr>
          <a:xfrm>
            <a:off x="86868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IaC Philosophy</a:t>
            </a:r>
            <a:endParaRPr lang="en-US" sz="1200" dirty="0"/>
          </a:p>
        </p:txBody>
      </p:sp>
      <p:sp>
        <p:nvSpPr>
          <p:cNvPr id="9" name="Text 7"/>
          <p:cNvSpPr/>
          <p:nvPr/>
        </p:nvSpPr>
        <p:spPr>
          <a:xfrm>
            <a:off x="86868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Declarative beats imperative. Idempotency, consistency, repeatability, auditability.</a:t>
            </a:r>
            <a:endParaRPr lang="en-US" sz="950" dirty="0"/>
          </a:p>
        </p:txBody>
      </p:sp>
      <p:sp>
        <p:nvSpPr>
          <p:cNvPr id="10" name="Shape 8"/>
          <p:cNvSpPr/>
          <p:nvPr/>
        </p:nvSpPr>
        <p:spPr>
          <a:xfrm>
            <a:off x="3337560" y="1298448"/>
            <a:ext cx="2743200" cy="1371600"/>
          </a:xfrm>
          <a:prstGeom prst="rect">
            <a:avLst/>
          </a:prstGeom>
          <a:solidFill>
            <a:srgbClr val="283593"/>
          </a:solidFill>
          <a:ln w="19050">
            <a:solidFill>
              <a:srgbClr val="00897B"/>
            </a:solidFill>
            <a:prstDash val="solid"/>
          </a:ln>
        </p:spPr>
      </p:sp>
      <p:sp>
        <p:nvSpPr>
          <p:cNvPr id="11" name="Shape 9"/>
          <p:cNvSpPr/>
          <p:nvPr/>
        </p:nvSpPr>
        <p:spPr>
          <a:xfrm>
            <a:off x="3337560" y="1298448"/>
            <a:ext cx="320040" cy="1371600"/>
          </a:xfrm>
          <a:prstGeom prst="rect">
            <a:avLst/>
          </a:prstGeom>
          <a:solidFill>
            <a:srgbClr val="00897B"/>
          </a:solidFill>
          <a:ln w="12700">
            <a:solidFill>
              <a:srgbClr val="00897B"/>
            </a:solidFill>
            <a:prstDash val="solid"/>
          </a:ln>
        </p:spPr>
      </p:sp>
      <p:sp>
        <p:nvSpPr>
          <p:cNvPr id="12" name="Text 10"/>
          <p:cNvSpPr/>
          <p:nvPr/>
        </p:nvSpPr>
        <p:spPr>
          <a:xfrm>
            <a:off x="374904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Bicep</a:t>
            </a:r>
            <a:endParaRPr lang="en-US" sz="1200" dirty="0"/>
          </a:p>
        </p:txBody>
      </p:sp>
      <p:sp>
        <p:nvSpPr>
          <p:cNvPr id="13" name="Text 11"/>
          <p:cNvSpPr/>
          <p:nvPr/>
        </p:nvSpPr>
        <p:spPr>
          <a:xfrm>
            <a:off x="374904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Modern IaC compiling to ARM. Environment-aware, @secure params, clean syntax.</a:t>
            </a:r>
            <a:endParaRPr lang="en-US" sz="950" dirty="0"/>
          </a:p>
        </p:txBody>
      </p:sp>
      <p:sp>
        <p:nvSpPr>
          <p:cNvPr id="14" name="Shape 12"/>
          <p:cNvSpPr/>
          <p:nvPr/>
        </p:nvSpPr>
        <p:spPr>
          <a:xfrm>
            <a:off x="6217920" y="1298448"/>
            <a:ext cx="2743200" cy="1371600"/>
          </a:xfrm>
          <a:prstGeom prst="rect">
            <a:avLst/>
          </a:prstGeom>
          <a:solidFill>
            <a:srgbClr val="283593"/>
          </a:solidFill>
          <a:ln w="19050">
            <a:solidFill>
              <a:srgbClr val="E65100"/>
            </a:solidFill>
            <a:prstDash val="solid"/>
          </a:ln>
        </p:spPr>
      </p:sp>
      <p:sp>
        <p:nvSpPr>
          <p:cNvPr id="15" name="Shape 13"/>
          <p:cNvSpPr/>
          <p:nvPr/>
        </p:nvSpPr>
        <p:spPr>
          <a:xfrm>
            <a:off x="6217920" y="1298448"/>
            <a:ext cx="320040" cy="1371600"/>
          </a:xfrm>
          <a:prstGeom prst="rect">
            <a:avLst/>
          </a:prstGeom>
          <a:solidFill>
            <a:srgbClr val="E65100"/>
          </a:solidFill>
          <a:ln w="12700">
            <a:solidFill>
              <a:srgbClr val="E65100"/>
            </a:solidFill>
            <a:prstDash val="solid"/>
          </a:ln>
        </p:spPr>
      </p:sp>
      <p:sp>
        <p:nvSpPr>
          <p:cNvPr id="16" name="Text 14"/>
          <p:cNvSpPr/>
          <p:nvPr/>
        </p:nvSpPr>
        <p:spPr>
          <a:xfrm>
            <a:off x="662940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VNet &amp; NSGs</a:t>
            </a:r>
            <a:endParaRPr lang="en-US" sz="1200" dirty="0"/>
          </a:p>
        </p:txBody>
      </p:sp>
      <p:sp>
        <p:nvSpPr>
          <p:cNvPr id="17" name="Text 15"/>
          <p:cNvSpPr/>
          <p:nvPr/>
        </p:nvSpPr>
        <p:spPr>
          <a:xfrm>
            <a:off x="662940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Private subnets, NSG rules, Private Endpoints. Defense in Depth across 8 layers.</a:t>
            </a:r>
            <a:endParaRPr lang="en-US" sz="950" dirty="0"/>
          </a:p>
        </p:txBody>
      </p:sp>
      <p:sp>
        <p:nvSpPr>
          <p:cNvPr id="18" name="Shape 16"/>
          <p:cNvSpPr/>
          <p:nvPr/>
        </p:nvSpPr>
        <p:spPr>
          <a:xfrm>
            <a:off x="457200" y="2779776"/>
            <a:ext cx="2743200" cy="1371600"/>
          </a:xfrm>
          <a:prstGeom prst="rect">
            <a:avLst/>
          </a:prstGeom>
          <a:solidFill>
            <a:srgbClr val="283593"/>
          </a:solidFill>
          <a:ln w="19050">
            <a:solidFill>
              <a:srgbClr val="B71C1C"/>
            </a:solidFill>
            <a:prstDash val="solid"/>
          </a:ln>
        </p:spPr>
      </p:sp>
      <p:sp>
        <p:nvSpPr>
          <p:cNvPr id="19" name="Shape 17"/>
          <p:cNvSpPr/>
          <p:nvPr/>
        </p:nvSpPr>
        <p:spPr>
          <a:xfrm>
            <a:off x="457200" y="2779776"/>
            <a:ext cx="320040" cy="1371600"/>
          </a:xfrm>
          <a:prstGeom prst="rect">
            <a:avLst/>
          </a:prstGeom>
          <a:solidFill>
            <a:srgbClr val="B71C1C"/>
          </a:solidFill>
          <a:ln w="12700">
            <a:solidFill>
              <a:srgbClr val="B71C1C"/>
            </a:solidFill>
            <a:prstDash val="solid"/>
          </a:ln>
        </p:spPr>
      </p:sp>
      <p:sp>
        <p:nvSpPr>
          <p:cNvPr id="20" name="Text 18"/>
          <p:cNvSpPr/>
          <p:nvPr/>
        </p:nvSpPr>
        <p:spPr>
          <a:xfrm>
            <a:off x="86868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Key Vault + MI</a:t>
            </a:r>
            <a:endParaRPr lang="en-US" sz="1200" dirty="0"/>
          </a:p>
        </p:txBody>
      </p:sp>
      <p:sp>
        <p:nvSpPr>
          <p:cNvPr id="21" name="Text 19"/>
          <p:cNvSpPr/>
          <p:nvPr/>
        </p:nvSpPr>
        <p:spPr>
          <a:xfrm>
            <a:off x="86868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Zero-credential security. Managed Identity eliminates the Secret Zero problem forever.</a:t>
            </a:r>
            <a:endParaRPr lang="en-US" sz="950" dirty="0"/>
          </a:p>
        </p:txBody>
      </p:sp>
      <p:sp>
        <p:nvSpPr>
          <p:cNvPr id="22" name="Shape 20"/>
          <p:cNvSpPr/>
          <p:nvPr/>
        </p:nvSpPr>
        <p:spPr>
          <a:xfrm>
            <a:off x="3337560" y="2779776"/>
            <a:ext cx="2743200" cy="1371600"/>
          </a:xfrm>
          <a:prstGeom prst="rect">
            <a:avLst/>
          </a:prstGeom>
          <a:solidFill>
            <a:srgbClr val="283593"/>
          </a:solidFill>
          <a:ln w="19050">
            <a:solidFill>
              <a:srgbClr val="6D28D9"/>
            </a:solidFill>
            <a:prstDash val="solid"/>
          </a:ln>
        </p:spPr>
      </p:sp>
      <p:sp>
        <p:nvSpPr>
          <p:cNvPr id="23" name="Shape 21"/>
          <p:cNvSpPr/>
          <p:nvPr/>
        </p:nvSpPr>
        <p:spPr>
          <a:xfrm>
            <a:off x="3337560" y="2779776"/>
            <a:ext cx="320040" cy="1371600"/>
          </a:xfrm>
          <a:prstGeom prst="rect">
            <a:avLst/>
          </a:prstGeom>
          <a:solidFill>
            <a:srgbClr val="6D28D9"/>
          </a:solidFill>
          <a:ln w="12700">
            <a:solidFill>
              <a:srgbClr val="6D28D9"/>
            </a:solidFill>
            <a:prstDash val="solid"/>
          </a:ln>
        </p:spPr>
      </p:sp>
      <p:sp>
        <p:nvSpPr>
          <p:cNvPr id="24" name="Text 22"/>
          <p:cNvSpPr/>
          <p:nvPr/>
        </p:nvSpPr>
        <p:spPr>
          <a:xfrm>
            <a:off x="374904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Azure AD &amp; RBAC</a:t>
            </a:r>
            <a:endParaRPr lang="en-US" sz="1200" dirty="0"/>
          </a:p>
        </p:txBody>
      </p:sp>
      <p:sp>
        <p:nvSpPr>
          <p:cNvPr id="25" name="Text 23"/>
          <p:cNvSpPr/>
          <p:nvPr/>
        </p:nvSpPr>
        <p:spPr>
          <a:xfrm>
            <a:off x="374904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Authentication + Authorization. Least privilege at Resource Group scope.</a:t>
            </a:r>
            <a:endParaRPr lang="en-US" sz="950" dirty="0"/>
          </a:p>
        </p:txBody>
      </p:sp>
      <p:sp>
        <p:nvSpPr>
          <p:cNvPr id="26" name="Shape 24"/>
          <p:cNvSpPr/>
          <p:nvPr/>
        </p:nvSpPr>
        <p:spPr>
          <a:xfrm>
            <a:off x="6217920" y="2779776"/>
            <a:ext cx="2743200" cy="1371600"/>
          </a:xfrm>
          <a:prstGeom prst="rect">
            <a:avLst/>
          </a:prstGeom>
          <a:solidFill>
            <a:srgbClr val="283593"/>
          </a:solidFill>
          <a:ln w="19050">
            <a:solidFill>
              <a:srgbClr val="43A047"/>
            </a:solidFill>
            <a:prstDash val="solid"/>
          </a:ln>
        </p:spPr>
      </p:sp>
      <p:sp>
        <p:nvSpPr>
          <p:cNvPr id="27" name="Shape 25"/>
          <p:cNvSpPr/>
          <p:nvPr/>
        </p:nvSpPr>
        <p:spPr>
          <a:xfrm>
            <a:off x="6217920" y="2779776"/>
            <a:ext cx="320040" cy="1371600"/>
          </a:xfrm>
          <a:prstGeom prst="rect">
            <a:avLst/>
          </a:prstGeom>
          <a:solidFill>
            <a:srgbClr val="43A047"/>
          </a:solidFill>
          <a:ln w="12700">
            <a:solidFill>
              <a:srgbClr val="43A047"/>
            </a:solidFill>
            <a:prstDash val="solid"/>
          </a:ln>
        </p:spPr>
      </p:sp>
      <p:sp>
        <p:nvSpPr>
          <p:cNvPr id="28" name="Text 26"/>
          <p:cNvSpPr/>
          <p:nvPr/>
        </p:nvSpPr>
        <p:spPr>
          <a:xfrm>
            <a:off x="662940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DevOps + Monitor</a:t>
            </a:r>
            <a:endParaRPr lang="en-US" sz="1200" dirty="0"/>
          </a:p>
        </p:txBody>
      </p:sp>
      <p:sp>
        <p:nvSpPr>
          <p:cNvPr id="29" name="Text 27"/>
          <p:cNvSpPr/>
          <p:nvPr/>
        </p:nvSpPr>
        <p:spPr>
          <a:xfrm>
            <a:off x="662940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Automated CI/CD pipeline. Three pillars of observability: metrics, logs, traces.</a:t>
            </a:r>
            <a:endParaRPr lang="en-US" sz="950" dirty="0"/>
          </a:p>
        </p:txBody>
      </p:sp>
      <p:sp>
        <p:nvSpPr>
          <p:cNvPr id="30" name="Text 28"/>
          <p:cNvSpPr/>
          <p:nvPr/>
        </p:nvSpPr>
        <p:spPr>
          <a:xfrm>
            <a:off x="457200" y="4846320"/>
            <a:ext cx="8229600" cy="274320"/>
          </a:xfrm>
          <a:prstGeom prst="rect">
            <a:avLst/>
          </a:prstGeom>
          <a:noFill/>
          <a:ln/>
        </p:spPr>
        <p:txBody>
          <a:bodyPr wrap="square" lIns="0" tIns="0" rIns="0" bIns="0" rtlCol="0" anchor="ctr"/>
          <a:lstStyle/>
          <a:p>
            <a:pPr indent="0" marL="0">
              <a:buNone/>
            </a:pPr>
            <a:r>
              <a:rPr lang="en-US" sz="900" dirty="0">
                <a:solidFill>
                  <a:srgbClr val="90CAF9"/>
                </a:solidFill>
                <a:latin typeface="Calibri" pitchFamily="34" charset="0"/>
                <a:ea typeface="Calibri" pitchFamily="34" charset="-122"/>
                <a:cs typeface="Calibri" pitchFamily="34" charset="-120"/>
              </a:rPr>
              <a:t>Next: Microservices, Containers &amp; Advanced Architecture →  Session 03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5120640" y="0"/>
            <a:ext cx="4023360" cy="5143500"/>
          </a:xfrm>
          <a:prstGeom prst="rect">
            <a:avLst/>
          </a:prstGeom>
          <a:solidFill>
            <a:srgbClr val="DBEAFE"/>
          </a:solidFill>
          <a:ln w="12700">
            <a:solidFill>
              <a:srgbClr val="DBEAFE"/>
            </a:solidFill>
            <a:prstDash val="solid"/>
          </a:ln>
        </p:spPr>
      </p:sp>
      <p:sp>
        <p:nvSpPr>
          <p:cNvPr id="3" name="Shape 1"/>
          <p:cNvSpPr/>
          <p:nvPr/>
        </p:nvSpPr>
        <p:spPr>
          <a:xfrm>
            <a:off x="5120640" y="0"/>
            <a:ext cx="118872" cy="5143500"/>
          </a:xfrm>
          <a:prstGeom prst="rect">
            <a:avLst/>
          </a:prstGeom>
          <a:solidFill>
            <a:srgbClr val="00ACC1"/>
          </a:solidFill>
          <a:ln w="12700">
            <a:solidFill>
              <a:srgbClr val="00ACC1"/>
            </a:solidFill>
            <a:prstDash val="solid"/>
          </a:ln>
        </p:spPr>
      </p:sp>
      <p:sp>
        <p:nvSpPr>
          <p:cNvPr id="4" name="Shape 2"/>
          <p:cNvSpPr/>
          <p:nvPr/>
        </p:nvSpPr>
        <p:spPr>
          <a:xfrm>
            <a:off x="0" y="4937760"/>
            <a:ext cx="5120640" cy="205740"/>
          </a:xfrm>
          <a:prstGeom prst="rect">
            <a:avLst/>
          </a:prstGeom>
          <a:solidFill>
            <a:srgbClr val="283593"/>
          </a:solidFill>
          <a:ln w="12700">
            <a:solidFill>
              <a:srgbClr val="283593"/>
            </a:solidFill>
            <a:prstDash val="solid"/>
          </a:ln>
        </p:spPr>
      </p:sp>
      <p:sp>
        <p:nvSpPr>
          <p:cNvPr id="5" name="Text 3"/>
          <p:cNvSpPr/>
          <p:nvPr/>
        </p:nvSpPr>
        <p:spPr>
          <a:xfrm>
            <a:off x="274320" y="274320"/>
            <a:ext cx="4572000" cy="2011680"/>
          </a:xfrm>
          <a:prstGeom prst="rect">
            <a:avLst/>
          </a:prstGeom>
          <a:noFill/>
          <a:ln/>
        </p:spPr>
        <p:txBody>
          <a:bodyPr wrap="square" lIns="0" tIns="0" rIns="0" bIns="0" rtlCol="0" anchor="ctr"/>
          <a:lstStyle/>
          <a:p>
            <a:pPr indent="0" marL="0">
              <a:buNone/>
            </a:pPr>
            <a:r>
              <a:rPr lang="en-US" sz="11000" b="1" dirty="0">
                <a:solidFill>
                  <a:srgbClr val="283593"/>
                </a:solidFill>
                <a:latin typeface="Trebuchet MS" pitchFamily="34" charset="0"/>
                <a:ea typeface="Trebuchet MS" pitchFamily="34" charset="-122"/>
                <a:cs typeface="Trebuchet MS" pitchFamily="34" charset="-120"/>
              </a:rPr>
              <a:t>03</a:t>
            </a:r>
            <a:endParaRPr lang="en-US" sz="11000" dirty="0"/>
          </a:p>
        </p:txBody>
      </p:sp>
      <p:sp>
        <p:nvSpPr>
          <p:cNvPr id="6" name="Text 4"/>
          <p:cNvSpPr/>
          <p:nvPr/>
        </p:nvSpPr>
        <p:spPr>
          <a:xfrm>
            <a:off x="320040" y="2240280"/>
            <a:ext cx="4572000" cy="685800"/>
          </a:xfrm>
          <a:prstGeom prst="rect">
            <a:avLst/>
          </a:prstGeom>
          <a:noFill/>
          <a:ln/>
        </p:spPr>
        <p:txBody>
          <a:bodyPr wrap="square" lIns="0" tIns="0" rIns="0" bIns="0" rtlCol="0" anchor="ctr"/>
          <a:lstStyle/>
          <a:p>
            <a:pPr indent="0" marL="0">
              <a:buNone/>
            </a:pPr>
            <a:r>
              <a:rPr lang="en-US" sz="2500" b="1" dirty="0">
                <a:solidFill>
                  <a:srgbClr val="FFFFFF"/>
                </a:solidFill>
                <a:latin typeface="Trebuchet MS" pitchFamily="34" charset="0"/>
                <a:ea typeface="Trebuchet MS" pitchFamily="34" charset="-122"/>
                <a:cs typeface="Trebuchet MS" pitchFamily="34" charset="-120"/>
              </a:rPr>
              <a:t>Microservices,</a:t>
            </a:r>
            <a:endParaRPr lang="en-US" sz="2500" dirty="0"/>
          </a:p>
          <a:p>
            <a:pPr indent="0" marL="0">
              <a:buNone/>
            </a:pPr>
            <a:r>
              <a:rPr lang="en-US" sz="2500" b="1" dirty="0">
                <a:solidFill>
                  <a:srgbClr val="FFFFFF"/>
                </a:solidFill>
                <a:latin typeface="Trebuchet MS" pitchFamily="34" charset="0"/>
                <a:ea typeface="Trebuchet MS" pitchFamily="34" charset="-122"/>
                <a:cs typeface="Trebuchet MS" pitchFamily="34" charset="-120"/>
              </a:rPr>
              <a:t>Containers &amp; Messaging</a:t>
            </a:r>
            <a:endParaRPr lang="en-US" sz="2500" dirty="0"/>
          </a:p>
        </p:txBody>
      </p:sp>
      <p:sp>
        <p:nvSpPr>
          <p:cNvPr id="7" name="Text 5"/>
          <p:cNvSpPr/>
          <p:nvPr/>
        </p:nvSpPr>
        <p:spPr>
          <a:xfrm>
            <a:off x="320040" y="2926080"/>
            <a:ext cx="4572000" cy="502920"/>
          </a:xfrm>
          <a:prstGeom prst="rect">
            <a:avLst/>
          </a:prstGeom>
          <a:noFill/>
          <a:ln/>
        </p:spPr>
        <p:txBody>
          <a:bodyPr wrap="square" lIns="0" tIns="0" rIns="0" bIns="0" rtlCol="0" anchor="ctr"/>
          <a:lstStyle/>
          <a:p>
            <a:pPr indent="0" marL="0">
              <a:buNone/>
            </a:pPr>
            <a:r>
              <a:rPr lang="en-US" sz="1250" dirty="0">
                <a:solidFill>
                  <a:srgbClr val="90CAF9"/>
                </a:solidFill>
                <a:latin typeface="Calibri" pitchFamily="34" charset="0"/>
                <a:ea typeface="Calibri" pitchFamily="34" charset="-122"/>
                <a:cs typeface="Calibri" pitchFamily="34" charset="-120"/>
              </a:rPr>
              <a:t>Advanced Architecture Patterns for Enterprise-Scale Systems</a:t>
            </a:r>
            <a:endParaRPr lang="en-US" sz="1250" dirty="0"/>
          </a:p>
        </p:txBody>
      </p:sp>
      <p:sp>
        <p:nvSpPr>
          <p:cNvPr id="8" name="Text 6"/>
          <p:cNvSpPr/>
          <p:nvPr/>
        </p:nvSpPr>
        <p:spPr>
          <a:xfrm>
            <a:off x="320040" y="4956048"/>
            <a:ext cx="4480560" cy="164592"/>
          </a:xfrm>
          <a:prstGeom prst="rect">
            <a:avLst/>
          </a:prstGeom>
          <a:noFill/>
          <a:ln/>
        </p:spPr>
        <p:txBody>
          <a:bodyPr wrap="square" lIns="0" tIns="0" rIns="0" bIns="0" rtlCol="0" anchor="ctr"/>
          <a:lstStyle/>
          <a:p>
            <a:pPr indent="0" marL="0">
              <a:buNone/>
            </a:pPr>
            <a:r>
              <a:rPr lang="en-US" sz="750" dirty="0">
                <a:solidFill>
                  <a:srgbClr val="90CAF9"/>
                </a:solidFill>
              </a:rPr>
              <a:t>Azure Cloud Masterclass</a:t>
            </a:r>
            <a:endParaRPr lang="en-US" sz="750" dirty="0"/>
          </a:p>
        </p:txBody>
      </p:sp>
      <p:sp>
        <p:nvSpPr>
          <p:cNvPr id="9" name="Text 7"/>
          <p:cNvSpPr/>
          <p:nvPr/>
        </p:nvSpPr>
        <p:spPr>
          <a:xfrm>
            <a:off x="5394960" y="274320"/>
            <a:ext cx="347472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KEY TOPICS</a:t>
            </a:r>
            <a:endParaRPr lang="en-US" sz="1000" dirty="0"/>
          </a:p>
        </p:txBody>
      </p:sp>
      <p:sp>
        <p:nvSpPr>
          <p:cNvPr id="10" name="Text 8"/>
          <p:cNvSpPr/>
          <p:nvPr/>
        </p:nvSpPr>
        <p:spPr>
          <a:xfrm>
            <a:off x="5394960" y="594360"/>
            <a:ext cx="3520440" cy="4297680"/>
          </a:xfrm>
          <a:prstGeom prst="rect">
            <a:avLst/>
          </a:prstGeom>
          <a:noFill/>
          <a:ln/>
        </p:spPr>
        <p:txBody>
          <a:bodyPr wrap="square" rtlCol="0" anchor="t"/>
          <a:lstStyle/>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Monolith vs Microservices — The Problem</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Service Bus — Async Messaging</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Pub/Sub Pattern — Topics &amp; Subscriptions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Messaging: Service Bus vs Event Hub vs Event Grid</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Docker — Containers from First Principles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Container Registry (ACR)</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Kubernetes Service (AKS)</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Redis Cache — Caching Strategy</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Azure API Management &amp; Terraform</a:t>
            </a:r>
            <a:endParaRPr lang="en-US" sz="1100" dirty="0"/>
          </a:p>
          <a:p>
            <a:pPr marL="342900" indent="-342900">
              <a:spcAft>
                <a:spcPts val="800"/>
              </a:spcAft>
              <a:buSzPct val="100000"/>
              <a:buChar char="•"/>
            </a:pPr>
            <a:r>
              <a:rPr lang="en-US" sz="1100" dirty="0">
                <a:solidFill>
                  <a:srgbClr val="1565C0"/>
                </a:solidFill>
                <a:latin typeface="Calibri" pitchFamily="34" charset="0"/>
                <a:ea typeface="Calibri" pitchFamily="34" charset="-122"/>
                <a:cs typeface="Calibri" pitchFamily="34" charset="-120"/>
              </a:rPr>
              <a:t>Cost Management &amp; Optimization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Architecture</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Monolith vs Microservices — Why Decomposition Matters</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As MediCare grows from 5 to 50 developers across 15 hospitals, the monolith becomes the bottleneck.</a:t>
            </a:r>
            <a:endParaRPr lang="en-US" sz="1050" dirty="0"/>
          </a:p>
        </p:txBody>
      </p:sp>
      <p:sp>
        <p:nvSpPr>
          <p:cNvPr id="10" name="Shape 8"/>
          <p:cNvSpPr/>
          <p:nvPr/>
        </p:nvSpPr>
        <p:spPr>
          <a:xfrm>
            <a:off x="228600" y="1069848"/>
            <a:ext cx="4206240" cy="347472"/>
          </a:xfrm>
          <a:prstGeom prst="rect">
            <a:avLst/>
          </a:prstGeom>
          <a:solidFill>
            <a:srgbClr val="B71C1C"/>
          </a:solidFill>
          <a:ln w="12700">
            <a:solidFill>
              <a:srgbClr val="B71C1C"/>
            </a:solidFill>
            <a:prstDash val="solid"/>
          </a:ln>
        </p:spPr>
      </p:sp>
      <p:sp>
        <p:nvSpPr>
          <p:cNvPr id="11" name="Text 9"/>
          <p:cNvSpPr/>
          <p:nvPr/>
        </p:nvSpPr>
        <p:spPr>
          <a:xfrm>
            <a:off x="320040" y="1069848"/>
            <a:ext cx="402336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Monolith Problems — MediCare Reality</a:t>
            </a:r>
            <a:endParaRPr lang="en-US" sz="1200" dirty="0"/>
          </a:p>
        </p:txBody>
      </p:sp>
      <p:sp>
        <p:nvSpPr>
          <p:cNvPr id="12" name="Text 10"/>
          <p:cNvSpPr/>
          <p:nvPr/>
        </p:nvSpPr>
        <p:spPr>
          <a:xfrm>
            <a:off x="228600" y="1444752"/>
            <a:ext cx="4206240" cy="2148840"/>
          </a:xfrm>
          <a:prstGeom prst="rect">
            <a:avLst/>
          </a:prstGeom>
          <a:noFill/>
          <a:ln/>
        </p:spPr>
        <p:txBody>
          <a:bodyPr wrap="square" rtlCol="0" anchor="t"/>
          <a:lstStyle/>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Billing bug fix → redeploy ENTIRE app → all 15 hospitals impacted</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Imaging module consumes CPU → starves appointment booking</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New regulation: billing needs different DB → refactor whole system</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50 developers on same codebase → daily merge conflicts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Can't independently scale the high-traffic booking module</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One memory leak crashes the entire hospital system</a:t>
            </a:r>
            <a:endParaRPr lang="en-US" sz="1050" dirty="0"/>
          </a:p>
        </p:txBody>
      </p:sp>
      <p:sp>
        <p:nvSpPr>
          <p:cNvPr id="13" name="Shape 11"/>
          <p:cNvSpPr/>
          <p:nvPr/>
        </p:nvSpPr>
        <p:spPr>
          <a:xfrm>
            <a:off x="4663440" y="1069848"/>
            <a:ext cx="4251960" cy="347472"/>
          </a:xfrm>
          <a:prstGeom prst="rect">
            <a:avLst/>
          </a:prstGeom>
          <a:solidFill>
            <a:srgbClr val="43A047"/>
          </a:solidFill>
          <a:ln w="12700">
            <a:solidFill>
              <a:srgbClr val="43A047"/>
            </a:solidFill>
            <a:prstDash val="solid"/>
          </a:ln>
        </p:spPr>
      </p:sp>
      <p:sp>
        <p:nvSpPr>
          <p:cNvPr id="14" name="Text 12"/>
          <p:cNvSpPr/>
          <p:nvPr/>
        </p:nvSpPr>
        <p:spPr>
          <a:xfrm>
            <a:off x="4754880" y="1069848"/>
            <a:ext cx="406908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Microservices Benefits — Azure Solution</a:t>
            </a:r>
            <a:endParaRPr lang="en-US" sz="1200" dirty="0"/>
          </a:p>
        </p:txBody>
      </p:sp>
      <p:sp>
        <p:nvSpPr>
          <p:cNvPr id="15" name="Text 13"/>
          <p:cNvSpPr/>
          <p:nvPr/>
        </p:nvSpPr>
        <p:spPr>
          <a:xfrm>
            <a:off x="4663440" y="1444752"/>
            <a:ext cx="4251960" cy="2148840"/>
          </a:xfrm>
          <a:prstGeom prst="rect">
            <a:avLst/>
          </a:prstGeom>
          <a:noFill/>
          <a:ln/>
        </p:spPr>
        <p:txBody>
          <a:bodyPr wrap="square" rtlCol="0" anchor="t"/>
          <a:lstStyle/>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Independent deployment — billing updates don't touch appointment booking</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Isolated failures — imaging outage doesn't affect patient records</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Independent scaling — scale appointment service 10x, billing stays at 1x</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Technology freedom — imaging can use Python, billing uses Java</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Small teams own services — 5-person team owns appointment-service end-to-end</a:t>
            </a:r>
            <a:endParaRPr lang="en-US" sz="1050" dirty="0"/>
          </a:p>
          <a:p>
            <a:pPr marL="342900" indent="-342900">
              <a:spcAft>
                <a:spcPts val="700"/>
              </a:spcAft>
              <a:buSzPct val="100000"/>
              <a:buChar char="•"/>
            </a:pPr>
            <a:r>
              <a:rPr lang="en-US" sz="1050" dirty="0">
                <a:solidFill>
                  <a:srgbClr val="1E293B"/>
                </a:solidFill>
                <a:latin typeface="Calibri" pitchFamily="34" charset="0"/>
                <a:ea typeface="Calibri" pitchFamily="34" charset="-122"/>
                <a:cs typeface="Calibri" pitchFamily="34" charset="-120"/>
              </a:rPr>
              <a:t>On Azure: 8 App Services or AKS pods, 8 independent deployments</a:t>
            </a:r>
            <a:endParaRPr lang="en-US" sz="1050" dirty="0"/>
          </a:p>
        </p:txBody>
      </p:sp>
      <p:sp>
        <p:nvSpPr>
          <p:cNvPr id="16" name="Shape 14"/>
          <p:cNvSpPr/>
          <p:nvPr/>
        </p:nvSpPr>
        <p:spPr>
          <a:xfrm>
            <a:off x="228600" y="3685032"/>
            <a:ext cx="8686800" cy="320040"/>
          </a:xfrm>
          <a:prstGeom prst="rect">
            <a:avLst/>
          </a:prstGeom>
          <a:solidFill>
            <a:srgbClr val="1A237E"/>
          </a:solidFill>
          <a:ln w="12700">
            <a:solidFill>
              <a:srgbClr val="1A237E"/>
            </a:solidFill>
            <a:prstDash val="solid"/>
          </a:ln>
        </p:spPr>
      </p:sp>
      <p:sp>
        <p:nvSpPr>
          <p:cNvPr id="17" name="Text 15"/>
          <p:cNvSpPr/>
          <p:nvPr/>
        </p:nvSpPr>
        <p:spPr>
          <a:xfrm>
            <a:off x="320040" y="3694176"/>
            <a:ext cx="850392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MediCare Microservices: appointment-service  |  patient-service  |  billing-service  |  notification-service  |  doctor-service  |  imaging-service  |  pharmacy-service  |  api-gateway</a:t>
            </a:r>
            <a:endParaRPr lang="en-US" sz="900" dirty="0"/>
          </a:p>
        </p:txBody>
      </p:sp>
      <p:sp>
        <p:nvSpPr>
          <p:cNvPr id="18" name="Shape 16"/>
          <p:cNvSpPr/>
          <p:nvPr/>
        </p:nvSpPr>
        <p:spPr>
          <a:xfrm>
            <a:off x="228600" y="4041648"/>
            <a:ext cx="8686800" cy="731520"/>
          </a:xfrm>
          <a:prstGeom prst="rect">
            <a:avLst/>
          </a:prstGeom>
          <a:solidFill>
            <a:srgbClr val="FFF3E0"/>
          </a:solidFill>
          <a:ln w="12700">
            <a:solidFill>
              <a:srgbClr val="E65100"/>
            </a:solidFill>
            <a:prstDash val="solid"/>
          </a:ln>
        </p:spPr>
      </p:sp>
      <p:sp>
        <p:nvSpPr>
          <p:cNvPr id="19" name="Text 17"/>
          <p:cNvSpPr/>
          <p:nvPr/>
        </p:nvSpPr>
        <p:spPr>
          <a:xfrm>
            <a:off x="320040" y="4059936"/>
            <a:ext cx="8503920" cy="694944"/>
          </a:xfrm>
          <a:prstGeom prst="rect">
            <a:avLst/>
          </a:prstGeom>
          <a:noFill/>
          <a:ln/>
        </p:spPr>
        <p:txBody>
          <a:bodyPr wrap="square" lIns="0" tIns="0" rIns="0" bIns="0" rtlCol="0" anchor="ctr"/>
          <a:lstStyle/>
          <a:p>
            <a:pPr indent="0" marL="0">
              <a:buNone/>
            </a:pPr>
            <a:r>
              <a:rPr lang="en-US" sz="1050" b="1" dirty="0">
                <a:solidFill>
                  <a:srgbClr val="E65100"/>
                </a:solidFill>
                <a:latin typeface="Calibri" pitchFamily="34" charset="0"/>
                <a:ea typeface="Calibri" pitchFamily="34" charset="-122"/>
                <a:cs typeface="Calibri" pitchFamily="34" charset="-120"/>
              </a:rPr>
              <a:t>⚠  Microservices Complexity: Services need to communicate. If appointment-service calls notification-service synchronously (HTTP), and notification is down — booking fails! This is why we need ASYNC MESSAGING.</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Messaging</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Service Bus — Enterprise Async Messaging</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Service Bus is the post office of your microservices. Drop a message, return immediately — guaranteed delivery, no tight coupling.</a:t>
            </a:r>
            <a:endParaRPr lang="en-US" sz="1050" dirty="0"/>
          </a:p>
        </p:txBody>
      </p:sp>
      <p:sp>
        <p:nvSpPr>
          <p:cNvPr id="10" name="Text 8"/>
          <p:cNvSpPr/>
          <p:nvPr/>
        </p:nvSpPr>
        <p:spPr>
          <a:xfrm>
            <a:off x="228600" y="1069848"/>
            <a:ext cx="420624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QUEUE — Point-to-Point</a:t>
            </a:r>
            <a:endParaRPr lang="en-US" sz="1300" dirty="0"/>
          </a:p>
        </p:txBody>
      </p:sp>
      <p:sp>
        <p:nvSpPr>
          <p:cNvPr id="11" name="Shape 9"/>
          <p:cNvSpPr/>
          <p:nvPr/>
        </p:nvSpPr>
        <p:spPr>
          <a:xfrm>
            <a:off x="228600" y="1389888"/>
            <a:ext cx="4206240" cy="1481328"/>
          </a:xfrm>
          <a:prstGeom prst="rect">
            <a:avLst/>
          </a:prstGeom>
          <a:solidFill>
            <a:srgbClr val="FFFFFF"/>
          </a:solidFill>
          <a:ln w="19050">
            <a:solidFill>
              <a:srgbClr val="1565C0"/>
            </a:solidFill>
            <a:prstDash val="solid"/>
          </a:ln>
        </p:spPr>
      </p:sp>
      <p:sp>
        <p:nvSpPr>
          <p:cNvPr id="12" name="Text 10"/>
          <p:cNvSpPr/>
          <p:nvPr/>
        </p:nvSpPr>
        <p:spPr>
          <a:xfrm>
            <a:off x="320040" y="1417320"/>
            <a:ext cx="4023360" cy="14173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Appointment Service → [Queue: notifications] → Notification Service</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One message, ONE consumer. Competing consumers pattern: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3 instances of Notification Service? Only 1 processes each message.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Great for: load-balanced work distribution.</a:t>
            </a:r>
            <a:endParaRPr lang="en-US" sz="1000" dirty="0"/>
          </a:p>
        </p:txBody>
      </p:sp>
      <p:sp>
        <p:nvSpPr>
          <p:cNvPr id="13" name="Text 11"/>
          <p:cNvSpPr/>
          <p:nvPr/>
        </p:nvSpPr>
        <p:spPr>
          <a:xfrm>
            <a:off x="4709160" y="1069848"/>
            <a:ext cx="420624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TOPIC — Publish/Subscribe</a:t>
            </a:r>
            <a:endParaRPr lang="en-US" sz="1300" dirty="0"/>
          </a:p>
        </p:txBody>
      </p:sp>
      <p:sp>
        <p:nvSpPr>
          <p:cNvPr id="14" name="Shape 12"/>
          <p:cNvSpPr/>
          <p:nvPr/>
        </p:nvSpPr>
        <p:spPr>
          <a:xfrm>
            <a:off x="4709160" y="1389888"/>
            <a:ext cx="4206240" cy="1481328"/>
          </a:xfrm>
          <a:prstGeom prst="rect">
            <a:avLst/>
          </a:prstGeom>
          <a:solidFill>
            <a:srgbClr val="FFFFFF"/>
          </a:solidFill>
          <a:ln w="19050">
            <a:solidFill>
              <a:srgbClr val="00897B"/>
            </a:solidFill>
            <a:prstDash val="solid"/>
          </a:ln>
        </p:spPr>
      </p:sp>
      <p:sp>
        <p:nvSpPr>
          <p:cNvPr id="15" name="Text 13"/>
          <p:cNvSpPr/>
          <p:nvPr/>
        </p:nvSpPr>
        <p:spPr>
          <a:xfrm>
            <a:off x="4800600" y="1417320"/>
            <a:ext cx="4023360" cy="14173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Appointment Service → [Topic: appointment-booked]</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[Sub: notifications] → Notification Service (SMS + email)</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[Sub: billing] → Billing Service (create invoice)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[Sub: analytics] → Analytics Service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[Sub: scheduling] → Doctor Schedule Service</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1 message published → ALL 4 subscribers get their own copy.</a:t>
            </a:r>
            <a:endParaRPr lang="en-US" sz="1000" dirty="0"/>
          </a:p>
        </p:txBody>
      </p:sp>
      <p:sp>
        <p:nvSpPr>
          <p:cNvPr id="16" name="Text 14"/>
          <p:cNvSpPr/>
          <p:nvPr/>
        </p:nvSpPr>
        <p:spPr>
          <a:xfrm>
            <a:off x="228600" y="294436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Enterprise-Grade Queue Features</a:t>
            </a:r>
            <a:endParaRPr lang="en-US" sz="1300" dirty="0"/>
          </a:p>
        </p:txBody>
      </p:sp>
      <p:sp>
        <p:nvSpPr>
          <p:cNvPr id="17" name="Shape 15"/>
          <p:cNvSpPr/>
          <p:nvPr/>
        </p:nvSpPr>
        <p:spPr>
          <a:xfrm>
            <a:off x="228600" y="3255264"/>
            <a:ext cx="2103120" cy="15270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28600" y="3255264"/>
            <a:ext cx="2103120" cy="64008"/>
          </a:xfrm>
          <a:prstGeom prst="rect">
            <a:avLst/>
          </a:prstGeom>
          <a:solidFill>
            <a:srgbClr val="B71C1C"/>
          </a:solidFill>
          <a:ln w="12700">
            <a:solidFill>
              <a:srgbClr val="B71C1C"/>
            </a:solidFill>
            <a:prstDash val="solid"/>
          </a:ln>
        </p:spPr>
      </p:sp>
      <p:sp>
        <p:nvSpPr>
          <p:cNvPr id="19" name="Text 17"/>
          <p:cNvSpPr/>
          <p:nvPr/>
        </p:nvSpPr>
        <p:spPr>
          <a:xfrm>
            <a:off x="338328" y="3346704"/>
            <a:ext cx="190195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Dead Letter Queue</a:t>
            </a:r>
            <a:endParaRPr lang="en-US" sz="1200" dirty="0"/>
          </a:p>
        </p:txBody>
      </p:sp>
      <p:sp>
        <p:nvSpPr>
          <p:cNvPr id="20" name="Text 18"/>
          <p:cNvSpPr/>
          <p:nvPr/>
        </p:nvSpPr>
        <p:spPr>
          <a:xfrm>
            <a:off x="338328" y="3657600"/>
            <a:ext cx="1901952" cy="10149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Failed messages (after 3 retries) → DLQ for manual inspection. No message ever blocks the queue.</a:t>
            </a:r>
            <a:endParaRPr lang="en-US" sz="950" dirty="0"/>
          </a:p>
        </p:txBody>
      </p:sp>
      <p:sp>
        <p:nvSpPr>
          <p:cNvPr id="21" name="Shape 19"/>
          <p:cNvSpPr/>
          <p:nvPr/>
        </p:nvSpPr>
        <p:spPr>
          <a:xfrm>
            <a:off x="2423160" y="3255264"/>
            <a:ext cx="2103120" cy="15270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2423160" y="3255264"/>
            <a:ext cx="2103120" cy="64008"/>
          </a:xfrm>
          <a:prstGeom prst="rect">
            <a:avLst/>
          </a:prstGeom>
          <a:solidFill>
            <a:srgbClr val="E65100"/>
          </a:solidFill>
          <a:ln w="12700">
            <a:solidFill>
              <a:srgbClr val="E65100"/>
            </a:solidFill>
            <a:prstDash val="solid"/>
          </a:ln>
        </p:spPr>
      </p:sp>
      <p:sp>
        <p:nvSpPr>
          <p:cNvPr id="23" name="Text 21"/>
          <p:cNvSpPr/>
          <p:nvPr/>
        </p:nvSpPr>
        <p:spPr>
          <a:xfrm>
            <a:off x="2532888" y="3346704"/>
            <a:ext cx="190195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Message TTL</a:t>
            </a:r>
            <a:endParaRPr lang="en-US" sz="1200" dirty="0"/>
          </a:p>
        </p:txBody>
      </p:sp>
      <p:sp>
        <p:nvSpPr>
          <p:cNvPr id="24" name="Text 22"/>
          <p:cNvSpPr/>
          <p:nvPr/>
        </p:nvSpPr>
        <p:spPr>
          <a:xfrm>
            <a:off x="2532888" y="3657600"/>
            <a:ext cx="1901952" cy="10149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Messages expire after N hours/days. Prevents stale appointment confirmations from sending days late.</a:t>
            </a:r>
            <a:endParaRPr lang="en-US" sz="950" dirty="0"/>
          </a:p>
        </p:txBody>
      </p:sp>
      <p:sp>
        <p:nvSpPr>
          <p:cNvPr id="25" name="Shape 23"/>
          <p:cNvSpPr/>
          <p:nvPr/>
        </p:nvSpPr>
        <p:spPr>
          <a:xfrm>
            <a:off x="4617720" y="3255264"/>
            <a:ext cx="2103120" cy="15270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617720" y="3255264"/>
            <a:ext cx="2103120" cy="64008"/>
          </a:xfrm>
          <a:prstGeom prst="rect">
            <a:avLst/>
          </a:prstGeom>
          <a:solidFill>
            <a:srgbClr val="00897B"/>
          </a:solidFill>
          <a:ln w="12700">
            <a:solidFill>
              <a:srgbClr val="00897B"/>
            </a:solidFill>
            <a:prstDash val="solid"/>
          </a:ln>
        </p:spPr>
      </p:sp>
      <p:sp>
        <p:nvSpPr>
          <p:cNvPr id="27" name="Text 25"/>
          <p:cNvSpPr/>
          <p:nvPr/>
        </p:nvSpPr>
        <p:spPr>
          <a:xfrm>
            <a:off x="4727448" y="3346704"/>
            <a:ext cx="190195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Duplicate Detection</a:t>
            </a:r>
            <a:endParaRPr lang="en-US" sz="1200" dirty="0"/>
          </a:p>
        </p:txBody>
      </p:sp>
      <p:sp>
        <p:nvSpPr>
          <p:cNvPr id="28" name="Text 26"/>
          <p:cNvSpPr/>
          <p:nvPr/>
        </p:nvSpPr>
        <p:spPr>
          <a:xfrm>
            <a:off x="4727448" y="3657600"/>
            <a:ext cx="1901952" cy="10149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Same message sent twice (network retry)? Service Bus detects and discards duplicate. Patients get 1 SMS.</a:t>
            </a:r>
            <a:endParaRPr lang="en-US" sz="950" dirty="0"/>
          </a:p>
        </p:txBody>
      </p:sp>
      <p:sp>
        <p:nvSpPr>
          <p:cNvPr id="29" name="Shape 27"/>
          <p:cNvSpPr/>
          <p:nvPr/>
        </p:nvSpPr>
        <p:spPr>
          <a:xfrm>
            <a:off x="6812280" y="3255264"/>
            <a:ext cx="2103120" cy="15270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812280" y="3255264"/>
            <a:ext cx="2103120" cy="64008"/>
          </a:xfrm>
          <a:prstGeom prst="rect">
            <a:avLst/>
          </a:prstGeom>
          <a:solidFill>
            <a:srgbClr val="1565C0"/>
          </a:solidFill>
          <a:ln w="12700">
            <a:solidFill>
              <a:srgbClr val="1565C0"/>
            </a:solidFill>
            <a:prstDash val="solid"/>
          </a:ln>
        </p:spPr>
      </p:sp>
      <p:sp>
        <p:nvSpPr>
          <p:cNvPr id="31" name="Text 29"/>
          <p:cNvSpPr/>
          <p:nvPr/>
        </p:nvSpPr>
        <p:spPr>
          <a:xfrm>
            <a:off x="6922008" y="3346704"/>
            <a:ext cx="190195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Sessions</a:t>
            </a:r>
            <a:endParaRPr lang="en-US" sz="1200" dirty="0"/>
          </a:p>
        </p:txBody>
      </p:sp>
      <p:sp>
        <p:nvSpPr>
          <p:cNvPr id="32" name="Text 30"/>
          <p:cNvSpPr/>
          <p:nvPr/>
        </p:nvSpPr>
        <p:spPr>
          <a:xfrm>
            <a:off x="6922008" y="3657600"/>
            <a:ext cx="1901952" cy="1014984"/>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Guaranteed ordering for messages belonging to same entity. Process patient A's events in sequence.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Messaging</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Service Bus vs Event Hub vs Event Grid — Choose Wisely</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most common Azure interview question. Each solves a different problem — mixing them up is an architect red flag.</a:t>
            </a:r>
            <a:endParaRPr lang="en-US" sz="1050" dirty="0"/>
          </a:p>
        </p:txBody>
      </p:sp>
      <p:sp>
        <p:nvSpPr>
          <p:cNvPr id="10" name="Shape 8"/>
          <p:cNvSpPr/>
          <p:nvPr/>
        </p:nvSpPr>
        <p:spPr>
          <a:xfrm>
            <a:off x="201168" y="1069848"/>
            <a:ext cx="2852928" cy="3749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01168" y="1069848"/>
            <a:ext cx="2852928" cy="914400"/>
          </a:xfrm>
          <a:prstGeom prst="rect">
            <a:avLst/>
          </a:prstGeom>
          <a:solidFill>
            <a:srgbClr val="1565C0"/>
          </a:solidFill>
          <a:ln w="12700">
            <a:solidFill>
              <a:srgbClr val="1565C0"/>
            </a:solidFill>
            <a:prstDash val="solid"/>
          </a:ln>
        </p:spPr>
      </p:sp>
      <p:sp>
        <p:nvSpPr>
          <p:cNvPr id="12" name="Text 10"/>
          <p:cNvSpPr/>
          <p:nvPr/>
        </p:nvSpPr>
        <p:spPr>
          <a:xfrm>
            <a:off x="292608" y="1088136"/>
            <a:ext cx="2670048" cy="41148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  Azure Service Bus</a:t>
            </a:r>
            <a:endParaRPr lang="en-US" sz="1300" dirty="0"/>
          </a:p>
        </p:txBody>
      </p:sp>
      <p:sp>
        <p:nvSpPr>
          <p:cNvPr id="13" name="Text 11"/>
          <p:cNvSpPr/>
          <p:nvPr/>
        </p:nvSpPr>
        <p:spPr>
          <a:xfrm>
            <a:off x="292608" y="1508760"/>
            <a:ext cx="2670048" cy="256032"/>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Enterprise Message Broker</a:t>
            </a:r>
            <a:endParaRPr lang="en-US" sz="950" dirty="0"/>
          </a:p>
        </p:txBody>
      </p:sp>
      <p:sp>
        <p:nvSpPr>
          <p:cNvPr id="14" name="Text 12"/>
          <p:cNvSpPr/>
          <p:nvPr/>
        </p:nvSpPr>
        <p:spPr>
          <a:xfrm>
            <a:off x="292608" y="2011680"/>
            <a:ext cx="2670048" cy="457200"/>
          </a:xfrm>
          <a:prstGeom prst="rect">
            <a:avLst/>
          </a:prstGeom>
          <a:noFill/>
          <a:ln/>
        </p:spPr>
        <p:txBody>
          <a:bodyPr wrap="square" lIns="0" tIns="0" rIns="0" bIns="0"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Use when: Reliable, ordered, transactional messaging between services</a:t>
            </a:r>
            <a:endParaRPr lang="en-US" sz="900" dirty="0"/>
          </a:p>
        </p:txBody>
      </p:sp>
      <p:sp>
        <p:nvSpPr>
          <p:cNvPr id="15" name="Text 13"/>
          <p:cNvSpPr/>
          <p:nvPr/>
        </p:nvSpPr>
        <p:spPr>
          <a:xfrm>
            <a:off x="292608" y="2496312"/>
            <a:ext cx="2670048" cy="1508760"/>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Guaranteed at-least-once delivery</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Message ordering &amp; sessions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Dead letter queue for failures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Pub/Sub topics with subscriptions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Deduplication support</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Low-to-medium throughput</a:t>
            </a:r>
            <a:endParaRPr lang="en-US" sz="850" dirty="0"/>
          </a:p>
        </p:txBody>
      </p:sp>
      <p:sp>
        <p:nvSpPr>
          <p:cNvPr id="16" name="Shape 14"/>
          <p:cNvSpPr/>
          <p:nvPr/>
        </p:nvSpPr>
        <p:spPr>
          <a:xfrm>
            <a:off x="292608" y="4069080"/>
            <a:ext cx="2670048" cy="621792"/>
          </a:xfrm>
          <a:prstGeom prst="rect">
            <a:avLst/>
          </a:prstGeom>
          <a:solidFill>
            <a:srgbClr val="F8F9FA"/>
          </a:solidFill>
          <a:ln w="12700">
            <a:solidFill>
              <a:srgbClr val="E2E8F0"/>
            </a:solidFill>
            <a:prstDash val="solid"/>
          </a:ln>
        </p:spPr>
      </p:sp>
      <p:sp>
        <p:nvSpPr>
          <p:cNvPr id="17" name="Text 15"/>
          <p:cNvSpPr/>
          <p:nvPr/>
        </p:nvSpPr>
        <p:spPr>
          <a:xfrm>
            <a:off x="292608" y="4087368"/>
            <a:ext cx="2670048" cy="594360"/>
          </a:xfrm>
          <a:prstGeom prst="rect">
            <a:avLst/>
          </a:prstGeom>
          <a:noFill/>
          <a:ln/>
        </p:spPr>
        <p:txBody>
          <a:bodyPr wrap="square" lIns="25400" tIns="25400" rIns="25400" bIns="25400" rtlCol="0" anchor="t"/>
          <a:lstStyle/>
          <a:p>
            <a:pPr indent="0" marL="0">
              <a:buNone/>
            </a:pPr>
            <a:r>
              <a:rPr lang="en-US" sz="800" b="1" dirty="0">
                <a:solidFill>
                  <a:srgbClr val="1565C0"/>
                </a:solidFill>
                <a:latin typeface="Calibri" pitchFamily="34" charset="0"/>
                <a:ea typeface="Calibri" pitchFamily="34" charset="-122"/>
                <a:cs typeface="Calibri" pitchFamily="34" charset="-120"/>
              </a:rPr>
              <a:t>MediCare: Appointment booked → notify + bill + schedule doctors</a:t>
            </a:r>
            <a:endParaRPr lang="en-US" sz="800" dirty="0"/>
          </a:p>
        </p:txBody>
      </p:sp>
      <p:sp>
        <p:nvSpPr>
          <p:cNvPr id="18" name="Shape 16"/>
          <p:cNvSpPr/>
          <p:nvPr/>
        </p:nvSpPr>
        <p:spPr>
          <a:xfrm>
            <a:off x="3172968" y="1069848"/>
            <a:ext cx="2852928" cy="3749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172968" y="1069848"/>
            <a:ext cx="2852928" cy="914400"/>
          </a:xfrm>
          <a:prstGeom prst="rect">
            <a:avLst/>
          </a:prstGeom>
          <a:solidFill>
            <a:srgbClr val="E65100"/>
          </a:solidFill>
          <a:ln w="12700">
            <a:solidFill>
              <a:srgbClr val="E65100"/>
            </a:solidFill>
            <a:prstDash val="solid"/>
          </a:ln>
        </p:spPr>
      </p:sp>
      <p:sp>
        <p:nvSpPr>
          <p:cNvPr id="20" name="Text 18"/>
          <p:cNvSpPr/>
          <p:nvPr/>
        </p:nvSpPr>
        <p:spPr>
          <a:xfrm>
            <a:off x="3264408" y="1088136"/>
            <a:ext cx="2670048" cy="41148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  Azure Event Hub</a:t>
            </a:r>
            <a:endParaRPr lang="en-US" sz="1300" dirty="0"/>
          </a:p>
        </p:txBody>
      </p:sp>
      <p:sp>
        <p:nvSpPr>
          <p:cNvPr id="21" name="Text 19"/>
          <p:cNvSpPr/>
          <p:nvPr/>
        </p:nvSpPr>
        <p:spPr>
          <a:xfrm>
            <a:off x="3264408" y="1508760"/>
            <a:ext cx="2670048" cy="256032"/>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Big Data Streaming Pipeline</a:t>
            </a:r>
            <a:endParaRPr lang="en-US" sz="950" dirty="0"/>
          </a:p>
        </p:txBody>
      </p:sp>
      <p:sp>
        <p:nvSpPr>
          <p:cNvPr id="22" name="Text 20"/>
          <p:cNvSpPr/>
          <p:nvPr/>
        </p:nvSpPr>
        <p:spPr>
          <a:xfrm>
            <a:off x="3264408" y="2011680"/>
            <a:ext cx="2670048" cy="457200"/>
          </a:xfrm>
          <a:prstGeom prst="rect">
            <a:avLst/>
          </a:prstGeom>
          <a:noFill/>
          <a:ln/>
        </p:spPr>
        <p:txBody>
          <a:bodyPr wrap="square" lIns="0" tIns="0" rIns="0" bIns="0" rtlCol="0" anchor="ctr"/>
          <a:lstStyle/>
          <a:p>
            <a:pPr indent="0" marL="0">
              <a:buNone/>
            </a:pPr>
            <a:r>
              <a:rPr lang="en-US" sz="900" b="1" dirty="0">
                <a:solidFill>
                  <a:srgbClr val="E65100"/>
                </a:solidFill>
                <a:latin typeface="Calibri" pitchFamily="34" charset="0"/>
                <a:ea typeface="Calibri" pitchFamily="34" charset="-122"/>
                <a:cs typeface="Calibri" pitchFamily="34" charset="-120"/>
              </a:rPr>
              <a:t>Use when: Ingesting massive streams of time-series/telemetry data</a:t>
            </a:r>
            <a:endParaRPr lang="en-US" sz="900" dirty="0"/>
          </a:p>
        </p:txBody>
      </p:sp>
      <p:sp>
        <p:nvSpPr>
          <p:cNvPr id="23" name="Text 21"/>
          <p:cNvSpPr/>
          <p:nvPr/>
        </p:nvSpPr>
        <p:spPr>
          <a:xfrm>
            <a:off x="3264408" y="2496312"/>
            <a:ext cx="2670048" cy="1508760"/>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Millions of events per second</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Consumer groups for parallel processing</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Data retention for replay (like Kafka)</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Partitioned for extreme scale</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Kafka-compatible API</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Capture to Blob/Data Lake</a:t>
            </a:r>
            <a:endParaRPr lang="en-US" sz="850" dirty="0"/>
          </a:p>
        </p:txBody>
      </p:sp>
      <p:sp>
        <p:nvSpPr>
          <p:cNvPr id="24" name="Shape 22"/>
          <p:cNvSpPr/>
          <p:nvPr/>
        </p:nvSpPr>
        <p:spPr>
          <a:xfrm>
            <a:off x="3264408" y="4069080"/>
            <a:ext cx="2670048" cy="621792"/>
          </a:xfrm>
          <a:prstGeom prst="rect">
            <a:avLst/>
          </a:prstGeom>
          <a:solidFill>
            <a:srgbClr val="F8F9FA"/>
          </a:solidFill>
          <a:ln w="12700">
            <a:solidFill>
              <a:srgbClr val="E2E8F0"/>
            </a:solidFill>
            <a:prstDash val="solid"/>
          </a:ln>
        </p:spPr>
      </p:sp>
      <p:sp>
        <p:nvSpPr>
          <p:cNvPr id="25" name="Text 23"/>
          <p:cNvSpPr/>
          <p:nvPr/>
        </p:nvSpPr>
        <p:spPr>
          <a:xfrm>
            <a:off x="3264408" y="4087368"/>
            <a:ext cx="2670048" cy="594360"/>
          </a:xfrm>
          <a:prstGeom prst="rect">
            <a:avLst/>
          </a:prstGeom>
          <a:noFill/>
          <a:ln/>
        </p:spPr>
        <p:txBody>
          <a:bodyPr wrap="square" lIns="25400" tIns="25400" rIns="25400" bIns="25400" rtlCol="0" anchor="t"/>
          <a:lstStyle/>
          <a:p>
            <a:pPr indent="0" marL="0">
              <a:buNone/>
            </a:pPr>
            <a:r>
              <a:rPr lang="en-US" sz="800" b="1" dirty="0">
                <a:solidFill>
                  <a:srgbClr val="E65100"/>
                </a:solidFill>
                <a:latin typeface="Calibri" pitchFamily="34" charset="0"/>
                <a:ea typeface="Calibri" pitchFamily="34" charset="-122"/>
                <a:cs typeface="Calibri" pitchFamily="34" charset="-120"/>
              </a:rPr>
              <a:t>MediCare: ICU patient vital signs from IoT monitors at 1000 readings/min</a:t>
            </a:r>
            <a:endParaRPr lang="en-US" sz="800" dirty="0"/>
          </a:p>
        </p:txBody>
      </p:sp>
      <p:sp>
        <p:nvSpPr>
          <p:cNvPr id="26" name="Shape 24"/>
          <p:cNvSpPr/>
          <p:nvPr/>
        </p:nvSpPr>
        <p:spPr>
          <a:xfrm>
            <a:off x="6144768" y="1069848"/>
            <a:ext cx="2852928" cy="3749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6144768" y="1069848"/>
            <a:ext cx="2852928" cy="914400"/>
          </a:xfrm>
          <a:prstGeom prst="rect">
            <a:avLst/>
          </a:prstGeom>
          <a:solidFill>
            <a:srgbClr val="00897B"/>
          </a:solidFill>
          <a:ln w="12700">
            <a:solidFill>
              <a:srgbClr val="00897B"/>
            </a:solidFill>
            <a:prstDash val="solid"/>
          </a:ln>
        </p:spPr>
      </p:sp>
      <p:sp>
        <p:nvSpPr>
          <p:cNvPr id="28" name="Text 26"/>
          <p:cNvSpPr/>
          <p:nvPr/>
        </p:nvSpPr>
        <p:spPr>
          <a:xfrm>
            <a:off x="6236208" y="1088136"/>
            <a:ext cx="2670048" cy="41148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  Azure Event Grid</a:t>
            </a:r>
            <a:endParaRPr lang="en-US" sz="1300" dirty="0"/>
          </a:p>
        </p:txBody>
      </p:sp>
      <p:sp>
        <p:nvSpPr>
          <p:cNvPr id="29" name="Text 27"/>
          <p:cNvSpPr/>
          <p:nvPr/>
        </p:nvSpPr>
        <p:spPr>
          <a:xfrm>
            <a:off x="6236208" y="1508760"/>
            <a:ext cx="2670048" cy="256032"/>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Azure-Native Event Router</a:t>
            </a:r>
            <a:endParaRPr lang="en-US" sz="950" dirty="0"/>
          </a:p>
        </p:txBody>
      </p:sp>
      <p:sp>
        <p:nvSpPr>
          <p:cNvPr id="30" name="Text 28"/>
          <p:cNvSpPr/>
          <p:nvPr/>
        </p:nvSpPr>
        <p:spPr>
          <a:xfrm>
            <a:off x="6236208" y="2011680"/>
            <a:ext cx="2670048" cy="457200"/>
          </a:xfrm>
          <a:prstGeom prst="rect">
            <a:avLst/>
          </a:prstGeom>
          <a:noFill/>
          <a:ln/>
        </p:spPr>
        <p:txBody>
          <a:bodyPr wrap="square" lIns="0" tIns="0" rIns="0" bIns="0" rtlCol="0" anchor="ctr"/>
          <a:lstStyle/>
          <a:p>
            <a:pPr indent="0" marL="0">
              <a:buNone/>
            </a:pPr>
            <a:r>
              <a:rPr lang="en-US" sz="900" b="1" dirty="0">
                <a:solidFill>
                  <a:srgbClr val="00897B"/>
                </a:solidFill>
                <a:latin typeface="Calibri" pitchFamily="34" charset="0"/>
                <a:ea typeface="Calibri" pitchFamily="34" charset="-122"/>
                <a:cs typeface="Calibri" pitchFamily="34" charset="-120"/>
              </a:rPr>
              <a:t>Use when: React to Azure resource lifecycle events</a:t>
            </a:r>
            <a:endParaRPr lang="en-US" sz="900" dirty="0"/>
          </a:p>
        </p:txBody>
      </p:sp>
      <p:sp>
        <p:nvSpPr>
          <p:cNvPr id="31" name="Text 29"/>
          <p:cNvSpPr/>
          <p:nvPr/>
        </p:nvSpPr>
        <p:spPr>
          <a:xfrm>
            <a:off x="6236208" y="2496312"/>
            <a:ext cx="2670048" cy="1508760"/>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Azure resource change events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Serverless event distribution</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Pay-per-event (cheapest option)</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Push model — no polling needed</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Built-in filtering rules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Integrates with 20+ Azure services</a:t>
            </a:r>
            <a:endParaRPr lang="en-US" sz="850" dirty="0"/>
          </a:p>
        </p:txBody>
      </p:sp>
      <p:sp>
        <p:nvSpPr>
          <p:cNvPr id="32" name="Shape 30"/>
          <p:cNvSpPr/>
          <p:nvPr/>
        </p:nvSpPr>
        <p:spPr>
          <a:xfrm>
            <a:off x="6236208" y="4069080"/>
            <a:ext cx="2670048" cy="621792"/>
          </a:xfrm>
          <a:prstGeom prst="rect">
            <a:avLst/>
          </a:prstGeom>
          <a:solidFill>
            <a:srgbClr val="F8F9FA"/>
          </a:solidFill>
          <a:ln w="12700">
            <a:solidFill>
              <a:srgbClr val="E2E8F0"/>
            </a:solidFill>
            <a:prstDash val="solid"/>
          </a:ln>
        </p:spPr>
      </p:sp>
      <p:sp>
        <p:nvSpPr>
          <p:cNvPr id="33" name="Text 31"/>
          <p:cNvSpPr/>
          <p:nvPr/>
        </p:nvSpPr>
        <p:spPr>
          <a:xfrm>
            <a:off x="6236208" y="4087368"/>
            <a:ext cx="2670048" cy="594360"/>
          </a:xfrm>
          <a:prstGeom prst="rect">
            <a:avLst/>
          </a:prstGeom>
          <a:noFill/>
          <a:ln/>
        </p:spPr>
        <p:txBody>
          <a:bodyPr wrap="square" lIns="25400" tIns="25400" rIns="25400" bIns="25400" rtlCol="0" anchor="t"/>
          <a:lstStyle/>
          <a:p>
            <a:pPr indent="0" marL="0">
              <a:buNone/>
            </a:pPr>
            <a:r>
              <a:rPr lang="en-US" sz="800" b="1" dirty="0">
                <a:solidFill>
                  <a:srgbClr val="00897B"/>
                </a:solidFill>
                <a:latin typeface="Calibri" pitchFamily="34" charset="0"/>
                <a:ea typeface="Calibri" pitchFamily="34" charset="-122"/>
                <a:cs typeface="Calibri" pitchFamily="34" charset="-120"/>
              </a:rPr>
              <a:t>MediCare: X-ray uploaded to Blob Storage → trigger AI analysis Function</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Containers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Docker &amp; Containers — Portable, Reproducible Deployments</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 container ships your application AND its entire environment together. Runs identically on developer MacBook, CI server, and Azure AKS.</a:t>
            </a:r>
            <a:endParaRPr lang="en-US" sz="1050" dirty="0"/>
          </a:p>
        </p:txBody>
      </p:sp>
      <p:sp>
        <p:nvSpPr>
          <p:cNvPr id="10" name="Text 8"/>
          <p:cNvSpPr/>
          <p:nvPr/>
        </p:nvSpPr>
        <p:spPr>
          <a:xfrm>
            <a:off x="228600" y="106984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Virtual Machine vs Container</a:t>
            </a:r>
            <a:endParaRPr lang="en-US" sz="1300" dirty="0"/>
          </a:p>
        </p:txBody>
      </p:sp>
      <p:sp>
        <p:nvSpPr>
          <p:cNvPr id="11" name="Shape 9"/>
          <p:cNvSpPr/>
          <p:nvPr/>
        </p:nvSpPr>
        <p:spPr>
          <a:xfrm>
            <a:off x="228600" y="1389888"/>
            <a:ext cx="4160520" cy="2240280"/>
          </a:xfrm>
          <a:prstGeom prst="rect">
            <a:avLst/>
          </a:prstGeom>
          <a:solidFill>
            <a:srgbClr val="FFF3E0"/>
          </a:solidFill>
          <a:ln w="19050">
            <a:solidFill>
              <a:srgbClr val="E65100"/>
            </a:solidFill>
            <a:prstDash val="solid"/>
          </a:ln>
        </p:spPr>
      </p:sp>
      <p:sp>
        <p:nvSpPr>
          <p:cNvPr id="12" name="Text 10"/>
          <p:cNvSpPr/>
          <p:nvPr/>
        </p:nvSpPr>
        <p:spPr>
          <a:xfrm>
            <a:off x="320040" y="1408176"/>
            <a:ext cx="3977640" cy="256032"/>
          </a:xfrm>
          <a:prstGeom prst="rect">
            <a:avLst/>
          </a:prstGeom>
          <a:noFill/>
          <a:ln/>
        </p:spPr>
        <p:txBody>
          <a:bodyPr wrap="square" lIns="0" tIns="0" rIns="0" bIns="0" rtlCol="0" anchor="ctr"/>
          <a:lstStyle/>
          <a:p>
            <a:pPr indent="0" marL="0">
              <a:buNone/>
            </a:pPr>
            <a:r>
              <a:rPr lang="en-US" sz="1200" b="1" dirty="0">
                <a:solidFill>
                  <a:srgbClr val="E65100"/>
                </a:solidFill>
                <a:latin typeface="Trebuchet MS" pitchFamily="34" charset="0"/>
                <a:ea typeface="Trebuchet MS" pitchFamily="34" charset="-122"/>
                <a:cs typeface="Trebuchet MS" pitchFamily="34" charset="-120"/>
              </a:rPr>
              <a:t>Virtual Machine</a:t>
            </a:r>
            <a:endParaRPr lang="en-US" sz="1200" dirty="0"/>
          </a:p>
        </p:txBody>
      </p:sp>
      <p:sp>
        <p:nvSpPr>
          <p:cNvPr id="13" name="Shape 11"/>
          <p:cNvSpPr/>
          <p:nvPr/>
        </p:nvSpPr>
        <p:spPr>
          <a:xfrm>
            <a:off x="320040" y="1709928"/>
            <a:ext cx="1234440" cy="365760"/>
          </a:xfrm>
          <a:prstGeom prst="rect">
            <a:avLst/>
          </a:prstGeom>
          <a:solidFill>
            <a:srgbClr val="1565C0"/>
          </a:solidFill>
          <a:ln w="12700">
            <a:solidFill>
              <a:srgbClr val="1565C0"/>
            </a:solidFill>
            <a:prstDash val="solid"/>
          </a:ln>
        </p:spPr>
      </p:sp>
      <p:sp>
        <p:nvSpPr>
          <p:cNvPr id="14" name="Text 12"/>
          <p:cNvSpPr/>
          <p:nvPr/>
        </p:nvSpPr>
        <p:spPr>
          <a:xfrm>
            <a:off x="320040" y="1709928"/>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A</a:t>
            </a:r>
            <a:endParaRPr lang="en-US" sz="900" dirty="0"/>
          </a:p>
        </p:txBody>
      </p:sp>
      <p:sp>
        <p:nvSpPr>
          <p:cNvPr id="15" name="Shape 13"/>
          <p:cNvSpPr/>
          <p:nvPr/>
        </p:nvSpPr>
        <p:spPr>
          <a:xfrm>
            <a:off x="1600200" y="1709928"/>
            <a:ext cx="1234440" cy="365760"/>
          </a:xfrm>
          <a:prstGeom prst="rect">
            <a:avLst/>
          </a:prstGeom>
          <a:solidFill>
            <a:srgbClr val="1565C0"/>
          </a:solidFill>
          <a:ln w="12700">
            <a:solidFill>
              <a:srgbClr val="1565C0"/>
            </a:solidFill>
            <a:prstDash val="solid"/>
          </a:ln>
        </p:spPr>
      </p:sp>
      <p:sp>
        <p:nvSpPr>
          <p:cNvPr id="16" name="Text 14"/>
          <p:cNvSpPr/>
          <p:nvPr/>
        </p:nvSpPr>
        <p:spPr>
          <a:xfrm>
            <a:off x="1600200" y="1709928"/>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B</a:t>
            </a:r>
            <a:endParaRPr lang="en-US" sz="900" dirty="0"/>
          </a:p>
        </p:txBody>
      </p:sp>
      <p:sp>
        <p:nvSpPr>
          <p:cNvPr id="17" name="Shape 15"/>
          <p:cNvSpPr/>
          <p:nvPr/>
        </p:nvSpPr>
        <p:spPr>
          <a:xfrm>
            <a:off x="2880360" y="1709928"/>
            <a:ext cx="1234440" cy="365760"/>
          </a:xfrm>
          <a:prstGeom prst="rect">
            <a:avLst/>
          </a:prstGeom>
          <a:solidFill>
            <a:srgbClr val="1565C0"/>
          </a:solidFill>
          <a:ln w="12700">
            <a:solidFill>
              <a:srgbClr val="1565C0"/>
            </a:solidFill>
            <a:prstDash val="solid"/>
          </a:ln>
        </p:spPr>
      </p:sp>
      <p:sp>
        <p:nvSpPr>
          <p:cNvPr id="18" name="Text 16"/>
          <p:cNvSpPr/>
          <p:nvPr/>
        </p:nvSpPr>
        <p:spPr>
          <a:xfrm>
            <a:off x="2880360" y="1709928"/>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C</a:t>
            </a:r>
            <a:endParaRPr lang="en-US" sz="900" dirty="0"/>
          </a:p>
        </p:txBody>
      </p:sp>
      <p:sp>
        <p:nvSpPr>
          <p:cNvPr id="19" name="Shape 17"/>
          <p:cNvSpPr/>
          <p:nvPr/>
        </p:nvSpPr>
        <p:spPr>
          <a:xfrm>
            <a:off x="320040" y="2139696"/>
            <a:ext cx="1234440" cy="365760"/>
          </a:xfrm>
          <a:prstGeom prst="rect">
            <a:avLst/>
          </a:prstGeom>
          <a:solidFill>
            <a:srgbClr val="00897B"/>
          </a:solidFill>
          <a:ln w="12700">
            <a:solidFill>
              <a:srgbClr val="00897B"/>
            </a:solidFill>
            <a:prstDash val="solid"/>
          </a:ln>
        </p:spPr>
      </p:sp>
      <p:sp>
        <p:nvSpPr>
          <p:cNvPr id="20" name="Text 18"/>
          <p:cNvSpPr/>
          <p:nvPr/>
        </p:nvSpPr>
        <p:spPr>
          <a:xfrm>
            <a:off x="320040" y="2139696"/>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OS (Linux)</a:t>
            </a:r>
            <a:endParaRPr lang="en-US" sz="900" dirty="0"/>
          </a:p>
        </p:txBody>
      </p:sp>
      <p:sp>
        <p:nvSpPr>
          <p:cNvPr id="21" name="Shape 19"/>
          <p:cNvSpPr/>
          <p:nvPr/>
        </p:nvSpPr>
        <p:spPr>
          <a:xfrm>
            <a:off x="1600200" y="2139696"/>
            <a:ext cx="1234440" cy="365760"/>
          </a:xfrm>
          <a:prstGeom prst="rect">
            <a:avLst/>
          </a:prstGeom>
          <a:solidFill>
            <a:srgbClr val="00897B"/>
          </a:solidFill>
          <a:ln w="12700">
            <a:solidFill>
              <a:srgbClr val="00897B"/>
            </a:solidFill>
            <a:prstDash val="solid"/>
          </a:ln>
        </p:spPr>
      </p:sp>
      <p:sp>
        <p:nvSpPr>
          <p:cNvPr id="22" name="Text 20"/>
          <p:cNvSpPr/>
          <p:nvPr/>
        </p:nvSpPr>
        <p:spPr>
          <a:xfrm>
            <a:off x="1600200" y="2139696"/>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OS (Win)</a:t>
            </a:r>
            <a:endParaRPr lang="en-US" sz="900" dirty="0"/>
          </a:p>
        </p:txBody>
      </p:sp>
      <p:sp>
        <p:nvSpPr>
          <p:cNvPr id="23" name="Shape 21"/>
          <p:cNvSpPr/>
          <p:nvPr/>
        </p:nvSpPr>
        <p:spPr>
          <a:xfrm>
            <a:off x="2880360" y="2139696"/>
            <a:ext cx="1234440" cy="365760"/>
          </a:xfrm>
          <a:prstGeom prst="rect">
            <a:avLst/>
          </a:prstGeom>
          <a:solidFill>
            <a:srgbClr val="00897B"/>
          </a:solidFill>
          <a:ln w="12700">
            <a:solidFill>
              <a:srgbClr val="00897B"/>
            </a:solidFill>
            <a:prstDash val="solid"/>
          </a:ln>
        </p:spPr>
      </p:sp>
      <p:sp>
        <p:nvSpPr>
          <p:cNvPr id="24" name="Text 22"/>
          <p:cNvSpPr/>
          <p:nvPr/>
        </p:nvSpPr>
        <p:spPr>
          <a:xfrm>
            <a:off x="2880360" y="2139696"/>
            <a:ext cx="123444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OS (Linux)</a:t>
            </a:r>
            <a:endParaRPr lang="en-US" sz="900" dirty="0"/>
          </a:p>
        </p:txBody>
      </p:sp>
      <p:sp>
        <p:nvSpPr>
          <p:cNvPr id="25" name="Shape 23"/>
          <p:cNvSpPr/>
          <p:nvPr/>
        </p:nvSpPr>
        <p:spPr>
          <a:xfrm>
            <a:off x="320040" y="2569464"/>
            <a:ext cx="3794760" cy="365760"/>
          </a:xfrm>
          <a:prstGeom prst="rect">
            <a:avLst/>
          </a:prstGeom>
          <a:solidFill>
            <a:srgbClr val="1565C0"/>
          </a:solidFill>
          <a:ln w="12700">
            <a:solidFill>
              <a:srgbClr val="1565C0"/>
            </a:solidFill>
            <a:prstDash val="solid"/>
          </a:ln>
        </p:spPr>
      </p:sp>
      <p:sp>
        <p:nvSpPr>
          <p:cNvPr id="26" name="Text 24"/>
          <p:cNvSpPr/>
          <p:nvPr/>
        </p:nvSpPr>
        <p:spPr>
          <a:xfrm>
            <a:off x="320040" y="2569464"/>
            <a:ext cx="37947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Hypervisor (shared)</a:t>
            </a:r>
            <a:endParaRPr lang="en-US" sz="900" dirty="0"/>
          </a:p>
        </p:txBody>
      </p:sp>
      <p:sp>
        <p:nvSpPr>
          <p:cNvPr id="27" name="Shape 25"/>
          <p:cNvSpPr/>
          <p:nvPr/>
        </p:nvSpPr>
        <p:spPr>
          <a:xfrm>
            <a:off x="320040" y="2999232"/>
            <a:ext cx="3794760" cy="365760"/>
          </a:xfrm>
          <a:prstGeom prst="rect">
            <a:avLst/>
          </a:prstGeom>
          <a:solidFill>
            <a:srgbClr val="1A237E"/>
          </a:solidFill>
          <a:ln w="12700">
            <a:solidFill>
              <a:srgbClr val="1A237E"/>
            </a:solidFill>
            <a:prstDash val="solid"/>
          </a:ln>
        </p:spPr>
      </p:sp>
      <p:sp>
        <p:nvSpPr>
          <p:cNvPr id="28" name="Text 26"/>
          <p:cNvSpPr/>
          <p:nvPr/>
        </p:nvSpPr>
        <p:spPr>
          <a:xfrm>
            <a:off x="320040" y="2999232"/>
            <a:ext cx="37947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Physical Hardware</a:t>
            </a:r>
            <a:endParaRPr lang="en-US" sz="900" dirty="0"/>
          </a:p>
        </p:txBody>
      </p:sp>
      <p:sp>
        <p:nvSpPr>
          <p:cNvPr id="29" name="Text 27"/>
          <p:cNvSpPr/>
          <p:nvPr/>
        </p:nvSpPr>
        <p:spPr>
          <a:xfrm>
            <a:off x="320040" y="3438144"/>
            <a:ext cx="3977640" cy="164592"/>
          </a:xfrm>
          <a:prstGeom prst="rect">
            <a:avLst/>
          </a:prstGeom>
          <a:noFill/>
          <a:ln/>
        </p:spPr>
        <p:txBody>
          <a:bodyPr wrap="square" lIns="0" tIns="0" rIns="0" bIns="0" rtlCol="0" anchor="ctr"/>
          <a:lstStyle/>
          <a:p>
            <a:pPr indent="0" marL="0">
              <a:buNone/>
            </a:pPr>
            <a:r>
              <a:rPr lang="en-US" sz="850" dirty="0">
                <a:solidFill>
                  <a:srgbClr val="E65100"/>
                </a:solidFill>
                <a:latin typeface="Calibri" pitchFamily="34" charset="0"/>
                <a:ea typeface="Calibri" pitchFamily="34" charset="-122"/>
                <a:cs typeface="Calibri" pitchFamily="34" charset="-120"/>
              </a:rPr>
              <a:t>Each VM carries full OS — 1-10GB, boots in minutes</a:t>
            </a:r>
            <a:endParaRPr lang="en-US" sz="850" dirty="0"/>
          </a:p>
        </p:txBody>
      </p:sp>
      <p:sp>
        <p:nvSpPr>
          <p:cNvPr id="30" name="Shape 28"/>
          <p:cNvSpPr/>
          <p:nvPr/>
        </p:nvSpPr>
        <p:spPr>
          <a:xfrm>
            <a:off x="4663440" y="1389888"/>
            <a:ext cx="4251960" cy="2240280"/>
          </a:xfrm>
          <a:prstGeom prst="rect">
            <a:avLst/>
          </a:prstGeom>
          <a:solidFill>
            <a:srgbClr val="E8F5E9"/>
          </a:solidFill>
          <a:ln w="19050">
            <a:solidFill>
              <a:srgbClr val="43A047"/>
            </a:solidFill>
            <a:prstDash val="solid"/>
          </a:ln>
        </p:spPr>
      </p:sp>
      <p:sp>
        <p:nvSpPr>
          <p:cNvPr id="31" name="Text 29"/>
          <p:cNvSpPr/>
          <p:nvPr/>
        </p:nvSpPr>
        <p:spPr>
          <a:xfrm>
            <a:off x="4754880" y="1408176"/>
            <a:ext cx="4069080" cy="256032"/>
          </a:xfrm>
          <a:prstGeom prst="rect">
            <a:avLst/>
          </a:prstGeom>
          <a:noFill/>
          <a:ln/>
        </p:spPr>
        <p:txBody>
          <a:bodyPr wrap="square" lIns="0" tIns="0" rIns="0" bIns="0" rtlCol="0" anchor="ctr"/>
          <a:lstStyle/>
          <a:p>
            <a:pPr indent="0" marL="0">
              <a:buNone/>
            </a:pPr>
            <a:r>
              <a:rPr lang="en-US" sz="1200" b="1" dirty="0">
                <a:solidFill>
                  <a:srgbClr val="1B5E20"/>
                </a:solidFill>
                <a:latin typeface="Trebuchet MS" pitchFamily="34" charset="0"/>
                <a:ea typeface="Trebuchet MS" pitchFamily="34" charset="-122"/>
                <a:cs typeface="Trebuchet MS" pitchFamily="34" charset="-120"/>
              </a:rPr>
              <a:t>Container  ✅ Recommended</a:t>
            </a:r>
            <a:endParaRPr lang="en-US" sz="1200" dirty="0"/>
          </a:p>
        </p:txBody>
      </p:sp>
      <p:sp>
        <p:nvSpPr>
          <p:cNvPr id="32" name="Shape 30"/>
          <p:cNvSpPr/>
          <p:nvPr/>
        </p:nvSpPr>
        <p:spPr>
          <a:xfrm>
            <a:off x="4754880" y="1709928"/>
            <a:ext cx="1280160" cy="365760"/>
          </a:xfrm>
          <a:prstGeom prst="rect">
            <a:avLst/>
          </a:prstGeom>
          <a:solidFill>
            <a:srgbClr val="1565C0"/>
          </a:solidFill>
          <a:ln w="12700">
            <a:solidFill>
              <a:srgbClr val="1565C0"/>
            </a:solidFill>
            <a:prstDash val="solid"/>
          </a:ln>
        </p:spPr>
      </p:sp>
      <p:sp>
        <p:nvSpPr>
          <p:cNvPr id="33" name="Text 31"/>
          <p:cNvSpPr/>
          <p:nvPr/>
        </p:nvSpPr>
        <p:spPr>
          <a:xfrm>
            <a:off x="4754880" y="1709928"/>
            <a:ext cx="12801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A</a:t>
            </a:r>
            <a:endParaRPr lang="en-US" sz="900" dirty="0"/>
          </a:p>
        </p:txBody>
      </p:sp>
      <p:sp>
        <p:nvSpPr>
          <p:cNvPr id="34" name="Shape 32"/>
          <p:cNvSpPr/>
          <p:nvPr/>
        </p:nvSpPr>
        <p:spPr>
          <a:xfrm>
            <a:off x="6080760" y="1709928"/>
            <a:ext cx="1280160" cy="365760"/>
          </a:xfrm>
          <a:prstGeom prst="rect">
            <a:avLst/>
          </a:prstGeom>
          <a:solidFill>
            <a:srgbClr val="1565C0"/>
          </a:solidFill>
          <a:ln w="12700">
            <a:solidFill>
              <a:srgbClr val="1565C0"/>
            </a:solidFill>
            <a:prstDash val="solid"/>
          </a:ln>
        </p:spPr>
      </p:sp>
      <p:sp>
        <p:nvSpPr>
          <p:cNvPr id="35" name="Text 33"/>
          <p:cNvSpPr/>
          <p:nvPr/>
        </p:nvSpPr>
        <p:spPr>
          <a:xfrm>
            <a:off x="6080760" y="1709928"/>
            <a:ext cx="12801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B</a:t>
            </a:r>
            <a:endParaRPr lang="en-US" sz="900" dirty="0"/>
          </a:p>
        </p:txBody>
      </p:sp>
      <p:sp>
        <p:nvSpPr>
          <p:cNvPr id="36" name="Shape 34"/>
          <p:cNvSpPr/>
          <p:nvPr/>
        </p:nvSpPr>
        <p:spPr>
          <a:xfrm>
            <a:off x="7406640" y="1709928"/>
            <a:ext cx="1280160" cy="365760"/>
          </a:xfrm>
          <a:prstGeom prst="rect">
            <a:avLst/>
          </a:prstGeom>
          <a:solidFill>
            <a:srgbClr val="1565C0"/>
          </a:solidFill>
          <a:ln w="12700">
            <a:solidFill>
              <a:srgbClr val="1565C0"/>
            </a:solidFill>
            <a:prstDash val="solid"/>
          </a:ln>
        </p:spPr>
      </p:sp>
      <p:sp>
        <p:nvSpPr>
          <p:cNvPr id="37" name="Text 35"/>
          <p:cNvSpPr/>
          <p:nvPr/>
        </p:nvSpPr>
        <p:spPr>
          <a:xfrm>
            <a:off x="7406640" y="1709928"/>
            <a:ext cx="12801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App C</a:t>
            </a:r>
            <a:endParaRPr lang="en-US" sz="900" dirty="0"/>
          </a:p>
        </p:txBody>
      </p:sp>
      <p:sp>
        <p:nvSpPr>
          <p:cNvPr id="38" name="Shape 36"/>
          <p:cNvSpPr/>
          <p:nvPr/>
        </p:nvSpPr>
        <p:spPr>
          <a:xfrm>
            <a:off x="4754880" y="2139696"/>
            <a:ext cx="3931920" cy="365760"/>
          </a:xfrm>
          <a:prstGeom prst="rect">
            <a:avLst/>
          </a:prstGeom>
          <a:solidFill>
            <a:srgbClr val="00ACC1"/>
          </a:solidFill>
          <a:ln w="12700">
            <a:solidFill>
              <a:srgbClr val="00ACC1"/>
            </a:solidFill>
            <a:prstDash val="solid"/>
          </a:ln>
        </p:spPr>
      </p:sp>
      <p:sp>
        <p:nvSpPr>
          <p:cNvPr id="39" name="Text 37"/>
          <p:cNvSpPr/>
          <p:nvPr/>
        </p:nvSpPr>
        <p:spPr>
          <a:xfrm>
            <a:off x="4754880" y="2139696"/>
            <a:ext cx="393192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Container Runtime (Docker)</a:t>
            </a:r>
            <a:endParaRPr lang="en-US" sz="900" dirty="0"/>
          </a:p>
        </p:txBody>
      </p:sp>
      <p:sp>
        <p:nvSpPr>
          <p:cNvPr id="40" name="Shape 38"/>
          <p:cNvSpPr/>
          <p:nvPr/>
        </p:nvSpPr>
        <p:spPr>
          <a:xfrm>
            <a:off x="4754880" y="2569464"/>
            <a:ext cx="3931920" cy="365760"/>
          </a:xfrm>
          <a:prstGeom prst="rect">
            <a:avLst/>
          </a:prstGeom>
          <a:solidFill>
            <a:srgbClr val="00897B"/>
          </a:solidFill>
          <a:ln w="12700">
            <a:solidFill>
              <a:srgbClr val="00897B"/>
            </a:solidFill>
            <a:prstDash val="solid"/>
          </a:ln>
        </p:spPr>
      </p:sp>
      <p:sp>
        <p:nvSpPr>
          <p:cNvPr id="41" name="Text 39"/>
          <p:cNvSpPr/>
          <p:nvPr/>
        </p:nvSpPr>
        <p:spPr>
          <a:xfrm>
            <a:off x="4754880" y="2569464"/>
            <a:ext cx="393192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HOST OS — ONE shared kernel</a:t>
            </a:r>
            <a:endParaRPr lang="en-US" sz="900" dirty="0"/>
          </a:p>
        </p:txBody>
      </p:sp>
      <p:sp>
        <p:nvSpPr>
          <p:cNvPr id="42" name="Shape 40"/>
          <p:cNvSpPr/>
          <p:nvPr/>
        </p:nvSpPr>
        <p:spPr>
          <a:xfrm>
            <a:off x="4754880" y="2999232"/>
            <a:ext cx="3931920" cy="365760"/>
          </a:xfrm>
          <a:prstGeom prst="rect">
            <a:avLst/>
          </a:prstGeom>
          <a:solidFill>
            <a:srgbClr val="1A237E"/>
          </a:solidFill>
          <a:ln w="12700">
            <a:solidFill>
              <a:srgbClr val="1A237E"/>
            </a:solidFill>
            <a:prstDash val="solid"/>
          </a:ln>
        </p:spPr>
      </p:sp>
      <p:sp>
        <p:nvSpPr>
          <p:cNvPr id="43" name="Text 41"/>
          <p:cNvSpPr/>
          <p:nvPr/>
        </p:nvSpPr>
        <p:spPr>
          <a:xfrm>
            <a:off x="4754880" y="2999232"/>
            <a:ext cx="393192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Physical Hardware</a:t>
            </a:r>
            <a:endParaRPr lang="en-US" sz="900" dirty="0"/>
          </a:p>
        </p:txBody>
      </p:sp>
      <p:sp>
        <p:nvSpPr>
          <p:cNvPr id="44" name="Text 42"/>
          <p:cNvSpPr/>
          <p:nvPr/>
        </p:nvSpPr>
        <p:spPr>
          <a:xfrm>
            <a:off x="4754880" y="3438144"/>
            <a:ext cx="3977640" cy="164592"/>
          </a:xfrm>
          <a:prstGeom prst="rect">
            <a:avLst/>
          </a:prstGeom>
          <a:noFill/>
          <a:ln/>
        </p:spPr>
        <p:txBody>
          <a:bodyPr wrap="square" lIns="0" tIns="0" rIns="0" bIns="0" rtlCol="0" anchor="ctr"/>
          <a:lstStyle/>
          <a:p>
            <a:pPr indent="0" marL="0">
              <a:buNone/>
            </a:pPr>
            <a:r>
              <a:rPr lang="en-US" sz="850" dirty="0">
                <a:solidFill>
                  <a:srgbClr val="1B5E20"/>
                </a:solidFill>
                <a:latin typeface="Calibri" pitchFamily="34" charset="0"/>
                <a:ea typeface="Calibri" pitchFamily="34" charset="-122"/>
                <a:cs typeface="Calibri" pitchFamily="34" charset="-120"/>
              </a:rPr>
              <a:t>No full OS per container — 50-500MB, starts in seconds</a:t>
            </a:r>
            <a:endParaRPr lang="en-US" sz="850" dirty="0"/>
          </a:p>
        </p:txBody>
      </p:sp>
      <p:sp>
        <p:nvSpPr>
          <p:cNvPr id="45" name="Text 43"/>
          <p:cNvSpPr/>
          <p:nvPr/>
        </p:nvSpPr>
        <p:spPr>
          <a:xfrm>
            <a:off x="228600" y="3657600"/>
            <a:ext cx="86868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Production Multi-Stage Dockerfile — MediCare Spring Boot</a:t>
            </a:r>
            <a:endParaRPr lang="en-US" sz="1200" dirty="0"/>
          </a:p>
        </p:txBody>
      </p:sp>
      <p:sp>
        <p:nvSpPr>
          <p:cNvPr id="46" name="Shape 44"/>
          <p:cNvSpPr/>
          <p:nvPr/>
        </p:nvSpPr>
        <p:spPr>
          <a:xfrm>
            <a:off x="228600" y="3968496"/>
            <a:ext cx="8686800" cy="960120"/>
          </a:xfrm>
          <a:prstGeom prst="rect">
            <a:avLst/>
          </a:prstGeom>
          <a:solidFill>
            <a:srgbClr val="0D1117"/>
          </a:solidFill>
          <a:ln w="19050">
            <a:solidFill>
              <a:srgbClr val="00ACC1"/>
            </a:solidFill>
            <a:prstDash val="solid"/>
          </a:ln>
        </p:spPr>
      </p:sp>
      <p:sp>
        <p:nvSpPr>
          <p:cNvPr id="47" name="Text 45"/>
          <p:cNvSpPr/>
          <p:nvPr/>
        </p:nvSpPr>
        <p:spPr>
          <a:xfrm>
            <a:off x="320040" y="4014216"/>
            <a:ext cx="8503920" cy="86868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Stage 1: BUILD (full JDK — discarded after build, not in final image!)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FROM maven:3.9.4-eclipse-temurin-17 AS build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WORKDIR /app</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COPY pom.xml . &amp;&amp; RUN mvn dependency:go-offline -B   # Cache layer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COPY src ./src &amp;&amp; RUN mvn clean package -DskipTests</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Stage 2: RUNTIME (minimal JRE Alpine — final image ~200MB vs 800MB!)</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FROM eclipse-temurin:17-jre-alpine AS runtime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RUN addgroup -S medicaregroup &amp;&amp; adduser -S medicareuser -G medicaregroup</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WORKDIR /app</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COPY --from=build /app/target/medicare-api-*.jar app.jar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RUN chown medicareuser:medicaregroup app.jar</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USER medicareuser  # Never run as root in production!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ENV JAVA_OPTS="-XX:+UseContainerSupport -XX:MaxRAMPercentage=75.0"</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HEALTHCHECK --interval=30s --start-period=60s CMD wget -qO- http://localhost:8080/actuator/health || exit 1</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ENTRYPOINT ["sh","-c","java $JAVA_OPTS -jar app.jar"]</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Containers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ACR + AKS — Private Registry &amp; Kubernetes Orchestration</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ACR stores your images privately. AKS runs them at scale — handling scheduling, healing, scaling, and updates automatically.</a:t>
            </a:r>
            <a:endParaRPr lang="en-US" sz="1050" dirty="0"/>
          </a:p>
        </p:txBody>
      </p:sp>
      <p:sp>
        <p:nvSpPr>
          <p:cNvPr id="10" name="Text 8"/>
          <p:cNvSpPr/>
          <p:nvPr/>
        </p:nvSpPr>
        <p:spPr>
          <a:xfrm>
            <a:off x="228600" y="1069848"/>
            <a:ext cx="420624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Azure Container Registry (ACR)</a:t>
            </a:r>
            <a:endParaRPr lang="en-US" sz="1300" dirty="0"/>
          </a:p>
        </p:txBody>
      </p:sp>
      <p:sp>
        <p:nvSpPr>
          <p:cNvPr id="11" name="Shape 9"/>
          <p:cNvSpPr/>
          <p:nvPr/>
        </p:nvSpPr>
        <p:spPr>
          <a:xfrm>
            <a:off x="228600" y="1389888"/>
            <a:ext cx="4206240" cy="1572768"/>
          </a:xfrm>
          <a:prstGeom prst="rect">
            <a:avLst/>
          </a:prstGeom>
          <a:solidFill>
            <a:srgbClr val="0D1117"/>
          </a:solidFill>
          <a:ln w="19050">
            <a:solidFill>
              <a:srgbClr val="00ACC1"/>
            </a:solidFill>
            <a:prstDash val="solid"/>
          </a:ln>
        </p:spPr>
      </p:sp>
      <p:sp>
        <p:nvSpPr>
          <p:cNvPr id="12" name="Text 10"/>
          <p:cNvSpPr/>
          <p:nvPr/>
        </p:nvSpPr>
        <p:spPr>
          <a:xfrm>
            <a:off x="320040" y="1435608"/>
            <a:ext cx="4023360" cy="1481328"/>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Create private registry &amp; build image in cloud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acr create --name medicareregistry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--sku Standard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az acr build --registry medicareregistry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--image medicare-api:v1.2.0 .</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Image tagging strategy (critical for production!)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medicareregistry.azurecr.io/medicare-api:v1.2.0    ← Use in production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medicareregistry.azurecr.io/medicare-api:latest    ← NEVER in prod!</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medicareregistry.azurecr.io/medicare-api:dev-abc123 ← Dev/CI</a:t>
            </a:r>
            <a:endParaRPr lang="en-US" sz="850" dirty="0"/>
          </a:p>
        </p:txBody>
      </p:sp>
      <p:sp>
        <p:nvSpPr>
          <p:cNvPr id="13" name="Text 11"/>
          <p:cNvSpPr/>
          <p:nvPr/>
        </p:nvSpPr>
        <p:spPr>
          <a:xfrm>
            <a:off x="4663440" y="1069848"/>
            <a:ext cx="425196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Azure Kubernetes Service (AKS)</a:t>
            </a:r>
            <a:endParaRPr lang="en-US" sz="1300" dirty="0"/>
          </a:p>
        </p:txBody>
      </p:sp>
      <p:sp>
        <p:nvSpPr>
          <p:cNvPr id="14" name="Shape 12"/>
          <p:cNvSpPr/>
          <p:nvPr/>
        </p:nvSpPr>
        <p:spPr>
          <a:xfrm>
            <a:off x="4663440" y="1389888"/>
            <a:ext cx="4251960" cy="1572768"/>
          </a:xfrm>
          <a:prstGeom prst="rect">
            <a:avLst/>
          </a:prstGeom>
          <a:solidFill>
            <a:srgbClr val="0D1117"/>
          </a:solidFill>
          <a:ln w="19050">
            <a:solidFill>
              <a:srgbClr val="00ACC1"/>
            </a:solidFill>
            <a:prstDash val="solid"/>
          </a:ln>
        </p:spPr>
      </p:sp>
      <p:sp>
        <p:nvSpPr>
          <p:cNvPr id="15" name="Text 13"/>
          <p:cNvSpPr/>
          <p:nvPr/>
        </p:nvSpPr>
        <p:spPr>
          <a:xfrm>
            <a:off x="4754880" y="1435608"/>
            <a:ext cx="4069080" cy="1481328"/>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az aks create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--resource-group medicare-backend-rg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medicare-aks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--node-count 3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--node-vm-size Standard_D2s_v3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--enable-cluster-autoscaler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--min-count 2 --max-count 10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--zones 1 2 3 \    ← Spread across 3 AZs for HA!</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--attach-acr medicareregistry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--enable-managed-identity</a:t>
            </a:r>
            <a:endParaRPr lang="en-US" sz="850" dirty="0"/>
          </a:p>
        </p:txBody>
      </p:sp>
      <p:sp>
        <p:nvSpPr>
          <p:cNvPr id="16" name="Text 14"/>
          <p:cNvSpPr/>
          <p:nvPr/>
        </p:nvSpPr>
        <p:spPr>
          <a:xfrm>
            <a:off x="228600" y="303580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Kubernetes Core Objects — Deployment + Service + HPA</a:t>
            </a:r>
            <a:endParaRPr lang="en-US" sz="1300" dirty="0"/>
          </a:p>
        </p:txBody>
      </p:sp>
      <p:sp>
        <p:nvSpPr>
          <p:cNvPr id="17" name="Shape 15"/>
          <p:cNvSpPr/>
          <p:nvPr/>
        </p:nvSpPr>
        <p:spPr>
          <a:xfrm>
            <a:off x="228600" y="3364992"/>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28600" y="3364992"/>
            <a:ext cx="2834640" cy="64008"/>
          </a:xfrm>
          <a:prstGeom prst="rect">
            <a:avLst/>
          </a:prstGeom>
          <a:solidFill>
            <a:srgbClr val="1565C0"/>
          </a:solidFill>
          <a:ln w="12700">
            <a:solidFill>
              <a:srgbClr val="1565C0"/>
            </a:solidFill>
            <a:prstDash val="solid"/>
          </a:ln>
        </p:spPr>
      </p:sp>
      <p:sp>
        <p:nvSpPr>
          <p:cNvPr id="19" name="Text 17"/>
          <p:cNvSpPr/>
          <p:nvPr/>
        </p:nvSpPr>
        <p:spPr>
          <a:xfrm>
            <a:off x="338328" y="3456432"/>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Pod</a:t>
            </a:r>
            <a:endParaRPr lang="en-US" sz="1200" dirty="0"/>
          </a:p>
        </p:txBody>
      </p:sp>
      <p:sp>
        <p:nvSpPr>
          <p:cNvPr id="20" name="Text 18"/>
          <p:cNvSpPr/>
          <p:nvPr/>
        </p:nvSpPr>
        <p:spPr>
          <a:xfrm>
            <a:off x="338328" y="3767328"/>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One running container instance. Basic unit. Never create directly — use Deployment.</a:t>
            </a:r>
            <a:endParaRPr lang="en-US" sz="900" dirty="0"/>
          </a:p>
        </p:txBody>
      </p:sp>
      <p:sp>
        <p:nvSpPr>
          <p:cNvPr id="21" name="Shape 19"/>
          <p:cNvSpPr/>
          <p:nvPr/>
        </p:nvSpPr>
        <p:spPr>
          <a:xfrm>
            <a:off x="3200400" y="3364992"/>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00400" y="3364992"/>
            <a:ext cx="2834640" cy="64008"/>
          </a:xfrm>
          <a:prstGeom prst="rect">
            <a:avLst/>
          </a:prstGeom>
          <a:solidFill>
            <a:srgbClr val="00897B"/>
          </a:solidFill>
          <a:ln w="12700">
            <a:solidFill>
              <a:srgbClr val="00897B"/>
            </a:solidFill>
            <a:prstDash val="solid"/>
          </a:ln>
        </p:spPr>
      </p:sp>
      <p:sp>
        <p:nvSpPr>
          <p:cNvPr id="23" name="Text 21"/>
          <p:cNvSpPr/>
          <p:nvPr/>
        </p:nvSpPr>
        <p:spPr>
          <a:xfrm>
            <a:off x="3310128" y="3456432"/>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Deployment</a:t>
            </a:r>
            <a:endParaRPr lang="en-US" sz="1200" dirty="0"/>
          </a:p>
        </p:txBody>
      </p:sp>
      <p:sp>
        <p:nvSpPr>
          <p:cNvPr id="24" name="Text 22"/>
          <p:cNvSpPr/>
          <p:nvPr/>
        </p:nvSpPr>
        <p:spPr>
          <a:xfrm>
            <a:off x="3310128" y="3767328"/>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'Run 3 replicas of this image always. If any crash, replace them.' Rolling updates built-in.</a:t>
            </a:r>
            <a:endParaRPr lang="en-US" sz="900" dirty="0"/>
          </a:p>
        </p:txBody>
      </p:sp>
      <p:sp>
        <p:nvSpPr>
          <p:cNvPr id="25" name="Shape 23"/>
          <p:cNvSpPr/>
          <p:nvPr/>
        </p:nvSpPr>
        <p:spPr>
          <a:xfrm>
            <a:off x="6172200" y="3364992"/>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172200" y="3364992"/>
            <a:ext cx="2834640" cy="64008"/>
          </a:xfrm>
          <a:prstGeom prst="rect">
            <a:avLst/>
          </a:prstGeom>
          <a:solidFill>
            <a:srgbClr val="E65100"/>
          </a:solidFill>
          <a:ln w="12700">
            <a:solidFill>
              <a:srgbClr val="E65100"/>
            </a:solidFill>
            <a:prstDash val="solid"/>
          </a:ln>
        </p:spPr>
      </p:sp>
      <p:sp>
        <p:nvSpPr>
          <p:cNvPr id="27" name="Text 25"/>
          <p:cNvSpPr/>
          <p:nvPr/>
        </p:nvSpPr>
        <p:spPr>
          <a:xfrm>
            <a:off x="6281928" y="3456432"/>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Service (ClusterIP)</a:t>
            </a:r>
            <a:endParaRPr lang="en-US" sz="1200" dirty="0"/>
          </a:p>
        </p:txBody>
      </p:sp>
      <p:sp>
        <p:nvSpPr>
          <p:cNvPr id="28" name="Text 26"/>
          <p:cNvSpPr/>
          <p:nvPr/>
        </p:nvSpPr>
        <p:spPr>
          <a:xfrm>
            <a:off x="6281928" y="3767328"/>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Stable internal DNS name for pod group. Routes traffic to healthy pods automatically.</a:t>
            </a:r>
            <a:endParaRPr lang="en-US" sz="900" dirty="0"/>
          </a:p>
        </p:txBody>
      </p:sp>
      <p:sp>
        <p:nvSpPr>
          <p:cNvPr id="29" name="Shape 27"/>
          <p:cNvSpPr/>
          <p:nvPr/>
        </p:nvSpPr>
        <p:spPr>
          <a:xfrm>
            <a:off x="228600" y="4169664"/>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28600" y="4169664"/>
            <a:ext cx="2834640" cy="64008"/>
          </a:xfrm>
          <a:prstGeom prst="rect">
            <a:avLst/>
          </a:prstGeom>
          <a:solidFill>
            <a:srgbClr val="6D28D9"/>
          </a:solidFill>
          <a:ln w="12700">
            <a:solidFill>
              <a:srgbClr val="6D28D9"/>
            </a:solidFill>
            <a:prstDash val="solid"/>
          </a:ln>
        </p:spPr>
      </p:sp>
      <p:sp>
        <p:nvSpPr>
          <p:cNvPr id="31" name="Text 29"/>
          <p:cNvSpPr/>
          <p:nvPr/>
        </p:nvSpPr>
        <p:spPr>
          <a:xfrm>
            <a:off x="338328" y="4261104"/>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HPA — Autoscaler</a:t>
            </a:r>
            <a:endParaRPr lang="en-US" sz="1200" dirty="0"/>
          </a:p>
        </p:txBody>
      </p:sp>
      <p:sp>
        <p:nvSpPr>
          <p:cNvPr id="32" name="Text 30"/>
          <p:cNvSpPr/>
          <p:nvPr/>
        </p:nvSpPr>
        <p:spPr>
          <a:xfrm>
            <a:off x="338328" y="4572000"/>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'If CPU &gt; 70% → add pods. If CPU &lt; 30% → remove pods.' Kubernetes-native scaling.</a:t>
            </a:r>
            <a:endParaRPr lang="en-US" sz="900" dirty="0"/>
          </a:p>
        </p:txBody>
      </p:sp>
      <p:sp>
        <p:nvSpPr>
          <p:cNvPr id="33" name="Shape 31"/>
          <p:cNvSpPr/>
          <p:nvPr/>
        </p:nvSpPr>
        <p:spPr>
          <a:xfrm>
            <a:off x="3200400" y="4169664"/>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3200400" y="4169664"/>
            <a:ext cx="2834640" cy="64008"/>
          </a:xfrm>
          <a:prstGeom prst="rect">
            <a:avLst/>
          </a:prstGeom>
          <a:solidFill>
            <a:srgbClr val="43A047"/>
          </a:solidFill>
          <a:ln w="12700">
            <a:solidFill>
              <a:srgbClr val="43A047"/>
            </a:solidFill>
            <a:prstDash val="solid"/>
          </a:ln>
        </p:spPr>
      </p:sp>
      <p:sp>
        <p:nvSpPr>
          <p:cNvPr id="35" name="Text 33"/>
          <p:cNvSpPr/>
          <p:nvPr/>
        </p:nvSpPr>
        <p:spPr>
          <a:xfrm>
            <a:off x="3310128" y="4261104"/>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Liveness Probe</a:t>
            </a:r>
            <a:endParaRPr lang="en-US" sz="1200" dirty="0"/>
          </a:p>
        </p:txBody>
      </p:sp>
      <p:sp>
        <p:nvSpPr>
          <p:cNvPr id="36" name="Text 34"/>
          <p:cNvSpPr/>
          <p:nvPr/>
        </p:nvSpPr>
        <p:spPr>
          <a:xfrm>
            <a:off x="3310128" y="4572000"/>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Is container alive? If fails 3x → restart container. Handles deadlocks, corrupted state.</a:t>
            </a:r>
            <a:endParaRPr lang="en-US" sz="900" dirty="0"/>
          </a:p>
        </p:txBody>
      </p:sp>
      <p:sp>
        <p:nvSpPr>
          <p:cNvPr id="37" name="Shape 35"/>
          <p:cNvSpPr/>
          <p:nvPr/>
        </p:nvSpPr>
        <p:spPr>
          <a:xfrm>
            <a:off x="6172200" y="4169664"/>
            <a:ext cx="2834640" cy="731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6172200" y="4169664"/>
            <a:ext cx="2834640" cy="64008"/>
          </a:xfrm>
          <a:prstGeom prst="rect">
            <a:avLst/>
          </a:prstGeom>
          <a:solidFill>
            <a:srgbClr val="B71C1C"/>
          </a:solidFill>
          <a:ln w="12700">
            <a:solidFill>
              <a:srgbClr val="B71C1C"/>
            </a:solidFill>
            <a:prstDash val="solid"/>
          </a:ln>
        </p:spPr>
      </p:sp>
      <p:sp>
        <p:nvSpPr>
          <p:cNvPr id="39" name="Text 37"/>
          <p:cNvSpPr/>
          <p:nvPr/>
        </p:nvSpPr>
        <p:spPr>
          <a:xfrm>
            <a:off x="6281928" y="4261104"/>
            <a:ext cx="2633472"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Readiness Probe</a:t>
            </a:r>
            <a:endParaRPr lang="en-US" sz="1200" dirty="0"/>
          </a:p>
        </p:txBody>
      </p:sp>
      <p:sp>
        <p:nvSpPr>
          <p:cNvPr id="40" name="Text 38"/>
          <p:cNvSpPr/>
          <p:nvPr/>
        </p:nvSpPr>
        <p:spPr>
          <a:xfrm>
            <a:off x="6281928" y="4572000"/>
            <a:ext cx="2633472" cy="219456"/>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Ready to serve traffic? App warms up first — no traffic until HTTP 200 from /actuator/health.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Performance</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Redis Cache — Speed at the Data Layer</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Trade memory for speed. Cache frequently accessed, rarely changing data in RAM. Sub-millisecond reads vs 800ms database queries.</a:t>
            </a:r>
            <a:endParaRPr lang="en-US" sz="1050" dirty="0"/>
          </a:p>
        </p:txBody>
      </p:sp>
      <p:sp>
        <p:nvSpPr>
          <p:cNvPr id="10" name="Shape 8"/>
          <p:cNvSpPr/>
          <p:nvPr/>
        </p:nvSpPr>
        <p:spPr>
          <a:xfrm>
            <a:off x="228600" y="1069848"/>
            <a:ext cx="8686800" cy="868680"/>
          </a:xfrm>
          <a:prstGeom prst="rect">
            <a:avLst/>
          </a:prstGeom>
          <a:solidFill>
            <a:srgbClr val="FFF3E0"/>
          </a:solidFill>
          <a:ln w="12700">
            <a:solidFill>
              <a:srgbClr val="E65100"/>
            </a:solidFill>
            <a:prstDash val="solid"/>
          </a:ln>
        </p:spPr>
      </p:sp>
      <p:sp>
        <p:nvSpPr>
          <p:cNvPr id="11" name="Text 9"/>
          <p:cNvSpPr/>
          <p:nvPr/>
        </p:nvSpPr>
        <p:spPr>
          <a:xfrm>
            <a:off x="320040" y="1088136"/>
            <a:ext cx="8503920" cy="822960"/>
          </a:xfrm>
          <a:prstGeom prst="rect">
            <a:avLst/>
          </a:prstGeom>
          <a:noFill/>
          <a:ln/>
        </p:spPr>
        <p:txBody>
          <a:bodyPr wrap="square" lIns="0" tIns="0" rIns="0" bIns="0" rtlCol="0" anchor="ctr"/>
          <a:lstStyle/>
          <a:p>
            <a:pPr indent="0" marL="0">
              <a:buNone/>
            </a:pPr>
            <a:r>
              <a:rPr lang="en-US" sz="1050" dirty="0">
                <a:solidFill>
                  <a:srgbClr val="E65100"/>
                </a:solidFill>
                <a:latin typeface="Calibri" pitchFamily="34" charset="0"/>
                <a:ea typeface="Calibri" pitchFamily="34" charset="-122"/>
                <a:cs typeface="Calibri" pitchFamily="34" charset="-120"/>
              </a:rPr>
              <a:t>MediCare Problem: 'Find Available Doctors' query joins 6 tables → 800ms. Called 10,000 times/hour → database overwhelmed.</a:t>
            </a:r>
            <a:endParaRPr lang="en-US" sz="1050" dirty="0"/>
          </a:p>
          <a:p>
            <a:pPr indent="0" marL="0">
              <a:buNone/>
            </a:pPr>
            <a:r>
              <a:rPr lang="en-US" sz="1050" dirty="0">
                <a:solidFill>
                  <a:srgbClr val="E65100"/>
                </a:solidFill>
                <a:latin typeface="Calibri" pitchFamily="34" charset="0"/>
                <a:ea typeface="Calibri" pitchFamily="34" charset="-122"/>
                <a:cs typeface="Calibri" pitchFamily="34" charset="-120"/>
              </a:rPr>
              <a:t>Solution: Cache results for 15 minutes. 2nd request onwards: &lt;1ms. 99.9% of requests skip the database entirely.</a:t>
            </a:r>
            <a:endParaRPr lang="en-US" sz="1050" dirty="0"/>
          </a:p>
        </p:txBody>
      </p:sp>
      <p:sp>
        <p:nvSpPr>
          <p:cNvPr id="12" name="Text 10"/>
          <p:cNvSpPr/>
          <p:nvPr/>
        </p:nvSpPr>
        <p:spPr>
          <a:xfrm>
            <a:off x="228600" y="2011680"/>
            <a:ext cx="45720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Cache-Aside Pattern — Spring Boot Implementation</a:t>
            </a:r>
            <a:endParaRPr lang="en-US" sz="1200" dirty="0"/>
          </a:p>
        </p:txBody>
      </p:sp>
      <p:sp>
        <p:nvSpPr>
          <p:cNvPr id="13" name="Shape 11"/>
          <p:cNvSpPr/>
          <p:nvPr/>
        </p:nvSpPr>
        <p:spPr>
          <a:xfrm>
            <a:off x="228600" y="2322576"/>
            <a:ext cx="4572000" cy="2423160"/>
          </a:xfrm>
          <a:prstGeom prst="rect">
            <a:avLst/>
          </a:prstGeom>
          <a:solidFill>
            <a:srgbClr val="0D1117"/>
          </a:solidFill>
          <a:ln w="19050">
            <a:solidFill>
              <a:srgbClr val="00ACC1"/>
            </a:solidFill>
            <a:prstDash val="solid"/>
          </a:ln>
        </p:spPr>
      </p:sp>
      <p:sp>
        <p:nvSpPr>
          <p:cNvPr id="14" name="Text 12"/>
          <p:cNvSpPr/>
          <p:nvPr/>
        </p:nvSpPr>
        <p:spPr>
          <a:xfrm>
            <a:off x="320040" y="2368296"/>
            <a:ext cx="4389120" cy="233172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@Service public class DoctorSearchService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@Cacheable: Check cache first. Miss → DB → store in cache → return.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@Cacheable(value="available-doctors",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key="#specialty + ':' + #city",</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unless="#result.isEmpty()")</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public List&lt;DoctorDTO&gt; findAvailableDoctors(String specialty, String city)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log.info("Cache MISS — querying database");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return doctorRepository.findAvailableBySpecialtyAndCity(specialty,city);</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@CacheEvict: When doctor updates schedule → invalidate stale cache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@CacheEvict(value="available-doctors",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key="#doctor.specialty + ':' + #doctor.city")</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public void updateDoctorSchedule(Doctor doctor, ScheduleUpdateRequest req)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doctorScheduleRepository.save(buildScheduleEntity(doctor, req));</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 Next search will go to DB and refresh the cache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t>
            </a:r>
            <a:endParaRPr lang="en-US" sz="850" dirty="0"/>
          </a:p>
        </p:txBody>
      </p:sp>
      <p:sp>
        <p:nvSpPr>
          <p:cNvPr id="15" name="Text 13"/>
          <p:cNvSpPr/>
          <p:nvPr/>
        </p:nvSpPr>
        <p:spPr>
          <a:xfrm>
            <a:off x="5029200" y="2011680"/>
            <a:ext cx="3886200" cy="274320"/>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Caching Decision Framework</a:t>
            </a:r>
            <a:endParaRPr lang="en-US" sz="1200" dirty="0"/>
          </a:p>
        </p:txBody>
      </p:sp>
      <p:sp>
        <p:nvSpPr>
          <p:cNvPr id="16" name="Shape 14"/>
          <p:cNvSpPr/>
          <p:nvPr/>
        </p:nvSpPr>
        <p:spPr>
          <a:xfrm>
            <a:off x="5029200" y="2322576"/>
            <a:ext cx="3886200" cy="1170432"/>
          </a:xfrm>
          <a:prstGeom prst="rect">
            <a:avLst/>
          </a:prstGeom>
          <a:solidFill>
            <a:srgbClr val="E8F5E9"/>
          </a:solidFill>
          <a:ln w="12700">
            <a:solidFill>
              <a:srgbClr val="43A047"/>
            </a:solidFill>
            <a:prstDash val="solid"/>
          </a:ln>
        </p:spPr>
      </p:sp>
      <p:sp>
        <p:nvSpPr>
          <p:cNvPr id="17" name="Text 15"/>
          <p:cNvSpPr/>
          <p:nvPr/>
        </p:nvSpPr>
        <p:spPr>
          <a:xfrm>
            <a:off x="5120640" y="2340864"/>
            <a:ext cx="3703320" cy="219456"/>
          </a:xfrm>
          <a:prstGeom prst="rect">
            <a:avLst/>
          </a:prstGeom>
          <a:noFill/>
          <a:ln/>
        </p:spPr>
        <p:txBody>
          <a:bodyPr wrap="square" lIns="0" tIns="0" rIns="0" bIns="0" rtlCol="0" anchor="ctr"/>
          <a:lstStyle/>
          <a:p>
            <a:pPr indent="0" marL="0">
              <a:buNone/>
            </a:pPr>
            <a:r>
              <a:rPr lang="en-US" sz="1000" b="1" dirty="0">
                <a:solidFill>
                  <a:srgbClr val="1B5E20"/>
                </a:solidFill>
                <a:latin typeface="Calibri" pitchFamily="34" charset="0"/>
                <a:ea typeface="Calibri" pitchFamily="34" charset="-122"/>
                <a:cs typeface="Calibri" pitchFamily="34" charset="-120"/>
              </a:rPr>
              <a:t>✅  CACHE These:</a:t>
            </a:r>
            <a:endParaRPr lang="en-US" sz="1000" dirty="0"/>
          </a:p>
        </p:txBody>
      </p:sp>
      <p:sp>
        <p:nvSpPr>
          <p:cNvPr id="18" name="Text 16"/>
          <p:cNvSpPr/>
          <p:nvPr/>
        </p:nvSpPr>
        <p:spPr>
          <a:xfrm>
            <a:off x="5120640" y="2578608"/>
            <a:ext cx="3703320" cy="877824"/>
          </a:xfrm>
          <a:prstGeom prst="rect">
            <a:avLst/>
          </a:prstGeom>
          <a:noFill/>
          <a:ln/>
        </p:spPr>
        <p:txBody>
          <a:bodyPr wrap="square" rtlCol="0" anchor="t"/>
          <a:lstStyle/>
          <a:p>
            <a:pPr marL="342900" indent="-342900">
              <a:spcAft>
                <a:spcPts val="400"/>
              </a:spcAft>
              <a:buSzPct val="100000"/>
              <a:buChar char="•"/>
            </a:pPr>
            <a:r>
              <a:rPr lang="en-US" sz="900" dirty="0">
                <a:solidFill>
                  <a:srgbClr val="1B5E20"/>
                </a:solidFill>
                <a:latin typeface="Calibri" pitchFamily="34" charset="0"/>
                <a:ea typeface="Calibri" pitchFamily="34" charset="-122"/>
                <a:cs typeface="Calibri" pitchFamily="34" charset="-120"/>
              </a:rPr>
              <a:t>Reference data: doctor specialties, hospital branches</a:t>
            </a:r>
            <a:endParaRPr lang="en-US" sz="900" dirty="0"/>
          </a:p>
          <a:p>
            <a:pPr marL="342900" indent="-342900">
              <a:spcAft>
                <a:spcPts val="400"/>
              </a:spcAft>
              <a:buSzPct val="100000"/>
              <a:buChar char="•"/>
            </a:pPr>
            <a:r>
              <a:rPr lang="en-US" sz="900" dirty="0">
                <a:solidFill>
                  <a:srgbClr val="1B5E20"/>
                </a:solidFill>
                <a:latin typeface="Calibri" pitchFamily="34" charset="0"/>
                <a:ea typeface="Calibri" pitchFamily="34" charset="-122"/>
                <a:cs typeface="Calibri" pitchFamily="34" charset="-120"/>
              </a:rPr>
              <a:t>Expensive query results: available doctors by specialty</a:t>
            </a:r>
            <a:endParaRPr lang="en-US" sz="900" dirty="0"/>
          </a:p>
          <a:p>
            <a:pPr marL="342900" indent="-342900">
              <a:spcAft>
                <a:spcPts val="400"/>
              </a:spcAft>
              <a:buSzPct val="100000"/>
              <a:buChar char="•"/>
            </a:pPr>
            <a:r>
              <a:rPr lang="en-US" sz="900" dirty="0">
                <a:solidFill>
                  <a:srgbClr val="1B5E20"/>
                </a:solidFill>
                <a:latin typeface="Calibri" pitchFamily="34" charset="0"/>
                <a:ea typeface="Calibri" pitchFamily="34" charset="-122"/>
                <a:cs typeface="Calibri" pitchFamily="34" charset="-120"/>
              </a:rPr>
              <a:t>User session data: logged-in user's permissions</a:t>
            </a:r>
            <a:endParaRPr lang="en-US" sz="900" dirty="0"/>
          </a:p>
          <a:p>
            <a:pPr marL="342900" indent="-342900">
              <a:spcAft>
                <a:spcPts val="400"/>
              </a:spcAft>
              <a:buSzPct val="100000"/>
              <a:buChar char="•"/>
            </a:pPr>
            <a:r>
              <a:rPr lang="en-US" sz="900" dirty="0">
                <a:solidFill>
                  <a:srgbClr val="1B5E20"/>
                </a:solidFill>
                <a:latin typeface="Calibri" pitchFamily="34" charset="0"/>
                <a:ea typeface="Calibri" pitchFamily="34" charset="-122"/>
                <a:cs typeface="Calibri" pitchFamily="34" charset="-120"/>
              </a:rPr>
              <a:t>External API results: insurance verification responses</a:t>
            </a:r>
            <a:endParaRPr lang="en-US" sz="900" dirty="0"/>
          </a:p>
        </p:txBody>
      </p:sp>
      <p:sp>
        <p:nvSpPr>
          <p:cNvPr id="19" name="Shape 17"/>
          <p:cNvSpPr/>
          <p:nvPr/>
        </p:nvSpPr>
        <p:spPr>
          <a:xfrm>
            <a:off x="5029200" y="3538728"/>
            <a:ext cx="3886200" cy="1207008"/>
          </a:xfrm>
          <a:prstGeom prst="rect">
            <a:avLst/>
          </a:prstGeom>
          <a:solidFill>
            <a:srgbClr val="FFEBEE"/>
          </a:solidFill>
          <a:ln w="12700">
            <a:solidFill>
              <a:srgbClr val="B71C1C"/>
            </a:solidFill>
            <a:prstDash val="solid"/>
          </a:ln>
        </p:spPr>
      </p:sp>
      <p:sp>
        <p:nvSpPr>
          <p:cNvPr id="20" name="Text 18"/>
          <p:cNvSpPr/>
          <p:nvPr/>
        </p:nvSpPr>
        <p:spPr>
          <a:xfrm>
            <a:off x="5120640" y="3557016"/>
            <a:ext cx="3703320" cy="219456"/>
          </a:xfrm>
          <a:prstGeom prst="rect">
            <a:avLst/>
          </a:prstGeom>
          <a:noFill/>
          <a:ln/>
        </p:spPr>
        <p:txBody>
          <a:bodyPr wrap="square" lIns="0" tIns="0" rIns="0" bIns="0" rtlCol="0" anchor="ctr"/>
          <a:lstStyle/>
          <a:p>
            <a:pPr indent="0" marL="0">
              <a:buNone/>
            </a:pPr>
            <a:r>
              <a:rPr lang="en-US" sz="1000" b="1" dirty="0">
                <a:solidFill>
                  <a:srgbClr val="B71C1C"/>
                </a:solidFill>
                <a:latin typeface="Calibri" pitchFamily="34" charset="0"/>
                <a:ea typeface="Calibri" pitchFamily="34" charset="-122"/>
                <a:cs typeface="Calibri" pitchFamily="34" charset="-120"/>
              </a:rPr>
              <a:t>❌  NEVER Cache These:</a:t>
            </a:r>
            <a:endParaRPr lang="en-US" sz="1000" dirty="0"/>
          </a:p>
        </p:txBody>
      </p:sp>
      <p:sp>
        <p:nvSpPr>
          <p:cNvPr id="21" name="Text 19"/>
          <p:cNvSpPr/>
          <p:nvPr/>
        </p:nvSpPr>
        <p:spPr>
          <a:xfrm>
            <a:off x="5120640" y="3794760"/>
            <a:ext cx="3703320" cy="914400"/>
          </a:xfrm>
          <a:prstGeom prst="rect">
            <a:avLst/>
          </a:prstGeom>
          <a:noFill/>
          <a:ln/>
        </p:spPr>
        <p:txBody>
          <a:bodyPr wrap="square" rtlCol="0" anchor="t"/>
          <a:lstStyle/>
          <a:p>
            <a:pPr marL="342900" indent="-342900">
              <a:spcAft>
                <a:spcPts val="400"/>
              </a:spcAft>
              <a:buSzPct val="100000"/>
              <a:buChar char="•"/>
            </a:pPr>
            <a:r>
              <a:rPr lang="en-US" sz="900" dirty="0">
                <a:solidFill>
                  <a:srgbClr val="B71C1C"/>
                </a:solidFill>
                <a:latin typeface="Calibri" pitchFamily="34" charset="0"/>
                <a:ea typeface="Calibri" pitchFamily="34" charset="-122"/>
                <a:cs typeface="Calibri" pitchFamily="34" charset="-120"/>
              </a:rPr>
              <a:t>Patient vital signs — must be real-time always</a:t>
            </a:r>
            <a:endParaRPr lang="en-US" sz="900" dirty="0"/>
          </a:p>
          <a:p>
            <a:pPr marL="342900" indent="-342900">
              <a:spcAft>
                <a:spcPts val="400"/>
              </a:spcAft>
              <a:buSzPct val="100000"/>
              <a:buChar char="•"/>
            </a:pPr>
            <a:r>
              <a:rPr lang="en-US" sz="900" dirty="0">
                <a:solidFill>
                  <a:srgbClr val="B71C1C"/>
                </a:solidFill>
                <a:latin typeface="Calibri" pitchFamily="34" charset="0"/>
                <a:ea typeface="Calibri" pitchFamily="34" charset="-122"/>
                <a:cs typeface="Calibri" pitchFamily="34" charset="-120"/>
              </a:rPr>
              <a:t>Appointment availability — stale = double-booking</a:t>
            </a:r>
            <a:endParaRPr lang="en-US" sz="900" dirty="0"/>
          </a:p>
          <a:p>
            <a:pPr marL="342900" indent="-342900">
              <a:spcAft>
                <a:spcPts val="400"/>
              </a:spcAft>
              <a:buSzPct val="100000"/>
              <a:buChar char="•"/>
            </a:pPr>
            <a:r>
              <a:rPr lang="en-US" sz="900" dirty="0">
                <a:solidFill>
                  <a:srgbClr val="B71C1C"/>
                </a:solidFill>
                <a:latin typeface="Calibri" pitchFamily="34" charset="0"/>
                <a:ea typeface="Calibri" pitchFamily="34" charset="-122"/>
                <a:cs typeface="Calibri" pitchFamily="34" charset="-120"/>
              </a:rPr>
              <a:t>Billing amounts — financial accuracy non-negotiable</a:t>
            </a:r>
            <a:endParaRPr lang="en-US" sz="900" dirty="0"/>
          </a:p>
          <a:p>
            <a:pPr marL="342900" indent="-342900">
              <a:spcAft>
                <a:spcPts val="400"/>
              </a:spcAft>
              <a:buSzPct val="100000"/>
              <a:buChar char="•"/>
            </a:pPr>
            <a:r>
              <a:rPr lang="en-US" sz="900" dirty="0">
                <a:solidFill>
                  <a:srgbClr val="B71C1C"/>
                </a:solidFill>
                <a:latin typeface="Calibri" pitchFamily="34" charset="0"/>
                <a:ea typeface="Calibri" pitchFamily="34" charset="-122"/>
                <a:cs typeface="Calibri" pitchFamily="34" charset="-120"/>
              </a:rPr>
              <a:t>Personal medical records — fresh data required by law</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Architecture</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API Management &amp; Terraform — Gateway &amp; Multi-Cloud IaC</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Azure API Management (APIM) — Single Front Door</a:t>
            </a:r>
            <a:endParaRPr lang="en-US" sz="1300" dirty="0"/>
          </a:p>
        </p:txBody>
      </p:sp>
      <p:sp>
        <p:nvSpPr>
          <p:cNvPr id="10" name="Shape 8"/>
          <p:cNvSpPr/>
          <p:nvPr/>
        </p:nvSpPr>
        <p:spPr>
          <a:xfrm>
            <a:off x="228600" y="1069848"/>
            <a:ext cx="4206240" cy="2514600"/>
          </a:xfrm>
          <a:prstGeom prst="rect">
            <a:avLst/>
          </a:prstGeom>
          <a:solidFill>
            <a:srgbClr val="F0F4FF"/>
          </a:solidFill>
          <a:ln w="12700">
            <a:solidFill>
              <a:srgbClr val="1565C0"/>
            </a:solidFill>
            <a:prstDash val="solid"/>
          </a:ln>
        </p:spPr>
      </p:sp>
      <p:sp>
        <p:nvSpPr>
          <p:cNvPr id="11" name="Text 9"/>
          <p:cNvSpPr/>
          <p:nvPr/>
        </p:nvSpPr>
        <p:spPr>
          <a:xfrm>
            <a:off x="320040" y="1097280"/>
            <a:ext cx="4023360" cy="24688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Mobile App + Web Portal + Insurance API</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Azure API Management Gateway</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 JWT validation (no code change needed)</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 Rate limiting: 1000 req/min per client</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 Request/response transformation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 Analytics: who calls what, how often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 CORS, security headers, error formatting</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appointment-service | patient-service</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  billing-service (all PRIVATE — no public endpoint)</a:t>
            </a:r>
            <a:endParaRPr lang="en-US" sz="950" dirty="0"/>
          </a:p>
        </p:txBody>
      </p:sp>
      <p:sp>
        <p:nvSpPr>
          <p:cNvPr id="12" name="Text 10"/>
          <p:cNvSpPr/>
          <p:nvPr/>
        </p:nvSpPr>
        <p:spPr>
          <a:xfrm>
            <a:off x="4663440" y="749808"/>
            <a:ext cx="4251960" cy="274320"/>
          </a:xfrm>
          <a:prstGeom prst="rect">
            <a:avLst/>
          </a:prstGeom>
          <a:noFill/>
          <a:ln/>
        </p:spPr>
        <p:txBody>
          <a:bodyPr wrap="square" lIns="0" tIns="0" rIns="0" bIns="0" rtlCol="0" anchor="ctr"/>
          <a:lstStyle/>
          <a:p>
            <a:pPr indent="0" marL="0">
              <a:buNone/>
            </a:pPr>
            <a:r>
              <a:rPr lang="en-US" sz="1100" b="1" dirty="0">
                <a:solidFill>
                  <a:srgbClr val="1A237E"/>
                </a:solidFill>
                <a:latin typeface="Trebuchet MS" pitchFamily="34" charset="0"/>
                <a:ea typeface="Trebuchet MS" pitchFamily="34" charset="-122"/>
                <a:cs typeface="Trebuchet MS" pitchFamily="34" charset="-120"/>
              </a:rPr>
              <a:t>APIM Policy (XML) — Applied to All APIs Without Code Changes</a:t>
            </a:r>
            <a:endParaRPr lang="en-US" sz="1100" dirty="0"/>
          </a:p>
        </p:txBody>
      </p:sp>
      <p:sp>
        <p:nvSpPr>
          <p:cNvPr id="13" name="Shape 11"/>
          <p:cNvSpPr/>
          <p:nvPr/>
        </p:nvSpPr>
        <p:spPr>
          <a:xfrm>
            <a:off x="4663440" y="1069848"/>
            <a:ext cx="4251960" cy="2514600"/>
          </a:xfrm>
          <a:prstGeom prst="rect">
            <a:avLst/>
          </a:prstGeom>
          <a:solidFill>
            <a:srgbClr val="0D1117"/>
          </a:solidFill>
          <a:ln w="19050">
            <a:solidFill>
              <a:srgbClr val="00ACC1"/>
            </a:solidFill>
            <a:prstDash val="solid"/>
          </a:ln>
        </p:spPr>
      </p:sp>
      <p:sp>
        <p:nvSpPr>
          <p:cNvPr id="14" name="Text 12"/>
          <p:cNvSpPr/>
          <p:nvPr/>
        </p:nvSpPr>
        <p:spPr>
          <a:xfrm>
            <a:off x="4754880" y="1115568"/>
            <a:ext cx="4069080" cy="242316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&lt;policies&gt;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&lt;inbound&gt;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 Validate JWT from Azure AD --&gt;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&lt;validate-jwt header-name="Authorization"</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failed-validation-httpcode="401"&gt;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&lt;openid-config url="https://login.microsoftonline.com/</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{tenant}/.well-known/openid-configuration"/&gt;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&lt;/validate-jwt&gt;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 Rate limit: 1000 calls/min per subscription --&gt;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&lt;rate-limit-by-key calls="1000" renewal-period="60"</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counter-key="@(context.Subscription.Id)"/&gt;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 Add distributed trace ID --&gt;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&lt;set-header name="X-Correlation-Id" exists-action="skip"&gt;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&lt;value&gt;@(System.Guid.NewGuid().ToString())&lt;/value&gt;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&lt;/set-header&gt;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&lt;/inbound&gt;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&lt;outbound&gt;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 Remove internal server info --&gt;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&lt;set-header name="Server" exists-action="delete"/&gt;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&lt;/outbound&gt;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&lt;/policies&gt;</a:t>
            </a:r>
            <a:endParaRPr lang="en-US" sz="850" dirty="0"/>
          </a:p>
        </p:txBody>
      </p:sp>
      <p:sp>
        <p:nvSpPr>
          <p:cNvPr id="15" name="Text 13"/>
          <p:cNvSpPr/>
          <p:nvPr/>
        </p:nvSpPr>
        <p:spPr>
          <a:xfrm>
            <a:off x="228600" y="3703320"/>
            <a:ext cx="4206240" cy="256032"/>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Terraform — Multi-Cloud IaC</a:t>
            </a:r>
            <a:endParaRPr lang="en-US" sz="1200" dirty="0"/>
          </a:p>
        </p:txBody>
      </p:sp>
      <p:sp>
        <p:nvSpPr>
          <p:cNvPr id="16" name="Shape 14"/>
          <p:cNvSpPr/>
          <p:nvPr/>
        </p:nvSpPr>
        <p:spPr>
          <a:xfrm>
            <a:off x="228600" y="3986784"/>
            <a:ext cx="4206240" cy="960120"/>
          </a:xfrm>
          <a:prstGeom prst="rect">
            <a:avLst/>
          </a:prstGeom>
          <a:solidFill>
            <a:srgbClr val="0D1117"/>
          </a:solidFill>
          <a:ln w="19050">
            <a:solidFill>
              <a:srgbClr val="00ACC1"/>
            </a:solidFill>
            <a:prstDash val="solid"/>
          </a:ln>
        </p:spPr>
      </p:sp>
      <p:sp>
        <p:nvSpPr>
          <p:cNvPr id="17" name="Text 15"/>
          <p:cNvSpPr/>
          <p:nvPr/>
        </p:nvSpPr>
        <p:spPr>
          <a:xfrm>
            <a:off x="320040" y="4032504"/>
            <a:ext cx="4023360" cy="868680"/>
          </a:xfrm>
          <a:prstGeom prst="rect">
            <a:avLst/>
          </a:prstGeom>
          <a:noFill/>
          <a:ln/>
        </p:spPr>
        <p:txBody>
          <a:bodyPr wrap="square" lIns="38100" tIns="38100" rIns="38100" bIns="38100" rtlCol="0" anchor="t"/>
          <a:lstStyle/>
          <a:p>
            <a:pPr indent="0" marL="0">
              <a:buNone/>
            </a:pPr>
            <a:r>
              <a:rPr lang="en-US" sz="850" dirty="0">
                <a:solidFill>
                  <a:srgbClr val="98D8A8"/>
                </a:solidFill>
                <a:latin typeface="Courier New" pitchFamily="34" charset="0"/>
                <a:ea typeface="Courier New" pitchFamily="34" charset="-122"/>
                <a:cs typeface="Courier New" pitchFamily="34" charset="-120"/>
              </a:rPr>
              <a:t># Remote state in Azure Blob (team-safe, no conflicts)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terraform { backend "azurerm"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storage_account_name = "medicaretfstate"</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container_name = "tfstate" } }</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resource "azurerm_linux_web_app" "api"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name     = "medicare-api-${var.environment}"</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sku_name = var.environment == "prod" ? "S2" : "B1"</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  site_config { linuxFxVersion = "JAVA|17-java17" }</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a:t>
            </a:r>
            <a:endParaRPr lang="en-US" sz="850" dirty="0"/>
          </a:p>
          <a:p>
            <a:pPr indent="0" marL="0">
              <a:buNone/>
            </a:pP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terraform plan   # Preview what changes</a:t>
            </a:r>
            <a:endParaRPr lang="en-US" sz="850" dirty="0"/>
          </a:p>
          <a:p>
            <a:pPr indent="0" marL="0">
              <a:buNone/>
            </a:pPr>
            <a:r>
              <a:rPr lang="en-US" sz="850" dirty="0">
                <a:solidFill>
                  <a:srgbClr val="98D8A8"/>
                </a:solidFill>
                <a:latin typeface="Courier New" pitchFamily="34" charset="0"/>
                <a:ea typeface="Courier New" pitchFamily="34" charset="-122"/>
                <a:cs typeface="Courier New" pitchFamily="34" charset="-120"/>
              </a:rPr>
              <a:t>terraform apply  # Execute the plan</a:t>
            </a:r>
            <a:endParaRPr lang="en-US" sz="850" dirty="0"/>
          </a:p>
        </p:txBody>
      </p:sp>
      <p:sp>
        <p:nvSpPr>
          <p:cNvPr id="18" name="Text 16"/>
          <p:cNvSpPr/>
          <p:nvPr/>
        </p:nvSpPr>
        <p:spPr>
          <a:xfrm>
            <a:off x="4663440" y="3703320"/>
            <a:ext cx="4251960" cy="256032"/>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Why Terraform over Bicep?</a:t>
            </a:r>
            <a:endParaRPr lang="en-US" sz="1200" dirty="0"/>
          </a:p>
        </p:txBody>
      </p:sp>
      <p:sp>
        <p:nvSpPr>
          <p:cNvPr id="19" name="Text 17"/>
          <p:cNvSpPr/>
          <p:nvPr/>
        </p:nvSpPr>
        <p:spPr>
          <a:xfrm>
            <a:off x="4663440" y="3986784"/>
            <a:ext cx="4251960" cy="960120"/>
          </a:xfrm>
          <a:prstGeom prst="rect">
            <a:avLst/>
          </a:prstGeom>
          <a:noFill/>
          <a:ln/>
        </p:spPr>
        <p:txBody>
          <a:bodyPr wrap="square" rtlCol="0" anchor="t"/>
          <a:lstStyle/>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Multi-cloud: same HCL for Azure + AWS + GCP</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State management: tracks what's deployed, detects drift</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Plan-Approve-Apply: review changes before executing</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Terraform Registry: 10,000+ community modules available</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Most in-demand IaC skill in enterprise job market</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 03 — FinOps</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Azure Cost Management — Cloud Is Not Free-Running Infrastructure</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49808"/>
            <a:ext cx="86868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Cloud cost management is an architectural discipline, not an afterthought. Resources left running waste money silently.</a:t>
            </a:r>
            <a:endParaRPr lang="en-US" sz="1050" dirty="0"/>
          </a:p>
        </p:txBody>
      </p:sp>
      <p:sp>
        <p:nvSpPr>
          <p:cNvPr id="10" name="Shape 8"/>
          <p:cNvSpPr/>
          <p:nvPr/>
        </p:nvSpPr>
        <p:spPr>
          <a:xfrm>
            <a:off x="228600" y="1069848"/>
            <a:ext cx="8686800" cy="594360"/>
          </a:xfrm>
          <a:prstGeom prst="rect">
            <a:avLst/>
          </a:prstGeom>
          <a:solidFill>
            <a:srgbClr val="FFEBEE"/>
          </a:solidFill>
          <a:ln w="12700">
            <a:solidFill>
              <a:srgbClr val="B71C1C"/>
            </a:solidFill>
            <a:prstDash val="solid"/>
          </a:ln>
        </p:spPr>
      </p:sp>
      <p:sp>
        <p:nvSpPr>
          <p:cNvPr id="11" name="Text 9"/>
          <p:cNvSpPr/>
          <p:nvPr/>
        </p:nvSpPr>
        <p:spPr>
          <a:xfrm>
            <a:off x="320040" y="1088136"/>
            <a:ext cx="8503920" cy="557784"/>
          </a:xfrm>
          <a:prstGeom prst="rect">
            <a:avLst/>
          </a:prstGeom>
          <a:noFill/>
          <a:ln/>
        </p:spPr>
        <p:txBody>
          <a:bodyPr wrap="square" lIns="0" tIns="0" rIns="0" bIns="0" rtlCol="0" anchor="ctr"/>
          <a:lstStyle/>
          <a:p>
            <a:pPr indent="0" marL="0">
              <a:buNone/>
            </a:pPr>
            <a:r>
              <a:rPr lang="en-US" sz="1000" b="1" dirty="0">
                <a:solidFill>
                  <a:srgbClr val="B71C1C"/>
                </a:solidFill>
                <a:latin typeface="Calibri" pitchFamily="34" charset="0"/>
                <a:ea typeface="Calibri" pitchFamily="34" charset="-122"/>
                <a:cs typeface="Calibri" pitchFamily="34" charset="-120"/>
              </a:rPr>
              <a:t>Real Example: Dev AKS cluster (5 nodes, Standard_D4s_v3) left running 24/7 = ₹75,000/month. Needed only 8hrs/day weekdays = ₹17,857/month. WASTED: ₹57,000/month — simply because no auto-shutdown was configured.</a:t>
            </a:r>
            <a:endParaRPr lang="en-US" sz="1000" dirty="0"/>
          </a:p>
        </p:txBody>
      </p:sp>
      <p:sp>
        <p:nvSpPr>
          <p:cNvPr id="12" name="Text 10"/>
          <p:cNvSpPr/>
          <p:nvPr/>
        </p:nvSpPr>
        <p:spPr>
          <a:xfrm>
            <a:off x="228600" y="1755648"/>
            <a:ext cx="8686800" cy="274320"/>
          </a:xfrm>
          <a:prstGeom prst="rect">
            <a:avLst/>
          </a:prstGeom>
          <a:noFill/>
          <a:ln/>
        </p:spPr>
        <p:txBody>
          <a:bodyPr wrap="square" lIns="0" tIns="0" rIns="0" bIns="0" rtlCol="0" anchor="ctr"/>
          <a:lstStyle/>
          <a:p>
            <a:pPr indent="0" marL="0">
              <a:buNone/>
            </a:pPr>
            <a:r>
              <a:rPr lang="en-US" sz="1300" b="1" dirty="0">
                <a:solidFill>
                  <a:srgbClr val="1A237E"/>
                </a:solidFill>
                <a:latin typeface="Trebuchet MS" pitchFamily="34" charset="0"/>
                <a:ea typeface="Trebuchet MS" pitchFamily="34" charset="-122"/>
                <a:cs typeface="Trebuchet MS" pitchFamily="34" charset="-120"/>
              </a:rPr>
              <a:t>Top Cost Optimization Strategies</a:t>
            </a:r>
            <a:endParaRPr lang="en-US" sz="1300" dirty="0"/>
          </a:p>
        </p:txBody>
      </p:sp>
      <p:sp>
        <p:nvSpPr>
          <p:cNvPr id="13" name="Shape 11"/>
          <p:cNvSpPr/>
          <p:nvPr/>
        </p:nvSpPr>
        <p:spPr>
          <a:xfrm>
            <a:off x="228600" y="2084832"/>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28600" y="2084832"/>
            <a:ext cx="2816352" cy="64008"/>
          </a:xfrm>
          <a:prstGeom prst="rect">
            <a:avLst/>
          </a:prstGeom>
          <a:solidFill>
            <a:srgbClr val="1A237E"/>
          </a:solidFill>
          <a:ln w="12700">
            <a:solidFill>
              <a:srgbClr val="1A237E"/>
            </a:solidFill>
            <a:prstDash val="solid"/>
          </a:ln>
        </p:spPr>
      </p:sp>
      <p:sp>
        <p:nvSpPr>
          <p:cNvPr id="15" name="Text 13"/>
          <p:cNvSpPr/>
          <p:nvPr/>
        </p:nvSpPr>
        <p:spPr>
          <a:xfrm>
            <a:off x="338328" y="2176272"/>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Reserved Instances</a:t>
            </a:r>
            <a:endParaRPr lang="en-US" sz="1200" dirty="0"/>
          </a:p>
        </p:txBody>
      </p:sp>
      <p:sp>
        <p:nvSpPr>
          <p:cNvPr id="16" name="Text 14"/>
          <p:cNvSpPr/>
          <p:nvPr/>
        </p:nvSpPr>
        <p:spPr>
          <a:xfrm>
            <a:off x="338328" y="2487168"/>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1-year or 3-year commitment → up to 72% discount on compute. Use for always-on production resources.</a:t>
            </a:r>
            <a:endParaRPr lang="en-US" sz="900" dirty="0"/>
          </a:p>
        </p:txBody>
      </p:sp>
      <p:sp>
        <p:nvSpPr>
          <p:cNvPr id="17" name="Shape 15"/>
          <p:cNvSpPr/>
          <p:nvPr/>
        </p:nvSpPr>
        <p:spPr>
          <a:xfrm>
            <a:off x="3172968" y="2084832"/>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172968" y="2084832"/>
            <a:ext cx="2816352" cy="64008"/>
          </a:xfrm>
          <a:prstGeom prst="rect">
            <a:avLst/>
          </a:prstGeom>
          <a:solidFill>
            <a:srgbClr val="1565C0"/>
          </a:solidFill>
          <a:ln w="12700">
            <a:solidFill>
              <a:srgbClr val="1565C0"/>
            </a:solidFill>
            <a:prstDash val="solid"/>
          </a:ln>
        </p:spPr>
      </p:sp>
      <p:sp>
        <p:nvSpPr>
          <p:cNvPr id="19" name="Text 17"/>
          <p:cNvSpPr/>
          <p:nvPr/>
        </p:nvSpPr>
        <p:spPr>
          <a:xfrm>
            <a:off x="3282696" y="2176272"/>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Dev/Test Subscription</a:t>
            </a:r>
            <a:endParaRPr lang="en-US" sz="1200" dirty="0"/>
          </a:p>
        </p:txBody>
      </p:sp>
      <p:sp>
        <p:nvSpPr>
          <p:cNvPr id="20" name="Text 18"/>
          <p:cNvSpPr/>
          <p:nvPr/>
        </p:nvSpPr>
        <p:spPr>
          <a:xfrm>
            <a:off x="3282696" y="2487168"/>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Microsoft offers special dev pricing. SQL Server, Windows VMs significantly cheaper. Never pay full price for non-prod.</a:t>
            </a:r>
            <a:endParaRPr lang="en-US" sz="900" dirty="0"/>
          </a:p>
        </p:txBody>
      </p:sp>
      <p:sp>
        <p:nvSpPr>
          <p:cNvPr id="21" name="Shape 19"/>
          <p:cNvSpPr/>
          <p:nvPr/>
        </p:nvSpPr>
        <p:spPr>
          <a:xfrm>
            <a:off x="6117336" y="2084832"/>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117336" y="2084832"/>
            <a:ext cx="2816352" cy="64008"/>
          </a:xfrm>
          <a:prstGeom prst="rect">
            <a:avLst/>
          </a:prstGeom>
          <a:solidFill>
            <a:srgbClr val="00897B"/>
          </a:solidFill>
          <a:ln w="12700">
            <a:solidFill>
              <a:srgbClr val="00897B"/>
            </a:solidFill>
            <a:prstDash val="solid"/>
          </a:ln>
        </p:spPr>
      </p:sp>
      <p:sp>
        <p:nvSpPr>
          <p:cNvPr id="23" name="Text 21"/>
          <p:cNvSpPr/>
          <p:nvPr/>
        </p:nvSpPr>
        <p:spPr>
          <a:xfrm>
            <a:off x="6227064" y="2176272"/>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Auto-Shutdown Dev Resources</a:t>
            </a:r>
            <a:endParaRPr lang="en-US" sz="1200" dirty="0"/>
          </a:p>
        </p:txBody>
      </p:sp>
      <p:sp>
        <p:nvSpPr>
          <p:cNvPr id="24" name="Text 22"/>
          <p:cNvSpPr/>
          <p:nvPr/>
        </p:nvSpPr>
        <p:spPr>
          <a:xfrm>
            <a:off x="6227064" y="2487168"/>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Schedule dev VMs &amp; AKS to shutdown at 7 PM, weekends. Simple automation saves 60%+ dev environment cost.</a:t>
            </a:r>
            <a:endParaRPr lang="en-US" sz="900" dirty="0"/>
          </a:p>
        </p:txBody>
      </p:sp>
      <p:sp>
        <p:nvSpPr>
          <p:cNvPr id="25" name="Shape 23"/>
          <p:cNvSpPr/>
          <p:nvPr/>
        </p:nvSpPr>
        <p:spPr>
          <a:xfrm>
            <a:off x="228600" y="3438144"/>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228600" y="3438144"/>
            <a:ext cx="2816352" cy="64008"/>
          </a:xfrm>
          <a:prstGeom prst="rect">
            <a:avLst/>
          </a:prstGeom>
          <a:solidFill>
            <a:srgbClr val="E65100"/>
          </a:solidFill>
          <a:ln w="12700">
            <a:solidFill>
              <a:srgbClr val="E65100"/>
            </a:solidFill>
            <a:prstDash val="solid"/>
          </a:ln>
        </p:spPr>
      </p:sp>
      <p:sp>
        <p:nvSpPr>
          <p:cNvPr id="27" name="Text 25"/>
          <p:cNvSpPr/>
          <p:nvPr/>
        </p:nvSpPr>
        <p:spPr>
          <a:xfrm>
            <a:off x="338328" y="3529584"/>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Spot Instances</a:t>
            </a:r>
            <a:endParaRPr lang="en-US" sz="1200" dirty="0"/>
          </a:p>
        </p:txBody>
      </p:sp>
      <p:sp>
        <p:nvSpPr>
          <p:cNvPr id="28" name="Text 26"/>
          <p:cNvSpPr/>
          <p:nvPr/>
        </p:nvSpPr>
        <p:spPr>
          <a:xfrm>
            <a:off x="338328" y="3840480"/>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Up to 90% discount for interruptible workloads. Nightly batch reports, ML training, image processing jobs.</a:t>
            </a:r>
            <a:endParaRPr lang="en-US" sz="900" dirty="0"/>
          </a:p>
        </p:txBody>
      </p:sp>
      <p:sp>
        <p:nvSpPr>
          <p:cNvPr id="29" name="Shape 27"/>
          <p:cNvSpPr/>
          <p:nvPr/>
        </p:nvSpPr>
        <p:spPr>
          <a:xfrm>
            <a:off x="3172968" y="3438144"/>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3172968" y="3438144"/>
            <a:ext cx="2816352" cy="64008"/>
          </a:xfrm>
          <a:prstGeom prst="rect">
            <a:avLst/>
          </a:prstGeom>
          <a:solidFill>
            <a:srgbClr val="6D28D9"/>
          </a:solidFill>
          <a:ln w="12700">
            <a:solidFill>
              <a:srgbClr val="6D28D9"/>
            </a:solidFill>
            <a:prstDash val="solid"/>
          </a:ln>
        </p:spPr>
      </p:sp>
      <p:sp>
        <p:nvSpPr>
          <p:cNvPr id="31" name="Text 29"/>
          <p:cNvSpPr/>
          <p:nvPr/>
        </p:nvSpPr>
        <p:spPr>
          <a:xfrm>
            <a:off x="3282696" y="3529584"/>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Storage Lifecycle Tiers</a:t>
            </a:r>
            <a:endParaRPr lang="en-US" sz="1200" dirty="0"/>
          </a:p>
        </p:txBody>
      </p:sp>
      <p:sp>
        <p:nvSpPr>
          <p:cNvPr id="32" name="Text 30"/>
          <p:cNvSpPr/>
          <p:nvPr/>
        </p:nvSpPr>
        <p:spPr>
          <a:xfrm>
            <a:off x="3282696" y="3840480"/>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Old X-rays (180+ days) → Archive tier (90% cheaper). Lifecycle policies automate this transparently.</a:t>
            </a:r>
            <a:endParaRPr lang="en-US" sz="900" dirty="0"/>
          </a:p>
        </p:txBody>
      </p:sp>
      <p:sp>
        <p:nvSpPr>
          <p:cNvPr id="33" name="Shape 31"/>
          <p:cNvSpPr/>
          <p:nvPr/>
        </p:nvSpPr>
        <p:spPr>
          <a:xfrm>
            <a:off x="6117336" y="3438144"/>
            <a:ext cx="2816352" cy="12618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6117336" y="3438144"/>
            <a:ext cx="2816352" cy="64008"/>
          </a:xfrm>
          <a:prstGeom prst="rect">
            <a:avLst/>
          </a:prstGeom>
          <a:solidFill>
            <a:srgbClr val="F59E0B"/>
          </a:solidFill>
          <a:ln w="12700">
            <a:solidFill>
              <a:srgbClr val="F59E0B"/>
            </a:solidFill>
            <a:prstDash val="solid"/>
          </a:ln>
        </p:spPr>
      </p:sp>
      <p:sp>
        <p:nvSpPr>
          <p:cNvPr id="35" name="Text 33"/>
          <p:cNvSpPr/>
          <p:nvPr/>
        </p:nvSpPr>
        <p:spPr>
          <a:xfrm>
            <a:off x="6227064" y="3529584"/>
            <a:ext cx="2615184" cy="292608"/>
          </a:xfrm>
          <a:prstGeom prst="rect">
            <a:avLst/>
          </a:prstGeom>
          <a:noFill/>
          <a:ln/>
        </p:spPr>
        <p:txBody>
          <a:bodyPr wrap="square" lIns="0" tIns="0" rIns="0" bIns="0" rtlCol="0" anchor="ctr"/>
          <a:lstStyle/>
          <a:p>
            <a:pPr indent="0" marL="0">
              <a:buNone/>
            </a:pPr>
            <a:r>
              <a:rPr lang="en-US" sz="1200" b="1" dirty="0">
                <a:solidFill>
                  <a:srgbClr val="1A237E"/>
                </a:solidFill>
                <a:latin typeface="Trebuchet MS" pitchFamily="34" charset="0"/>
                <a:ea typeface="Trebuchet MS" pitchFamily="34" charset="-122"/>
                <a:cs typeface="Trebuchet MS" pitchFamily="34" charset="-120"/>
              </a:rPr>
              <a:t>Azure Advisor</a:t>
            </a:r>
            <a:endParaRPr lang="en-US" sz="1200" dirty="0"/>
          </a:p>
        </p:txBody>
      </p:sp>
      <p:sp>
        <p:nvSpPr>
          <p:cNvPr id="36" name="Text 34"/>
          <p:cNvSpPr/>
          <p:nvPr/>
        </p:nvSpPr>
        <p:spPr>
          <a:xfrm>
            <a:off x="6227064" y="3840480"/>
            <a:ext cx="2615184" cy="74980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Free automated recommendations: 'Downsize S2→B2 (₹8k/month), 3 orphaned IPs (₹900/month).' Check weekly.</a:t>
            </a:r>
            <a:endParaRPr lang="en-US" sz="900" dirty="0"/>
          </a:p>
        </p:txBody>
      </p:sp>
      <p:sp>
        <p:nvSpPr>
          <p:cNvPr id="37" name="Shape 35"/>
          <p:cNvSpPr/>
          <p:nvPr/>
        </p:nvSpPr>
        <p:spPr>
          <a:xfrm>
            <a:off x="228600" y="4681728"/>
            <a:ext cx="8686800" cy="201168"/>
          </a:xfrm>
          <a:prstGeom prst="rect">
            <a:avLst/>
          </a:prstGeom>
          <a:solidFill>
            <a:srgbClr val="DBEAFE"/>
          </a:solidFill>
          <a:ln w="12700">
            <a:solidFill>
              <a:srgbClr val="1565C0"/>
            </a:solidFill>
            <a:prstDash val="solid"/>
          </a:ln>
        </p:spPr>
      </p:sp>
      <p:sp>
        <p:nvSpPr>
          <p:cNvPr id="38" name="Text 36"/>
          <p:cNvSpPr/>
          <p:nvPr/>
        </p:nvSpPr>
        <p:spPr>
          <a:xfrm>
            <a:off x="320040" y="4690872"/>
            <a:ext cx="8503920" cy="182880"/>
          </a:xfrm>
          <a:prstGeom prst="rect">
            <a:avLst/>
          </a:prstGeom>
          <a:noFill/>
          <a:ln/>
        </p:spPr>
        <p:txBody>
          <a:bodyPr wrap="square" lIns="0" tIns="0" rIns="0" bIns="0" rtlCol="0" anchor="ctr"/>
          <a:lstStyle/>
          <a:p>
            <a:pPr indent="0" marL="0">
              <a:buNone/>
            </a:pPr>
            <a:r>
              <a:rPr lang="en-US" sz="850" b="1" dirty="0">
                <a:solidFill>
                  <a:srgbClr val="1565C0"/>
                </a:solidFill>
                <a:latin typeface="Calibri" pitchFamily="34" charset="0"/>
                <a:ea typeface="Calibri" pitchFamily="34" charset="-122"/>
                <a:cs typeface="Calibri" pitchFamily="34" charset="-120"/>
              </a:rPr>
              <a:t>Set Budget Alerts at 80% threshold • Tag all resources from day one • Review Azure Advisor weekly • Right-size based on actual utilization metrics</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A237E"/>
          </a:solidFill>
          <a:ln w="12700">
            <a:solidFill>
              <a:srgbClr val="1A237E"/>
            </a:solidFill>
            <a:prstDash val="solid"/>
          </a:ln>
        </p:spPr>
      </p:sp>
      <p:sp>
        <p:nvSpPr>
          <p:cNvPr id="3" name="Shape 1"/>
          <p:cNvSpPr/>
          <p:nvPr/>
        </p:nvSpPr>
        <p:spPr>
          <a:xfrm>
            <a:off x="0" y="621792"/>
            <a:ext cx="118872" cy="4526280"/>
          </a:xfrm>
          <a:prstGeom prst="rect">
            <a:avLst/>
          </a:prstGeom>
          <a:solidFill>
            <a:srgbClr val="00ACC1"/>
          </a:solidFill>
          <a:ln w="12700">
            <a:solidFill>
              <a:srgbClr val="00ACC1"/>
            </a:solidFill>
            <a:prstDash val="solid"/>
          </a:ln>
        </p:spPr>
      </p:sp>
      <p:sp>
        <p:nvSpPr>
          <p:cNvPr id="4" name="Shape 2"/>
          <p:cNvSpPr/>
          <p:nvPr/>
        </p:nvSpPr>
        <p:spPr>
          <a:xfrm>
            <a:off x="7452360" y="109728"/>
            <a:ext cx="1572768" cy="365760"/>
          </a:xfrm>
          <a:prstGeom prst="rect">
            <a:avLst/>
          </a:prstGeom>
          <a:solidFill>
            <a:srgbClr val="00ACC1"/>
          </a:solidFill>
          <a:ln w="12700">
            <a:solidFill>
              <a:srgbClr val="00ACC1"/>
            </a:solidFill>
            <a:prstDash val="solid"/>
          </a:ln>
        </p:spPr>
      </p:sp>
      <p:sp>
        <p:nvSpPr>
          <p:cNvPr id="5" name="Text 3"/>
          <p:cNvSpPr/>
          <p:nvPr/>
        </p:nvSpPr>
        <p:spPr>
          <a:xfrm>
            <a:off x="7452360" y="109728"/>
            <a:ext cx="1572768" cy="365760"/>
          </a:xfrm>
          <a:prstGeom prst="rect">
            <a:avLst/>
          </a:prstGeom>
          <a:noFill/>
          <a:ln/>
        </p:spPr>
        <p:txBody>
          <a:bodyPr wrap="square" lIns="0" tIns="0" rIns="0" bIns="0" rtlCol="0" anchor="ctr"/>
          <a:lstStyle/>
          <a:p>
            <a:pPr algn="ctr" indent="0" marL="0">
              <a:buNone/>
            </a:pPr>
            <a:r>
              <a:rPr lang="en-US" sz="900" b="1" dirty="0">
                <a:solidFill>
                  <a:srgbClr val="1A237E"/>
                </a:solidFill>
                <a:latin typeface="Calibri" pitchFamily="34" charset="0"/>
                <a:ea typeface="Calibri" pitchFamily="34" charset="-122"/>
                <a:cs typeface="Calibri" pitchFamily="34" charset="-120"/>
              </a:rPr>
              <a:t>SESSIONS 01 + 02 + 03</a:t>
            </a:r>
            <a:endParaRPr lang="en-US" sz="900" dirty="0"/>
          </a:p>
        </p:txBody>
      </p:sp>
      <p:sp>
        <p:nvSpPr>
          <p:cNvPr id="6" name="Text 4"/>
          <p:cNvSpPr/>
          <p:nvPr/>
        </p:nvSpPr>
        <p:spPr>
          <a:xfrm>
            <a:off x="256032" y="45720"/>
            <a:ext cx="704088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Complete MediCare Production Architecture — All Sessions Combined</a:t>
            </a:r>
            <a:endParaRPr lang="en-US" sz="2100" dirty="0"/>
          </a:p>
        </p:txBody>
      </p:sp>
      <p:sp>
        <p:nvSpPr>
          <p:cNvPr id="7" name="Shape 5"/>
          <p:cNvSpPr/>
          <p:nvPr/>
        </p:nvSpPr>
        <p:spPr>
          <a:xfrm>
            <a:off x="0" y="4937760"/>
            <a:ext cx="9144000" cy="205740"/>
          </a:xfrm>
          <a:prstGeom prst="rect">
            <a:avLst/>
          </a:prstGeom>
          <a:solidFill>
            <a:srgbClr val="1A237E"/>
          </a:solidFill>
          <a:ln w="12700">
            <a:solidFill>
              <a:srgbClr val="1A237E"/>
            </a:solidFill>
            <a:prstDash val="solid"/>
          </a:ln>
        </p:spPr>
      </p:sp>
      <p:sp>
        <p:nvSpPr>
          <p:cNvPr id="8" name="Text 6"/>
          <p:cNvSpPr/>
          <p:nvPr/>
        </p:nvSpPr>
        <p:spPr>
          <a:xfrm>
            <a:off x="274320" y="4946904"/>
            <a:ext cx="8229600" cy="173736"/>
          </a:xfrm>
          <a:prstGeom prst="rect">
            <a:avLst/>
          </a:prstGeom>
          <a:noFill/>
          <a:ln/>
        </p:spPr>
        <p:txBody>
          <a:bodyPr wrap="square" lIns="0" tIns="0" rIns="0" bIns="0" rtlCol="0" anchor="ctr"/>
          <a:lstStyle/>
          <a:p>
            <a:pPr indent="0" marL="0">
              <a:buNone/>
            </a:pPr>
            <a:r>
              <a:rPr lang="en-US" sz="700" dirty="0">
                <a:solidFill>
                  <a:srgbClr val="90CAF9"/>
                </a:solidFill>
                <a:latin typeface="Calibri" pitchFamily="34" charset="0"/>
                <a:ea typeface="Calibri" pitchFamily="34" charset="-122"/>
                <a:cs typeface="Calibri" pitchFamily="34" charset="-120"/>
              </a:rPr>
              <a:t>Azure Cloud Masterclass  •  MediCare Hospital System  •  Real-World Enterprise Architecture</a:t>
            </a:r>
            <a:endParaRPr lang="en-US" sz="700" dirty="0"/>
          </a:p>
        </p:txBody>
      </p:sp>
      <p:sp>
        <p:nvSpPr>
          <p:cNvPr id="9" name="Text 7"/>
          <p:cNvSpPr/>
          <p:nvPr/>
        </p:nvSpPr>
        <p:spPr>
          <a:xfrm>
            <a:off x="228600" y="777240"/>
            <a:ext cx="2743200" cy="256032"/>
          </a:xfrm>
          <a:prstGeom prst="rect">
            <a:avLst/>
          </a:prstGeom>
          <a:noFill/>
          <a:ln/>
        </p:spPr>
        <p:txBody>
          <a:bodyPr wrap="square" lIns="0" tIns="0" rIns="0" bIns="0" rtlCol="0" anchor="ctr"/>
          <a:lstStyle/>
          <a:p>
            <a:pPr indent="0" marL="0">
              <a:buNone/>
            </a:pPr>
            <a:r>
              <a:rPr lang="en-US" sz="950" b="1" dirty="0">
                <a:solidFill>
                  <a:srgbClr val="1A237E"/>
                </a:solidFill>
                <a:latin typeface="Calibri" pitchFamily="34" charset="0"/>
                <a:ea typeface="Calibri" pitchFamily="34" charset="-122"/>
                <a:cs typeface="Calibri" pitchFamily="34" charset="-120"/>
              </a:rPr>
              <a:t>Internet / Users (Doctors, Patients)</a:t>
            </a:r>
            <a:endParaRPr lang="en-US" sz="950" dirty="0"/>
          </a:p>
        </p:txBody>
      </p:sp>
      <p:sp>
        <p:nvSpPr>
          <p:cNvPr id="10" name="Shape 8"/>
          <p:cNvSpPr/>
          <p:nvPr/>
        </p:nvSpPr>
        <p:spPr>
          <a:xfrm>
            <a:off x="228600" y="1069848"/>
            <a:ext cx="8686800" cy="411480"/>
          </a:xfrm>
          <a:prstGeom prst="rect">
            <a:avLst/>
          </a:prstGeom>
          <a:solidFill>
            <a:srgbClr val="64748B"/>
          </a:solidFill>
          <a:ln w="12700">
            <a:solidFill>
              <a:srgbClr val="64748B"/>
            </a:solidFill>
            <a:prstDash val="solid"/>
          </a:ln>
        </p:spPr>
      </p:sp>
      <p:sp>
        <p:nvSpPr>
          <p:cNvPr id="11" name="Text 9"/>
          <p:cNvSpPr/>
          <p:nvPr/>
        </p:nvSpPr>
        <p:spPr>
          <a:xfrm>
            <a:off x="320040" y="1088136"/>
            <a:ext cx="850392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CDN + DDoS Protection</a:t>
            </a:r>
            <a:endParaRPr lang="en-US" sz="1000" dirty="0"/>
          </a:p>
        </p:txBody>
      </p:sp>
      <p:sp>
        <p:nvSpPr>
          <p:cNvPr id="12" name="Text 10"/>
          <p:cNvSpPr/>
          <p:nvPr/>
        </p:nvSpPr>
        <p:spPr>
          <a:xfrm>
            <a:off x="320040" y="1283818"/>
            <a:ext cx="850392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Global edge caching, attack mitigation</a:t>
            </a:r>
            <a:endParaRPr lang="en-US" sz="800" dirty="0"/>
          </a:p>
        </p:txBody>
      </p:sp>
      <p:sp>
        <p:nvSpPr>
          <p:cNvPr id="13" name="Shape 11"/>
          <p:cNvSpPr/>
          <p:nvPr/>
        </p:nvSpPr>
        <p:spPr>
          <a:xfrm>
            <a:off x="228600" y="1536192"/>
            <a:ext cx="8686800" cy="411480"/>
          </a:xfrm>
          <a:prstGeom prst="rect">
            <a:avLst/>
          </a:prstGeom>
          <a:solidFill>
            <a:srgbClr val="1565C0"/>
          </a:solidFill>
          <a:ln w="12700">
            <a:solidFill>
              <a:srgbClr val="1565C0"/>
            </a:solidFill>
            <a:prstDash val="solid"/>
          </a:ln>
        </p:spPr>
      </p:sp>
      <p:sp>
        <p:nvSpPr>
          <p:cNvPr id="14" name="Text 12"/>
          <p:cNvSpPr/>
          <p:nvPr/>
        </p:nvSpPr>
        <p:spPr>
          <a:xfrm>
            <a:off x="320040" y="1554480"/>
            <a:ext cx="850392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API Management (APIM)</a:t>
            </a:r>
            <a:endParaRPr lang="en-US" sz="1000" dirty="0"/>
          </a:p>
        </p:txBody>
      </p:sp>
      <p:sp>
        <p:nvSpPr>
          <p:cNvPr id="15" name="Text 13"/>
          <p:cNvSpPr/>
          <p:nvPr/>
        </p:nvSpPr>
        <p:spPr>
          <a:xfrm>
            <a:off x="320040" y="1750162"/>
            <a:ext cx="850392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JWT validation, rate limiting, request routing, analytics</a:t>
            </a:r>
            <a:endParaRPr lang="en-US" sz="800" dirty="0"/>
          </a:p>
        </p:txBody>
      </p:sp>
      <p:sp>
        <p:nvSpPr>
          <p:cNvPr id="16" name="Shape 14"/>
          <p:cNvSpPr/>
          <p:nvPr/>
        </p:nvSpPr>
        <p:spPr>
          <a:xfrm>
            <a:off x="228600" y="2002536"/>
            <a:ext cx="8686800" cy="502920"/>
          </a:xfrm>
          <a:prstGeom prst="rect">
            <a:avLst/>
          </a:prstGeom>
          <a:solidFill>
            <a:srgbClr val="1A237E"/>
          </a:solidFill>
          <a:ln w="12700">
            <a:solidFill>
              <a:srgbClr val="1A237E"/>
            </a:solidFill>
            <a:prstDash val="solid"/>
          </a:ln>
        </p:spPr>
      </p:sp>
      <p:sp>
        <p:nvSpPr>
          <p:cNvPr id="17" name="Text 15"/>
          <p:cNvSpPr/>
          <p:nvPr/>
        </p:nvSpPr>
        <p:spPr>
          <a:xfrm>
            <a:off x="320040" y="2020824"/>
            <a:ext cx="8503920" cy="27660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AKS Cluster — Microservices (appointment | patient | billing | notification | doctor | imaging | pharmacy)</a:t>
            </a:r>
            <a:endParaRPr lang="en-US" sz="1000" dirty="0"/>
          </a:p>
        </p:txBody>
      </p:sp>
      <p:sp>
        <p:nvSpPr>
          <p:cNvPr id="18" name="Text 16"/>
          <p:cNvSpPr/>
          <p:nvPr/>
        </p:nvSpPr>
        <p:spPr>
          <a:xfrm>
            <a:off x="320040" y="2264054"/>
            <a:ext cx="8503920" cy="22631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Auto-scaling pods • Liveness/readiness probes • Rolling updates • HPA</a:t>
            </a:r>
            <a:endParaRPr lang="en-US" sz="800" dirty="0"/>
          </a:p>
        </p:txBody>
      </p:sp>
      <p:sp>
        <p:nvSpPr>
          <p:cNvPr id="19" name="Shape 17"/>
          <p:cNvSpPr/>
          <p:nvPr/>
        </p:nvSpPr>
        <p:spPr>
          <a:xfrm>
            <a:off x="228600" y="2560320"/>
            <a:ext cx="4206240" cy="411480"/>
          </a:xfrm>
          <a:prstGeom prst="rect">
            <a:avLst/>
          </a:prstGeom>
          <a:solidFill>
            <a:srgbClr val="00897B"/>
          </a:solidFill>
          <a:ln w="12700">
            <a:solidFill>
              <a:srgbClr val="00897B"/>
            </a:solidFill>
            <a:prstDash val="solid"/>
          </a:ln>
        </p:spPr>
      </p:sp>
      <p:sp>
        <p:nvSpPr>
          <p:cNvPr id="20" name="Text 18"/>
          <p:cNvSpPr/>
          <p:nvPr/>
        </p:nvSpPr>
        <p:spPr>
          <a:xfrm>
            <a:off x="320040" y="2578608"/>
            <a:ext cx="402336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Service Bus (async messaging)</a:t>
            </a:r>
            <a:endParaRPr lang="en-US" sz="1000" dirty="0"/>
          </a:p>
        </p:txBody>
      </p:sp>
      <p:sp>
        <p:nvSpPr>
          <p:cNvPr id="21" name="Text 19"/>
          <p:cNvSpPr/>
          <p:nvPr/>
        </p:nvSpPr>
        <p:spPr>
          <a:xfrm>
            <a:off x="320040" y="2774290"/>
            <a:ext cx="402336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Topics: appointment-booked → notifications + billing + analytics</a:t>
            </a:r>
            <a:endParaRPr lang="en-US" sz="800" dirty="0"/>
          </a:p>
        </p:txBody>
      </p:sp>
      <p:sp>
        <p:nvSpPr>
          <p:cNvPr id="22" name="Shape 20"/>
          <p:cNvSpPr/>
          <p:nvPr/>
        </p:nvSpPr>
        <p:spPr>
          <a:xfrm>
            <a:off x="4709160" y="2560320"/>
            <a:ext cx="4206240" cy="411480"/>
          </a:xfrm>
          <a:prstGeom prst="rect">
            <a:avLst/>
          </a:prstGeom>
          <a:solidFill>
            <a:srgbClr val="00ACC1"/>
          </a:solidFill>
          <a:ln w="12700">
            <a:solidFill>
              <a:srgbClr val="00ACC1"/>
            </a:solidFill>
            <a:prstDash val="solid"/>
          </a:ln>
        </p:spPr>
      </p:sp>
      <p:sp>
        <p:nvSpPr>
          <p:cNvPr id="23" name="Text 21"/>
          <p:cNvSpPr/>
          <p:nvPr/>
        </p:nvSpPr>
        <p:spPr>
          <a:xfrm>
            <a:off x="4800600" y="2578608"/>
            <a:ext cx="402336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Redis Cache</a:t>
            </a:r>
            <a:endParaRPr lang="en-US" sz="1000" dirty="0"/>
          </a:p>
        </p:txBody>
      </p:sp>
      <p:sp>
        <p:nvSpPr>
          <p:cNvPr id="24" name="Text 22"/>
          <p:cNvSpPr/>
          <p:nvPr/>
        </p:nvSpPr>
        <p:spPr>
          <a:xfrm>
            <a:off x="4800600" y="2774290"/>
            <a:ext cx="402336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Doctor availability, session data, reference data</a:t>
            </a:r>
            <a:endParaRPr lang="en-US" sz="800" dirty="0"/>
          </a:p>
        </p:txBody>
      </p:sp>
      <p:sp>
        <p:nvSpPr>
          <p:cNvPr id="25" name="Shape 23"/>
          <p:cNvSpPr/>
          <p:nvPr/>
        </p:nvSpPr>
        <p:spPr>
          <a:xfrm>
            <a:off x="228600" y="3026664"/>
            <a:ext cx="8686800" cy="411480"/>
          </a:xfrm>
          <a:prstGeom prst="rect">
            <a:avLst/>
          </a:prstGeom>
          <a:solidFill>
            <a:srgbClr val="6D28D9"/>
          </a:solidFill>
          <a:ln w="12700">
            <a:solidFill>
              <a:srgbClr val="6D28D9"/>
            </a:solidFill>
            <a:prstDash val="solid"/>
          </a:ln>
        </p:spPr>
      </p:sp>
      <p:sp>
        <p:nvSpPr>
          <p:cNvPr id="26" name="Text 24"/>
          <p:cNvSpPr/>
          <p:nvPr/>
        </p:nvSpPr>
        <p:spPr>
          <a:xfrm>
            <a:off x="320040" y="3044952"/>
            <a:ext cx="850392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SQL Database (Private Endpoint only)</a:t>
            </a:r>
            <a:endParaRPr lang="en-US" sz="1000" dirty="0"/>
          </a:p>
        </p:txBody>
      </p:sp>
      <p:sp>
        <p:nvSpPr>
          <p:cNvPr id="27" name="Text 25"/>
          <p:cNvSpPr/>
          <p:nvPr/>
        </p:nvSpPr>
        <p:spPr>
          <a:xfrm>
            <a:off x="320040" y="3240634"/>
            <a:ext cx="850392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Patient records, appointments, billing — auto-backup, HA, 99.99% SLA</a:t>
            </a:r>
            <a:endParaRPr lang="en-US" sz="800" dirty="0"/>
          </a:p>
        </p:txBody>
      </p:sp>
      <p:sp>
        <p:nvSpPr>
          <p:cNvPr id="28" name="Shape 26"/>
          <p:cNvSpPr/>
          <p:nvPr/>
        </p:nvSpPr>
        <p:spPr>
          <a:xfrm>
            <a:off x="228600" y="3493008"/>
            <a:ext cx="4206240" cy="411480"/>
          </a:xfrm>
          <a:prstGeom prst="rect">
            <a:avLst/>
          </a:prstGeom>
          <a:solidFill>
            <a:srgbClr val="E65100"/>
          </a:solidFill>
          <a:ln w="12700">
            <a:solidFill>
              <a:srgbClr val="E65100"/>
            </a:solidFill>
            <a:prstDash val="solid"/>
          </a:ln>
        </p:spPr>
      </p:sp>
      <p:sp>
        <p:nvSpPr>
          <p:cNvPr id="29" name="Text 27"/>
          <p:cNvSpPr/>
          <p:nvPr/>
        </p:nvSpPr>
        <p:spPr>
          <a:xfrm>
            <a:off x="320040" y="3511296"/>
            <a:ext cx="402336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Key Vault + Managed Identity</a:t>
            </a:r>
            <a:endParaRPr lang="en-US" sz="1000" dirty="0"/>
          </a:p>
        </p:txBody>
      </p:sp>
      <p:sp>
        <p:nvSpPr>
          <p:cNvPr id="30" name="Text 28"/>
          <p:cNvSpPr/>
          <p:nvPr/>
        </p:nvSpPr>
        <p:spPr>
          <a:xfrm>
            <a:off x="320040" y="3706978"/>
            <a:ext cx="402336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All secrets: DB passwords, API keys — zero credentials in code</a:t>
            </a:r>
            <a:endParaRPr lang="en-US" sz="800" dirty="0"/>
          </a:p>
        </p:txBody>
      </p:sp>
      <p:sp>
        <p:nvSpPr>
          <p:cNvPr id="31" name="Shape 29"/>
          <p:cNvSpPr/>
          <p:nvPr/>
        </p:nvSpPr>
        <p:spPr>
          <a:xfrm>
            <a:off x="4709160" y="3493008"/>
            <a:ext cx="4206240" cy="411480"/>
          </a:xfrm>
          <a:prstGeom prst="rect">
            <a:avLst/>
          </a:prstGeom>
          <a:solidFill>
            <a:srgbClr val="F59E0B"/>
          </a:solidFill>
          <a:ln w="12700">
            <a:solidFill>
              <a:srgbClr val="F59E0B"/>
            </a:solidFill>
            <a:prstDash val="solid"/>
          </a:ln>
        </p:spPr>
      </p:sp>
      <p:sp>
        <p:nvSpPr>
          <p:cNvPr id="32" name="Text 30"/>
          <p:cNvSpPr/>
          <p:nvPr/>
        </p:nvSpPr>
        <p:spPr>
          <a:xfrm>
            <a:off x="4800600" y="3511296"/>
            <a:ext cx="4023360" cy="226314"/>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Azure Blob Storage</a:t>
            </a:r>
            <a:endParaRPr lang="en-US" sz="1000" dirty="0"/>
          </a:p>
        </p:txBody>
      </p:sp>
      <p:sp>
        <p:nvSpPr>
          <p:cNvPr id="33" name="Text 31"/>
          <p:cNvSpPr/>
          <p:nvPr/>
        </p:nvSpPr>
        <p:spPr>
          <a:xfrm>
            <a:off x="4800600" y="3706978"/>
            <a:ext cx="4023360" cy="18516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Medical images: X-rays, MRIs — lifecycle tiering to archive</a:t>
            </a:r>
            <a:endParaRPr lang="en-US" sz="800" dirty="0"/>
          </a:p>
        </p:txBody>
      </p:sp>
      <p:sp>
        <p:nvSpPr>
          <p:cNvPr id="34" name="Shape 32"/>
          <p:cNvSpPr/>
          <p:nvPr/>
        </p:nvSpPr>
        <p:spPr>
          <a:xfrm>
            <a:off x="228600" y="3959352"/>
            <a:ext cx="8686800" cy="457200"/>
          </a:xfrm>
          <a:prstGeom prst="rect">
            <a:avLst/>
          </a:prstGeom>
          <a:solidFill>
            <a:srgbClr val="DBEAFE"/>
          </a:solidFill>
          <a:ln w="12700">
            <a:solidFill>
              <a:srgbClr val="1565C0"/>
            </a:solidFill>
            <a:prstDash val="solid"/>
          </a:ln>
        </p:spPr>
      </p:sp>
      <p:sp>
        <p:nvSpPr>
          <p:cNvPr id="35" name="Text 33"/>
          <p:cNvSpPr/>
          <p:nvPr/>
        </p:nvSpPr>
        <p:spPr>
          <a:xfrm>
            <a:off x="320040" y="3977640"/>
            <a:ext cx="8503920" cy="201168"/>
          </a:xfrm>
          <a:prstGeom prst="rect">
            <a:avLst/>
          </a:prstGeom>
          <a:noFill/>
          <a:ln/>
        </p:spPr>
        <p:txBody>
          <a:bodyPr wrap="square" lIns="0" tIns="0" rIns="0" bIns="0" rtlCol="0" anchor="ctr"/>
          <a:lstStyle/>
          <a:p>
            <a:pPr indent="0" marL="0">
              <a:buNone/>
            </a:pPr>
            <a:r>
              <a:rPr lang="en-US" sz="850" b="1" dirty="0">
                <a:solidFill>
                  <a:srgbClr val="1565C0"/>
                </a:solidFill>
                <a:latin typeface="Calibri" pitchFamily="34" charset="0"/>
                <a:ea typeface="Calibri" pitchFamily="34" charset="-122"/>
                <a:cs typeface="Calibri" pitchFamily="34" charset="-120"/>
              </a:rPr>
              <a:t>SECURITY: Azure AD + RBAC  |  VNet + NSGs + Private Endpoints  |  TDE Encryption  |  Defender for SQL  |  Conditional Access</a:t>
            </a:r>
            <a:endParaRPr lang="en-US" sz="850" dirty="0"/>
          </a:p>
        </p:txBody>
      </p:sp>
      <p:sp>
        <p:nvSpPr>
          <p:cNvPr id="36" name="Text 34"/>
          <p:cNvSpPr/>
          <p:nvPr/>
        </p:nvSpPr>
        <p:spPr>
          <a:xfrm>
            <a:off x="320040" y="4178808"/>
            <a:ext cx="8503920" cy="201168"/>
          </a:xfrm>
          <a:prstGeom prst="rect">
            <a:avLst/>
          </a:prstGeom>
          <a:noFill/>
          <a:ln/>
        </p:spPr>
        <p:txBody>
          <a:bodyPr wrap="square" lIns="0" tIns="0" rIns="0" bIns="0" rtlCol="0" anchor="ctr"/>
          <a:lstStyle/>
          <a:p>
            <a:pPr indent="0" marL="0">
              <a:buNone/>
            </a:pPr>
            <a:r>
              <a:rPr lang="en-US" sz="850" b="1" dirty="0">
                <a:solidFill>
                  <a:srgbClr val="1A237E"/>
                </a:solidFill>
                <a:latin typeface="Calibri" pitchFamily="34" charset="0"/>
                <a:ea typeface="Calibri" pitchFamily="34" charset="-122"/>
                <a:cs typeface="Calibri" pitchFamily="34" charset="-120"/>
              </a:rPr>
              <a:t>DEVOPS: Azure DevOps CI/CD → ACR → AKS Rolling Updates  |  OBSERVABILITY: App Insights + Log Analytics + KQL + Monitor Alerts → On-Call Team</a:t>
            </a:r>
            <a:endParaRPr lang="en-US" sz="850" dirty="0"/>
          </a:p>
        </p:txBody>
      </p:sp>
      <p:sp>
        <p:nvSpPr>
          <p:cNvPr id="37" name="Shape 35"/>
          <p:cNvSpPr/>
          <p:nvPr/>
        </p:nvSpPr>
        <p:spPr>
          <a:xfrm>
            <a:off x="228600" y="4462272"/>
            <a:ext cx="8686800" cy="347472"/>
          </a:xfrm>
          <a:prstGeom prst="rect">
            <a:avLst/>
          </a:prstGeom>
          <a:solidFill>
            <a:srgbClr val="1A237E"/>
          </a:solidFill>
          <a:ln w="12700">
            <a:solidFill>
              <a:srgbClr val="1A237E"/>
            </a:solidFill>
            <a:prstDash val="solid"/>
          </a:ln>
        </p:spPr>
      </p:sp>
      <p:sp>
        <p:nvSpPr>
          <p:cNvPr id="38" name="Text 36"/>
          <p:cNvSpPr/>
          <p:nvPr/>
        </p:nvSpPr>
        <p:spPr>
          <a:xfrm>
            <a:off x="320040" y="4471416"/>
            <a:ext cx="850392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IaC: All infrastructure defined in Bicep + Terraform  |  Deployed via Azure DevOps Pipeline  |  All secrets in Key Vault  |  All resources tagged and governed</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rgbClr val="283593"/>
          </a:solidFill>
          <a:ln w="12700">
            <a:solidFill>
              <a:srgbClr val="283593"/>
            </a:solidFill>
            <a:prstDash val="solid"/>
          </a:ln>
        </p:spPr>
      </p:sp>
      <p:sp>
        <p:nvSpPr>
          <p:cNvPr id="3" name="Shape 1"/>
          <p:cNvSpPr/>
          <p:nvPr/>
        </p:nvSpPr>
        <p:spPr>
          <a:xfrm>
            <a:off x="0" y="0"/>
            <a:ext cx="320040" cy="5143500"/>
          </a:xfrm>
          <a:prstGeom prst="rect">
            <a:avLst/>
          </a:prstGeom>
          <a:solidFill>
            <a:srgbClr val="E65100"/>
          </a:solidFill>
          <a:ln w="12700">
            <a:solidFill>
              <a:srgbClr val="E65100"/>
            </a:solidFill>
            <a:prstDash val="solid"/>
          </a:ln>
        </p:spPr>
      </p:sp>
      <p:sp>
        <p:nvSpPr>
          <p:cNvPr id="4" name="Text 2"/>
          <p:cNvSpPr/>
          <p:nvPr/>
        </p:nvSpPr>
        <p:spPr>
          <a:xfrm>
            <a:off x="457200" y="182880"/>
            <a:ext cx="8229600" cy="365760"/>
          </a:xfrm>
          <a:prstGeom prst="rect">
            <a:avLst/>
          </a:prstGeom>
          <a:noFill/>
          <a:ln/>
        </p:spPr>
        <p:txBody>
          <a:bodyPr wrap="square" lIns="0" tIns="0" rIns="0" bIns="0" rtlCol="0" anchor="ctr"/>
          <a:lstStyle/>
          <a:p>
            <a:pPr indent="0" marL="0">
              <a:buNone/>
            </a:pPr>
            <a:r>
              <a:rPr lang="en-US" sz="1300" b="1" spc="300" kern="0" dirty="0">
                <a:solidFill>
                  <a:srgbClr val="90CAF9"/>
                </a:solidFill>
                <a:latin typeface="Calibri" pitchFamily="34" charset="0"/>
                <a:ea typeface="Calibri" pitchFamily="34" charset="-122"/>
                <a:cs typeface="Calibri" pitchFamily="34" charset="-120"/>
              </a:rPr>
              <a:t>Session 03</a:t>
            </a:r>
            <a:endParaRPr lang="en-US" sz="1300" dirty="0"/>
          </a:p>
        </p:txBody>
      </p:sp>
      <p:sp>
        <p:nvSpPr>
          <p:cNvPr id="5" name="Text 3"/>
          <p:cNvSpPr/>
          <p:nvPr/>
        </p:nvSpPr>
        <p:spPr>
          <a:xfrm>
            <a:off x="457200" y="530352"/>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6" name="Shape 4"/>
          <p:cNvSpPr/>
          <p:nvPr/>
        </p:nvSpPr>
        <p:spPr>
          <a:xfrm>
            <a:off x="457200" y="1298448"/>
            <a:ext cx="2743200" cy="1371600"/>
          </a:xfrm>
          <a:prstGeom prst="rect">
            <a:avLst/>
          </a:prstGeom>
          <a:solidFill>
            <a:srgbClr val="283593"/>
          </a:solidFill>
          <a:ln w="19050">
            <a:solidFill>
              <a:srgbClr val="1565C0"/>
            </a:solidFill>
            <a:prstDash val="solid"/>
          </a:ln>
        </p:spPr>
      </p:sp>
      <p:sp>
        <p:nvSpPr>
          <p:cNvPr id="7" name="Shape 5"/>
          <p:cNvSpPr/>
          <p:nvPr/>
        </p:nvSpPr>
        <p:spPr>
          <a:xfrm>
            <a:off x="457200" y="1298448"/>
            <a:ext cx="320040" cy="1371600"/>
          </a:xfrm>
          <a:prstGeom prst="rect">
            <a:avLst/>
          </a:prstGeom>
          <a:solidFill>
            <a:srgbClr val="1565C0"/>
          </a:solidFill>
          <a:ln w="12700">
            <a:solidFill>
              <a:srgbClr val="1565C0"/>
            </a:solidFill>
            <a:prstDash val="solid"/>
          </a:ln>
        </p:spPr>
      </p:sp>
      <p:sp>
        <p:nvSpPr>
          <p:cNvPr id="8" name="Text 6"/>
          <p:cNvSpPr/>
          <p:nvPr/>
        </p:nvSpPr>
        <p:spPr>
          <a:xfrm>
            <a:off x="86868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Service Bus</a:t>
            </a:r>
            <a:endParaRPr lang="en-US" sz="1200" dirty="0"/>
          </a:p>
        </p:txBody>
      </p:sp>
      <p:sp>
        <p:nvSpPr>
          <p:cNvPr id="9" name="Text 7"/>
          <p:cNvSpPr/>
          <p:nvPr/>
        </p:nvSpPr>
        <p:spPr>
          <a:xfrm>
            <a:off x="86868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Async messaging with queues, topics, dead-letter queues. Fire-and-forget decoupling.</a:t>
            </a:r>
            <a:endParaRPr lang="en-US" sz="950" dirty="0"/>
          </a:p>
        </p:txBody>
      </p:sp>
      <p:sp>
        <p:nvSpPr>
          <p:cNvPr id="10" name="Shape 8"/>
          <p:cNvSpPr/>
          <p:nvPr/>
        </p:nvSpPr>
        <p:spPr>
          <a:xfrm>
            <a:off x="3337560" y="1298448"/>
            <a:ext cx="2743200" cy="1371600"/>
          </a:xfrm>
          <a:prstGeom prst="rect">
            <a:avLst/>
          </a:prstGeom>
          <a:solidFill>
            <a:srgbClr val="283593"/>
          </a:solidFill>
          <a:ln w="19050">
            <a:solidFill>
              <a:srgbClr val="00897B"/>
            </a:solidFill>
            <a:prstDash val="solid"/>
          </a:ln>
        </p:spPr>
      </p:sp>
      <p:sp>
        <p:nvSpPr>
          <p:cNvPr id="11" name="Shape 9"/>
          <p:cNvSpPr/>
          <p:nvPr/>
        </p:nvSpPr>
        <p:spPr>
          <a:xfrm>
            <a:off x="3337560" y="1298448"/>
            <a:ext cx="320040" cy="1371600"/>
          </a:xfrm>
          <a:prstGeom prst="rect">
            <a:avLst/>
          </a:prstGeom>
          <a:solidFill>
            <a:srgbClr val="00897B"/>
          </a:solidFill>
          <a:ln w="12700">
            <a:solidFill>
              <a:srgbClr val="00897B"/>
            </a:solidFill>
            <a:prstDash val="solid"/>
          </a:ln>
        </p:spPr>
      </p:sp>
      <p:sp>
        <p:nvSpPr>
          <p:cNvPr id="12" name="Text 10"/>
          <p:cNvSpPr/>
          <p:nvPr/>
        </p:nvSpPr>
        <p:spPr>
          <a:xfrm>
            <a:off x="374904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Docker</a:t>
            </a:r>
            <a:endParaRPr lang="en-US" sz="1200" dirty="0"/>
          </a:p>
        </p:txBody>
      </p:sp>
      <p:sp>
        <p:nvSpPr>
          <p:cNvPr id="13" name="Text 11"/>
          <p:cNvSpPr/>
          <p:nvPr/>
        </p:nvSpPr>
        <p:spPr>
          <a:xfrm>
            <a:off x="374904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Multi-stage Dockerfiles, non-root user, container resource limits, health checks.</a:t>
            </a:r>
            <a:endParaRPr lang="en-US" sz="950" dirty="0"/>
          </a:p>
        </p:txBody>
      </p:sp>
      <p:sp>
        <p:nvSpPr>
          <p:cNvPr id="14" name="Shape 12"/>
          <p:cNvSpPr/>
          <p:nvPr/>
        </p:nvSpPr>
        <p:spPr>
          <a:xfrm>
            <a:off x="6217920" y="1298448"/>
            <a:ext cx="2743200" cy="1371600"/>
          </a:xfrm>
          <a:prstGeom prst="rect">
            <a:avLst/>
          </a:prstGeom>
          <a:solidFill>
            <a:srgbClr val="283593"/>
          </a:solidFill>
          <a:ln w="19050">
            <a:solidFill>
              <a:srgbClr val="E65100"/>
            </a:solidFill>
            <a:prstDash val="solid"/>
          </a:ln>
        </p:spPr>
      </p:sp>
      <p:sp>
        <p:nvSpPr>
          <p:cNvPr id="15" name="Shape 13"/>
          <p:cNvSpPr/>
          <p:nvPr/>
        </p:nvSpPr>
        <p:spPr>
          <a:xfrm>
            <a:off x="6217920" y="1298448"/>
            <a:ext cx="320040" cy="1371600"/>
          </a:xfrm>
          <a:prstGeom prst="rect">
            <a:avLst/>
          </a:prstGeom>
          <a:solidFill>
            <a:srgbClr val="E65100"/>
          </a:solidFill>
          <a:ln w="12700">
            <a:solidFill>
              <a:srgbClr val="E65100"/>
            </a:solidFill>
            <a:prstDash val="solid"/>
          </a:ln>
        </p:spPr>
      </p:sp>
      <p:sp>
        <p:nvSpPr>
          <p:cNvPr id="16" name="Text 14"/>
          <p:cNvSpPr/>
          <p:nvPr/>
        </p:nvSpPr>
        <p:spPr>
          <a:xfrm>
            <a:off x="6629400" y="1371600"/>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ACR + AKS</a:t>
            </a:r>
            <a:endParaRPr lang="en-US" sz="1200" dirty="0"/>
          </a:p>
        </p:txBody>
      </p:sp>
      <p:sp>
        <p:nvSpPr>
          <p:cNvPr id="17" name="Text 15"/>
          <p:cNvSpPr/>
          <p:nvPr/>
        </p:nvSpPr>
        <p:spPr>
          <a:xfrm>
            <a:off x="6629400" y="1682496"/>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Private registry + Kubernetes orchestration. Liveness/readiness probes = zero downtime.</a:t>
            </a:r>
            <a:endParaRPr lang="en-US" sz="950" dirty="0"/>
          </a:p>
        </p:txBody>
      </p:sp>
      <p:sp>
        <p:nvSpPr>
          <p:cNvPr id="18" name="Shape 16"/>
          <p:cNvSpPr/>
          <p:nvPr/>
        </p:nvSpPr>
        <p:spPr>
          <a:xfrm>
            <a:off x="457200" y="2779776"/>
            <a:ext cx="2743200" cy="1371600"/>
          </a:xfrm>
          <a:prstGeom prst="rect">
            <a:avLst/>
          </a:prstGeom>
          <a:solidFill>
            <a:srgbClr val="283593"/>
          </a:solidFill>
          <a:ln w="19050">
            <a:solidFill>
              <a:srgbClr val="6D28D9"/>
            </a:solidFill>
            <a:prstDash val="solid"/>
          </a:ln>
        </p:spPr>
      </p:sp>
      <p:sp>
        <p:nvSpPr>
          <p:cNvPr id="19" name="Shape 17"/>
          <p:cNvSpPr/>
          <p:nvPr/>
        </p:nvSpPr>
        <p:spPr>
          <a:xfrm>
            <a:off x="457200" y="2779776"/>
            <a:ext cx="320040" cy="1371600"/>
          </a:xfrm>
          <a:prstGeom prst="rect">
            <a:avLst/>
          </a:prstGeom>
          <a:solidFill>
            <a:srgbClr val="6D28D9"/>
          </a:solidFill>
          <a:ln w="12700">
            <a:solidFill>
              <a:srgbClr val="6D28D9"/>
            </a:solidFill>
            <a:prstDash val="solid"/>
          </a:ln>
        </p:spPr>
      </p:sp>
      <p:sp>
        <p:nvSpPr>
          <p:cNvPr id="20" name="Text 18"/>
          <p:cNvSpPr/>
          <p:nvPr/>
        </p:nvSpPr>
        <p:spPr>
          <a:xfrm>
            <a:off x="86868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Redis Cache</a:t>
            </a:r>
            <a:endParaRPr lang="en-US" sz="1200" dirty="0"/>
          </a:p>
        </p:txBody>
      </p:sp>
      <p:sp>
        <p:nvSpPr>
          <p:cNvPr id="21" name="Text 19"/>
          <p:cNvSpPr/>
          <p:nvPr/>
        </p:nvSpPr>
        <p:spPr>
          <a:xfrm>
            <a:off x="86868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Cache-Aside pattern, TTL strategy, event-driven invalidation. Reduce DB load 99%.</a:t>
            </a:r>
            <a:endParaRPr lang="en-US" sz="950" dirty="0"/>
          </a:p>
        </p:txBody>
      </p:sp>
      <p:sp>
        <p:nvSpPr>
          <p:cNvPr id="22" name="Shape 20"/>
          <p:cNvSpPr/>
          <p:nvPr/>
        </p:nvSpPr>
        <p:spPr>
          <a:xfrm>
            <a:off x="3337560" y="2779776"/>
            <a:ext cx="2743200" cy="1371600"/>
          </a:xfrm>
          <a:prstGeom prst="rect">
            <a:avLst/>
          </a:prstGeom>
          <a:solidFill>
            <a:srgbClr val="283593"/>
          </a:solidFill>
          <a:ln w="19050">
            <a:solidFill>
              <a:srgbClr val="43A047"/>
            </a:solidFill>
            <a:prstDash val="solid"/>
          </a:ln>
        </p:spPr>
      </p:sp>
      <p:sp>
        <p:nvSpPr>
          <p:cNvPr id="23" name="Shape 21"/>
          <p:cNvSpPr/>
          <p:nvPr/>
        </p:nvSpPr>
        <p:spPr>
          <a:xfrm>
            <a:off x="3337560" y="2779776"/>
            <a:ext cx="320040" cy="1371600"/>
          </a:xfrm>
          <a:prstGeom prst="rect">
            <a:avLst/>
          </a:prstGeom>
          <a:solidFill>
            <a:srgbClr val="43A047"/>
          </a:solidFill>
          <a:ln w="12700">
            <a:solidFill>
              <a:srgbClr val="43A047"/>
            </a:solidFill>
            <a:prstDash val="solid"/>
          </a:ln>
        </p:spPr>
      </p:sp>
      <p:sp>
        <p:nvSpPr>
          <p:cNvPr id="24" name="Text 22"/>
          <p:cNvSpPr/>
          <p:nvPr/>
        </p:nvSpPr>
        <p:spPr>
          <a:xfrm>
            <a:off x="374904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API Management</a:t>
            </a:r>
            <a:endParaRPr lang="en-US" sz="1200" dirty="0"/>
          </a:p>
        </p:txBody>
      </p:sp>
      <p:sp>
        <p:nvSpPr>
          <p:cNvPr id="25" name="Text 23"/>
          <p:cNvSpPr/>
          <p:nvPr/>
        </p:nvSpPr>
        <p:spPr>
          <a:xfrm>
            <a:off x="374904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Single front door, JWT validation, rate limiting, policies — no code changes needed.</a:t>
            </a:r>
            <a:endParaRPr lang="en-US" sz="950" dirty="0"/>
          </a:p>
        </p:txBody>
      </p:sp>
      <p:sp>
        <p:nvSpPr>
          <p:cNvPr id="26" name="Shape 24"/>
          <p:cNvSpPr/>
          <p:nvPr/>
        </p:nvSpPr>
        <p:spPr>
          <a:xfrm>
            <a:off x="6217920" y="2779776"/>
            <a:ext cx="2743200" cy="1371600"/>
          </a:xfrm>
          <a:prstGeom prst="rect">
            <a:avLst/>
          </a:prstGeom>
          <a:solidFill>
            <a:srgbClr val="283593"/>
          </a:solidFill>
          <a:ln w="19050">
            <a:solidFill>
              <a:srgbClr val="F59E0B"/>
            </a:solidFill>
            <a:prstDash val="solid"/>
          </a:ln>
        </p:spPr>
      </p:sp>
      <p:sp>
        <p:nvSpPr>
          <p:cNvPr id="27" name="Shape 25"/>
          <p:cNvSpPr/>
          <p:nvPr/>
        </p:nvSpPr>
        <p:spPr>
          <a:xfrm>
            <a:off x="6217920" y="2779776"/>
            <a:ext cx="320040" cy="1371600"/>
          </a:xfrm>
          <a:prstGeom prst="rect">
            <a:avLst/>
          </a:prstGeom>
          <a:solidFill>
            <a:srgbClr val="F59E0B"/>
          </a:solidFill>
          <a:ln w="12700">
            <a:solidFill>
              <a:srgbClr val="F59E0B"/>
            </a:solidFill>
            <a:prstDash val="solid"/>
          </a:ln>
        </p:spPr>
      </p:sp>
      <p:sp>
        <p:nvSpPr>
          <p:cNvPr id="28" name="Text 26"/>
          <p:cNvSpPr/>
          <p:nvPr/>
        </p:nvSpPr>
        <p:spPr>
          <a:xfrm>
            <a:off x="6629400" y="2852928"/>
            <a:ext cx="2240280" cy="29260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Terraform + Cost</a:t>
            </a:r>
            <a:endParaRPr lang="en-US" sz="1200" dirty="0"/>
          </a:p>
        </p:txBody>
      </p:sp>
      <p:sp>
        <p:nvSpPr>
          <p:cNvPr id="29" name="Text 27"/>
          <p:cNvSpPr/>
          <p:nvPr/>
        </p:nvSpPr>
        <p:spPr>
          <a:xfrm>
            <a:off x="6629400" y="3163824"/>
            <a:ext cx="2240280" cy="896112"/>
          </a:xfrm>
          <a:prstGeom prst="rect">
            <a:avLst/>
          </a:prstGeom>
          <a:noFill/>
          <a:ln/>
        </p:spPr>
        <p:txBody>
          <a:bodyPr wrap="square" lIns="0" tIns="0" rIns="0" bIns="0" rtlCol="0" anchor="t"/>
          <a:lstStyle/>
          <a:p>
            <a:pPr indent="0" marL="0">
              <a:buNone/>
            </a:pPr>
            <a:r>
              <a:rPr lang="en-US" sz="950" dirty="0">
                <a:solidFill>
                  <a:srgbClr val="90CAF9"/>
                </a:solidFill>
                <a:latin typeface="Calibri" pitchFamily="34" charset="0"/>
                <a:ea typeface="Calibri" pitchFamily="34" charset="-122"/>
                <a:cs typeface="Calibri" pitchFamily="34" charset="-120"/>
              </a:rPr>
              <a:t>Multi-cloud IaC with remote state. Budget alerts, Reserved Instances, Azure Advisor.</a:t>
            </a:r>
            <a:endParaRPr lang="en-US" sz="950" dirty="0"/>
          </a:p>
        </p:txBody>
      </p:sp>
      <p:sp>
        <p:nvSpPr>
          <p:cNvPr id="30" name="Text 28"/>
          <p:cNvSpPr/>
          <p:nvPr/>
        </p:nvSpPr>
        <p:spPr>
          <a:xfrm>
            <a:off x="457200" y="4846320"/>
            <a:ext cx="8229600" cy="274320"/>
          </a:xfrm>
          <a:prstGeom prst="rect">
            <a:avLst/>
          </a:prstGeom>
          <a:noFill/>
          <a:ln/>
        </p:spPr>
        <p:txBody>
          <a:bodyPr wrap="square" lIns="0" tIns="0" rIns="0" bIns="0" rtlCol="0" anchor="ctr"/>
          <a:lstStyle/>
          <a:p>
            <a:pPr indent="0" marL="0">
              <a:buNone/>
            </a:pPr>
            <a:r>
              <a:rPr lang="en-US" sz="950" b="1" dirty="0">
                <a:solidFill>
                  <a:srgbClr val="00ACC1"/>
                </a:solidFill>
                <a:latin typeface="Calibri" pitchFamily="34" charset="0"/>
                <a:ea typeface="Calibri" pitchFamily="34" charset="-122"/>
                <a:cs typeface="Calibri" pitchFamily="34" charset="-120"/>
              </a:rPr>
              <a:t>Sessions 01 + 02 + 03 Complete — You now think like an Azure Solution Architect</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237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6E"/>
          </a:solidFill>
          <a:ln w="12700">
            <a:solidFill>
              <a:srgbClr val="0D1B6E"/>
            </a:solidFill>
            <a:prstDash val="solid"/>
          </a:ln>
        </p:spPr>
      </p:sp>
      <p:sp>
        <p:nvSpPr>
          <p:cNvPr id="3" name="Shape 1"/>
          <p:cNvSpPr/>
          <p:nvPr/>
        </p:nvSpPr>
        <p:spPr>
          <a:xfrm>
            <a:off x="0" y="3657600"/>
            <a:ext cx="9144000" cy="1485900"/>
          </a:xfrm>
          <a:prstGeom prst="rect">
            <a:avLst/>
          </a:prstGeom>
          <a:solidFill>
            <a:srgbClr val="283593"/>
          </a:solidFill>
          <a:ln w="12700">
            <a:solidFill>
              <a:srgbClr val="283593"/>
            </a:solidFill>
            <a:prstDash val="solid"/>
          </a:ln>
        </p:spPr>
      </p:sp>
      <p:sp>
        <p:nvSpPr>
          <p:cNvPr id="4" name="Shape 2"/>
          <p:cNvSpPr/>
          <p:nvPr/>
        </p:nvSpPr>
        <p:spPr>
          <a:xfrm>
            <a:off x="0" y="3630168"/>
            <a:ext cx="9144000" cy="73152"/>
          </a:xfrm>
          <a:prstGeom prst="rect">
            <a:avLst/>
          </a:prstGeom>
          <a:solidFill>
            <a:srgbClr val="00ACC1"/>
          </a:solidFill>
          <a:ln w="12700">
            <a:solidFill>
              <a:srgbClr val="00ACC1"/>
            </a:solidFill>
            <a:prstDash val="solid"/>
          </a:ln>
        </p:spPr>
      </p:sp>
      <p:sp>
        <p:nvSpPr>
          <p:cNvPr id="5" name="Shape 3"/>
          <p:cNvSpPr/>
          <p:nvPr/>
        </p:nvSpPr>
        <p:spPr>
          <a:xfrm>
            <a:off x="0" y="0"/>
            <a:ext cx="411480" cy="5143500"/>
          </a:xfrm>
          <a:prstGeom prst="rect">
            <a:avLst/>
          </a:prstGeom>
          <a:solidFill>
            <a:srgbClr val="00ACC1"/>
          </a:solidFill>
          <a:ln w="12700">
            <a:solidFill>
              <a:srgbClr val="00ACC1"/>
            </a:solidFill>
            <a:prstDash val="solid"/>
          </a:ln>
        </p:spPr>
      </p:sp>
      <p:sp>
        <p:nvSpPr>
          <p:cNvPr id="6" name="Text 4"/>
          <p:cNvSpPr/>
          <p:nvPr/>
        </p:nvSpPr>
        <p:spPr>
          <a:xfrm>
            <a:off x="594360" y="182880"/>
            <a:ext cx="8229600" cy="457200"/>
          </a:xfrm>
          <a:prstGeom prst="rect">
            <a:avLst/>
          </a:prstGeom>
          <a:noFill/>
          <a:ln/>
        </p:spPr>
        <p:txBody>
          <a:bodyPr wrap="square" lIns="0" tIns="0" rIns="0" bIns="0" rtlCol="0" anchor="ctr"/>
          <a:lstStyle/>
          <a:p>
            <a:pPr indent="0" marL="0">
              <a:buNone/>
            </a:pPr>
            <a:r>
              <a:rPr lang="en-US" sz="1400" b="1" spc="300" kern="0" dirty="0">
                <a:solidFill>
                  <a:srgbClr val="90CAF9"/>
                </a:solidFill>
                <a:latin typeface="Calibri" pitchFamily="34" charset="0"/>
                <a:ea typeface="Calibri" pitchFamily="34" charset="-122"/>
                <a:cs typeface="Calibri" pitchFamily="34" charset="-120"/>
              </a:rPr>
              <a:t>What You Now Know</a:t>
            </a:r>
            <a:endParaRPr lang="en-US" sz="1400" dirty="0"/>
          </a:p>
        </p:txBody>
      </p:sp>
      <p:sp>
        <p:nvSpPr>
          <p:cNvPr id="7" name="Text 5"/>
          <p:cNvSpPr/>
          <p:nvPr/>
        </p:nvSpPr>
        <p:spPr>
          <a:xfrm>
            <a:off x="594360" y="594360"/>
            <a:ext cx="8229600" cy="109728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From Zero to</a:t>
            </a:r>
            <a:endParaRPr lang="en-US" sz="3600" dirty="0"/>
          </a:p>
          <a:p>
            <a:pPr indent="0" marL="0">
              <a:buNone/>
            </a:pPr>
            <a:r>
              <a:rPr lang="en-US" sz="3600" b="1" dirty="0">
                <a:solidFill>
                  <a:srgbClr val="FFFFFF"/>
                </a:solidFill>
                <a:latin typeface="Trebuchet MS" pitchFamily="34" charset="0"/>
                <a:ea typeface="Trebuchet MS" pitchFamily="34" charset="-122"/>
                <a:cs typeface="Trebuchet MS" pitchFamily="34" charset="-120"/>
              </a:rPr>
              <a:t>Azure Solution Architect</a:t>
            </a:r>
            <a:endParaRPr lang="en-US" sz="3600" dirty="0"/>
          </a:p>
        </p:txBody>
      </p:sp>
      <p:sp>
        <p:nvSpPr>
          <p:cNvPr id="8" name="Shape 6"/>
          <p:cNvSpPr/>
          <p:nvPr/>
        </p:nvSpPr>
        <p:spPr>
          <a:xfrm>
            <a:off x="594360" y="1874520"/>
            <a:ext cx="1572768" cy="1572768"/>
          </a:xfrm>
          <a:prstGeom prst="rect">
            <a:avLst/>
          </a:prstGeom>
          <a:solidFill>
            <a:srgbClr val="283593"/>
          </a:solidFill>
          <a:ln w="19050">
            <a:solidFill>
              <a:srgbClr val="00ACC1"/>
            </a:solidFill>
            <a:prstDash val="solid"/>
          </a:ln>
        </p:spPr>
      </p:sp>
      <p:sp>
        <p:nvSpPr>
          <p:cNvPr id="9" name="Text 7"/>
          <p:cNvSpPr/>
          <p:nvPr/>
        </p:nvSpPr>
        <p:spPr>
          <a:xfrm>
            <a:off x="640080" y="1892808"/>
            <a:ext cx="1481328" cy="320040"/>
          </a:xfrm>
          <a:prstGeom prst="rect">
            <a:avLst/>
          </a:prstGeom>
          <a:noFill/>
          <a:ln/>
        </p:spPr>
        <p:txBody>
          <a:bodyPr wrap="square" lIns="0" tIns="0" rIns="0" bIns="0" rtlCol="0" anchor="ctr"/>
          <a:lstStyle/>
          <a:p>
            <a:pPr algn="ctr" indent="0" marL="0">
              <a:buNone/>
            </a:pPr>
            <a:r>
              <a:rPr lang="en-US" sz="900" b="1" dirty="0">
                <a:solidFill>
                  <a:srgbClr val="00ACC1"/>
                </a:solidFill>
                <a:latin typeface="Trebuchet MS" pitchFamily="34" charset="0"/>
                <a:ea typeface="Trebuchet MS" pitchFamily="34" charset="-122"/>
                <a:cs typeface="Trebuchet MS" pitchFamily="34" charset="-120"/>
              </a:rPr>
              <a:t>Cloud Architecture</a:t>
            </a:r>
            <a:endParaRPr lang="en-US" sz="900" dirty="0"/>
          </a:p>
        </p:txBody>
      </p:sp>
      <p:sp>
        <p:nvSpPr>
          <p:cNvPr id="10" name="Text 8"/>
          <p:cNvSpPr/>
          <p:nvPr/>
        </p:nvSpPr>
        <p:spPr>
          <a:xfrm>
            <a:off x="640080" y="2231136"/>
            <a:ext cx="1481328" cy="1170432"/>
          </a:xfrm>
          <a:prstGeom prst="rect">
            <a:avLst/>
          </a:prstGeom>
          <a:noFill/>
          <a:ln/>
        </p:spPr>
        <p:txBody>
          <a:bodyPr wrap="square" lIns="25400" tIns="25400" rIns="25400" bIns="25400" rtlCol="0" anchor="t"/>
          <a:lstStyle/>
          <a:p>
            <a:pPr algn="ctr" indent="0" marL="0">
              <a:buNone/>
            </a:pPr>
            <a:r>
              <a:rPr lang="en-US" sz="850" dirty="0">
                <a:solidFill>
                  <a:srgbClr val="90CAF9"/>
                </a:solidFill>
                <a:latin typeface="Calibri" pitchFamily="34" charset="0"/>
                <a:ea typeface="Calibri" pitchFamily="34" charset="-122"/>
                <a:cs typeface="Calibri" pitchFamily="34" charset="-120"/>
              </a:rPr>
              <a:t>IaaS / PaaS / SaaS</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Azure hierarchy</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Resource governance</a:t>
            </a:r>
            <a:endParaRPr lang="en-US" sz="850" dirty="0"/>
          </a:p>
        </p:txBody>
      </p:sp>
      <p:sp>
        <p:nvSpPr>
          <p:cNvPr id="11" name="Shape 9"/>
          <p:cNvSpPr/>
          <p:nvPr/>
        </p:nvSpPr>
        <p:spPr>
          <a:xfrm>
            <a:off x="2286000" y="1874520"/>
            <a:ext cx="1572768" cy="1572768"/>
          </a:xfrm>
          <a:prstGeom prst="rect">
            <a:avLst/>
          </a:prstGeom>
          <a:solidFill>
            <a:srgbClr val="283593"/>
          </a:solidFill>
          <a:ln w="19050">
            <a:solidFill>
              <a:srgbClr val="00ACC1"/>
            </a:solidFill>
            <a:prstDash val="solid"/>
          </a:ln>
        </p:spPr>
      </p:sp>
      <p:sp>
        <p:nvSpPr>
          <p:cNvPr id="12" name="Text 10"/>
          <p:cNvSpPr/>
          <p:nvPr/>
        </p:nvSpPr>
        <p:spPr>
          <a:xfrm>
            <a:off x="2331720" y="1892808"/>
            <a:ext cx="1481328" cy="320040"/>
          </a:xfrm>
          <a:prstGeom prst="rect">
            <a:avLst/>
          </a:prstGeom>
          <a:noFill/>
          <a:ln/>
        </p:spPr>
        <p:txBody>
          <a:bodyPr wrap="square" lIns="0" tIns="0" rIns="0" bIns="0" rtlCol="0" anchor="ctr"/>
          <a:lstStyle/>
          <a:p>
            <a:pPr algn="ctr" indent="0" marL="0">
              <a:buNone/>
            </a:pPr>
            <a:r>
              <a:rPr lang="en-US" sz="900" b="1" dirty="0">
                <a:solidFill>
                  <a:srgbClr val="00ACC1"/>
                </a:solidFill>
                <a:latin typeface="Trebuchet MS" pitchFamily="34" charset="0"/>
                <a:ea typeface="Trebuchet MS" pitchFamily="34" charset="-122"/>
                <a:cs typeface="Trebuchet MS" pitchFamily="34" charset="-120"/>
              </a:rPr>
              <a:t>Security</a:t>
            </a:r>
            <a:endParaRPr lang="en-US" sz="900" dirty="0"/>
          </a:p>
        </p:txBody>
      </p:sp>
      <p:sp>
        <p:nvSpPr>
          <p:cNvPr id="13" name="Text 11"/>
          <p:cNvSpPr/>
          <p:nvPr/>
        </p:nvSpPr>
        <p:spPr>
          <a:xfrm>
            <a:off x="2331720" y="2231136"/>
            <a:ext cx="1481328" cy="1170432"/>
          </a:xfrm>
          <a:prstGeom prst="rect">
            <a:avLst/>
          </a:prstGeom>
          <a:noFill/>
          <a:ln/>
        </p:spPr>
        <p:txBody>
          <a:bodyPr wrap="square" lIns="25400" tIns="25400" rIns="25400" bIns="25400" rtlCol="0" anchor="t"/>
          <a:lstStyle/>
          <a:p>
            <a:pPr algn="ctr" indent="0" marL="0">
              <a:buNone/>
            </a:pPr>
            <a:r>
              <a:rPr lang="en-US" sz="850" dirty="0">
                <a:solidFill>
                  <a:srgbClr val="90CAF9"/>
                </a:solidFill>
                <a:latin typeface="Calibri" pitchFamily="34" charset="0"/>
                <a:ea typeface="Calibri" pitchFamily="34" charset="-122"/>
                <a:cs typeface="Calibri" pitchFamily="34" charset="-120"/>
              </a:rPr>
              <a:t>Key Vault + Managed ID</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Defense in Depth</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VNet + Private Endpoints</a:t>
            </a:r>
            <a:endParaRPr lang="en-US" sz="850" dirty="0"/>
          </a:p>
        </p:txBody>
      </p:sp>
      <p:sp>
        <p:nvSpPr>
          <p:cNvPr id="14" name="Shape 12"/>
          <p:cNvSpPr/>
          <p:nvPr/>
        </p:nvSpPr>
        <p:spPr>
          <a:xfrm>
            <a:off x="3977640" y="1874520"/>
            <a:ext cx="1572768" cy="1572768"/>
          </a:xfrm>
          <a:prstGeom prst="rect">
            <a:avLst/>
          </a:prstGeom>
          <a:solidFill>
            <a:srgbClr val="283593"/>
          </a:solidFill>
          <a:ln w="19050">
            <a:solidFill>
              <a:srgbClr val="00ACC1"/>
            </a:solidFill>
            <a:prstDash val="solid"/>
          </a:ln>
        </p:spPr>
      </p:sp>
      <p:sp>
        <p:nvSpPr>
          <p:cNvPr id="15" name="Text 13"/>
          <p:cNvSpPr/>
          <p:nvPr/>
        </p:nvSpPr>
        <p:spPr>
          <a:xfrm>
            <a:off x="4023360" y="1892808"/>
            <a:ext cx="1481328" cy="320040"/>
          </a:xfrm>
          <a:prstGeom prst="rect">
            <a:avLst/>
          </a:prstGeom>
          <a:noFill/>
          <a:ln/>
        </p:spPr>
        <p:txBody>
          <a:bodyPr wrap="square" lIns="0" tIns="0" rIns="0" bIns="0" rtlCol="0" anchor="ctr"/>
          <a:lstStyle/>
          <a:p>
            <a:pPr algn="ctr" indent="0" marL="0">
              <a:buNone/>
            </a:pPr>
            <a:r>
              <a:rPr lang="en-US" sz="900" b="1" dirty="0">
                <a:solidFill>
                  <a:srgbClr val="00ACC1"/>
                </a:solidFill>
                <a:latin typeface="Trebuchet MS" pitchFamily="34" charset="0"/>
                <a:ea typeface="Trebuchet MS" pitchFamily="34" charset="-122"/>
                <a:cs typeface="Trebuchet MS" pitchFamily="34" charset="-120"/>
              </a:rPr>
              <a:t>Automation</a:t>
            </a:r>
            <a:endParaRPr lang="en-US" sz="900" dirty="0"/>
          </a:p>
        </p:txBody>
      </p:sp>
      <p:sp>
        <p:nvSpPr>
          <p:cNvPr id="16" name="Text 14"/>
          <p:cNvSpPr/>
          <p:nvPr/>
        </p:nvSpPr>
        <p:spPr>
          <a:xfrm>
            <a:off x="4023360" y="2231136"/>
            <a:ext cx="1481328" cy="1170432"/>
          </a:xfrm>
          <a:prstGeom prst="rect">
            <a:avLst/>
          </a:prstGeom>
          <a:noFill/>
          <a:ln/>
        </p:spPr>
        <p:txBody>
          <a:bodyPr wrap="square" lIns="25400" tIns="25400" rIns="25400" bIns="25400" rtlCol="0" anchor="t"/>
          <a:lstStyle/>
          <a:p>
            <a:pPr algn="ctr" indent="0" marL="0">
              <a:buNone/>
            </a:pPr>
            <a:r>
              <a:rPr lang="en-US" sz="850" dirty="0">
                <a:solidFill>
                  <a:srgbClr val="90CAF9"/>
                </a:solidFill>
                <a:latin typeface="Calibri" pitchFamily="34" charset="0"/>
                <a:ea typeface="Calibri" pitchFamily="34" charset="-122"/>
                <a:cs typeface="Calibri" pitchFamily="34" charset="-120"/>
              </a:rPr>
              <a:t>Bicep + Terraform IaC</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CI/CD pipelines</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Azure DevOps</a:t>
            </a:r>
            <a:endParaRPr lang="en-US" sz="850" dirty="0"/>
          </a:p>
        </p:txBody>
      </p:sp>
      <p:sp>
        <p:nvSpPr>
          <p:cNvPr id="17" name="Shape 15"/>
          <p:cNvSpPr/>
          <p:nvPr/>
        </p:nvSpPr>
        <p:spPr>
          <a:xfrm>
            <a:off x="5669280" y="1874520"/>
            <a:ext cx="1572768" cy="1572768"/>
          </a:xfrm>
          <a:prstGeom prst="rect">
            <a:avLst/>
          </a:prstGeom>
          <a:solidFill>
            <a:srgbClr val="283593"/>
          </a:solidFill>
          <a:ln w="19050">
            <a:solidFill>
              <a:srgbClr val="00ACC1"/>
            </a:solidFill>
            <a:prstDash val="solid"/>
          </a:ln>
        </p:spPr>
      </p:sp>
      <p:sp>
        <p:nvSpPr>
          <p:cNvPr id="18" name="Text 16"/>
          <p:cNvSpPr/>
          <p:nvPr/>
        </p:nvSpPr>
        <p:spPr>
          <a:xfrm>
            <a:off x="5715000" y="1892808"/>
            <a:ext cx="1481328" cy="320040"/>
          </a:xfrm>
          <a:prstGeom prst="rect">
            <a:avLst/>
          </a:prstGeom>
          <a:noFill/>
          <a:ln/>
        </p:spPr>
        <p:txBody>
          <a:bodyPr wrap="square" lIns="0" tIns="0" rIns="0" bIns="0" rtlCol="0" anchor="ctr"/>
          <a:lstStyle/>
          <a:p>
            <a:pPr algn="ctr" indent="0" marL="0">
              <a:buNone/>
            </a:pPr>
            <a:r>
              <a:rPr lang="en-US" sz="900" b="1" dirty="0">
                <a:solidFill>
                  <a:srgbClr val="00ACC1"/>
                </a:solidFill>
                <a:latin typeface="Trebuchet MS" pitchFamily="34" charset="0"/>
                <a:ea typeface="Trebuchet MS" pitchFamily="34" charset="-122"/>
                <a:cs typeface="Trebuchet MS" pitchFamily="34" charset="-120"/>
              </a:rPr>
              <a:t>Microservices</a:t>
            </a:r>
            <a:endParaRPr lang="en-US" sz="900" dirty="0"/>
          </a:p>
        </p:txBody>
      </p:sp>
      <p:sp>
        <p:nvSpPr>
          <p:cNvPr id="19" name="Text 17"/>
          <p:cNvSpPr/>
          <p:nvPr/>
        </p:nvSpPr>
        <p:spPr>
          <a:xfrm>
            <a:off x="5715000" y="2231136"/>
            <a:ext cx="1481328" cy="1170432"/>
          </a:xfrm>
          <a:prstGeom prst="rect">
            <a:avLst/>
          </a:prstGeom>
          <a:noFill/>
          <a:ln/>
        </p:spPr>
        <p:txBody>
          <a:bodyPr wrap="square" lIns="25400" tIns="25400" rIns="25400" bIns="25400" rtlCol="0" anchor="t"/>
          <a:lstStyle/>
          <a:p>
            <a:pPr algn="ctr" indent="0" marL="0">
              <a:buNone/>
            </a:pPr>
            <a:r>
              <a:rPr lang="en-US" sz="850" dirty="0">
                <a:solidFill>
                  <a:srgbClr val="90CAF9"/>
                </a:solidFill>
                <a:latin typeface="Calibri" pitchFamily="34" charset="0"/>
                <a:ea typeface="Calibri" pitchFamily="34" charset="-122"/>
                <a:cs typeface="Calibri" pitchFamily="34" charset="-120"/>
              </a:rPr>
              <a:t>Service Bus messaging</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Docker + AKS</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API Management</a:t>
            </a:r>
            <a:endParaRPr lang="en-US" sz="850" dirty="0"/>
          </a:p>
        </p:txBody>
      </p:sp>
      <p:sp>
        <p:nvSpPr>
          <p:cNvPr id="20" name="Shape 18"/>
          <p:cNvSpPr/>
          <p:nvPr/>
        </p:nvSpPr>
        <p:spPr>
          <a:xfrm>
            <a:off x="7360920" y="1874520"/>
            <a:ext cx="1572768" cy="1572768"/>
          </a:xfrm>
          <a:prstGeom prst="rect">
            <a:avLst/>
          </a:prstGeom>
          <a:solidFill>
            <a:srgbClr val="283593"/>
          </a:solidFill>
          <a:ln w="19050">
            <a:solidFill>
              <a:srgbClr val="00ACC1"/>
            </a:solidFill>
            <a:prstDash val="solid"/>
          </a:ln>
        </p:spPr>
      </p:sp>
      <p:sp>
        <p:nvSpPr>
          <p:cNvPr id="21" name="Text 19"/>
          <p:cNvSpPr/>
          <p:nvPr/>
        </p:nvSpPr>
        <p:spPr>
          <a:xfrm>
            <a:off x="7406640" y="1892808"/>
            <a:ext cx="1481328" cy="320040"/>
          </a:xfrm>
          <a:prstGeom prst="rect">
            <a:avLst/>
          </a:prstGeom>
          <a:noFill/>
          <a:ln/>
        </p:spPr>
        <p:txBody>
          <a:bodyPr wrap="square" lIns="0" tIns="0" rIns="0" bIns="0" rtlCol="0" anchor="ctr"/>
          <a:lstStyle/>
          <a:p>
            <a:pPr algn="ctr" indent="0" marL="0">
              <a:buNone/>
            </a:pPr>
            <a:r>
              <a:rPr lang="en-US" sz="900" b="1" dirty="0">
                <a:solidFill>
                  <a:srgbClr val="00ACC1"/>
                </a:solidFill>
                <a:latin typeface="Trebuchet MS" pitchFamily="34" charset="0"/>
                <a:ea typeface="Trebuchet MS" pitchFamily="34" charset="-122"/>
                <a:cs typeface="Trebuchet MS" pitchFamily="34" charset="-120"/>
              </a:rPr>
              <a:t>Operations</a:t>
            </a:r>
            <a:endParaRPr lang="en-US" sz="900" dirty="0"/>
          </a:p>
        </p:txBody>
      </p:sp>
      <p:sp>
        <p:nvSpPr>
          <p:cNvPr id="22" name="Text 20"/>
          <p:cNvSpPr/>
          <p:nvPr/>
        </p:nvSpPr>
        <p:spPr>
          <a:xfrm>
            <a:off x="7406640" y="2231136"/>
            <a:ext cx="1481328" cy="1170432"/>
          </a:xfrm>
          <a:prstGeom prst="rect">
            <a:avLst/>
          </a:prstGeom>
          <a:noFill/>
          <a:ln/>
        </p:spPr>
        <p:txBody>
          <a:bodyPr wrap="square" lIns="25400" tIns="25400" rIns="25400" bIns="25400" rtlCol="0" anchor="t"/>
          <a:lstStyle/>
          <a:p>
            <a:pPr algn="ctr" indent="0" marL="0">
              <a:buNone/>
            </a:pPr>
            <a:r>
              <a:rPr lang="en-US" sz="850" dirty="0">
                <a:solidFill>
                  <a:srgbClr val="90CAF9"/>
                </a:solidFill>
                <a:latin typeface="Calibri" pitchFamily="34" charset="0"/>
                <a:ea typeface="Calibri" pitchFamily="34" charset="-122"/>
                <a:cs typeface="Calibri" pitchFamily="34" charset="-120"/>
              </a:rPr>
              <a:t>Application Insights</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KQL queries</a:t>
            </a:r>
            <a:endParaRPr lang="en-US" sz="850" dirty="0"/>
          </a:p>
          <a:p>
            <a:pPr algn="ctr" indent="0" marL="0">
              <a:buNone/>
            </a:pPr>
            <a:r>
              <a:rPr lang="en-US" sz="850" dirty="0">
                <a:solidFill>
                  <a:srgbClr val="90CAF9"/>
                </a:solidFill>
                <a:latin typeface="Calibri" pitchFamily="34" charset="0"/>
                <a:ea typeface="Calibri" pitchFamily="34" charset="-122"/>
                <a:cs typeface="Calibri" pitchFamily="34" charset="-120"/>
              </a:rPr>
              <a:t>Cost optimization</a:t>
            </a:r>
            <a:endParaRPr lang="en-US" sz="850" dirty="0"/>
          </a:p>
        </p:txBody>
      </p:sp>
      <p:sp>
        <p:nvSpPr>
          <p:cNvPr id="23" name="Text 21"/>
          <p:cNvSpPr/>
          <p:nvPr/>
        </p:nvSpPr>
        <p:spPr>
          <a:xfrm>
            <a:off x="594360" y="3749040"/>
            <a:ext cx="2286000" cy="256032"/>
          </a:xfrm>
          <a:prstGeom prst="rect">
            <a:avLst/>
          </a:prstGeom>
          <a:noFill/>
          <a:ln/>
        </p:spPr>
        <p:txBody>
          <a:bodyPr wrap="square" lIns="0" tIns="0" rIns="0" bIns="0" rtlCol="0" anchor="ctr"/>
          <a:lstStyle/>
          <a:p>
            <a:pPr indent="0" marL="0">
              <a:buNone/>
            </a:pPr>
            <a:r>
              <a:rPr lang="en-US" sz="1100" b="1" dirty="0">
                <a:solidFill>
                  <a:srgbClr val="00ACC1"/>
                </a:solidFill>
                <a:latin typeface="Trebuchet MS" pitchFamily="34" charset="0"/>
                <a:ea typeface="Trebuchet MS" pitchFamily="34" charset="-122"/>
                <a:cs typeface="Trebuchet MS" pitchFamily="34" charset="-120"/>
              </a:rPr>
              <a:t>Session 4 Preview:</a:t>
            </a:r>
            <a:endParaRPr lang="en-US" sz="1100" dirty="0"/>
          </a:p>
        </p:txBody>
      </p:sp>
      <p:sp>
        <p:nvSpPr>
          <p:cNvPr id="24" name="Text 22"/>
          <p:cNvSpPr/>
          <p:nvPr/>
        </p:nvSpPr>
        <p:spPr>
          <a:xfrm>
            <a:off x="594360" y="4005072"/>
            <a:ext cx="8229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Azure Functions • Logic Apps • Front Door • Service Mesh (Istio on AKS) • Azure Policy &amp; Governance • Landing Zones • Disaster Recovery • Security Center</a:t>
            </a:r>
            <a:endParaRPr lang="en-US" sz="1000" dirty="0"/>
          </a:p>
        </p:txBody>
      </p:sp>
      <p:sp>
        <p:nvSpPr>
          <p:cNvPr id="25" name="Text 23"/>
          <p:cNvSpPr/>
          <p:nvPr/>
        </p:nvSpPr>
        <p:spPr>
          <a:xfrm>
            <a:off x="594360" y="4462272"/>
            <a:ext cx="8229600" cy="347472"/>
          </a:xfrm>
          <a:prstGeom prst="rect">
            <a:avLst/>
          </a:prstGeom>
          <a:noFill/>
          <a:ln/>
        </p:spPr>
        <p:txBody>
          <a:bodyPr wrap="square" lIns="0" tIns="0" rIns="0" bIns="0" rtlCol="0" anchor="ctr"/>
          <a:lstStyle/>
          <a:p>
            <a:pPr indent="0" marL="0">
              <a:buNone/>
            </a:pPr>
            <a:r>
              <a:rPr lang="en-US" sz="1000" i="1" dirty="0">
                <a:solidFill>
                  <a:srgbClr val="90CAF9"/>
                </a:solidFill>
                <a:latin typeface="Calibri" pitchFamily="34" charset="0"/>
                <a:ea typeface="Calibri" pitchFamily="34" charset="-122"/>
                <a:cs typeface="Calibri" pitchFamily="34" charset="-120"/>
              </a:rPr>
              <a:t>Hands-On Homework: Deploy the complete MediCare Stack — Resource Group + App Service + SQL Database + Key Vault → Your first production-grade Azure deployment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Professional Cloud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Cloud Masterclass — Sessions 1, 2 &amp; 3</dc:title>
  <dc:subject>PptxGenJS Presentation</dc:subject>
  <dc:creator>Azure Cloud Masterclass</dc:creator>
  <cp:lastModifiedBy>Azure Cloud Masterclass</cp:lastModifiedBy>
  <cp:revision>1</cp:revision>
  <dcterms:created xsi:type="dcterms:W3CDTF">2026-03-10T03:34:43Z</dcterms:created>
  <dcterms:modified xsi:type="dcterms:W3CDTF">2026-03-10T03:34:43Z</dcterms:modified>
</cp:coreProperties>
</file>