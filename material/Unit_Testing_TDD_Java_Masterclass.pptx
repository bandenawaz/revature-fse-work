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54864"/>
          </a:xfrm>
          <a:prstGeom prst="rect">
            <a:avLst/>
          </a:prstGeom>
          <a:solidFill>
            <a:srgbClr val="1C4A9A"/>
          </a:solidFill>
          <a:ln w="12700">
            <a:solidFill>
              <a:srgbClr val="1C4A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457200"/>
            <a:ext cx="29260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1C2D40"/>
                </a:solidFill>
              </a:rPr>
              <a:t>{ }</a:t>
            </a:r>
            <a:endParaRPr lang="en-US" sz="22000" dirty="0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2011680" cy="292608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JAVA BACKEND TRAINING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Unit Testing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58A6FF"/>
                </a:solidFill>
              </a:rPr>
              <a:t>&amp; Test Driven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Development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A Complete Professional Training in Java — From Zero to Mastery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JUnit 5  ·  TDD  ·  AAA Pattern  ·  Code Coverage  ·  Assertions  ·  Banking System Project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37160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949E"/>
                </a:solidFill>
              </a:rPr>
              <a:t>COURSE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6 Modules · Complete Learning Journey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Your Complete Learning Path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20624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502920" cy="86868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5544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Testing Problem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9019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Why software fails, testing pyramid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542032"/>
            <a:ext cx="420624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542032"/>
            <a:ext cx="502920" cy="86868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42032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26334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Test Driven Development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9809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Red → Green → Refactor cycle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621024"/>
            <a:ext cx="420624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621024"/>
            <a:ext cx="502920" cy="86868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621024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371246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Introduction to JUnit 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40599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Framework, lifecycle, annotations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1463040"/>
            <a:ext cx="420624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1463040"/>
            <a:ext cx="502920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4630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40680" y="15544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Arrange, Act, Assert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40680" y="19019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Universal test structure (AAA)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542032"/>
            <a:ext cx="420624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2542032"/>
            <a:ext cx="502920" cy="8686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542032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40680" y="26334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Line vs Branch Coverage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40680" y="29809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JaCoCo, measuring quality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3621024"/>
            <a:ext cx="420624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3621024"/>
            <a:ext cx="502920" cy="8686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621024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440680" y="371246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Assertion Types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40680" y="40599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assertEquals, assertThrows, assertAll...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1A2A1A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690872"/>
            <a:ext cx="256032" cy="256032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777240" y="466344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</a:rPr>
              <a:t>🏦  Real-World Project Throughout: Banking System — BankAccount Service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0A0A"/>
          </a:solidFill>
          <a:ln w="12700">
            <a:solidFill>
              <a:srgbClr val="1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85149"/>
                </a:solidFill>
              </a:rPr>
              <a:t>MODULE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1168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Testing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Why Software Fails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393192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D1B1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14904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Requirements misunderstood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760" y="1984248"/>
            <a:ext cx="393192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D1B1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7568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2057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Edge cases overlooked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65760" y="2551176"/>
            <a:ext cx="393192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D1B1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64261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2624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Changes break other features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65760" y="3118104"/>
            <a:ext cx="393192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D1B1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209544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8680" y="31912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Integration surprises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754880" y="868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Cost of Bugs</a:t>
            </a:r>
            <a:endParaRPr lang="en-US" sz="2000" dirty="0"/>
          </a:p>
        </p:txBody>
      </p:sp>
      <p:sp>
        <p:nvSpPr>
          <p:cNvPr id="20" name="Shape 14"/>
          <p:cNvSpPr/>
          <p:nvPr/>
        </p:nvSpPr>
        <p:spPr>
          <a:xfrm>
            <a:off x="4754880" y="1417320"/>
            <a:ext cx="39319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754880" y="1417320"/>
            <a:ext cx="73152" cy="6400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919472" y="14904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Design Phase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919472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B950"/>
                </a:solidFill>
              </a:rPr>
              <a:t>$1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4754880" y="2194560"/>
            <a:ext cx="39319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754880" y="2194560"/>
            <a:ext cx="73152" cy="64008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919472" y="22677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Testing Phase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919472" y="2496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B341"/>
                </a:solidFill>
              </a:rPr>
              <a:t>$10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4754880" y="2971800"/>
            <a:ext cx="39319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754880" y="2971800"/>
            <a:ext cx="73152" cy="64008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919472" y="3044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Production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919472" y="3273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5149"/>
                </a:solidFill>
              </a:rPr>
              <a:t>$100+</a:t>
            </a:r>
            <a:endParaRPr lang="en-US" sz="2000" dirty="0"/>
          </a:p>
        </p:txBody>
      </p:sp>
      <p:sp>
        <p:nvSpPr>
          <p:cNvPr id="32" name="Shape 26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D1F0D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</a:rPr>
              <a:t>💡  Tests are your safety net — they let you code with confidence, not fear.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TESTING PYRAMID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0" y="914400"/>
            <a:ext cx="2743200" cy="1097280"/>
          </a:xfrm>
          <a:prstGeom prst="triangl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E2E Tests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0B0"/>
                </a:solidFill>
              </a:rPr>
              <a:t>Few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0" y="1920240"/>
            <a:ext cx="4572000" cy="1188720"/>
          </a:xfrm>
          <a:prstGeom prst="triangl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Integration Tests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3000"/>
                </a:solidFill>
              </a:rPr>
              <a:t>Some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88720" y="3017520"/>
            <a:ext cx="6766560" cy="1463040"/>
          </a:xfrm>
          <a:prstGeom prst="triangl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3832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</a:rPr>
              <a:t>Unit Tests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37490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2A0A"/>
                </a:solidFill>
              </a:rPr>
              <a:t>MANY — Fast · Cheap · Precise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0" y="1143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85149"/>
                </a:solidFill>
              </a:rPr>
              <a:t>Slow · Expensive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3B341"/>
                </a:solidFill>
              </a:rPr>
              <a:t>Medium speed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FB950"/>
                </a:solidFill>
              </a:rPr>
              <a:t>Fast · Many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0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FB950"/>
                </a:solidFill>
              </a:rPr>
              <a:t>→ Focus of this course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400"/>
          </a:solidFill>
          <a:ln w="12700">
            <a:solidFill>
              <a:srgbClr val="1A1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3B341"/>
                </a:solidFill>
              </a:rPr>
              <a:t>MODULE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1168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Test Driven Development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Write the TEST before the CODE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444752"/>
            <a:ext cx="4114800" cy="3063240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44752"/>
            <a:ext cx="4114800" cy="41148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❌  Traditional Way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19933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1BAC4"/>
                </a:solidFill>
              </a:rPr>
              <a:t>Write code first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24505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1BAC4"/>
                </a:solidFill>
              </a:rPr>
              <a:t>Test manually (if at all)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29077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1BAC4"/>
                </a:solidFill>
              </a:rPr>
              <a:t>Discover bugs in production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33649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1BAC4"/>
                </a:solidFill>
              </a:rPr>
              <a:t>No safety net for changes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38221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1BAC4"/>
                </a:solidFill>
              </a:rPr>
              <a:t>Complex, tangled code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444752"/>
            <a:ext cx="4114800" cy="3063240"/>
          </a:xfrm>
          <a:prstGeom prst="rect">
            <a:avLst/>
          </a:prstGeom>
          <a:solidFill>
            <a:srgbClr val="0A1A0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444752"/>
            <a:ext cx="4114800" cy="4114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The TDD Way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19472" y="19933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Write test first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9472" y="24505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Forced to think precisely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9472" y="29077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Bugs caught immediately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19472" y="33649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Full regression protection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19472" y="38221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Clean, modular code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A1020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</a:rPr>
              <a:t>TDD is a DESIGN discipline — writing tests first forces you to design better APIs before writing a single line of implementation.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TDD CYCLE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Red → Green → Refactor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377440" cy="2377440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1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34640" y="2057400"/>
            <a:ext cx="1005840" cy="0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874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237744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</a:rPr>
              <a:t>Write a failing test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91363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1BAC4"/>
                </a:solidFill>
              </a:rPr>
              <a:t>Write a test that defines the behavior you want. Run it — it MUST fail. No code exists yet.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868680"/>
            <a:ext cx="2377440" cy="237744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8686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2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338328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GREEN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760720" y="2057400"/>
            <a:ext cx="1005840" cy="0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1874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383280" y="3429000"/>
            <a:ext cx="237744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Make it pass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391363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1BAC4"/>
                </a:solidFill>
              </a:rPr>
              <a:t>Write the MINIMUM code required to make the test pass. Don't over-engineer. Just make it green.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868680"/>
            <a:ext cx="2377440" cy="237744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8686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3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6309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REFACTOR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309360" y="3429000"/>
            <a:ext cx="237744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EB"/>
                </a:solidFill>
              </a:rPr>
              <a:t>Clean the code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391363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1BAC4"/>
                </a:solidFill>
              </a:rPr>
              <a:t>Improve the design, remove duplication, clarify naming — without breaking any tests.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solidFill>
            <a:srgbClr val="0A1020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</a:rPr>
              <a:t>Repeat this cycle for every new feature or business rule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400"/>
          </a:solidFill>
          <a:ln w="12700">
            <a:solidFill>
              <a:srgbClr val="1A14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645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B341"/>
                </a:solidFill>
              </a:rPr>
              <a:t>REAL-WORLD PROJECT: Banking System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6576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TDD Applied: BankAccount Business Rules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13533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B341"/>
                </a:solidFill>
              </a:rPr>
              <a:t>Business Requirements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1783080"/>
            <a:ext cx="402336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4708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1828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Initial balance must be zero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65760" y="2441448"/>
            <a:ext cx="402336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0545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" y="24871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Deposit amount must be positive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365760" y="3099816"/>
            <a:ext cx="402336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163824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68680" y="31455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Withdrawal amount must be positive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365760" y="3758184"/>
            <a:ext cx="402336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22192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68680" y="38039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Cannot withdraw more than balance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4754880" y="13533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TDD Cycle Per Rule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4754880" y="1783080"/>
            <a:ext cx="4023360" cy="530352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4846320" y="1828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</a:rPr>
              <a:t>🔴 RED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4846320" y="20848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1BAC4"/>
                </a:solidFill>
              </a:rPr>
              <a:t>Write test first → fails (no code)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4754880" y="2441448"/>
            <a:ext cx="4023360" cy="530352"/>
          </a:xfrm>
          <a:prstGeom prst="rect">
            <a:avLst/>
          </a:prstGeom>
          <a:solidFill>
            <a:srgbClr val="0A1A0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4846320" y="2487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</a:rPr>
              <a:t>🟢 GREEN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4846320" y="27432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1BAC4"/>
                </a:solidFill>
              </a:rPr>
              <a:t>Write minimum code → test passes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4754880" y="3099816"/>
            <a:ext cx="4023360" cy="530352"/>
          </a:xfrm>
          <a:prstGeom prst="rect">
            <a:avLst/>
          </a:prstGeom>
          <a:solidFill>
            <a:srgbClr val="0A0F1A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4846320" y="31455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EB"/>
                </a:solidFill>
              </a:rPr>
              <a:t>🔵 REFACTOR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4846320" y="34015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1BAC4"/>
                </a:solidFill>
              </a:rPr>
              <a:t>Clean the code → tests still pass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754880" y="3758184"/>
            <a:ext cx="4023360" cy="530352"/>
          </a:xfrm>
          <a:prstGeom prst="rect">
            <a:avLst/>
          </a:prstGeom>
          <a:solidFill>
            <a:srgbClr val="1A1400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4846320" y="38039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B341"/>
                </a:solidFill>
              </a:rPr>
              <a:t>�� REPEAT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4846320" y="40599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1BAC4"/>
                </a:solidFill>
              </a:rPr>
              <a:t>Next requirement → start again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0B0"/>
                </a:solidFill>
              </a:rPr>
              <a:t>⚠️  Without TDD: A developer might write deposit() and forget to handle negative amounts — causing silent financial bugs.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6FEB"/>
                </a:solidFill>
              </a:rPr>
              <a:t>MODULE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1168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Introduction to JUnit 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JUnit 5 Architecture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841248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89888"/>
            <a:ext cx="73152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JUnit Platform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0136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1BAC4"/>
                </a:solidFill>
              </a:rPr>
              <a:t>Foundation layer. Allows IDEs and build tools (Maven, Gradle) to discover and run tests.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1645920"/>
            <a:ext cx="2651760" cy="384048"/>
          </a:xfrm>
          <a:prstGeom prst="rect">
            <a:avLst/>
          </a:prstGeom>
          <a:solidFill>
            <a:srgbClr val="0A0F1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20" y="16459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</a:rPr>
              <a:t>Used by: IntelliJ, Eclipse, Maven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841248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468880"/>
            <a:ext cx="73152" cy="9144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542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EB"/>
                </a:solidFill>
              </a:rPr>
              <a:t>JUnit Jupiter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2880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1BAC4"/>
                </a:solidFill>
              </a:rPr>
              <a:t>The API you write tests with. Provides @Test, @BeforeEach, assertEquals, and all modern annotations.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2724912"/>
            <a:ext cx="2651760" cy="384048"/>
          </a:xfrm>
          <a:prstGeom prst="rect">
            <a:avLst/>
          </a:prstGeom>
          <a:solidFill>
            <a:srgbClr val="0A0F1A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27249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6FEB"/>
                </a:solidFill>
              </a:rPr>
              <a:t>You write: 95% of your code here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547872"/>
            <a:ext cx="841248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547872"/>
            <a:ext cx="73152" cy="91440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6210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B341"/>
                </a:solidFill>
              </a:rPr>
              <a:t>JUnit Vintage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" y="395935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1BAC4"/>
                </a:solidFill>
              </a:rPr>
              <a:t>Backward compatibility. Allows old JUnit 3 and JUnit 4 tests to run on the JUnit 5 platform.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3803904"/>
            <a:ext cx="2651760" cy="384048"/>
          </a:xfrm>
          <a:prstGeom prst="rect">
            <a:avLst/>
          </a:prstGeom>
          <a:solidFill>
            <a:srgbClr val="0A0F1A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38039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B341"/>
                </a:solidFill>
              </a:rPr>
              <a:t>Legacy: JUnit 3 &amp; 4 support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4645152"/>
            <a:ext cx="8412480" cy="365760"/>
          </a:xfrm>
          <a:prstGeom prst="rect">
            <a:avLst/>
          </a:prstGeom>
          <a:solidFill>
            <a:srgbClr val="0A0F1A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645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</a:rPr>
              <a:t>💡  As a developer, you primarily work with JUnit Jupiter. Platform &amp; Vintage work behind the scenes.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JUNIT 5 TEST LIFECYCLE &amp; ANNOTATIONS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645920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@BeforeAll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2161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Once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03120" y="960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14600" y="868680"/>
            <a:ext cx="626364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9601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Runs once before all tests in the class. Must be static. Use for: DB setup, config loading.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645920"/>
            <a:ext cx="1645920" cy="5943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45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@BeforeEach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19933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Each test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0312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514600" y="1645920"/>
            <a:ext cx="626364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7373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Runs before every test. Creates a fresh state. MOST IMPORTANT lifecycle method.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423160"/>
            <a:ext cx="1645920" cy="59436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@Test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27706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The test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0312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514600" y="2423160"/>
            <a:ext cx="626364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25146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The actual test method. Void return, no parameters. Name should describe the behavior.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200400"/>
            <a:ext cx="1645920" cy="59436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00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@AfterEach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5478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Each test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0312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514600" y="3200400"/>
            <a:ext cx="626364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32918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Runs after every test. Use for cleanup, resetting state, closing resources.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977640"/>
            <a:ext cx="1645920" cy="59436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977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@AfterAll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43251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Once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10312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2514600" y="3977640"/>
            <a:ext cx="626364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51760" y="40690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Runs once after all tests complete. Must be static. Use for: closing connections.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solidFill>
            <a:srgbClr val="0A1A0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</a:rPr>
              <a:t>JUnit creates a NEW test instance per @Test method — guaranteeing complete isolation between tests.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1A1A"/>
          </a:solidFill>
          <a:ln w="12700">
            <a:solidFill>
              <a:srgbClr val="00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</a:rPr>
              <a:t>MODULE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1168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Arrange, Act, Assert (AAA Pattern)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Universal Test Structure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265176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17320"/>
            <a:ext cx="265176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1732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51560" y="1417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ARRANGE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17373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117"/>
                </a:solidFill>
              </a:rPr>
              <a:t>Set up the scenario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249424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04672" y="21945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Create objects &amp; instances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752344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04672" y="26974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Set preconditions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255264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" y="32004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Define test data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758184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04672" y="37033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Shared via @BeforeEach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200400" y="1417320"/>
            <a:ext cx="265176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3200400" y="1417320"/>
            <a:ext cx="2651760" cy="64008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3200400" y="141732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</a:t>
            </a:r>
            <a:endParaRPr lang="en-US" sz="2800" dirty="0"/>
          </a:p>
        </p:txBody>
      </p:sp>
      <p:sp>
        <p:nvSpPr>
          <p:cNvPr id="23" name="Text 17"/>
          <p:cNvSpPr/>
          <p:nvPr/>
        </p:nvSpPr>
        <p:spPr>
          <a:xfrm>
            <a:off x="3886200" y="1417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ACT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3886200" y="17373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117"/>
                </a:solidFill>
              </a:rPr>
              <a:t>Perform ONE action</a:t>
            </a:r>
            <a:endParaRPr lang="en-US" sz="10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2249424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639312" y="21945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Call the method being tested</a:t>
            </a:r>
            <a:endParaRPr lang="en-US" sz="11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4992" y="2752344"/>
            <a:ext cx="201168" cy="20116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639312" y="26974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ONE action only</a:t>
            </a:r>
            <a:endParaRPr lang="en-US" sz="11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3255264"/>
            <a:ext cx="201168" cy="20116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3639312" y="32004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Multiple actions = split tests</a:t>
            </a:r>
            <a:endParaRPr lang="en-US" sz="11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4992" y="3758184"/>
            <a:ext cx="201168" cy="20116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3639312" y="37033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Capture the return value</a:t>
            </a:r>
            <a:endParaRPr lang="en-US" sz="1100" dirty="0"/>
          </a:p>
        </p:txBody>
      </p:sp>
      <p:sp>
        <p:nvSpPr>
          <p:cNvPr id="33" name="Shape 23"/>
          <p:cNvSpPr/>
          <p:nvPr/>
        </p:nvSpPr>
        <p:spPr>
          <a:xfrm>
            <a:off x="6035040" y="1417320"/>
            <a:ext cx="265176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4" name="Shape 24"/>
          <p:cNvSpPr/>
          <p:nvPr/>
        </p:nvSpPr>
        <p:spPr>
          <a:xfrm>
            <a:off x="6035040" y="1417320"/>
            <a:ext cx="2651760" cy="6400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035040" y="141732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</a:t>
            </a:r>
            <a:endParaRPr lang="en-US" sz="2800" dirty="0"/>
          </a:p>
        </p:txBody>
      </p:sp>
      <p:sp>
        <p:nvSpPr>
          <p:cNvPr id="36" name="Text 26"/>
          <p:cNvSpPr/>
          <p:nvPr/>
        </p:nvSpPr>
        <p:spPr>
          <a:xfrm>
            <a:off x="6720840" y="1417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ASSERT</a:t>
            </a:r>
            <a:endParaRPr lang="en-US" sz="1500" dirty="0"/>
          </a:p>
        </p:txBody>
      </p:sp>
      <p:sp>
        <p:nvSpPr>
          <p:cNvPr id="37" name="Text 27"/>
          <p:cNvSpPr/>
          <p:nvPr/>
        </p:nvSpPr>
        <p:spPr>
          <a:xfrm>
            <a:off x="6720840" y="17373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117"/>
                </a:solidFill>
              </a:rPr>
              <a:t>Verify the outcome</a:t>
            </a:r>
            <a:endParaRPr lang="en-US" sz="100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9632" y="2249424"/>
            <a:ext cx="201168" cy="20116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6473952" y="21945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Check expected vs actual</a:t>
            </a:r>
            <a:endParaRPr lang="en-US" sz="110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9632" y="2752344"/>
            <a:ext cx="201168" cy="201168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6473952" y="26974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Multiple related assertions OK</a:t>
            </a:r>
            <a:endParaRPr lang="en-US" sz="1100" dirty="0"/>
          </a:p>
        </p:txBody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9632" y="3255264"/>
            <a:ext cx="201168" cy="201168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6473952" y="32004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Clear failure messages</a:t>
            </a:r>
            <a:endParaRPr lang="en-US" sz="1100" dirty="0"/>
          </a:p>
        </p:txBody>
      </p:sp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9632" y="3758184"/>
            <a:ext cx="201168" cy="201168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6473952" y="37033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assertAll for grouped checks</a:t>
            </a:r>
            <a:endParaRPr lang="en-US" sz="1100" dirty="0"/>
          </a:p>
        </p:txBody>
      </p:sp>
      <p:sp>
        <p:nvSpPr>
          <p:cNvPr id="46" name="Shape 32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01A1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Text 33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🏆  Golden Rule: One Test = One Behavior = One Reason to Fail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AAA PATTERN — CODE IN ACTION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</a:rPr>
              <a:t>✅  Well-Structured Test (AAA)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4114800" cy="329184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5270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deposit_500_balanceShouldBe500() {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7739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─ ARRANGE 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0208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BankAccount account =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2677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BankAccount();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amount = 500.0;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7614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─ ACT ─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0083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account.deposit(amount);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2552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─ ASSERT 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5021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assertEquals(500.0,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7490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account.getBalance());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9959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804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</a:rPr>
              <a:t>❌  Problematic Test (Testing Too Much)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09160" y="1207008"/>
            <a:ext cx="4114800" cy="329184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2801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15270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testEverything() {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17739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account.deposit(1000.0); // ACT 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0208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assertEquals(1000.0, ...); // 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2677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account.withdraw(200.0); // ACT 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25146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assertEquals(800.0, ...); // 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7614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account.deposit(100.0); // ACT 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30083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assertEquals(900.0, ...); // 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32552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❌ If this fails: which act?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5021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❌ Multiple behaviors!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37490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❌ Split into 3 tests!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39959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0B0"/>
                </a:solidFill>
              </a:rPr>
              <a:t>⚠️  If a test fails, you should INSTANTLY know which behavior broke — by reading just the test name.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A0A"/>
          </a:solidFill>
          <a:ln w="12700">
            <a:solidFill>
              <a:srgbClr val="0A1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B950"/>
                </a:solidFill>
              </a:rPr>
              <a:t>MODULE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1168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Line vs Branch Coverage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is Code Coverage?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841248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258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Code Coverage measures what percentage of your code is executed by your tests — higher coverage means fewer untested paths and fewer lurking bugs.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114800" cy="260604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20240"/>
            <a:ext cx="4114800" cy="47548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LINE COVERAGE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" y="21762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117"/>
                </a:solidFill>
              </a:rPr>
              <a:t>Coarse-Grained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83280" y="1965960"/>
            <a:ext cx="960120" cy="384048"/>
          </a:xfrm>
          <a:prstGeom prst="rect">
            <a:avLst/>
          </a:prstGeom>
          <a:solidFill>
            <a:srgbClr val="0A0A0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9659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Target: 80%+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0352" y="25054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B341"/>
                </a:solidFill>
              </a:rPr>
              <a:t>What it asks: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" y="2724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Were these LINES executed?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" y="3063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✓  Easy to measure, good baseline metric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" y="3364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</a:rPr>
              <a:t>✗  Can be 100% while half your decision paths are untested!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920240"/>
            <a:ext cx="4114800" cy="2606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920240"/>
            <a:ext cx="4114800" cy="47548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BRANCH COVERAGE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64608" y="21762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117"/>
                </a:solidFill>
              </a:rPr>
              <a:t>Fine-Grained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772400" y="1965960"/>
            <a:ext cx="960120" cy="384048"/>
          </a:xfrm>
          <a:prstGeom prst="rect">
            <a:avLst/>
          </a:prstGeom>
          <a:solidFill>
            <a:srgbClr val="0A0A0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26680" y="19659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Target: 70%+ for business logic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19472" y="25054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</a:rPr>
              <a:t>What it asks: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19472" y="2724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Were ALL decision paths taken?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19472" y="3063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✓  Reveals hidden untested paths in if/else, switch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19472" y="3364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</a:rPr>
              <a:t>✗  Harder to achieve, requires more tests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01A0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💡  100% line coverage does NOT mean 100% branch coverage. Always strive for branch coverage on critical business logic.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BRANCH COVERAGE — VISUAL WALKTHROUGH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calculateServiceCharge() — Decision Tree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4114800" cy="365760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(SAVINGS account) {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5270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(balance &gt;= 1000) {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7739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charge = 0.0;   // Branch A ✓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0208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2677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charge = 5.0;   // Branch B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7614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  // CURRENT account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0083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charge = 10.0;  // Branch C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2552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5021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(transactions &gt; 10) {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7490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charge += 2.0;  // Branch 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9959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42428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Branch E: transactions &lt;= 10 ✓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Branch Coverage Analysis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207008"/>
            <a:ext cx="4114800" cy="34747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2070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Branch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1207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Condition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0" y="120700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Status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600200"/>
            <a:ext cx="41148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6733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</a:rPr>
              <a:t>Branch 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16733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1BAC4"/>
                </a:solidFill>
              </a:rPr>
              <a:t>SAVINGS, balance ≥ 1000</a:t>
            </a:r>
            <a:endParaRPr lang="en-US" sz="10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691640"/>
            <a:ext cx="228600" cy="22860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4754880" y="2075688"/>
            <a:ext cx="4114800" cy="41148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0" y="2148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</a:rPr>
              <a:t>Branch B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943600" y="21488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1BAC4"/>
                </a:solidFill>
              </a:rPr>
              <a:t>SAVINGS, balance &lt; 1000</a:t>
            </a:r>
            <a:endParaRPr lang="en-US" sz="100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167128"/>
            <a:ext cx="228600" cy="22860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4754880" y="2551176"/>
            <a:ext cx="41148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846320" y="26243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</a:rPr>
              <a:t>Branch C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5943600" y="2624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1BAC4"/>
                </a:solidFill>
              </a:rPr>
              <a:t>CURRENT account</a:t>
            </a:r>
            <a:endParaRPr lang="en-US" sz="1000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642616"/>
            <a:ext cx="228600" cy="228600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4754880" y="3026664"/>
            <a:ext cx="4114800" cy="41148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4846320" y="30998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</a:rPr>
              <a:t>Branch D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5943600" y="30998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1BAC4"/>
                </a:solidFill>
              </a:rPr>
              <a:t>Transactions &gt; 10</a:t>
            </a:r>
            <a:endParaRPr lang="en-US" sz="1000" dirty="0"/>
          </a:p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3118104"/>
            <a:ext cx="228600" cy="228600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4754880" y="3502152"/>
            <a:ext cx="41148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4846320" y="35753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</a:rPr>
              <a:t>Branch E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5943600" y="35753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1BAC4"/>
                </a:solidFill>
              </a:rPr>
              <a:t>Transactions ≤ 10</a:t>
            </a:r>
            <a:endParaRPr lang="en-US" sz="1000" dirty="0"/>
          </a:p>
        </p:txBody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3593592"/>
            <a:ext cx="228600" cy="228600"/>
          </a:xfrm>
          <a:prstGeom prst="rect">
            <a:avLst/>
          </a:prstGeom>
        </p:spPr>
      </p:pic>
      <p:sp>
        <p:nvSpPr>
          <p:cNvPr id="44" name="Shape 37"/>
          <p:cNvSpPr/>
          <p:nvPr/>
        </p:nvSpPr>
        <p:spPr>
          <a:xfrm>
            <a:off x="4754880" y="4133088"/>
            <a:ext cx="1965960" cy="566928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4846320" y="416052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Line Coverage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4846320" y="43708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B341"/>
                </a:solidFill>
              </a:rPr>
              <a:t>75%</a:t>
            </a:r>
            <a:endParaRPr lang="en-US" sz="1800" dirty="0"/>
          </a:p>
        </p:txBody>
      </p:sp>
      <p:sp>
        <p:nvSpPr>
          <p:cNvPr id="47" name="Shape 40"/>
          <p:cNvSpPr/>
          <p:nvPr/>
        </p:nvSpPr>
        <p:spPr>
          <a:xfrm>
            <a:off x="6858000" y="4133088"/>
            <a:ext cx="1965960" cy="566928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6949440" y="416052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Branch Coverage</a:t>
            </a:r>
            <a:endParaRPr lang="en-US" sz="900" dirty="0"/>
          </a:p>
        </p:txBody>
      </p:sp>
      <p:sp>
        <p:nvSpPr>
          <p:cNvPr id="49" name="Text 42"/>
          <p:cNvSpPr/>
          <p:nvPr/>
        </p:nvSpPr>
        <p:spPr>
          <a:xfrm>
            <a:off x="6949440" y="43708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5149"/>
                </a:solidFill>
              </a:rPr>
              <a:t>40%</a:t>
            </a:r>
            <a:endParaRPr lang="en-US" sz="1800" dirty="0"/>
          </a:p>
        </p:txBody>
      </p:sp>
      <p:sp>
        <p:nvSpPr>
          <p:cNvPr id="50" name="Shape 43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0292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B0B0"/>
                </a:solidFill>
              </a:rPr>
              <a:t>⚠️  One test shows 75% line coverage but only 40% branch coverage — 3 critical business paths are UNTESTED.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JACOCO — PROFESSIONAL COVERAGE REPORTING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Java Code Coverage Tool — Industry Standard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pom.xml — JaCoCo Configuration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663440" cy="292608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733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&lt;plugin&gt;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85623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&lt;groupId&gt;org.jacoco&lt;/groupId&gt;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0391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&lt;artifactId&gt;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22199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jacoco-maven-plugin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40487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&lt;/artifactId&gt;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5877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&lt;limits&gt;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77063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&lt;limit&gt;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9535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&lt;counter&gt;LINE&lt;/counter&gt;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13639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&lt;minimum&gt;0.80&lt;/minimum&gt;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331927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&lt;/limit&gt;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35021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&lt;limit&gt;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68503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&lt;counter&gt;BRANCH&lt;/counter&gt;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867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&lt;minimum&gt;0.70&lt;/minimum&gt;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405079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&lt;/plugin&gt;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0352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JaCoCo Report Color Coding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03520" y="1600200"/>
            <a:ext cx="3520440" cy="39319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0" y="1600200"/>
            <a:ext cx="164592" cy="3931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41264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</a:rPr>
              <a:t>Green Background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541264" y="1801368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Line is fully covered — all executions traced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303520" y="2075688"/>
            <a:ext cx="3520440" cy="39319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0" y="2075688"/>
            <a:ext cx="164592" cy="3931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41264" y="21031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</a:rPr>
              <a:t>Red Background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41264" y="2276856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Line NOT covered at all — never executed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303520" y="2551176"/>
            <a:ext cx="3520440" cy="39319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0" y="2551176"/>
            <a:ext cx="164592" cy="39319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41264" y="257860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</a:rPr>
              <a:t>Yellow Background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41264" y="275234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Some branches covered, some missed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03520" y="3026664"/>
            <a:ext cx="3520440" cy="39319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0" y="3026664"/>
            <a:ext cx="164592" cy="3931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41264" y="30540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</a:rPr>
              <a:t>Green Diamond ◆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41264" y="322783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Both branches tested — full coverage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303520" y="3502152"/>
            <a:ext cx="3520440" cy="39319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03520" y="3502152"/>
            <a:ext cx="164592" cy="39319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41264" y="35295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</a:rPr>
              <a:t>Yellow Diamond ◆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41264" y="370332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Only ONE branch tested — DANGER!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303520" y="3977640"/>
            <a:ext cx="3520440" cy="39319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03520" y="3977640"/>
            <a:ext cx="164592" cy="3931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41264" y="40050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</a:rPr>
              <a:t>Red Diamond ◆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41264" y="4178808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No branches tested at all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mvn clean test  →  Report at: target/site/jacoco/index.html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A1A"/>
          </a:solidFill>
          <a:ln w="12700">
            <a:solidFill>
              <a:srgbClr val="0A0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8A6FF"/>
                </a:solidFill>
              </a:rPr>
              <a:t>MODULE 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1168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Assertion Types in JUnit 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Complete Assertion Toolkit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26974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71600"/>
            <a:ext cx="2697480" cy="384048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0817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assertEquals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EB"/>
                </a:solidFill>
              </a:rPr>
              <a:t>Equality Check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084832"/>
            <a:ext cx="2514600" cy="576072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214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assertEquals(500.0, balance, 0.001)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154680" y="1371600"/>
            <a:ext cx="26974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4680" y="1371600"/>
            <a:ext cx="269748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40817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assertTrue / assertFalse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46120" y="182880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Boolean Condition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2084832"/>
            <a:ext cx="2514600" cy="576072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21214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assertTrue(account.isActive())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035040" y="1371600"/>
            <a:ext cx="26974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371600"/>
            <a:ext cx="2697480" cy="38404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40817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assertNull / assertNotNull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182880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B341"/>
                </a:solidFill>
              </a:rPr>
              <a:t>Null Verification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2084832"/>
            <a:ext cx="2514600" cy="576072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21214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assertNull(account.getStatement())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" y="2971800"/>
            <a:ext cx="26974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971800"/>
            <a:ext cx="2697480" cy="38404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00837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assertThrows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342900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</a:rPr>
              <a:t>Exception Testing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685032"/>
            <a:ext cx="2514600" cy="576072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7216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assertThrows(IllegalArgumentException.class, () -&gt; account.deposit(-1))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154680" y="2971800"/>
            <a:ext cx="26974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54680" y="2971800"/>
            <a:ext cx="2697480" cy="38404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300837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assertAll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46120" y="342900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</a:rPr>
              <a:t>Grouped Assertions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46120" y="3685032"/>
            <a:ext cx="2514600" cy="576072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37216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assertAll("state", () -&gt; assertEquals(...), () -&gt; assertTrue(...))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035040" y="2971800"/>
            <a:ext cx="26974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35040" y="2971800"/>
            <a:ext cx="2697480" cy="38404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300837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assertTimeout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26480" y="342900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Performance Testing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26480" y="3685032"/>
            <a:ext cx="2514600" cy="576072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72200" y="37216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assertTimeout(Duration.ofSeconds(1), () -&gt; report())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assertThrows &amp; assertAll — Deep Dive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</a:rPr>
              <a:t>assertThrows — Testing Exception Behavior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4114800" cy="315468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490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overdraft_throwsException() {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7007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ARRANGE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9110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account.deposit(500.0);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1214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3317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ACT + ASSERT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542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IllegalArgumentException ex =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7523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assertThrows(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9626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IllegalArgumentException.class,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172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() -&gt; account.withdraw(999.0)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3832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5935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8039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Verify exception message!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40142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assertTrue(ex.getMessage()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4224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.contains("Insufficient"));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44348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</a:rPr>
              <a:t>assertAll — Group Assertions (All Run!)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1207008"/>
            <a:ext cx="4114800" cy="315468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2801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92040" y="1490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verifyCompleteState() {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92040" y="17007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account.deposit(1000.0);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92040" y="19110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account.withdraw(250.0);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92040" y="21214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92040" y="23317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assertAll("Account State",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92040" y="2542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() -&gt; assertEquals(750.0,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92040" y="27523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account.getBalance()),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92040" y="29626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() -&gt; assertTrue(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92040" y="3172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account.isActive()),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92040" y="33832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() -&gt; assertEquals(2,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92040" y="35935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history.size()),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92040" y="38039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() -&gt; assertNotNull(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92040" y="40142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account.getLastTime())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92040" y="4224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92040" y="44348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4498848"/>
            <a:ext cx="4114800" cy="457200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4988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B0B0"/>
                </a:solidFill>
              </a:rPr>
              <a:t>✓  assertThrows returns the exception — letting you also verify the exception message content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4498848"/>
            <a:ext cx="4114800" cy="457200"/>
          </a:xfrm>
          <a:prstGeom prst="rect">
            <a:avLst/>
          </a:prstGeom>
          <a:solidFill>
            <a:srgbClr val="0A1A0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44988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</a:rPr>
              <a:t>✓  assertAll runs ALL assertions even if #1 fails — you see the COMPLETE picture of what broke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0A0A"/>
          </a:solidFill>
          <a:ln w="12700">
            <a:solidFill>
              <a:srgbClr val="1A0A0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645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5149"/>
                </a:solidFill>
              </a:rPr>
              <a:t>COMMON BEGINNER MISTAKES — Avoid These!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365760" y="841248"/>
            <a:ext cx="84124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841248"/>
            <a:ext cx="1371600" cy="868680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932688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5149"/>
                </a:solidFill>
              </a:rPr>
              <a:t>Wrong arg order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828800" y="905256"/>
            <a:ext cx="3017520" cy="301752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74520" y="905256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assertEquals(account.getBalance(), 500.0);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828800" y="1271016"/>
            <a:ext cx="3017520" cy="301752"/>
          </a:xfrm>
          <a:prstGeom prst="rect">
            <a:avLst/>
          </a:prstGeom>
          <a:solidFill>
            <a:srgbClr val="0A1A0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74520" y="1271016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assertEquals(500.0, account.getBalance());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983480" y="100584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1BAC4"/>
                </a:solidFill>
              </a:rPr>
              <a:t>EXPECTED always first, ACTUAL second. Wrong order gives confusing error messages.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1847088"/>
            <a:ext cx="84124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" y="1847088"/>
            <a:ext cx="1371600" cy="868680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1938528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5149"/>
                </a:solidFill>
              </a:rPr>
              <a:t>No delta for doubles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828800" y="1911096"/>
            <a:ext cx="3017520" cy="301752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874520" y="1911096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assertEquals(0.3, 0.1 + 0.2);  // FAILS!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828800" y="2276856"/>
            <a:ext cx="3017520" cy="301752"/>
          </a:xfrm>
          <a:prstGeom prst="rect">
            <a:avLst/>
          </a:prstGeom>
          <a:solidFill>
            <a:srgbClr val="0A1A0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874520" y="2276856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assertEquals(0.3, 0.1 + 0.2, 0.0001);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983480" y="201168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1BAC4"/>
                </a:solidFill>
              </a:rPr>
              <a:t>Floating-point arithmetic is imprecise. 0.1 + 0.2 = 0.30000000000000004 in Java.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65760" y="2852928"/>
            <a:ext cx="84124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" y="2852928"/>
            <a:ext cx="1371600" cy="868680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2944368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5149"/>
                </a:solidFill>
              </a:rPr>
              <a:t>Not verifying exception message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1828800" y="2916936"/>
            <a:ext cx="3017520" cy="301752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874520" y="2916936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assertThrows(Exception.class, () -&gt; deposit(-1));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1828800" y="3282696"/>
            <a:ext cx="3017520" cy="301752"/>
          </a:xfrm>
          <a:prstGeom prst="rect">
            <a:avLst/>
          </a:prstGeom>
          <a:solidFill>
            <a:srgbClr val="0A1A0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874520" y="3282696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var ex = assertThrows(...); assertTrue(ex.getMessage()...)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983480" y="30175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1BAC4"/>
                </a:solidFill>
              </a:rPr>
              <a:t>Just checking the exception type isn't enough — always verify the message content too.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65760" y="3858768"/>
            <a:ext cx="84124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65760" y="3858768"/>
            <a:ext cx="1371600" cy="868680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1480" y="3950208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5149"/>
                </a:solidFill>
              </a:rPr>
              <a:t>Not using assertAll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1828800" y="3922776"/>
            <a:ext cx="3017520" cy="301752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874520" y="3922776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assertEquals(500, balance);  // fails silently on next line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1828800" y="4288536"/>
            <a:ext cx="3017520" cy="301752"/>
          </a:xfrm>
          <a:prstGeom prst="rect">
            <a:avLst/>
          </a:prstGeom>
          <a:solidFill>
            <a:srgbClr val="0A1A0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874520" y="4288536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assertAll("state", () -&gt; assertEquals(500, balance), () -&gt; assertTrue(active))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983480" y="402336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1BAC4"/>
                </a:solidFill>
              </a:rPr>
              <a:t>Without assertAll, tests stop at the first failure. You miss other broken behaviors.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Golden Rules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Everything You Must Remember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73152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8132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344168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One Test = One Behavior = One Reason to Fail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2103120"/>
            <a:ext cx="41148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2103120"/>
            <a:ext cx="73152" cy="73152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35000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2212848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Tests must be INDEPENDENT — use @BeforeEach to reset state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5760" y="2971800"/>
            <a:ext cx="41148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5760" y="2971800"/>
            <a:ext cx="73152" cy="7315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218688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8680" y="3081528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Test name = instant diagnosis when it fails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65760" y="3840480"/>
            <a:ext cx="41148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65760" y="3840480"/>
            <a:ext cx="73152" cy="73152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4087368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68680" y="3950208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Expected value ALWAYS first in assertEquals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754880" y="1234440"/>
            <a:ext cx="41148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754880" y="1234440"/>
            <a:ext cx="73152" cy="7315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1481328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257800" y="1344168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Use delta (0.0001) for all floating-point comparisons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754880" y="2103120"/>
            <a:ext cx="41148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754880" y="2103120"/>
            <a:ext cx="73152" cy="7315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2350008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257800" y="2212848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Test the happy path AND all error/edge paths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754880" y="2971800"/>
            <a:ext cx="41148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4754880" y="2971800"/>
            <a:ext cx="73152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472" y="3218688"/>
            <a:ext cx="256032" cy="25603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257800" y="3081528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Always test BOUNDARY CONDITIONS (0, exact threshold, max)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4754880" y="3840480"/>
            <a:ext cx="41148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4754880" y="3840480"/>
            <a:ext cx="73152" cy="73152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9472" y="4087368"/>
            <a:ext cx="256032" cy="25603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257800" y="3950208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Branch coverage &gt; Line coverage for business logic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COURSE COMPLETE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What's Next on Your Journey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You Are Now Ready For...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411480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44752"/>
            <a:ext cx="594360" cy="128016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44752"/>
            <a:ext cx="594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78992" y="15819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6FEB"/>
                </a:solidFill>
              </a:rPr>
              <a:t>Mockito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8992" y="197510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1BAC4"/>
                </a:solidFill>
              </a:rPr>
              <a:t>Mock external dependencies (DB, APIs) in unit tests. Test your class in true isolation.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44752"/>
            <a:ext cx="411480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444752"/>
            <a:ext cx="594360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444752"/>
            <a:ext cx="594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68112" y="15819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Spring Boot Testing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68112" y="197510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1BAC4"/>
                </a:solidFill>
              </a:rPr>
              <a:t>@SpringBootTest, @MockBean, @WebMvcTest — testing full web layers.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53512"/>
            <a:ext cx="411480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953512"/>
            <a:ext cx="594360" cy="12801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53512"/>
            <a:ext cx="594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78992" y="30906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</a:rPr>
              <a:t>Parameterized Tests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78992" y="348386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1BAC4"/>
                </a:solidFill>
              </a:rPr>
              <a:t>@ParameterizedTest — run the same test logic with many different inputs automatically.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953512"/>
            <a:ext cx="411480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953512"/>
            <a:ext cx="594360" cy="128016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953512"/>
            <a:ext cx="594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468112" y="30906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B341"/>
                </a:solidFill>
              </a:rPr>
              <a:t>TestContainers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68112" y="348386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1BAC4"/>
                </a:solidFill>
              </a:rPr>
              <a:t>Integration testing with real databases running in Docker. Production-like tests.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663440"/>
            <a:ext cx="84124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You now have the foundation that separates developers who HOPE their code works from those who KNOW it does.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Testing &amp; TDD in Java — Master Course</dc:title>
  <dc:subject>PptxGenJS Presentation</dc:subject>
  <dc:creator>Senior Java Backend Developer &amp; Architect</dc:creator>
  <cp:lastModifiedBy>Senior Java Backend Developer &amp; Architect</cp:lastModifiedBy>
  <cp:revision>1</cp:revision>
  <dcterms:created xsi:type="dcterms:W3CDTF">2026-02-17T07:08:27Z</dcterms:created>
  <dcterms:modified xsi:type="dcterms:W3CDTF">2026-02-17T07:08:27Z</dcterms:modified>
</cp:coreProperties>
</file>