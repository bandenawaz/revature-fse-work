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4320"/>
            <a:ext cx="1371600" cy="1371600"/>
          </a:xfrm>
          <a:prstGeom prst="oval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3840480"/>
            <a:ext cx="914400" cy="914400"/>
          </a:xfrm>
          <a:prstGeom prst="oval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657600"/>
            <a:ext cx="640080" cy="640080"/>
          </a:xfrm>
          <a:prstGeom prst="oval">
            <a:avLst/>
          </a:prstGeom>
          <a:solidFill>
            <a:srgbClr val="000000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2377440"/>
          </a:xfrm>
          <a:prstGeom prst="rect">
            <a:avLst/>
          </a:prstGeom>
          <a:solidFill>
            <a:srgbClr val="000000"/>
          </a:solidFill>
          <a:ln w="25400">
            <a:solidFill>
              <a:srgbClr val="00D9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05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☕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554480" y="960120"/>
            <a:ext cx="6949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Multithreading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554480" y="169164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Masterclass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Architect-Level Understanding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44368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00D9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Thread Class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76272" y="2944368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2176272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Life Cycle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03904" y="2944368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3803904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Runnable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31536" y="2944368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431536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Virtual Threads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59168" y="2944368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7059168" y="2944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DB Integration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617720"/>
            <a:ext cx="85953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Senior Java Backend Developer &amp; Architect  |  30+ Years Industry Experience  |  Complete Beginner to Advanced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Course Outline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master in this session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234440"/>
            <a:ext cx="402336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45720" cy="65836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353312"/>
            <a:ext cx="384048" cy="384048"/>
          </a:xfrm>
          <a:prstGeom prst="oval">
            <a:avLst/>
          </a:prstGeom>
          <a:solidFill>
            <a:srgbClr val="00D9FF">
              <a:alpha val="13000"/>
            </a:srgbClr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2984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Multithreading?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5727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Concepts, why it matters, CPU perspective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26280" y="1234440"/>
            <a:ext cx="402336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234440"/>
            <a:ext cx="4572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7720" y="1353312"/>
            <a:ext cx="384048" cy="384048"/>
          </a:xfrm>
          <a:prstGeom prst="oval">
            <a:avLst/>
          </a:prstGeom>
          <a:solidFill>
            <a:srgbClr val="7C3AED">
              <a:alpha val="13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74920" y="12984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vs Thread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15727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layout, differences, analogy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1965960"/>
            <a:ext cx="402336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1965960"/>
            <a:ext cx="45720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Shape 17"/>
          <p:cNvSpPr/>
          <p:nvPr/>
        </p:nvSpPr>
        <p:spPr>
          <a:xfrm>
            <a:off x="411480" y="2084832"/>
            <a:ext cx="384048" cy="384048"/>
          </a:xfrm>
          <a:prstGeom prst="oval">
            <a:avLst/>
          </a:prstGeom>
          <a:solidFill>
            <a:srgbClr val="10B981">
              <a:alpha val="13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20299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Class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230428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java.lang.Thread, key methods deep dive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26280" y="1965960"/>
            <a:ext cx="402336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1965960"/>
            <a:ext cx="45720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4617720" y="2084832"/>
            <a:ext cx="384048" cy="384048"/>
          </a:xfrm>
          <a:prstGeom prst="oval">
            <a:avLst/>
          </a:prstGeom>
          <a:solidFill>
            <a:srgbClr val="F59E0B">
              <a:alpha val="13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74920" y="20299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Cycle of Thread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74920" y="230428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States — NEW → TERMINATED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2697480"/>
            <a:ext cx="402336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2697480"/>
            <a:ext cx="45720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Shape 29"/>
          <p:cNvSpPr/>
          <p:nvPr/>
        </p:nvSpPr>
        <p:spPr>
          <a:xfrm>
            <a:off x="411480" y="2816352"/>
            <a:ext cx="384048" cy="384048"/>
          </a:xfrm>
          <a:prstGeom prst="oval">
            <a:avLst/>
          </a:prstGeom>
          <a:solidFill>
            <a:srgbClr val="EF4444">
              <a:alpha val="13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" y="27614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&amp; Starting Threads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8680" y="30358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Thread, start() vs run()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26280" y="2697480"/>
            <a:ext cx="402336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26280" y="2697480"/>
            <a:ext cx="45720" cy="65836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617720" y="2816352"/>
            <a:ext cx="384048" cy="384048"/>
          </a:xfrm>
          <a:prstGeom prst="oval">
            <a:avLst/>
          </a:prstGeom>
          <a:solidFill>
            <a:srgbClr val="00D9FF">
              <a:alpha val="13000"/>
            </a:srgbClr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2816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</a:rPr>
              <a:t>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74920" y="27614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Interface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74920" y="30358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approach, 4 styles, lambdas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3429000"/>
            <a:ext cx="402336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3429000"/>
            <a:ext cx="4572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3" name="Shape 41"/>
          <p:cNvSpPr/>
          <p:nvPr/>
        </p:nvSpPr>
        <p:spPr>
          <a:xfrm>
            <a:off x="411480" y="3547872"/>
            <a:ext cx="384048" cy="384048"/>
          </a:xfrm>
          <a:prstGeom prst="oval">
            <a:avLst/>
          </a:prstGeom>
          <a:solidFill>
            <a:srgbClr val="7C3AED">
              <a:alpha val="13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07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68680" y="34930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Real-Time: Banking System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68680" y="37673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conditions, synchronization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26280" y="3429000"/>
            <a:ext cx="402336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26280" y="3429000"/>
            <a:ext cx="45720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9" name="Shape 47"/>
          <p:cNvSpPr/>
          <p:nvPr/>
        </p:nvSpPr>
        <p:spPr>
          <a:xfrm>
            <a:off x="4617720" y="3547872"/>
            <a:ext cx="384048" cy="384048"/>
          </a:xfrm>
          <a:prstGeom prst="oval">
            <a:avLst/>
          </a:prstGeom>
          <a:solidFill>
            <a:srgbClr val="10B981">
              <a:alpha val="13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17720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08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74920" y="349300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Threads (Java 21)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74920" y="37673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Loom, millions of threads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0040" y="4160520"/>
            <a:ext cx="402336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" y="4160520"/>
            <a:ext cx="45720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5" name="Shape 53"/>
          <p:cNvSpPr/>
          <p:nvPr/>
        </p:nvSpPr>
        <p:spPr>
          <a:xfrm>
            <a:off x="411480" y="4279392"/>
            <a:ext cx="384048" cy="384048"/>
          </a:xfrm>
          <a:prstGeom prst="oval">
            <a:avLst/>
          </a:prstGeom>
          <a:solidFill>
            <a:srgbClr val="F59E0B">
              <a:alpha val="13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09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68680" y="42245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+ Database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68680" y="44988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HikariCP, connection pooling, ACID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26280" y="4160520"/>
            <a:ext cx="4023360" cy="6583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26280" y="4160520"/>
            <a:ext cx="45720" cy="6583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1" name="Shape 59"/>
          <p:cNvSpPr/>
          <p:nvPr/>
        </p:nvSpPr>
        <p:spPr>
          <a:xfrm>
            <a:off x="4617720" y="4279392"/>
            <a:ext cx="384048" cy="384048"/>
          </a:xfrm>
          <a:prstGeom prst="oval">
            <a:avLst/>
          </a:prstGeom>
          <a:solidFill>
            <a:srgbClr val="EF4444">
              <a:alpha val="13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17720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10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074920" y="42245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Working Example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074920" y="44988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order processing system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🧵  What is Multithreading?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many things at the same time inside one program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234440"/>
            <a:ext cx="411480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45720" cy="74980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7" name="Shape 5"/>
          <p:cNvSpPr/>
          <p:nvPr/>
        </p:nvSpPr>
        <p:spPr>
          <a:xfrm>
            <a:off x="438912" y="1389888"/>
            <a:ext cx="384048" cy="384048"/>
          </a:xfrm>
          <a:prstGeom prst="oval">
            <a:avLst/>
          </a:prstGeom>
          <a:solidFill>
            <a:srgbClr val="00D9FF">
              <a:alpha val="13000"/>
            </a:srgbClr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89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3075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156362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written instructions — your source code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103120"/>
            <a:ext cx="411480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103120"/>
            <a:ext cx="45720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438912" y="2258568"/>
            <a:ext cx="384048" cy="384048"/>
          </a:xfrm>
          <a:prstGeom prst="oval">
            <a:avLst/>
          </a:prstGeom>
          <a:solidFill>
            <a:srgbClr val="7C3AED">
              <a:alpha val="13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⚙️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1762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243230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instance of that program in memory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411480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71800"/>
            <a:ext cx="45720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912" y="3127248"/>
            <a:ext cx="384048" cy="384048"/>
          </a:xfrm>
          <a:prstGeom prst="oval">
            <a:avLst/>
          </a:prstGeom>
          <a:solidFill>
            <a:srgbClr val="10B981">
              <a:alpha val="13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0449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14400" y="330098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unit of execution inside a process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840480"/>
            <a:ext cx="411480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840480"/>
            <a:ext cx="45720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438912" y="3995928"/>
            <a:ext cx="384048" cy="384048"/>
          </a:xfrm>
          <a:prstGeom prst="oval">
            <a:avLst/>
          </a:prstGeom>
          <a:solidFill>
            <a:srgbClr val="F59E0B">
              <a:alpha val="13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39136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Multithreading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14400" y="416966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multiple threads simultaneously within one process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1234440"/>
            <a:ext cx="4114800" cy="3474720"/>
          </a:xfrm>
          <a:prstGeom prst="rect">
            <a:avLst/>
          </a:prstGeom>
          <a:solidFill>
            <a:srgbClr val="21262D"/>
          </a:solidFill>
          <a:ln w="19050">
            <a:solidFill>
              <a:srgbClr val="00D9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234440"/>
            <a:ext cx="4114800" cy="34747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1234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🍽️  Restaurant Analogy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1719072"/>
            <a:ext cx="411480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17190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🏠 Restaurant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17190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= Process (the whole operation)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2121408"/>
            <a:ext cx="4114800" cy="36576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21214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👨‍🍳 Kitchen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46520" y="21214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= Shared Memory (heap)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9160" y="2523744"/>
            <a:ext cx="411480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252374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👔 Waiter 1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46520" y="25237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= Thread 1 — takes orders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2926080"/>
            <a:ext cx="4114800" cy="36576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2" name="Text 40"/>
          <p:cNvSpPr/>
          <p:nvPr/>
        </p:nvSpPr>
        <p:spPr>
          <a:xfrm>
            <a:off x="480060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👔 Waiter 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46520" y="2926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= Thread 2 — serves food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3328416"/>
            <a:ext cx="411480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5" name="Text 43"/>
          <p:cNvSpPr/>
          <p:nvPr/>
        </p:nvSpPr>
        <p:spPr>
          <a:xfrm>
            <a:off x="4800600" y="332841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</a:rPr>
              <a:t>👔 Waiter 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46520" y="33284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= Thread 3 — bills customers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09160" y="3730752"/>
            <a:ext cx="411480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8" name="Text 46"/>
          <p:cNvSpPr/>
          <p:nvPr/>
        </p:nvSpPr>
        <p:spPr>
          <a:xfrm>
            <a:off x="4800600" y="37307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1 waiter only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46520" y="37307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= Single-thread → SLOW! 🐢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4773168"/>
            <a:ext cx="4069080" cy="274320"/>
          </a:xfrm>
          <a:prstGeom prst="rect">
            <a:avLst/>
          </a:prstGeom>
          <a:solidFill>
            <a:srgbClr val="00D9FF">
              <a:alpha val="13000"/>
            </a:srgbClr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D9FF"/>
                </a:solidFill>
              </a:rPr>
              <a:t>Concurrency: 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280160" y="47731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Multiple threads making progress (may not be simultaneous)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617720" y="4773168"/>
            <a:ext cx="4069080" cy="274320"/>
          </a:xfrm>
          <a:prstGeom prst="rect">
            <a:avLst/>
          </a:prstGeom>
          <a:solidFill>
            <a:srgbClr val="10B981">
              <a:alpha val="13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09160" y="47731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Parallelism: 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577840" y="477316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Multiple threads running at the exact same instant (multi-core)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Process vs Thread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fundamental architectural difference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234440"/>
            <a:ext cx="8503920" cy="2514600"/>
          </a:xfrm>
          <a:prstGeom prst="rect">
            <a:avLst/>
          </a:prstGeom>
          <a:solidFill>
            <a:srgbClr val="21262D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34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⚙️  PROCESS  —  Isolated, Heavy, Independent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242316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916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947672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📚 Own Stack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176272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🔢 Own PC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404872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📦 Own Registers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691640"/>
            <a:ext cx="242316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6916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1947672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📚 Own Stack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91840" y="2176272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🔢 Own PC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91840" y="2404872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📦 Own Registers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97880" y="1691640"/>
            <a:ext cx="2423160" cy="1005840"/>
          </a:xfrm>
          <a:prstGeom prst="rect">
            <a:avLst/>
          </a:prstGeom>
          <a:solidFill>
            <a:srgbClr val="161B22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1691640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89320" y="1947672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📚 Own Stack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89320" y="2176272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🔢 Own PC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89320" y="2404872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📦 Own Registers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2920" y="2743200"/>
            <a:ext cx="8092440" cy="384048"/>
          </a:xfrm>
          <a:prstGeom prst="rect">
            <a:avLst/>
          </a:prstGeom>
          <a:solidFill>
            <a:srgbClr val="10B981">
              <a:alpha val="13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743200"/>
            <a:ext cx="8092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🌐  SHARED HEAP MEMORY  —  Objects, Instance Variables, Arrays (ALL threads can access this!)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913632"/>
            <a:ext cx="8503920" cy="25603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39136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PROCESS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23160" y="39136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ASPECT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09160" y="39136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THREAD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169664"/>
            <a:ext cx="8503920" cy="2286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416966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Isolated (own memory)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423160" y="416966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9FF"/>
                </a:solidFill>
              </a:rPr>
              <a:t>Memory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09160" y="416966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Shared heap with siblings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398264"/>
            <a:ext cx="8503920" cy="2286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439826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Heavy (~MBs)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423160" y="439826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9FF"/>
                </a:solidFill>
              </a:rPr>
              <a:t>Weight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09160" y="439826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Light (~few KBs)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4626864"/>
            <a:ext cx="8503920" cy="2286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462686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Slow (OS creates)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423160" y="462686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9FF"/>
                </a:solidFill>
              </a:rPr>
              <a:t>Creation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09160" y="462686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Fast (JVM creates)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4855464"/>
            <a:ext cx="8503920" cy="22860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2" name="Text 40"/>
          <p:cNvSpPr/>
          <p:nvPr/>
        </p:nvSpPr>
        <p:spPr>
          <a:xfrm>
            <a:off x="411480" y="4855464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IPC needed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423160" y="485546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D9FF"/>
                </a:solidFill>
              </a:rPr>
              <a:t>Communication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09160" y="4855464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Direct (shared memory)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java.lang.Thread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Java class — key methods every developer must know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261872"/>
            <a:ext cx="416052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45720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5"/>
          <p:cNvSpPr/>
          <p:nvPr/>
        </p:nvSpPr>
        <p:spPr>
          <a:xfrm>
            <a:off x="429768" y="1399032"/>
            <a:ext cx="1463040" cy="274320"/>
          </a:xfrm>
          <a:prstGeom prst="rect">
            <a:avLst/>
          </a:prstGeom>
          <a:solidFill>
            <a:srgbClr val="10B981">
              <a:alpha val="13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399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84248" y="1380744"/>
            <a:ext cx="23957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Spawns a NEW OS thread, calls run() on it. ALWAYS use this!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261872"/>
            <a:ext cx="416052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61872"/>
            <a:ext cx="45720" cy="7498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4773168" y="1399032"/>
            <a:ext cx="1463040" cy="274320"/>
          </a:xfrm>
          <a:prstGeom prst="rect">
            <a:avLst/>
          </a:prstGeom>
          <a:solidFill>
            <a:srgbClr val="EF4444">
              <a:alpha val="13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399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run()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27648" y="1380744"/>
            <a:ext cx="23957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code. Calling directly = NO new thread (common mistake!)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112264"/>
            <a:ext cx="416052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112264"/>
            <a:ext cx="45720" cy="74980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29768" y="2249424"/>
            <a:ext cx="1463040" cy="274320"/>
          </a:xfrm>
          <a:prstGeom prst="rect">
            <a:avLst/>
          </a:prstGeom>
          <a:solidFill>
            <a:srgbClr val="00D9FF">
              <a:alpha val="13000"/>
            </a:srgbClr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22494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sleep(ms)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84248" y="2231136"/>
            <a:ext cx="23957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current thread for N milliseconds. CPU freed for others.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112264"/>
            <a:ext cx="416052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112264"/>
            <a:ext cx="45720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Shape 20"/>
          <p:cNvSpPr/>
          <p:nvPr/>
        </p:nvSpPr>
        <p:spPr>
          <a:xfrm>
            <a:off x="4773168" y="2249424"/>
            <a:ext cx="1463040" cy="274320"/>
          </a:xfrm>
          <a:prstGeom prst="rect">
            <a:avLst/>
          </a:prstGeom>
          <a:solidFill>
            <a:srgbClr val="7C3AED">
              <a:alpha val="13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2494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join()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27648" y="2231136"/>
            <a:ext cx="23957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caller wait until this thread finishes. Perfect for sync.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962656"/>
            <a:ext cx="416052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962656"/>
            <a:ext cx="45720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429768" y="3099816"/>
            <a:ext cx="1463040" cy="274320"/>
          </a:xfrm>
          <a:prstGeom prst="rect">
            <a:avLst/>
          </a:prstGeom>
          <a:solidFill>
            <a:srgbClr val="F59E0B">
              <a:alpha val="13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" y="3099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getName()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84248" y="3081528"/>
            <a:ext cx="23957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thread's name. Always name your threads in production!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962656"/>
            <a:ext cx="416052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962656"/>
            <a:ext cx="45720" cy="74980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773168" y="3099816"/>
            <a:ext cx="1463040" cy="274320"/>
          </a:xfrm>
          <a:prstGeom prst="rect">
            <a:avLst/>
          </a:prstGeom>
          <a:solidFill>
            <a:srgbClr val="00D9FF">
              <a:alpha val="13000"/>
            </a:srgbClr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30998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isAlive()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27648" y="3081528"/>
            <a:ext cx="23957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true if thread has started and not yet terminated.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813048"/>
            <a:ext cx="416052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813048"/>
            <a:ext cx="45720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7" name="Shape 35"/>
          <p:cNvSpPr/>
          <p:nvPr/>
        </p:nvSpPr>
        <p:spPr>
          <a:xfrm>
            <a:off x="429768" y="3950208"/>
            <a:ext cx="1463040" cy="274320"/>
          </a:xfrm>
          <a:prstGeom prst="rect">
            <a:avLst/>
          </a:prstGeom>
          <a:solidFill>
            <a:srgbClr val="F59E0B">
              <a:alpha val="13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" y="3950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interrupt()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984248" y="3931920"/>
            <a:ext cx="23957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interrupt signal. Thread must check/handle it gracefully.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3813048"/>
            <a:ext cx="4160520" cy="7498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3813048"/>
            <a:ext cx="45720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Shape 40"/>
          <p:cNvSpPr/>
          <p:nvPr/>
        </p:nvSpPr>
        <p:spPr>
          <a:xfrm>
            <a:off x="4773168" y="3950208"/>
            <a:ext cx="1463040" cy="274320"/>
          </a:xfrm>
          <a:prstGeom prst="rect">
            <a:avLst/>
          </a:prstGeom>
          <a:solidFill>
            <a:srgbClr val="10B981">
              <a:alpha val="13000"/>
            </a:srgbClr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39502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currentThread()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27648" y="3931920"/>
            <a:ext cx="239572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— returns reference to the currently executing thread.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solidFill>
            <a:srgbClr val="EF4444">
              <a:alpha val="13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47091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CRITICAL:  Always call  start()  never  run()  — calling run() directly executes on the CURRENT thread, defeating the whole purpose of multithreading!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Thread Life Cycle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states every Java developer must deeply understand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371600"/>
            <a:ext cx="1481328" cy="1234440"/>
          </a:xfrm>
          <a:prstGeom prst="rect">
            <a:avLst/>
          </a:prstGeom>
          <a:solidFill>
            <a:srgbClr val="8B949E">
              <a:alpha val="13000"/>
            </a:srgbClr>
          </a:solidFill>
          <a:ln w="25400">
            <a:solidFill>
              <a:srgbClr val="8B949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46304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84708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212140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created.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start() not called yet.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74520" y="1371600"/>
            <a:ext cx="1481328" cy="1234440"/>
          </a:xfrm>
          <a:prstGeom prst="rect">
            <a:avLst/>
          </a:prstGeom>
          <a:solidFill>
            <a:srgbClr val="10B981">
              <a:alpha val="13000"/>
            </a:srgbClr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74520" y="146304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▶️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874520" y="184708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RUNNABLE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74520" y="212140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run 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running.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0" y="1371600"/>
            <a:ext cx="1481328" cy="1234440"/>
          </a:xfrm>
          <a:prstGeom prst="rect">
            <a:avLst/>
          </a:prstGeom>
          <a:solidFill>
            <a:srgbClr val="EF4444">
              <a:alpha val="13000"/>
            </a:srgbClr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0" y="146304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74720" y="184708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4720" y="212140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to acquire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monitor lock.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74920" y="1371600"/>
            <a:ext cx="1481328" cy="1234440"/>
          </a:xfrm>
          <a:prstGeom prst="rect">
            <a:avLst/>
          </a:prstGeom>
          <a:solidFill>
            <a:srgbClr val="F59E0B">
              <a:alpha val="13000"/>
            </a:srgbClr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74920" y="146304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⏸️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74920" y="184708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74920" y="212140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indefinitely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notify signal.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1371600"/>
            <a:ext cx="1481328" cy="1234440"/>
          </a:xfrm>
          <a:prstGeom prst="rect">
            <a:avLst/>
          </a:prstGeom>
          <a:solidFill>
            <a:srgbClr val="7C3AED">
              <a:alpha val="13000"/>
            </a:srgbClr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75120" y="146304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675120" y="184708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TIMED_WAITING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75120" y="212140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with 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specified timeout.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023360" y="3383280"/>
            <a:ext cx="1481328" cy="1234440"/>
          </a:xfrm>
          <a:prstGeom prst="rect">
            <a:avLst/>
          </a:prstGeom>
          <a:solidFill>
            <a:srgbClr val="8B949E">
              <a:alpha val="13000"/>
            </a:srgbClr>
          </a:solidFill>
          <a:ln w="25400">
            <a:solidFill>
              <a:srgbClr val="8B949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023360" y="3474720"/>
            <a:ext cx="14813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⛔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023360" y="3858768"/>
            <a:ext cx="1481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TERMINATED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023360" y="4133088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run() completed.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restart!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64792" y="1901952"/>
            <a:ext cx="109728" cy="36576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874520" y="1847088"/>
            <a:ext cx="0" cy="0"/>
          </a:xfrm>
          <a:prstGeom prst="rect">
            <a:avLst/>
          </a:prstGeom>
          <a:noFill/>
          <a:ln/>
        </p:spPr>
      </p:sp>
      <p:sp>
        <p:nvSpPr>
          <p:cNvPr id="31" name="Text 29"/>
          <p:cNvSpPr/>
          <p:nvPr/>
        </p:nvSpPr>
        <p:spPr>
          <a:xfrm>
            <a:off x="1719072" y="1792224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9FF"/>
                </a:solidFill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364992" y="1901952"/>
            <a:ext cx="109728" cy="36576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3" name="Shape 31"/>
          <p:cNvSpPr/>
          <p:nvPr/>
        </p:nvSpPr>
        <p:spPr>
          <a:xfrm>
            <a:off x="3474720" y="1847088"/>
            <a:ext cx="0" cy="0"/>
          </a:xfrm>
          <a:prstGeom prst="rect">
            <a:avLst/>
          </a:prstGeom>
          <a:noFill/>
          <a:ln/>
        </p:spPr>
      </p:sp>
      <p:sp>
        <p:nvSpPr>
          <p:cNvPr id="34" name="Text 32"/>
          <p:cNvSpPr/>
          <p:nvPr/>
        </p:nvSpPr>
        <p:spPr>
          <a:xfrm>
            <a:off x="3319272" y="1792224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9FF"/>
                </a:solidFill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965192" y="1901952"/>
            <a:ext cx="109728" cy="36576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6" name="Shape 34"/>
          <p:cNvSpPr/>
          <p:nvPr/>
        </p:nvSpPr>
        <p:spPr>
          <a:xfrm>
            <a:off x="5074920" y="1847088"/>
            <a:ext cx="0" cy="0"/>
          </a:xfrm>
          <a:prstGeom prst="rect">
            <a:avLst/>
          </a:prstGeom>
          <a:noFill/>
          <a:ln/>
        </p:spPr>
      </p:sp>
      <p:sp>
        <p:nvSpPr>
          <p:cNvPr id="37" name="Text 35"/>
          <p:cNvSpPr/>
          <p:nvPr/>
        </p:nvSpPr>
        <p:spPr>
          <a:xfrm>
            <a:off x="4919472" y="1792224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9FF"/>
                </a:solidFill>
              </a:rPr>
              <a:t>→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565392" y="1901952"/>
            <a:ext cx="109728" cy="36576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9" name="Shape 37"/>
          <p:cNvSpPr/>
          <p:nvPr/>
        </p:nvSpPr>
        <p:spPr>
          <a:xfrm>
            <a:off x="6675120" y="1847088"/>
            <a:ext cx="0" cy="0"/>
          </a:xfrm>
          <a:prstGeom prst="rect">
            <a:avLst/>
          </a:prstGeom>
          <a:noFill/>
          <a:ln/>
        </p:spPr>
      </p:sp>
      <p:sp>
        <p:nvSpPr>
          <p:cNvPr id="40" name="Text 38"/>
          <p:cNvSpPr/>
          <p:nvPr/>
        </p:nvSpPr>
        <p:spPr>
          <a:xfrm>
            <a:off x="6519672" y="1792224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9FF"/>
                </a:solidFill>
              </a:rPr>
              <a:t>→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783080" y="2103120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Thread()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83280" y="2103120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start()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983480" y="2103120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unavailable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583680" y="2103120"/>
            <a:ext cx="14813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wait() / join()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4434840"/>
            <a:ext cx="4251960" cy="274320"/>
          </a:xfrm>
          <a:prstGeom prst="rect">
            <a:avLst/>
          </a:prstGeom>
          <a:solidFill>
            <a:srgbClr val="EF4444">
              <a:alpha val="13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4434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BLOCKED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737360" y="44348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Cannot enter synchronized block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09160" y="4434840"/>
            <a:ext cx="4251960" cy="274320"/>
          </a:xfrm>
          <a:prstGeom prst="rect">
            <a:avLst/>
          </a:prstGeom>
          <a:solidFill>
            <a:srgbClr val="F59E0B">
              <a:alpha val="13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82312" y="4434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172200" y="44348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wait(), join() — needs notify() to wake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74320" y="4727448"/>
            <a:ext cx="4251960" cy="274320"/>
          </a:xfrm>
          <a:prstGeom prst="rect">
            <a:avLst/>
          </a:prstGeom>
          <a:solidFill>
            <a:srgbClr val="7C3AED">
              <a:alpha val="13000"/>
            </a:srgbClr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" y="47274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TIMED_WAITING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737360" y="472744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sleep(), join(N) — auto-wakes after timeout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709160" y="4727448"/>
            <a:ext cx="4251960" cy="274320"/>
          </a:xfrm>
          <a:prstGeom prst="rect">
            <a:avLst/>
          </a:prstGeom>
          <a:solidFill>
            <a:srgbClr val="8B949E">
              <a:alpha val="13000"/>
            </a:srgbClr>
          </a:solidFill>
          <a:ln w="9525">
            <a:solidFill>
              <a:srgbClr val="8B949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82312" y="47274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TERMINATED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172200" y="4727448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run() complete — object lives but cannot restart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Creating Threads — Method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java.lang.Thread — the foundational approach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261872"/>
            <a:ext cx="2011680" cy="594360"/>
          </a:xfrm>
          <a:prstGeom prst="rect">
            <a:avLst/>
          </a:prstGeom>
          <a:solidFill>
            <a:srgbClr val="00D9FF">
              <a:alpha val="13000"/>
            </a:srgbClr>
          </a:solidFill>
          <a:ln w="19050">
            <a:solidFill>
              <a:srgbClr val="00D9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" y="1335024"/>
            <a:ext cx="384048" cy="384048"/>
          </a:xfrm>
          <a:prstGeom prst="oval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335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0392" y="1335024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  Thread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31720" y="1362456"/>
            <a:ext cx="109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68880" y="1261872"/>
            <a:ext cx="2011680" cy="594360"/>
          </a:xfrm>
          <a:prstGeom prst="rect">
            <a:avLst/>
          </a:prstGeom>
          <a:solidFill>
            <a:srgbClr val="10B981">
              <a:alpha val="13000"/>
            </a:srgbClr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42032" y="1335024"/>
            <a:ext cx="384048" cy="384048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1335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99232" y="1335024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Override  run()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80560" y="1362456"/>
            <a:ext cx="109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17720" y="1261872"/>
            <a:ext cx="2011680" cy="594360"/>
          </a:xfrm>
          <a:prstGeom prst="rect">
            <a:avLst/>
          </a:prstGeom>
          <a:solidFill>
            <a:srgbClr val="F59E0B">
              <a:alpha val="13000"/>
            </a:srgbClr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90872" y="1335024"/>
            <a:ext cx="384048" cy="384048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1335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48072" y="1335024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instance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29400" y="1362456"/>
            <a:ext cx="109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66560" y="1261872"/>
            <a:ext cx="2011680" cy="594360"/>
          </a:xfrm>
          <a:prstGeom prst="rect">
            <a:avLst/>
          </a:prstGeom>
          <a:solidFill>
            <a:srgbClr val="7C3AED">
              <a:alpha val="13000"/>
            </a:srgbClr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39712" y="1335024"/>
            <a:ext cx="384048" cy="384048"/>
          </a:xfrm>
          <a:prstGeom prst="oval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9712" y="1335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96912" y="1335024"/>
            <a:ext cx="1426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  start()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1993392"/>
            <a:ext cx="5029200" cy="269748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1993392"/>
            <a:ext cx="502920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" y="2057400"/>
            <a:ext cx="91440" cy="91440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27" name="Shape 25"/>
          <p:cNvSpPr/>
          <p:nvPr/>
        </p:nvSpPr>
        <p:spPr>
          <a:xfrm>
            <a:off x="612648" y="2057400"/>
            <a:ext cx="91440" cy="9144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28" name="Shape 26"/>
          <p:cNvSpPr/>
          <p:nvPr/>
        </p:nvSpPr>
        <p:spPr>
          <a:xfrm>
            <a:off x="795528" y="2057400"/>
            <a:ext cx="91440" cy="91440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1993392"/>
            <a:ext cx="4480560" cy="20116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Java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2249424"/>
            <a:ext cx="4754880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WorkerThread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taskName;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WorkerThread(String name) { this.taskName = name;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This runs on the NEW thread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System.out.println(taskName + " running on 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+ Thread.currentThread().getName());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32120" y="1993392"/>
            <a:ext cx="3291840" cy="269748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532120" y="1993392"/>
            <a:ext cx="3291840" cy="292608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3" name="Text 31"/>
          <p:cNvSpPr/>
          <p:nvPr/>
        </p:nvSpPr>
        <p:spPr>
          <a:xfrm>
            <a:off x="5532120" y="19933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📝  Key Points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532120" y="2377440"/>
            <a:ext cx="329184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5" name="Text 33"/>
          <p:cNvSpPr/>
          <p:nvPr/>
        </p:nvSpPr>
        <p:spPr>
          <a:xfrm>
            <a:off x="5577840" y="2377440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70448" y="23774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start() creates NEW OS thread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532120" y="2688336"/>
            <a:ext cx="329184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8" name="Text 36"/>
          <p:cNvSpPr/>
          <p:nvPr/>
        </p:nvSpPr>
        <p:spPr>
          <a:xfrm>
            <a:off x="5577840" y="268833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70448" y="268833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run() holds your task code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532120" y="2999232"/>
            <a:ext cx="329184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1" name="Text 39"/>
          <p:cNvSpPr/>
          <p:nvPr/>
        </p:nvSpPr>
        <p:spPr>
          <a:xfrm>
            <a:off x="5577840" y="299923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870448" y="299923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thread gets own stack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532120" y="3310128"/>
            <a:ext cx="329184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4" name="Text 42"/>
          <p:cNvSpPr/>
          <p:nvPr/>
        </p:nvSpPr>
        <p:spPr>
          <a:xfrm>
            <a:off x="5577840" y="3310128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⚠️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870448" y="331012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= no multiple inheritance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532120" y="3621024"/>
            <a:ext cx="329184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7" name="Text 45"/>
          <p:cNvSpPr/>
          <p:nvPr/>
        </p:nvSpPr>
        <p:spPr>
          <a:xfrm>
            <a:off x="5577840" y="3621024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❌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870448" y="3621024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extend another class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532120" y="3931920"/>
            <a:ext cx="329184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0" name="Text 48"/>
          <p:cNvSpPr/>
          <p:nvPr/>
        </p:nvSpPr>
        <p:spPr>
          <a:xfrm>
            <a:off x="5577840" y="3931920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❌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870448" y="393192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coupling: task = thread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532120" y="4242816"/>
            <a:ext cx="329184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3" name="Text 51"/>
          <p:cNvSpPr/>
          <p:nvPr/>
        </p:nvSpPr>
        <p:spPr>
          <a:xfrm>
            <a:off x="5577840" y="424281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💡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870448" y="4242816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Runnable for flexibility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solidFill>
            <a:srgbClr val="F59E0B">
              <a:alpha val="13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💡  Remember: Each thread gets its own Stack (private), but shares the Heap (objects, fields) — this is where thread safety issues arise!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Runnable Interface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preferred, architecturally superior approach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261872"/>
            <a:ext cx="2743200" cy="3383280"/>
          </a:xfrm>
          <a:prstGeom prst="rect">
            <a:avLst/>
          </a:prstGeom>
          <a:solidFill>
            <a:srgbClr val="21262D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2743200" cy="2926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618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✅  Why Runnable?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554480"/>
            <a:ext cx="2743200" cy="32918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5544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▸ Class can still extend others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901952"/>
            <a:ext cx="2743200" cy="32918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90195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▸ Separates TASK from THREAD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249424"/>
            <a:ext cx="2743200" cy="32918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224942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▸ Reuse with thread pools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596896"/>
            <a:ext cx="2743200" cy="32918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2596896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▸ Lambda-friendly (Java 8+)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944368"/>
            <a:ext cx="2743200" cy="32918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2944368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▸ Follows SRP design principle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291840"/>
            <a:ext cx="2743200" cy="32918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29184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▸ More flexible architecture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639312"/>
            <a:ext cx="2743200" cy="32918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363931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</a:rPr>
              <a:t>▸ Industry best practice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1261872"/>
            <a:ext cx="5577840" cy="25603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3" name="Text 21"/>
          <p:cNvSpPr/>
          <p:nvPr/>
        </p:nvSpPr>
        <p:spPr>
          <a:xfrm>
            <a:off x="3246120" y="126187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Classic Implementation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1517904"/>
            <a:ext cx="5577840" cy="146304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1517904"/>
            <a:ext cx="557784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5848" y="1581912"/>
            <a:ext cx="91440" cy="91440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27" name="Shape 25"/>
          <p:cNvSpPr/>
          <p:nvPr/>
        </p:nvSpPr>
        <p:spPr>
          <a:xfrm>
            <a:off x="3538728" y="1581912"/>
            <a:ext cx="91440" cy="9144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28" name="Shape 26"/>
          <p:cNvSpPr/>
          <p:nvPr/>
        </p:nvSpPr>
        <p:spPr>
          <a:xfrm>
            <a:off x="3721608" y="1581912"/>
            <a:ext cx="91440" cy="91440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3794760" y="1517904"/>
            <a:ext cx="5029200" cy="20116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Java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83280" y="1773936"/>
            <a:ext cx="530352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MyTask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implements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Runnable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task logic here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46120" y="3090672"/>
            <a:ext cx="5577840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3246120" y="309067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Lambda (Modern — Most Common)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46120" y="3346704"/>
            <a:ext cx="5577840" cy="146304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46120" y="3346704"/>
            <a:ext cx="557784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55848" y="3410712"/>
            <a:ext cx="91440" cy="91440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36" name="Shape 34"/>
          <p:cNvSpPr/>
          <p:nvPr/>
        </p:nvSpPr>
        <p:spPr>
          <a:xfrm>
            <a:off x="3538728" y="3410712"/>
            <a:ext cx="91440" cy="9144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37" name="Shape 35"/>
          <p:cNvSpPr/>
          <p:nvPr/>
        </p:nvSpPr>
        <p:spPr>
          <a:xfrm>
            <a:off x="3721608" y="3410712"/>
            <a:ext cx="91440" cy="91440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3794760" y="3346704"/>
            <a:ext cx="5029200" cy="20116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Java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383280" y="3602736"/>
            <a:ext cx="5303520" cy="1133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Runnable task = () -&gt;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System.out.println("Task!");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Thread(task, "Worker").start();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4754880"/>
            <a:ext cx="8503920" cy="29260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7548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154680" y="47548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Extend Thread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89320" y="47548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Implement Runnable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Real-World Use Case — Banking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Bank: Concurrent Transaction Processing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261872"/>
            <a:ext cx="8503920" cy="475488"/>
          </a:xfrm>
          <a:prstGeom prst="rect">
            <a:avLst/>
          </a:prstGeom>
          <a:solidFill>
            <a:srgbClr val="000000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6187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❗  Business Problem: Month-end processing — 50,000 transactions in 5 minutes. Single-threaded = 83 minutes wait. CATASTROPHIC!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4114800" cy="2331720"/>
          </a:xfrm>
          <a:prstGeom prst="rect">
            <a:avLst/>
          </a:prstGeom>
          <a:solidFill>
            <a:srgbClr val="21262D"/>
          </a:solidFill>
          <a:ln w="19050">
            <a:solidFill>
              <a:srgbClr val="00D9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828800"/>
            <a:ext cx="4114800" cy="2743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⚙️  Threading Architecture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280160" y="2212848"/>
            <a:ext cx="219456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221284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🖥️  Bank Server (Process)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24912"/>
            <a:ext cx="1097280" cy="548640"/>
          </a:xfrm>
          <a:prstGeom prst="rect">
            <a:avLst/>
          </a:prstGeom>
          <a:solidFill>
            <a:srgbClr val="00D9FF">
              <a:alpha val="13000"/>
            </a:srgbClr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2491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9FF"/>
                </a:solidFill>
              </a:rPr>
              <a:t>Thread 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D9FF"/>
                </a:solidFill>
              </a:rPr>
              <a:t>Alice – Withdraw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691640" y="2724912"/>
            <a:ext cx="1097280" cy="548640"/>
          </a:xfrm>
          <a:prstGeom prst="rect">
            <a:avLst/>
          </a:prstGeom>
          <a:solidFill>
            <a:srgbClr val="10B981">
              <a:alpha val="13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1640" y="272491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Thread 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Bob – Deposit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926080" y="2724912"/>
            <a:ext cx="1097280" cy="548640"/>
          </a:xfrm>
          <a:prstGeom prst="rect">
            <a:avLst/>
          </a:prstGeom>
          <a:solidFill>
            <a:srgbClr val="F59E0B">
              <a:alpha val="13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272491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Thread 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Carl – Transfer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5800" y="3438144"/>
            <a:ext cx="3017520" cy="347472"/>
          </a:xfrm>
          <a:prstGeom prst="rect">
            <a:avLst/>
          </a:prstGeom>
          <a:solidFill>
            <a:srgbClr val="10B981">
              <a:alpha val="13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43814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🗄️  DATABASE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1828800"/>
            <a:ext cx="4206240" cy="233172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828800"/>
            <a:ext cx="420624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27448" y="1892808"/>
            <a:ext cx="91440" cy="91440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23" name="Shape 21"/>
          <p:cNvSpPr/>
          <p:nvPr/>
        </p:nvSpPr>
        <p:spPr>
          <a:xfrm>
            <a:off x="4910328" y="1892808"/>
            <a:ext cx="91440" cy="9144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5093208" y="1892808"/>
            <a:ext cx="91440" cy="91440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1828800"/>
            <a:ext cx="3657600" cy="20116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Java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4880" y="2084832"/>
            <a:ext cx="3931920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Each transaction = its own thread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TransactionTask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implements Runnable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run()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lock.lock(); // Only ONE thread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balance -= amount; // SAFE!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sendNotification();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finally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lock.unlock(); // Always!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4279392"/>
            <a:ext cx="8503920" cy="713232"/>
          </a:xfrm>
          <a:prstGeom prst="rect">
            <a:avLst/>
          </a:prstGeom>
          <a:solidFill>
            <a:srgbClr val="00000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27939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⚠️  Race Condition Without Locks: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62686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Thread A checks balance=5000 ✓ → Thread B checks balance=5000 ✓ → Both deduct 3000 → Final: -1000! 💸 BANK LOSES MONEY!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Virtual Threads — Java 21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Loom: The future of high-throughput Java concurrency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261872"/>
            <a:ext cx="1920240" cy="1005840"/>
          </a:xfrm>
          <a:prstGeom prst="rect">
            <a:avLst/>
          </a:prstGeom>
          <a:solidFill>
            <a:srgbClr val="21262D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533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~2MB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9019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Thread Stack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261872"/>
            <a:ext cx="1920240" cy="1005840"/>
          </a:xfrm>
          <a:prstGeom prst="rect">
            <a:avLst/>
          </a:prstGeom>
          <a:solidFill>
            <a:srgbClr val="21262D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3533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~KB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423160" y="19019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Thread Stack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26280" y="1261872"/>
            <a:ext cx="1920240" cy="1005840"/>
          </a:xfrm>
          <a:prstGeom prst="rect">
            <a:avLst/>
          </a:prstGeom>
          <a:solidFill>
            <a:srgbClr val="21262D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6280" y="13533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526280" y="19019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Platform Threads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29400" y="1261872"/>
            <a:ext cx="1920240" cy="1005840"/>
          </a:xfrm>
          <a:prstGeom prst="rect">
            <a:avLst/>
          </a:prstGeom>
          <a:solidFill>
            <a:srgbClr val="21262D"/>
          </a:solidFill>
          <a:ln w="19050">
            <a:solidFill>
              <a:srgbClr val="00D9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1353312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629400" y="19019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Virtual Threads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395728"/>
            <a:ext cx="8503920" cy="2743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ASPECT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54680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PLATFORM THREAD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89320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</a:rPr>
              <a:t>VIRTUAL THREAD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670048"/>
            <a:ext cx="850392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26700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Managed by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54680" y="2670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Operating System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97880" y="26700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JVM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944368"/>
            <a:ext cx="8503920" cy="27432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29443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Memory / thread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54680" y="2944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~1–2 MB stack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97880" y="29443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~few KB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218688"/>
            <a:ext cx="850392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32186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Max practical count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154680" y="32186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Thousands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97880" y="32186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Millions ✨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3493008"/>
            <a:ext cx="8503920" cy="27432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4" name="Text 32"/>
          <p:cNvSpPr/>
          <p:nvPr/>
        </p:nvSpPr>
        <p:spPr>
          <a:xfrm>
            <a:off x="411480" y="34930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Creation cost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154680" y="34930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Expensive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97880" y="34930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Very cheap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3767328"/>
            <a:ext cx="850392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37673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Best for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154680" y="37673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CPU-bound tasks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97880" y="37673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I/O-bound tasks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4041648"/>
            <a:ext cx="8503920" cy="274320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2" name="Text 40"/>
          <p:cNvSpPr/>
          <p:nvPr/>
        </p:nvSpPr>
        <p:spPr>
          <a:xfrm>
            <a:off x="411480" y="40416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Blocking behavior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154680" y="40416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Blocks OS thread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897880" y="40416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Unmounts — yields to JVM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4315968"/>
            <a:ext cx="850392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6" name="Text 44"/>
          <p:cNvSpPr/>
          <p:nvPr/>
        </p:nvSpPr>
        <p:spPr>
          <a:xfrm>
            <a:off x="411480" y="43159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49E"/>
                </a:solidFill>
              </a:rPr>
              <a:t>Available since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154680" y="43159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Always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897880" y="43159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</a:rPr>
              <a:t>Java 21 (LTS) ✅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0040" y="4572000"/>
            <a:ext cx="8503920" cy="530352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20040" y="4572000"/>
            <a:ext cx="850392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9768" y="4636008"/>
            <a:ext cx="91440" cy="91440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52" name="Shape 50"/>
          <p:cNvSpPr/>
          <p:nvPr/>
        </p:nvSpPr>
        <p:spPr>
          <a:xfrm>
            <a:off x="612648" y="4636008"/>
            <a:ext cx="91440" cy="9144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53" name="Shape 51"/>
          <p:cNvSpPr/>
          <p:nvPr/>
        </p:nvSpPr>
        <p:spPr>
          <a:xfrm>
            <a:off x="795528" y="4636008"/>
            <a:ext cx="91440" cy="91440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54" name="Text 52"/>
          <p:cNvSpPr/>
          <p:nvPr/>
        </p:nvSpPr>
        <p:spPr>
          <a:xfrm>
            <a:off x="868680" y="4572000"/>
            <a:ext cx="7955280" cy="20116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Java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 a Virtual Thread — Java 21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vt = Thread.ofVirtual()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.name("VThread-1")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.start(myRunnable);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 Million virtual threads — no crash!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exec = Executors.newVirtualThreadPerTaskExecutor();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Threads Interacting with Database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Pooling with HikariCP — the industry standard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280160"/>
            <a:ext cx="2743200" cy="1051560"/>
          </a:xfrm>
          <a:prstGeom prst="rect">
            <a:avLst/>
          </a:prstGeom>
          <a:solidFill>
            <a:srgbClr val="000000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25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6733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Conn per Thread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" y="1901952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~300ms per new DB connection. 1000 threads = 300 seconds wasted!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63240" y="1572768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743200" cy="1051560"/>
          </a:xfrm>
          <a:prstGeom prst="rect">
            <a:avLst/>
          </a:prstGeom>
          <a:solidFill>
            <a:srgbClr val="000000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325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46120" y="16733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Connection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19272" y="1901952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thread-safe. Mixed ResultSets, corrupted queries = data disaster!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89320" y="1572768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72200" y="1280160"/>
            <a:ext cx="2743200" cy="1051560"/>
          </a:xfrm>
          <a:prstGeom prst="rect">
            <a:avLst/>
          </a:prstGeom>
          <a:solidFill>
            <a:srgbClr val="000000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13258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72200" y="16733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HikariCP Pool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45352" y="1901952"/>
            <a:ext cx="25968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Pre-created connections. Each thread borrows, uses, returns. Fast &amp; safe!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487168"/>
            <a:ext cx="5394960" cy="2496312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487168"/>
            <a:ext cx="539496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" y="2551176"/>
            <a:ext cx="91440" cy="91440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" y="2551176"/>
            <a:ext cx="91440" cy="9144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795528" y="2551176"/>
            <a:ext cx="91440" cy="91440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2487168"/>
            <a:ext cx="4846320" cy="20116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Java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2743200"/>
            <a:ext cx="5120640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HikariCP — Spring Boot default connection pool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HikariConfig config = new HikariConfig();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config.setJdbcUrl("jdbc:postgresql://localhost/bankdb");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config.setMaximumPoolSize(10); // 4-core: (cores×2)+1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config.setConnectionTimeout(30000); // 30 seconds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HikariDataSource ds = new HikariDataSource(config);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CORRECT — try-with-resources returns connection to pool!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(Connection conn = ds.getConnection();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PreparedStatement ps = conn.prepareStatement(sql))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conn.setAutoCommit(false);     // Start transaction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ps.executeUpdate();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conn.commit();                 // ACID compliant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// Connection auto-returned to pool! ✅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97880" y="2487168"/>
            <a:ext cx="2926080" cy="2496312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97880" y="2487168"/>
            <a:ext cx="2926080" cy="2743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8" name="Text 26"/>
          <p:cNvSpPr/>
          <p:nvPr/>
        </p:nvSpPr>
        <p:spPr>
          <a:xfrm>
            <a:off x="5897880" y="2487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⚡  Golden Rules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97880" y="2761488"/>
            <a:ext cx="292608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0" name="Text 28"/>
          <p:cNvSpPr/>
          <p:nvPr/>
        </p:nvSpPr>
        <p:spPr>
          <a:xfrm>
            <a:off x="5989320" y="276148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🔒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276148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Never share one Connection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897880" y="3072384"/>
            <a:ext cx="292608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3" name="Text 31"/>
          <p:cNvSpPr/>
          <p:nvPr/>
        </p:nvSpPr>
        <p:spPr>
          <a:xfrm>
            <a:off x="5989320" y="307238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🔄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307238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Always use try-with-resources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897880" y="3383280"/>
            <a:ext cx="292608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6" name="Text 34"/>
          <p:cNvSpPr/>
          <p:nvPr/>
        </p:nvSpPr>
        <p:spPr>
          <a:xfrm>
            <a:off x="5989320" y="338328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💾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338328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Use transactions for multi-step ops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897880" y="3694176"/>
            <a:ext cx="292608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39" name="Text 37"/>
          <p:cNvSpPr/>
          <p:nvPr/>
        </p:nvSpPr>
        <p:spPr>
          <a:xfrm>
            <a:off x="5989320" y="36941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⏱️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09360" y="3694176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Set connection timeout limits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897880" y="4005072"/>
            <a:ext cx="292608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2" name="Text 40"/>
          <p:cNvSpPr/>
          <p:nvPr/>
        </p:nvSpPr>
        <p:spPr>
          <a:xfrm>
            <a:off x="5989320" y="400507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09360" y="400507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Pool size: (cores×2)+1 formula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897880" y="4315968"/>
            <a:ext cx="2926080" cy="29260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5" name="Text 43"/>
          <p:cNvSpPr/>
          <p:nvPr/>
        </p:nvSpPr>
        <p:spPr>
          <a:xfrm>
            <a:off x="5989320" y="431596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🚫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09360" y="431596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Rollback on any exception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897880" y="4626864"/>
            <a:ext cx="292608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8" name="Text 46"/>
          <p:cNvSpPr/>
          <p:nvPr/>
        </p:nvSpPr>
        <p:spPr>
          <a:xfrm>
            <a:off x="5989320" y="462686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📝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309360" y="4626864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</a:rPr>
              <a:t>Always release in finally block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0040" y="5010912"/>
            <a:ext cx="8503920" cy="0"/>
          </a:xfrm>
          <a:prstGeom prst="rect">
            <a:avLst/>
          </a:prstGeom>
          <a:solidFill>
            <a:srgbClr val="30363D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Complete Example — E-Commerce Order Processing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pattern: Concurrent order orchestration with threads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1005840" cy="1005840"/>
          </a:xfrm>
          <a:prstGeom prst="oval">
            <a:avLst/>
          </a:prstGeom>
          <a:solidFill>
            <a:srgbClr val="00D9FF">
              <a:alpha val="13000"/>
            </a:srgbClr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Received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(Main Thread)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737360" y="162763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1280160"/>
            <a:ext cx="1005840" cy="1005840"/>
          </a:xfrm>
          <a:prstGeom prst="oval">
            <a:avLst/>
          </a:prstGeom>
          <a:solidFill>
            <a:srgbClr val="10B981">
              <a:alpha val="13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73736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Check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(Thread 1)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74720" y="162763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023360" y="1280160"/>
            <a:ext cx="1005840" cy="1005840"/>
          </a:xfrm>
          <a:prstGeom prst="oval">
            <a:avLst/>
          </a:prstGeom>
          <a:solidFill>
            <a:srgbClr val="F59E0B">
              <a:alpha val="13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023360" y="173736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Check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(Thread 2)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212080" y="162763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760720" y="1280160"/>
            <a:ext cx="1005840" cy="1005840"/>
          </a:xfrm>
          <a:prstGeom prst="oval">
            <a:avLst/>
          </a:prstGeom>
          <a:solidFill>
            <a:srgbClr val="7C3AED">
              <a:alpha val="13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🚚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760720" y="173736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(Main Thread)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949440" y="162763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98080" y="1280160"/>
            <a:ext cx="1005840" cy="1005840"/>
          </a:xfrm>
          <a:prstGeom prst="oval">
            <a:avLst/>
          </a:prstGeom>
          <a:solidFill>
            <a:srgbClr val="8B949E">
              <a:alpha val="13000"/>
            </a:srgbClr>
          </a:solidFill>
          <a:ln w="25400">
            <a:solidFill>
              <a:srgbClr val="8B949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98080" y="1737360"/>
            <a:ext cx="1005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(Daemon Thread)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103120" y="2423160"/>
            <a:ext cx="3017520" cy="292608"/>
          </a:xfrm>
          <a:prstGeom prst="rect">
            <a:avLst/>
          </a:prstGeom>
          <a:solidFill>
            <a:srgbClr val="00D9FF">
              <a:alpha val="13000"/>
            </a:srgbClr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48840" y="24231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9FF"/>
                </a:solidFill>
              </a:rPr>
              <a:t>⏳  join() — Main thread waits here for BOTH Thread 1 &amp; Thread 2 to complete before proceeding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2834640"/>
            <a:ext cx="8503920" cy="2148840"/>
          </a:xfrm>
          <a:prstGeom prst="rect">
            <a:avLst/>
          </a:prstGeom>
          <a:solidFill>
            <a:srgbClr val="0A0E14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834640"/>
            <a:ext cx="8503920" cy="20116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" y="2898648"/>
            <a:ext cx="91440" cy="91440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29" name="Shape 27"/>
          <p:cNvSpPr/>
          <p:nvPr/>
        </p:nvSpPr>
        <p:spPr>
          <a:xfrm>
            <a:off x="612648" y="2898648"/>
            <a:ext cx="91440" cy="9144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30" name="Shape 28"/>
          <p:cNvSpPr/>
          <p:nvPr/>
        </p:nvSpPr>
        <p:spPr>
          <a:xfrm>
            <a:off x="795528" y="2898648"/>
            <a:ext cx="91440" cy="91440"/>
          </a:xfrm>
          <a:prstGeom prst="oval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2834640"/>
            <a:ext cx="7955280" cy="20116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Java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3090672"/>
            <a:ext cx="8229600" cy="1819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PHASE 1: Run checks CONCURRENTLY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AtomicBoolean payOK = new AtomicBoolean();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AtomicBoolean stockOK = new AtomicBoolean();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payThread = new Thread(new PaymentTask(order, payOK));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 invThread = new Thread(new InventoryTask(order, stockOK));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payThread.start(); invThread.start(); // Both at same time!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payThread.join(); invThread.join(); // Wait for BOTH ✅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PHASE 2: Decision gate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(payOK.get() &amp;&amp; stockOK.get())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shipper.processShipment(order);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Fire-and-forget email (no join needed)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Thread email = new Thread(new EmailTask(order));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email.setDaemon(true); email.start();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Golden Rules of Java Threading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Architect-level principles to internalize for life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261872"/>
            <a:ext cx="4160520" cy="58521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61872"/>
            <a:ext cx="45720" cy="585216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7" name="Shape 5"/>
          <p:cNvSpPr/>
          <p:nvPr/>
        </p:nvSpPr>
        <p:spPr>
          <a:xfrm>
            <a:off x="429768" y="1371600"/>
            <a:ext cx="347472" cy="347472"/>
          </a:xfrm>
          <a:prstGeom prst="oval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1353312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call start(),  never  run()  directly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261872"/>
            <a:ext cx="4160520" cy="58521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61872"/>
            <a:ext cx="45720" cy="58521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4773168" y="1371600"/>
            <a:ext cx="347472" cy="347472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12080" y="1353312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shared mutable state with locks or synchronized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920240"/>
            <a:ext cx="4160520" cy="58521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920240"/>
            <a:ext cx="45720" cy="5852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429768" y="2029968"/>
            <a:ext cx="347472" cy="347472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8680" y="2011680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release locks inside  finally  blocks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920240"/>
            <a:ext cx="4160520" cy="58521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920240"/>
            <a:ext cx="45720" cy="5852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4773168" y="2029968"/>
            <a:ext cx="347472" cy="347472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12080" y="2011680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 Runnable  over extending  Thread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578608"/>
            <a:ext cx="4160520" cy="58521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578608"/>
            <a:ext cx="45720" cy="5852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7" name="Shape 25"/>
          <p:cNvSpPr/>
          <p:nvPr/>
        </p:nvSpPr>
        <p:spPr>
          <a:xfrm>
            <a:off x="429768" y="2688336"/>
            <a:ext cx="347472" cy="347472"/>
          </a:xfrm>
          <a:prstGeom prst="oval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" y="2688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68680" y="2670048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thread pools (ExecutorService) in production — never raw threads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578608"/>
            <a:ext cx="4160520" cy="58521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578608"/>
            <a:ext cx="45720" cy="585216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2" name="Shape 30"/>
          <p:cNvSpPr/>
          <p:nvPr/>
        </p:nvSpPr>
        <p:spPr>
          <a:xfrm>
            <a:off x="4773168" y="2688336"/>
            <a:ext cx="347472" cy="347472"/>
          </a:xfrm>
          <a:prstGeom prst="oval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2688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06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12080" y="2670048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your threads — makes debugging 10x easier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236976"/>
            <a:ext cx="4160520" cy="58521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236976"/>
            <a:ext cx="45720" cy="58521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7" name="Shape 35"/>
          <p:cNvSpPr/>
          <p:nvPr/>
        </p:nvSpPr>
        <p:spPr>
          <a:xfrm>
            <a:off x="429768" y="3346704"/>
            <a:ext cx="347472" cy="347472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07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68680" y="3328416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ignore  InterruptedException — re-interrupt the thread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3236976"/>
            <a:ext cx="4160520" cy="58521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3236976"/>
            <a:ext cx="45720" cy="5852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2" name="Shape 40"/>
          <p:cNvSpPr/>
          <p:nvPr/>
        </p:nvSpPr>
        <p:spPr>
          <a:xfrm>
            <a:off x="4773168" y="3346704"/>
            <a:ext cx="347472" cy="347472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33467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08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212080" y="3328416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try-with-resources for DB connections — always return to pool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3895344"/>
            <a:ext cx="4160520" cy="58521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" y="3895344"/>
            <a:ext cx="45720" cy="5852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7" name="Shape 45"/>
          <p:cNvSpPr/>
          <p:nvPr/>
        </p:nvSpPr>
        <p:spPr>
          <a:xfrm>
            <a:off x="429768" y="4005072"/>
            <a:ext cx="347472" cy="347472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9768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09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68680" y="3986784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 AtomicBoolean / AtomicInteger  for simple shared flags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63440" y="3895344"/>
            <a:ext cx="4160520" cy="585216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63440" y="3895344"/>
            <a:ext cx="45720" cy="5852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2" name="Shape 50"/>
          <p:cNvSpPr/>
          <p:nvPr/>
        </p:nvSpPr>
        <p:spPr>
          <a:xfrm>
            <a:off x="4773168" y="4005072"/>
            <a:ext cx="347472" cy="347472"/>
          </a:xfrm>
          <a:prstGeom prst="oval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73168" y="4005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10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212080" y="3986784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21+: Use Virtual Threads for I/O-bound tasks at scale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solidFill>
            <a:srgbClr val="000000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8912" y="45720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D9FF"/>
                </a:solidFill>
              </a:rPr>
              <a:t>🎓  Architect Wisdom: Multithreading is like cooking a complex meal — you want multiple things happening simultaneously, but coordinated so they don't interfere with each other. Correctness ALWAYS comes before performance.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Your Learning Roadmap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beginner to architect — your threading mastery path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261872"/>
            <a:ext cx="8503920" cy="530352"/>
          </a:xfrm>
          <a:prstGeom prst="rect">
            <a:avLst/>
          </a:prstGeom>
          <a:solidFill>
            <a:srgbClr val="000000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914400" cy="5303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6187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53312" y="12984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(You Are Here! ✅)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53312" y="1536192"/>
            <a:ext cx="7406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Thread, Runnable, Life Cycle, start() vs run(), join(), sleep()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686800" y="1792224"/>
            <a:ext cx="182880" cy="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847088"/>
            <a:ext cx="8503920" cy="530352"/>
          </a:xfrm>
          <a:prstGeom prst="rect">
            <a:avLst/>
          </a:prstGeom>
          <a:solidFill>
            <a:srgbClr val="21262D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847088"/>
            <a:ext cx="914400" cy="53035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18470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53312" y="188366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53312" y="2121408"/>
            <a:ext cx="7406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 keyword, volatile, wait/notify, Producer-Consumer Pattern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686800" y="2377440"/>
            <a:ext cx="182880" cy="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432304"/>
            <a:ext cx="8503920" cy="530352"/>
          </a:xfrm>
          <a:prstGeom prst="rect">
            <a:avLst/>
          </a:prstGeom>
          <a:solidFill>
            <a:srgbClr val="21262D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432304"/>
            <a:ext cx="914400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43230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24688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Pools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53312" y="2706624"/>
            <a:ext cx="7406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ExecutorService, ThreadPoolExecutor, Callable, Future, Executors factory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686800" y="2962656"/>
            <a:ext cx="182880" cy="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017520"/>
            <a:ext cx="8503920" cy="530352"/>
          </a:xfrm>
          <a:prstGeom prst="rect">
            <a:avLst/>
          </a:prstGeom>
          <a:solidFill>
            <a:srgbClr val="21262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017520"/>
            <a:ext cx="914400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01752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53312" y="30540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Async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53312" y="3291840"/>
            <a:ext cx="7406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CompletableFuture, Fork/Join Framework, Parallel Streams, async patterns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686800" y="3547872"/>
            <a:ext cx="182880" cy="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↓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602736"/>
            <a:ext cx="8503920" cy="530352"/>
          </a:xfrm>
          <a:prstGeom prst="rect">
            <a:avLst/>
          </a:prstGeom>
          <a:solidFill>
            <a:srgbClr val="21262D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3602736"/>
            <a:ext cx="914400" cy="5303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3602736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53312" y="363931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21+ Modern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353312" y="3877056"/>
            <a:ext cx="7406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Threads (Loom), Structured Concurrency, Scoped Values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686800" y="4133088"/>
            <a:ext cx="182880" cy="54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↓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4187952"/>
            <a:ext cx="8503920" cy="530352"/>
          </a:xfrm>
          <a:prstGeom prst="rect">
            <a:avLst/>
          </a:prstGeom>
          <a:solidFill>
            <a:srgbClr val="21262D"/>
          </a:solidFill>
          <a:ln w="9525">
            <a:solidFill>
              <a:srgbClr val="00D9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187952"/>
            <a:ext cx="914400" cy="53035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418795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53312" y="42245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Level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353312" y="4462272"/>
            <a:ext cx="7406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design patterns, deadlock avoidance, performance tuning, reactive vs loom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41" name="Text 39"/>
          <p:cNvSpPr/>
          <p:nvPr/>
        </p:nvSpPr>
        <p:spPr>
          <a:xfrm>
            <a:off x="411480" y="48280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⚡  Quick Tech Stack Reference: Thread/Runnable → ExecutorService → Callable/Future → CompletableFuture → AtomicXxx → ConcurrentHashMap → ReentrantLock → HikariCP → Virtual Threads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274320"/>
            <a:ext cx="2011680" cy="2011680"/>
          </a:xfrm>
          <a:prstGeom prst="oval">
            <a:avLst/>
          </a:prstGeom>
          <a:solidFill>
            <a:srgbClr val="000000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1828800" cy="1828800"/>
          </a:xfrm>
          <a:prstGeom prst="oval">
            <a:avLst/>
          </a:prstGeom>
          <a:solidFill>
            <a:srgbClr val="000000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840480"/>
            <a:ext cx="1371600" cy="1371600"/>
          </a:xfrm>
          <a:prstGeom prst="oval">
            <a:avLst/>
          </a:prstGeom>
          <a:solidFill>
            <a:srgbClr val="000000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49040" y="45720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☕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Now Ready To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Multithreaded Java Systems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Senior Architect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3520440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00D9F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5204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Thread Life Cycle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48840" y="3520440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2148840" y="35204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start() vs run()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94760" y="3520440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794760" y="35204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Runnable Interface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40680" y="3520440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35204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Virtual Threads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86600" y="3520440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35204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HikariCP + DB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434840"/>
            <a:ext cx="859536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</a:rPr>
              <a:t>Java Multithreading Masterclass  •  30+ Years Industry Experience  •  Build Real. Build Right. Build Fast.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Multithreading Masterclass</dc:title>
  <dc:subject>PptxGenJS Presentation</dc:subject>
  <dc:creator>Senior Java Architect</dc:creator>
  <cp:lastModifiedBy>Senior Java Architect</cp:lastModifiedBy>
  <cp:revision>1</cp:revision>
  <dcterms:created xsi:type="dcterms:W3CDTF">2026-02-19T17:30:49Z</dcterms:created>
  <dcterms:modified xsi:type="dcterms:W3CDTF">2026-02-19T17:30:49Z</dcterms:modified>
</cp:coreProperties>
</file>