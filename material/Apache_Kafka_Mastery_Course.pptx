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0D1F3C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0"/>
            <a:ext cx="64008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389120"/>
            <a:ext cx="6583680" cy="640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Shape 3"/>
          <p:cNvSpPr/>
          <p:nvPr/>
        </p:nvSpPr>
        <p:spPr>
          <a:xfrm>
            <a:off x="6812280" y="274320"/>
            <a:ext cx="109728" cy="109728"/>
          </a:xfrm>
          <a:prstGeom prst="ellipse">
            <a:avLst/>
          </a:prstGeom>
          <a:solidFill>
            <a:srgbClr val="00B4D8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360920" y="274320"/>
            <a:ext cx="109728" cy="109728"/>
          </a:xfrm>
          <a:prstGeom prst="ellipse">
            <a:avLst/>
          </a:prstGeom>
          <a:solidFill>
            <a:srgbClr val="00B4D8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909560" y="274320"/>
            <a:ext cx="109728" cy="109728"/>
          </a:xfrm>
          <a:prstGeom prst="ellipse">
            <a:avLst/>
          </a:prstGeom>
          <a:solidFill>
            <a:srgbClr val="00B4D8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458200" y="274320"/>
            <a:ext cx="109728" cy="109728"/>
          </a:xfrm>
          <a:prstGeom prst="ellipse">
            <a:avLst/>
          </a:prstGeom>
          <a:solidFill>
            <a:srgbClr val="00B4D8">
              <a:alpha val="4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812280" y="1188720"/>
            <a:ext cx="109728" cy="109728"/>
          </a:xfrm>
          <a:prstGeom prst="ellipse">
            <a:avLst/>
          </a:prstGeom>
          <a:solidFill>
            <a:srgbClr val="00B4D8">
              <a:alpha val="4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360920" y="1188720"/>
            <a:ext cx="109728" cy="109728"/>
          </a:xfrm>
          <a:prstGeom prst="ellipse">
            <a:avLst/>
          </a:prstGeom>
          <a:solidFill>
            <a:srgbClr val="00B4D8">
              <a:alpha val="4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909560" y="1188720"/>
            <a:ext cx="109728" cy="109728"/>
          </a:xfrm>
          <a:prstGeom prst="ellipse">
            <a:avLst/>
          </a:prstGeom>
          <a:solidFill>
            <a:srgbClr val="00B4D8">
              <a:alpha val="4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458200" y="1188720"/>
            <a:ext cx="109728" cy="109728"/>
          </a:xfrm>
          <a:prstGeom prst="ellipse">
            <a:avLst/>
          </a:prstGeom>
          <a:solidFill>
            <a:srgbClr val="00B4D8">
              <a:alpha val="4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812280" y="2103120"/>
            <a:ext cx="109728" cy="109728"/>
          </a:xfrm>
          <a:prstGeom prst="ellipse">
            <a:avLst/>
          </a:prstGeom>
          <a:solidFill>
            <a:srgbClr val="00B4D8">
              <a:alpha val="4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360920" y="2103120"/>
            <a:ext cx="109728" cy="109728"/>
          </a:xfrm>
          <a:prstGeom prst="ellipse">
            <a:avLst/>
          </a:prstGeom>
          <a:solidFill>
            <a:srgbClr val="00B4D8">
              <a:alpha val="4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909560" y="2103120"/>
            <a:ext cx="109728" cy="109728"/>
          </a:xfrm>
          <a:prstGeom prst="ellipse">
            <a:avLst/>
          </a:prstGeom>
          <a:solidFill>
            <a:srgbClr val="00B4D8">
              <a:alpha val="4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8458200" y="2103120"/>
            <a:ext cx="109728" cy="109728"/>
          </a:xfrm>
          <a:prstGeom prst="ellipse">
            <a:avLst/>
          </a:prstGeom>
          <a:solidFill>
            <a:srgbClr val="00B4D8">
              <a:alpha val="4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812280" y="3017520"/>
            <a:ext cx="109728" cy="109728"/>
          </a:xfrm>
          <a:prstGeom prst="ellipse">
            <a:avLst/>
          </a:prstGeom>
          <a:solidFill>
            <a:srgbClr val="00B4D8">
              <a:alpha val="4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360920" y="3017520"/>
            <a:ext cx="109728" cy="109728"/>
          </a:xfrm>
          <a:prstGeom prst="ellipse">
            <a:avLst/>
          </a:prstGeom>
          <a:solidFill>
            <a:srgbClr val="00B4D8">
              <a:alpha val="4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909560" y="3017520"/>
            <a:ext cx="109728" cy="109728"/>
          </a:xfrm>
          <a:prstGeom prst="ellipse">
            <a:avLst/>
          </a:prstGeom>
          <a:solidFill>
            <a:srgbClr val="00B4D8">
              <a:alpha val="4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458200" y="3017520"/>
            <a:ext cx="109728" cy="109728"/>
          </a:xfrm>
          <a:prstGeom prst="ellipse">
            <a:avLst/>
          </a:prstGeom>
          <a:solidFill>
            <a:srgbClr val="00B4D8">
              <a:alpha val="4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812280" y="3931920"/>
            <a:ext cx="109728" cy="109728"/>
          </a:xfrm>
          <a:prstGeom prst="ellipse">
            <a:avLst/>
          </a:prstGeom>
          <a:solidFill>
            <a:srgbClr val="00B4D8">
              <a:alpha val="4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7360920" y="3931920"/>
            <a:ext cx="109728" cy="109728"/>
          </a:xfrm>
          <a:prstGeom prst="ellipse">
            <a:avLst/>
          </a:prstGeom>
          <a:solidFill>
            <a:srgbClr val="00B4D8">
              <a:alpha val="4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7909560" y="3931920"/>
            <a:ext cx="109728" cy="109728"/>
          </a:xfrm>
          <a:prstGeom prst="ellipse">
            <a:avLst/>
          </a:prstGeom>
          <a:solidFill>
            <a:srgbClr val="00B4D8">
              <a:alpha val="4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8458200" y="3931920"/>
            <a:ext cx="109728" cy="109728"/>
          </a:xfrm>
          <a:prstGeom prst="ellipse">
            <a:avLst/>
          </a:prstGeom>
          <a:solidFill>
            <a:srgbClr val="00B4D8">
              <a:alpha val="40000"/>
            </a:srgbClr>
          </a:solidFill>
          <a:ln/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1645920"/>
            <a:ext cx="914400" cy="914400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457200" y="365760"/>
            <a:ext cx="1463040" cy="32918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7" name="Text 24"/>
          <p:cNvSpPr/>
          <p:nvPr/>
        </p:nvSpPr>
        <p:spPr>
          <a:xfrm>
            <a:off x="457200" y="36576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457200" y="804672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Mastery</a:t>
            </a:r>
            <a:endParaRPr lang="en-US" sz="4800" dirty="0"/>
          </a:p>
        </p:txBody>
      </p:sp>
      <p:sp>
        <p:nvSpPr>
          <p:cNvPr id="29" name="Text 26"/>
          <p:cNvSpPr/>
          <p:nvPr/>
        </p:nvSpPr>
        <p:spPr>
          <a:xfrm>
            <a:off x="457200" y="1572768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4800" dirty="0"/>
          </a:p>
        </p:txBody>
      </p:sp>
      <p:sp>
        <p:nvSpPr>
          <p:cNvPr id="30" name="Text 27"/>
          <p:cNvSpPr/>
          <p:nvPr/>
        </p:nvSpPr>
        <p:spPr>
          <a:xfrm>
            <a:off x="457200" y="2487168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· Java API · Spring Boot Integration</a:t>
            </a:r>
            <a:endParaRPr lang="en-US" sz="1500" dirty="0"/>
          </a:p>
        </p:txBody>
      </p:sp>
      <p:sp>
        <p:nvSpPr>
          <p:cNvPr id="31" name="Shape 28"/>
          <p:cNvSpPr/>
          <p:nvPr/>
        </p:nvSpPr>
        <p:spPr>
          <a:xfrm>
            <a:off x="457200" y="3108960"/>
            <a:ext cx="1783080" cy="347472"/>
          </a:xfrm>
          <a:prstGeom prst="rect">
            <a:avLst/>
          </a:prstGeom>
          <a:solidFill>
            <a:srgbClr val="0D1F3C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57200" y="310896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Brokers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2423160" y="3108960"/>
            <a:ext cx="1783080" cy="347472"/>
          </a:xfrm>
          <a:prstGeom prst="rect">
            <a:avLst/>
          </a:prstGeom>
          <a:solidFill>
            <a:srgbClr val="0D1F3C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2423160" y="310896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389120" y="3108960"/>
            <a:ext cx="1783080" cy="347472"/>
          </a:xfrm>
          <a:prstGeom prst="rect">
            <a:avLst/>
          </a:prstGeom>
          <a:solidFill>
            <a:srgbClr val="0D1F3C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389120" y="310896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Partitions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457200" y="3611880"/>
            <a:ext cx="1783080" cy="347472"/>
          </a:xfrm>
          <a:prstGeom prst="rect">
            <a:avLst/>
          </a:prstGeom>
          <a:solidFill>
            <a:srgbClr val="0D1F3C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57200" y="361188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Producers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2423160" y="3611880"/>
            <a:ext cx="1783080" cy="347472"/>
          </a:xfrm>
          <a:prstGeom prst="rect">
            <a:avLst/>
          </a:prstGeom>
          <a:solidFill>
            <a:srgbClr val="0D1F3C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2423160" y="361188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4389120" y="3611880"/>
            <a:ext cx="1783080" cy="347472"/>
          </a:xfrm>
          <a:prstGeom prst="rect">
            <a:avLst/>
          </a:prstGeom>
          <a:solidFill>
            <a:srgbClr val="0D1F3C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389120" y="361188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457200" y="46634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Java Architect &amp; Technical Trainer  |  30+ Years Industry Experience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972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Curriculum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complete learning journey — from zero to Kafka Architect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207008"/>
            <a:ext cx="28346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207008"/>
            <a:ext cx="54864" cy="111556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26187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11480" y="1591056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Kafka &amp; Why It Exists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956816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History, design goals, use cases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2459736"/>
            <a:ext cx="28346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459736"/>
            <a:ext cx="54864" cy="111556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251460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11480" y="2843784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Kafka Solves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3209544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vs. modern architecture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3712464"/>
            <a:ext cx="28346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712464"/>
            <a:ext cx="54864" cy="111556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376732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11480" y="409651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Architecture Overview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480" y="446227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Brokers, Topics, Partitions, Producers, Consumers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91840" y="1207008"/>
            <a:ext cx="28346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91840" y="1207008"/>
            <a:ext cx="54864" cy="111556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3" name="Text 21"/>
          <p:cNvSpPr/>
          <p:nvPr/>
        </p:nvSpPr>
        <p:spPr>
          <a:xfrm>
            <a:off x="3429000" y="126187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429000" y="1591056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Brokers — The Heart of Kafka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429000" y="1956816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Storage, replication, leader election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91840" y="2459736"/>
            <a:ext cx="28346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91840" y="2459736"/>
            <a:ext cx="54864" cy="111556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8" name="Text 26"/>
          <p:cNvSpPr/>
          <p:nvPr/>
        </p:nvSpPr>
        <p:spPr>
          <a:xfrm>
            <a:off x="3429000" y="251460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3429000" y="2843784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&amp; Partitions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429000" y="3209544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Channels, scalability, offset management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291840" y="3712464"/>
            <a:ext cx="28346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91840" y="3712464"/>
            <a:ext cx="54864" cy="111556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3" name="Text 31"/>
          <p:cNvSpPr/>
          <p:nvPr/>
        </p:nvSpPr>
        <p:spPr>
          <a:xfrm>
            <a:off x="3429000" y="376732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3429000" y="409651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Producers &amp; Consumers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429000" y="446227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Publishing, subscribing, consumer groups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309360" y="1207008"/>
            <a:ext cx="28346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309360" y="1207008"/>
            <a:ext cx="54864" cy="111556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8" name="Text 36"/>
          <p:cNvSpPr/>
          <p:nvPr/>
        </p:nvSpPr>
        <p:spPr>
          <a:xfrm>
            <a:off x="6446520" y="126187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6446520" y="1591056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with Java (Pure API)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446520" y="1956816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KafkaProducer, KafkaConsumer, full control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309360" y="2459736"/>
            <a:ext cx="28346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309360" y="2459736"/>
            <a:ext cx="54864" cy="111556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3" name="Text 41"/>
          <p:cNvSpPr/>
          <p:nvPr/>
        </p:nvSpPr>
        <p:spPr>
          <a:xfrm>
            <a:off x="6446520" y="251460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6446520" y="2843784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+ Kafka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446520" y="3209544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KafkaTemplate, @KafkaListener, DLT, Retry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309360" y="3712464"/>
            <a:ext cx="28346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309360" y="3712464"/>
            <a:ext cx="54864" cy="111556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8" name="Text 46"/>
          <p:cNvSpPr/>
          <p:nvPr/>
        </p:nvSpPr>
        <p:spPr>
          <a:xfrm>
            <a:off x="6446520" y="376732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6446520" y="409651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 &amp; Anti-Patterns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446520" y="446227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 design decisions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00B4D8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Apache Kafka?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8803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distributed event streaming platform built for scale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972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 — Core Identity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· Distributed · Event Streaming · Commit Log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207008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207008"/>
            <a:ext cx="64008" cy="35661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3258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Kafka?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1755648"/>
            <a:ext cx="37490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Distributed Event Streaming Platform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Originally built at LinkedIn in 2010 — handles trillions of events/day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in Scala and Java; donated to Apache Software Foundation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Fundamentally a Distributed Commit Log — ordered, immutable records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real-time data pipelines, event-driven architectures, and analytics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63440" y="1207008"/>
            <a:ext cx="42062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207008"/>
            <a:ext cx="64008" cy="16002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13258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Uses Kafka?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46320" y="1737360"/>
            <a:ext cx="1207008" cy="32918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737360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72200" y="1737360"/>
            <a:ext cx="1207008" cy="32918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6" name="Text 14"/>
          <p:cNvSpPr/>
          <p:nvPr/>
        </p:nvSpPr>
        <p:spPr>
          <a:xfrm>
            <a:off x="6172200" y="1737360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498080" y="1737360"/>
            <a:ext cx="1207008" cy="32918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0" y="1737360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2176272"/>
            <a:ext cx="1207008" cy="32918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2176272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Airbnb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72200" y="2176272"/>
            <a:ext cx="1207008" cy="32918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2" name="Text 20"/>
          <p:cNvSpPr/>
          <p:nvPr/>
        </p:nvSpPr>
        <p:spPr>
          <a:xfrm>
            <a:off x="6172200" y="2176272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Goldman Sachs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498080" y="2176272"/>
            <a:ext cx="1207008" cy="32918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4" name="Text 22"/>
          <p:cNvSpPr/>
          <p:nvPr/>
        </p:nvSpPr>
        <p:spPr>
          <a:xfrm>
            <a:off x="7498080" y="2176272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Twitter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2944368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2944368"/>
            <a:ext cx="64008" cy="18288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7" name="Text 25"/>
          <p:cNvSpPr/>
          <p:nvPr/>
        </p:nvSpPr>
        <p:spPr>
          <a:xfrm>
            <a:off x="4892040" y="30632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Commit Log Concept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828032" y="3520440"/>
            <a:ext cx="548640" cy="502920"/>
          </a:xfrm>
          <a:prstGeom prst="rect">
            <a:avLst/>
          </a:prstGeom>
          <a:solidFill>
            <a:srgbClr val="00B4D8"/>
          </a:solidFill>
          <a:ln w="19050">
            <a:solidFill>
              <a:srgbClr val="0A162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28032" y="35204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468112" y="3520440"/>
            <a:ext cx="548640" cy="502920"/>
          </a:xfrm>
          <a:prstGeom prst="rect">
            <a:avLst/>
          </a:prstGeom>
          <a:solidFill>
            <a:srgbClr val="00B4D8"/>
          </a:solidFill>
          <a:ln w="19050">
            <a:solidFill>
              <a:srgbClr val="0A162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68112" y="35204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108192" y="3520440"/>
            <a:ext cx="548640" cy="502920"/>
          </a:xfrm>
          <a:prstGeom prst="rect">
            <a:avLst/>
          </a:prstGeom>
          <a:solidFill>
            <a:srgbClr val="00B4D8"/>
          </a:solidFill>
          <a:ln w="19050">
            <a:solidFill>
              <a:srgbClr val="0A162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08192" y="35204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748272" y="3520440"/>
            <a:ext cx="548640" cy="502920"/>
          </a:xfrm>
          <a:prstGeom prst="rect">
            <a:avLst/>
          </a:prstGeom>
          <a:solidFill>
            <a:srgbClr val="00B4D8"/>
          </a:solidFill>
          <a:ln w="19050">
            <a:solidFill>
              <a:srgbClr val="0A162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48272" y="35204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7388352" y="3520440"/>
            <a:ext cx="548640" cy="502920"/>
          </a:xfrm>
          <a:prstGeom prst="rect">
            <a:avLst/>
          </a:prstGeom>
          <a:solidFill>
            <a:srgbClr val="00B4D8"/>
          </a:solidFill>
          <a:ln w="19050">
            <a:solidFill>
              <a:srgbClr val="0A162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88352" y="35204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8028432" y="3520440"/>
            <a:ext cx="548640" cy="50292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028432" y="35204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4828032" y="413308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· Immutable · Replayable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00B4D8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Kafka Solves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8803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traditional architectures break at scale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972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Spaghetti vs. Hub Architecture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evolution from point-to-point coupling to event streaming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" y="1207008"/>
            <a:ext cx="40690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207008"/>
            <a:ext cx="64008" cy="36576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8" name="Shape 6"/>
          <p:cNvSpPr/>
          <p:nvPr/>
        </p:nvSpPr>
        <p:spPr>
          <a:xfrm>
            <a:off x="256032" y="1207008"/>
            <a:ext cx="4069080" cy="38404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23444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BEFORE KAFKA  (Spaghetti)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05840" y="1828800"/>
            <a:ext cx="1097280" cy="329184"/>
          </a:xfrm>
          <a:prstGeom prst="rect">
            <a:avLst/>
          </a:prstGeom>
          <a:solidFill>
            <a:srgbClr val="0A1628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182880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System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560320" y="1828800"/>
            <a:ext cx="1097280" cy="329184"/>
          </a:xfrm>
          <a:prstGeom prst="rect">
            <a:avLst/>
          </a:prstGeom>
          <a:solidFill>
            <a:srgbClr val="0A1628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0" y="182880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" y="2697480"/>
            <a:ext cx="1097280" cy="329184"/>
          </a:xfrm>
          <a:prstGeom prst="rect">
            <a:avLst/>
          </a:prstGeom>
          <a:solidFill>
            <a:srgbClr val="0A1628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9748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828800" y="2697480"/>
            <a:ext cx="1097280" cy="329184"/>
          </a:xfrm>
          <a:prstGeom prst="rect">
            <a:avLst/>
          </a:prstGeom>
          <a:solidFill>
            <a:srgbClr val="0A1628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28800" y="269748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Dash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822960" y="3520440"/>
            <a:ext cx="1097280" cy="329184"/>
          </a:xfrm>
          <a:prstGeom prst="rect">
            <a:avLst/>
          </a:prstGeom>
          <a:solidFill>
            <a:srgbClr val="0A1628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52044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194560" y="3520440"/>
            <a:ext cx="1097280" cy="329184"/>
          </a:xfrm>
          <a:prstGeom prst="rect">
            <a:avLst/>
          </a:prstGeom>
          <a:solidFill>
            <a:srgbClr val="0A1628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94560" y="352044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554480" y="1993392"/>
            <a:ext cx="1554480" cy="0"/>
          </a:xfrm>
          <a:prstGeom prst="line">
            <a:avLst/>
          </a:prstGeom>
          <a:noFill/>
          <a:ln w="12700">
            <a:solidFill>
              <a:srgbClr val="FF6B35">
                <a:alpha val="60000"/>
              </a:srgbClr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1554480" y="1993392"/>
            <a:ext cx="-548640" cy="868680"/>
          </a:xfrm>
          <a:prstGeom prst="line">
            <a:avLst/>
          </a:prstGeom>
          <a:noFill/>
          <a:ln w="12700">
            <a:solidFill>
              <a:srgbClr val="FF6B35">
                <a:alpha val="60000"/>
              </a:srgbClr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3108960" y="1993392"/>
            <a:ext cx="-731520" cy="868680"/>
          </a:xfrm>
          <a:prstGeom prst="line">
            <a:avLst/>
          </a:prstGeom>
          <a:noFill/>
          <a:ln w="12700">
            <a:solidFill>
              <a:srgbClr val="FF6B35">
                <a:alpha val="60000"/>
              </a:srgbClr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1554480" y="1993392"/>
            <a:ext cx="-182880" cy="1691640"/>
          </a:xfrm>
          <a:prstGeom prst="line">
            <a:avLst/>
          </a:prstGeom>
          <a:noFill/>
          <a:ln w="12700">
            <a:solidFill>
              <a:srgbClr val="FF6B35">
                <a:alpha val="60000"/>
              </a:srgbClr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3108960" y="1993392"/>
            <a:ext cx="-365760" cy="1691640"/>
          </a:xfrm>
          <a:prstGeom prst="line">
            <a:avLst/>
          </a:prstGeom>
          <a:noFill/>
          <a:ln w="12700">
            <a:solidFill>
              <a:srgbClr val="FF6B35">
                <a:alpha val="60000"/>
              </a:srgbClr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1005840" y="2862072"/>
            <a:ext cx="1371600" cy="0"/>
          </a:xfrm>
          <a:prstGeom prst="line">
            <a:avLst/>
          </a:prstGeom>
          <a:noFill/>
          <a:ln w="12700">
            <a:solidFill>
              <a:srgbClr val="FF6B35">
                <a:alpha val="60000"/>
              </a:srgbClr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1005840" y="2862072"/>
            <a:ext cx="365760" cy="822960"/>
          </a:xfrm>
          <a:prstGeom prst="line">
            <a:avLst/>
          </a:prstGeom>
          <a:noFill/>
          <a:ln w="12700">
            <a:solidFill>
              <a:srgbClr val="FF6B35">
                <a:alpha val="60000"/>
              </a:srgbClr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2377440" y="2862072"/>
            <a:ext cx="365760" cy="822960"/>
          </a:xfrm>
          <a:prstGeom prst="line">
            <a:avLst/>
          </a:prstGeom>
          <a:noFill/>
          <a:ln w="12700">
            <a:solidFill>
              <a:srgbClr val="FF6B35">
                <a:alpha val="60000"/>
              </a:srgbClr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384048" y="406908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42+ direct connections!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change breaks everything.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0" y="1207008"/>
            <a:ext cx="4279392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572000" y="1207008"/>
            <a:ext cx="64008" cy="36576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3" name="Shape 31"/>
          <p:cNvSpPr/>
          <p:nvPr/>
        </p:nvSpPr>
        <p:spPr>
          <a:xfrm>
            <a:off x="4572000" y="1207008"/>
            <a:ext cx="4279392" cy="38404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4" name="Text 32"/>
          <p:cNvSpPr/>
          <p:nvPr/>
        </p:nvSpPr>
        <p:spPr>
          <a:xfrm>
            <a:off x="4645152" y="123444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AFTER KAFKA  (Clean Hub)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897880" y="2450592"/>
            <a:ext cx="1325880" cy="914400"/>
          </a:xfrm>
          <a:prstGeom prst="ellipse">
            <a:avLst/>
          </a:prstGeom>
          <a:solidFill>
            <a:srgbClr val="0A1628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97880" y="2450592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120640" y="2194560"/>
            <a:ext cx="1435608" cy="713232"/>
          </a:xfrm>
          <a:prstGeom prst="line">
            <a:avLst/>
          </a:prstGeom>
          <a:noFill/>
          <a:ln w="15240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17720" y="2029968"/>
            <a:ext cx="1143000" cy="329184"/>
          </a:xfrm>
          <a:prstGeom prst="rect">
            <a:avLst/>
          </a:prstGeom>
          <a:solidFill>
            <a:srgbClr val="0D1F3C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17720" y="2029968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System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7498080" y="2194560"/>
            <a:ext cx="-941832" cy="713232"/>
          </a:xfrm>
          <a:prstGeom prst="line">
            <a:avLst/>
          </a:prstGeom>
          <a:noFill/>
          <a:ln w="15240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995160" y="2029968"/>
            <a:ext cx="1143000" cy="329184"/>
          </a:xfrm>
          <a:prstGeom prst="rect">
            <a:avLst/>
          </a:prstGeom>
          <a:solidFill>
            <a:srgbClr val="0D1F3C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995160" y="2029968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120640" y="2999232"/>
            <a:ext cx="1435608" cy="-91440"/>
          </a:xfrm>
          <a:prstGeom prst="line">
            <a:avLst/>
          </a:prstGeom>
          <a:noFill/>
          <a:ln w="15240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617720" y="2834640"/>
            <a:ext cx="1143000" cy="329184"/>
          </a:xfrm>
          <a:prstGeom prst="rect">
            <a:avLst/>
          </a:prstGeom>
          <a:solidFill>
            <a:srgbClr val="0D1F3C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17720" y="2834640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7498080" y="2999232"/>
            <a:ext cx="-941832" cy="-91440"/>
          </a:xfrm>
          <a:prstGeom prst="line">
            <a:avLst/>
          </a:prstGeom>
          <a:noFill/>
          <a:ln w="15240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995160" y="2834640"/>
            <a:ext cx="1143000" cy="329184"/>
          </a:xfrm>
          <a:prstGeom prst="rect">
            <a:avLst/>
          </a:prstGeom>
          <a:solidFill>
            <a:srgbClr val="0D1F3C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995160" y="2834640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5715000" y="3867912"/>
            <a:ext cx="841248" cy="-960120"/>
          </a:xfrm>
          <a:prstGeom prst="line">
            <a:avLst/>
          </a:prstGeom>
          <a:noFill/>
          <a:ln w="15240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212080" y="3703320"/>
            <a:ext cx="1143000" cy="329184"/>
          </a:xfrm>
          <a:prstGeom prst="rect">
            <a:avLst/>
          </a:prstGeom>
          <a:solidFill>
            <a:srgbClr val="0D1F3C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212080" y="3703320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7040880" y="3867912"/>
            <a:ext cx="-484632" cy="-960120"/>
          </a:xfrm>
          <a:prstGeom prst="line">
            <a:avLst/>
          </a:prstGeom>
          <a:noFill/>
          <a:ln w="15240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537960" y="3703320"/>
            <a:ext cx="1143000" cy="329184"/>
          </a:xfrm>
          <a:prstGeom prst="rect">
            <a:avLst/>
          </a:prstGeom>
          <a:solidFill>
            <a:srgbClr val="0D1F3C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537960" y="3703320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4645152" y="406908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publish → All consumers.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Decoupled. Resilient. Scalable.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00B4D8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Architecture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8803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Brokers · Topics · Partitions · Producers · Consumers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972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Architecture — The 5 Core Components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producers, brokers, topics, partitions and consumers work together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207008"/>
            <a:ext cx="16002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207008"/>
            <a:ext cx="1600200" cy="640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Shape 6"/>
          <p:cNvSpPr/>
          <p:nvPr/>
        </p:nvSpPr>
        <p:spPr>
          <a:xfrm>
            <a:off x="800100" y="1371600"/>
            <a:ext cx="548640" cy="548640"/>
          </a:xfrm>
          <a:prstGeom prst="ellipse">
            <a:avLst/>
          </a:prstGeom>
          <a:solidFill>
            <a:srgbClr val="00B4D8">
              <a:alpha val="15000"/>
            </a:srgbClr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" y="141732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74320" y="201168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47472" y="2395728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that publish events into Kafka topics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029968" y="1207008"/>
            <a:ext cx="16002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029968" y="1207008"/>
            <a:ext cx="1600200" cy="6400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4" name="Shape 11"/>
          <p:cNvSpPr/>
          <p:nvPr/>
        </p:nvSpPr>
        <p:spPr>
          <a:xfrm>
            <a:off x="2555748" y="1371600"/>
            <a:ext cx="548640" cy="548640"/>
          </a:xfrm>
          <a:prstGeom prst="ellipse">
            <a:avLst/>
          </a:prstGeom>
          <a:solidFill>
            <a:srgbClr val="FF6B35">
              <a:alpha val="15000"/>
            </a:srgbClr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1468" y="1417320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029968" y="201168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Brokers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2103120" y="2395728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servers that store and serve event streams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3785616" y="1207008"/>
            <a:ext cx="16002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3785616" y="1207008"/>
            <a:ext cx="1600200" cy="640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0" name="Shape 16"/>
          <p:cNvSpPr/>
          <p:nvPr/>
        </p:nvSpPr>
        <p:spPr>
          <a:xfrm>
            <a:off x="4311396" y="1371600"/>
            <a:ext cx="548640" cy="548640"/>
          </a:xfrm>
          <a:prstGeom prst="ellipse">
            <a:avLst/>
          </a:prstGeom>
          <a:solidFill>
            <a:srgbClr val="7C3AED">
              <a:alpha val="15000"/>
            </a:srgbClr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7116" y="1417320"/>
            <a:ext cx="457200" cy="4572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3785616" y="201168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3858768" y="2395728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channels that organize related events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5541264" y="1207008"/>
            <a:ext cx="16002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5541264" y="1207008"/>
            <a:ext cx="1600200" cy="640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6" name="Shape 21"/>
          <p:cNvSpPr/>
          <p:nvPr/>
        </p:nvSpPr>
        <p:spPr>
          <a:xfrm>
            <a:off x="6067044" y="1371600"/>
            <a:ext cx="548640" cy="548640"/>
          </a:xfrm>
          <a:prstGeom prst="ellipse">
            <a:avLst/>
          </a:prstGeom>
          <a:solidFill>
            <a:srgbClr val="10B981">
              <a:alpha val="15000"/>
            </a:srgbClr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764" y="1417320"/>
            <a:ext cx="457200" cy="45720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541264" y="201168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Partitions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5614416" y="2395728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Sub-divisions of topics enabling parallelism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7296912" y="1207008"/>
            <a:ext cx="16002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7296912" y="1207008"/>
            <a:ext cx="160020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2" name="Shape 26"/>
          <p:cNvSpPr/>
          <p:nvPr/>
        </p:nvSpPr>
        <p:spPr>
          <a:xfrm>
            <a:off x="7822692" y="1371600"/>
            <a:ext cx="548640" cy="548640"/>
          </a:xfrm>
          <a:prstGeom prst="ellipse">
            <a:avLst/>
          </a:prstGeom>
          <a:solidFill>
            <a:srgbClr val="F59E0B">
              <a:alpha val="15000"/>
            </a:srgbClr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8412" y="1417320"/>
            <a:ext cx="457200" cy="45720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7296912" y="201168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</a:t>
            </a:r>
            <a:endParaRPr lang="en-US" sz="1300" dirty="0"/>
          </a:p>
        </p:txBody>
      </p:sp>
      <p:sp>
        <p:nvSpPr>
          <p:cNvPr id="35" name="Text 28"/>
          <p:cNvSpPr/>
          <p:nvPr/>
        </p:nvSpPr>
        <p:spPr>
          <a:xfrm>
            <a:off x="7370064" y="2395728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that read and process events</a:t>
            </a:r>
            <a:endParaRPr lang="en-US" sz="1000" dirty="0"/>
          </a:p>
        </p:txBody>
      </p:sp>
      <p:sp>
        <p:nvSpPr>
          <p:cNvPr id="36" name="Shape 29"/>
          <p:cNvSpPr/>
          <p:nvPr/>
        </p:nvSpPr>
        <p:spPr>
          <a:xfrm>
            <a:off x="1874520" y="2377440"/>
            <a:ext cx="155448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1847088" y="2212848"/>
            <a:ext cx="201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8" name="Shape 31"/>
          <p:cNvSpPr/>
          <p:nvPr/>
        </p:nvSpPr>
        <p:spPr>
          <a:xfrm>
            <a:off x="3630168" y="2377440"/>
            <a:ext cx="155448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3602736" y="2212848"/>
            <a:ext cx="201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0" name="Shape 33"/>
          <p:cNvSpPr/>
          <p:nvPr/>
        </p:nvSpPr>
        <p:spPr>
          <a:xfrm>
            <a:off x="5385816" y="2377440"/>
            <a:ext cx="155448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41" name="Text 34"/>
          <p:cNvSpPr/>
          <p:nvPr/>
        </p:nvSpPr>
        <p:spPr>
          <a:xfrm>
            <a:off x="5358384" y="2212848"/>
            <a:ext cx="201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2" name="Shape 35"/>
          <p:cNvSpPr/>
          <p:nvPr/>
        </p:nvSpPr>
        <p:spPr>
          <a:xfrm>
            <a:off x="7141464" y="2377440"/>
            <a:ext cx="155448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43" name="Text 36"/>
          <p:cNvSpPr/>
          <p:nvPr/>
        </p:nvSpPr>
        <p:spPr>
          <a:xfrm>
            <a:off x="7114032" y="2212848"/>
            <a:ext cx="201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4" name="Shape 37"/>
          <p:cNvSpPr/>
          <p:nvPr/>
        </p:nvSpPr>
        <p:spPr>
          <a:xfrm>
            <a:off x="256032" y="3657600"/>
            <a:ext cx="8641080" cy="1234440"/>
          </a:xfrm>
          <a:prstGeom prst="rect">
            <a:avLst/>
          </a:prstGeom>
          <a:solidFill>
            <a:srgbClr val="0A1628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45" name="Text 38"/>
          <p:cNvSpPr/>
          <p:nvPr/>
        </p:nvSpPr>
        <p:spPr>
          <a:xfrm>
            <a:off x="347472" y="3703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CLUSTER</a:t>
            </a:r>
            <a:endParaRPr lang="en-US" sz="800" dirty="0"/>
          </a:p>
        </p:txBody>
      </p:sp>
      <p:sp>
        <p:nvSpPr>
          <p:cNvPr id="46" name="Shape 39"/>
          <p:cNvSpPr/>
          <p:nvPr/>
        </p:nvSpPr>
        <p:spPr>
          <a:xfrm>
            <a:off x="347472" y="4023360"/>
            <a:ext cx="2560320" cy="658368"/>
          </a:xfrm>
          <a:prstGeom prst="rect">
            <a:avLst/>
          </a:prstGeom>
          <a:solidFill>
            <a:srgbClr val="0D1F3C"/>
          </a:solidFill>
          <a:ln w="12700">
            <a:solidFill>
              <a:srgbClr val="00B4D8">
                <a:alpha val="50000"/>
              </a:srgbClr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347472" y="402336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1  |  Partition 0  Leader</a:t>
            </a:r>
            <a:endParaRPr lang="en-US" sz="950" dirty="0"/>
          </a:p>
        </p:txBody>
      </p:sp>
      <p:sp>
        <p:nvSpPr>
          <p:cNvPr id="48" name="Shape 41"/>
          <p:cNvSpPr/>
          <p:nvPr/>
        </p:nvSpPr>
        <p:spPr>
          <a:xfrm>
            <a:off x="3163824" y="4023360"/>
            <a:ext cx="2560320" cy="658368"/>
          </a:xfrm>
          <a:prstGeom prst="rect">
            <a:avLst/>
          </a:prstGeom>
          <a:solidFill>
            <a:srgbClr val="0D1F3C"/>
          </a:solidFill>
          <a:ln w="12700">
            <a:solidFill>
              <a:srgbClr val="00B4D8">
                <a:alpha val="50000"/>
              </a:srgbClr>
            </a:solidFill>
            <a:prstDash val="solid"/>
          </a:ln>
        </p:spPr>
      </p:sp>
      <p:sp>
        <p:nvSpPr>
          <p:cNvPr id="49" name="Text 42"/>
          <p:cNvSpPr/>
          <p:nvPr/>
        </p:nvSpPr>
        <p:spPr>
          <a:xfrm>
            <a:off x="3163824" y="402336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2  |  Partition 1  Leader</a:t>
            </a:r>
            <a:endParaRPr lang="en-US" sz="950" dirty="0"/>
          </a:p>
        </p:txBody>
      </p:sp>
      <p:sp>
        <p:nvSpPr>
          <p:cNvPr id="50" name="Shape 43"/>
          <p:cNvSpPr/>
          <p:nvPr/>
        </p:nvSpPr>
        <p:spPr>
          <a:xfrm>
            <a:off x="5980176" y="4023360"/>
            <a:ext cx="2560320" cy="658368"/>
          </a:xfrm>
          <a:prstGeom prst="rect">
            <a:avLst/>
          </a:prstGeom>
          <a:solidFill>
            <a:srgbClr val="0D1F3C"/>
          </a:solidFill>
          <a:ln w="12700">
            <a:solidFill>
              <a:srgbClr val="00B4D8">
                <a:alpha val="50000"/>
              </a:srgbClr>
            </a:solidFill>
            <a:prstDash val="solid"/>
          </a:ln>
        </p:spPr>
      </p:sp>
      <p:sp>
        <p:nvSpPr>
          <p:cNvPr id="51" name="Text 44"/>
          <p:cNvSpPr/>
          <p:nvPr/>
        </p:nvSpPr>
        <p:spPr>
          <a:xfrm>
            <a:off x="5980176" y="402336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3  |  Partition 2  Leader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00B4D8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Brokers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8803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storage backbone — replication, failover, and leadership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972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Broker — Deep Dive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brokers store data, replicate it, and survive failures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" y="1207008"/>
            <a:ext cx="2697480" cy="1481328"/>
          </a:xfrm>
          <a:prstGeom prst="rect">
            <a:avLst/>
          </a:prstGeom>
          <a:solidFill>
            <a:srgbClr val="0A1628"/>
          </a:solidFill>
          <a:ln w="254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7472" y="12801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249424" y="1316736"/>
            <a:ext cx="594360" cy="23774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2249424" y="1316736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65760" y="1719072"/>
            <a:ext cx="530352" cy="329184"/>
          </a:xfrm>
          <a:prstGeom prst="rect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719072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msg0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969264" y="1719072"/>
            <a:ext cx="530352" cy="329184"/>
          </a:xfrm>
          <a:prstGeom prst="rect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9264" y="1719072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msg1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1572768" y="1719072"/>
            <a:ext cx="530352" cy="329184"/>
          </a:xfrm>
          <a:prstGeom prst="rect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72768" y="1719072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msg2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2176272" y="1719072"/>
            <a:ext cx="530352" cy="329184"/>
          </a:xfrm>
          <a:prstGeom prst="rect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76272" y="1719072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msg3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47472" y="210312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all reads &amp; writes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Partition 0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0" y="1207008"/>
            <a:ext cx="2697480" cy="1481328"/>
          </a:xfrm>
          <a:prstGeom prst="rect">
            <a:avLst/>
          </a:prstGeom>
          <a:solidFill>
            <a:srgbClr val="0A1628"/>
          </a:solidFill>
          <a:ln w="12700">
            <a:solidFill>
              <a:srgbClr val="6474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291840" y="12801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2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193792" y="1316736"/>
            <a:ext cx="594360" cy="237744"/>
          </a:xfrm>
          <a:prstGeom prst="rect">
            <a:avLst/>
          </a:prstGeom>
          <a:solidFill>
            <a:srgbClr val="0D1F3C"/>
          </a:solidFill>
          <a:ln/>
        </p:spPr>
      </p:sp>
      <p:sp>
        <p:nvSpPr>
          <p:cNvPr id="22" name="Text 20"/>
          <p:cNvSpPr/>
          <p:nvPr/>
        </p:nvSpPr>
        <p:spPr>
          <a:xfrm>
            <a:off x="5193792" y="1316736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FOLLOWER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3310128" y="1719072"/>
            <a:ext cx="530352" cy="329184"/>
          </a:xfrm>
          <a:prstGeom prst="rect">
            <a:avLst/>
          </a:prstGeom>
          <a:solidFill>
            <a:srgbClr val="0D1F3C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10128" y="1719072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msg0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3913632" y="1719072"/>
            <a:ext cx="530352" cy="329184"/>
          </a:xfrm>
          <a:prstGeom prst="rect">
            <a:avLst/>
          </a:prstGeom>
          <a:solidFill>
            <a:srgbClr val="0D1F3C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913632" y="1719072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msg1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517136" y="1719072"/>
            <a:ext cx="530352" cy="329184"/>
          </a:xfrm>
          <a:prstGeom prst="rect">
            <a:avLst/>
          </a:prstGeom>
          <a:solidFill>
            <a:srgbClr val="0D1F3C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17136" y="1719072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msg2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5120640" y="1719072"/>
            <a:ext cx="530352" cy="329184"/>
          </a:xfrm>
          <a:prstGeom prst="rect">
            <a:avLst/>
          </a:prstGeom>
          <a:solidFill>
            <a:srgbClr val="0D1F3C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0640" y="1719072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msg3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291840" y="210312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Silently replicates data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Leader (Standby)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144768" y="1207008"/>
            <a:ext cx="2697480" cy="1481328"/>
          </a:xfrm>
          <a:prstGeom prst="rect">
            <a:avLst/>
          </a:prstGeom>
          <a:solidFill>
            <a:srgbClr val="0A1628"/>
          </a:solidFill>
          <a:ln w="12700">
            <a:solidFill>
              <a:srgbClr val="6474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236208" y="12801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3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8138160" y="1316736"/>
            <a:ext cx="594360" cy="237744"/>
          </a:xfrm>
          <a:prstGeom prst="rect">
            <a:avLst/>
          </a:prstGeom>
          <a:solidFill>
            <a:srgbClr val="0D1F3C"/>
          </a:solidFill>
          <a:ln/>
        </p:spPr>
      </p:sp>
      <p:sp>
        <p:nvSpPr>
          <p:cNvPr id="35" name="Text 33"/>
          <p:cNvSpPr/>
          <p:nvPr/>
        </p:nvSpPr>
        <p:spPr>
          <a:xfrm>
            <a:off x="8138160" y="1316736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FOLLOWER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6254496" y="1719072"/>
            <a:ext cx="530352" cy="329184"/>
          </a:xfrm>
          <a:prstGeom prst="rect">
            <a:avLst/>
          </a:prstGeom>
          <a:solidFill>
            <a:srgbClr val="0D1F3C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54496" y="1719072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msg0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6858000" y="1719072"/>
            <a:ext cx="530352" cy="329184"/>
          </a:xfrm>
          <a:prstGeom prst="rect">
            <a:avLst/>
          </a:prstGeom>
          <a:solidFill>
            <a:srgbClr val="0D1F3C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58000" y="1719072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msg1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7461504" y="1719072"/>
            <a:ext cx="530352" cy="329184"/>
          </a:xfrm>
          <a:prstGeom prst="rect">
            <a:avLst/>
          </a:prstGeom>
          <a:solidFill>
            <a:srgbClr val="0D1F3C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461504" y="1719072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msg2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8065008" y="1719072"/>
            <a:ext cx="530352" cy="329184"/>
          </a:xfrm>
          <a:prstGeom prst="rect">
            <a:avLst/>
          </a:prstGeom>
          <a:solidFill>
            <a:srgbClr val="0D1F3C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065008" y="1719072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msg3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6236208" y="210312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Silently replicates data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Leader (Standby)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953512" y="187452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replicates →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897880" y="187452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replicates →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56032" y="2971800"/>
            <a:ext cx="20574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256032" y="2971800"/>
            <a:ext cx="64008" cy="175564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9" name="Text 47"/>
          <p:cNvSpPr/>
          <p:nvPr/>
        </p:nvSpPr>
        <p:spPr>
          <a:xfrm>
            <a:off x="438912" y="30632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Disk Writes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38912" y="3493008"/>
            <a:ext cx="18288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appends messages to log files — sequential I/O is nearly as fast as RAM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468880" y="2971800"/>
            <a:ext cx="20574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2468880" y="2971800"/>
            <a:ext cx="64008" cy="175564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3" name="Text 51"/>
          <p:cNvSpPr/>
          <p:nvPr/>
        </p:nvSpPr>
        <p:spPr>
          <a:xfrm>
            <a:off x="2651760" y="30632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 Factor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2651760" y="3493008"/>
            <a:ext cx="18288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RF=3 means 3 copies exist. Lose 2 brokers and still survive with zero data loss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681728" y="2971800"/>
            <a:ext cx="20574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4681728" y="2971800"/>
            <a:ext cx="64008" cy="17556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7" name="Text 55"/>
          <p:cNvSpPr/>
          <p:nvPr/>
        </p:nvSpPr>
        <p:spPr>
          <a:xfrm>
            <a:off x="4864608" y="30632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 Election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4864608" y="3493008"/>
            <a:ext cx="18288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Leader broker fails, Kafka auto-elects a Follower as the new Leader in seconds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894576" y="2971800"/>
            <a:ext cx="20574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6894576" y="2971800"/>
            <a:ext cx="64008" cy="175564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1" name="Text 59"/>
          <p:cNvSpPr/>
          <p:nvPr/>
        </p:nvSpPr>
        <p:spPr>
          <a:xfrm>
            <a:off x="7077456" y="30632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Broker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7077456" y="3493008"/>
            <a:ext cx="18288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special broker manages cluster metadata, topic changes and leader elections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00B4D8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&amp; Partitions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8803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Kafka organizes and scales event storage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972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&amp; Partitions — The Scalability Engine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organize data; Partitions are the unit of parallelism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" y="1207008"/>
            <a:ext cx="39776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207008"/>
            <a:ext cx="64008" cy="36576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984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719072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category channel — like a TV Channel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Multi-subscriber: many consumers read simultaneously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retained for configurable time (default 7 days)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with: partitions, replication factor, retention policy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 message does NOT delete it (unlike queues)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566160"/>
            <a:ext cx="3749040" cy="11430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62102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Naming Convention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95020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hospital.lab.orders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418795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hospital.billing.events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442569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hospital.patient.events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480560" y="1207008"/>
            <a:ext cx="44348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480560" y="1207008"/>
            <a:ext cx="64008" cy="36576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4681728" y="129844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663440" y="1737360"/>
            <a:ext cx="4160520" cy="530352"/>
          </a:xfrm>
          <a:prstGeom prst="rect">
            <a:avLst/>
          </a:prstGeom>
          <a:solidFill>
            <a:srgbClr val="0A1628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17830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 — Broker 1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080760" y="1783080"/>
            <a:ext cx="475488" cy="347472"/>
          </a:xfrm>
          <a:prstGeom prst="rect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80760" y="1783080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off:0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6647688" y="1783080"/>
            <a:ext cx="475488" cy="347472"/>
          </a:xfrm>
          <a:prstGeom prst="rect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47688" y="1783080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off:1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7214616" y="1783080"/>
            <a:ext cx="475488" cy="347472"/>
          </a:xfrm>
          <a:prstGeom prst="rect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14616" y="1783080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off:2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7781544" y="1783080"/>
            <a:ext cx="475488" cy="347472"/>
          </a:xfrm>
          <a:prstGeom prst="rect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81544" y="1783080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off:3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663440" y="2395728"/>
            <a:ext cx="4160520" cy="530352"/>
          </a:xfrm>
          <a:prstGeom prst="rect">
            <a:avLst/>
          </a:prstGeom>
          <a:solidFill>
            <a:srgbClr val="0A1628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244144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— Broker 2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080760" y="2441448"/>
            <a:ext cx="475488" cy="347472"/>
          </a:xfrm>
          <a:prstGeom prst="rect">
            <a:avLst/>
          </a:prstGeom>
          <a:solidFill>
            <a:srgbClr val="7C3AED">
              <a:alpha val="3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80760" y="2441448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off:0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647688" y="2441448"/>
            <a:ext cx="475488" cy="347472"/>
          </a:xfrm>
          <a:prstGeom prst="rect">
            <a:avLst/>
          </a:prstGeom>
          <a:solidFill>
            <a:srgbClr val="7C3AED">
              <a:alpha val="3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47688" y="2441448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off:1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7214616" y="2441448"/>
            <a:ext cx="475488" cy="347472"/>
          </a:xfrm>
          <a:prstGeom prst="rect">
            <a:avLst/>
          </a:prstGeom>
          <a:solidFill>
            <a:srgbClr val="7C3AED">
              <a:alpha val="3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14616" y="2441448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off:2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7781544" y="2441448"/>
            <a:ext cx="475488" cy="347472"/>
          </a:xfrm>
          <a:prstGeom prst="rect">
            <a:avLst/>
          </a:prstGeom>
          <a:solidFill>
            <a:srgbClr val="7C3AED">
              <a:alpha val="3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81544" y="2441448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off:3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4663440" y="3054096"/>
            <a:ext cx="4160520" cy="530352"/>
          </a:xfrm>
          <a:prstGeom prst="rect">
            <a:avLst/>
          </a:prstGeom>
          <a:solidFill>
            <a:srgbClr val="0A1628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0" y="30998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— Broker 3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080760" y="3099816"/>
            <a:ext cx="475488" cy="347472"/>
          </a:xfrm>
          <a:prstGeom prst="rect">
            <a:avLst/>
          </a:prstGeom>
          <a:solidFill>
            <a:srgbClr val="10B981">
              <a:alpha val="3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80760" y="3099816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off:0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6647688" y="3099816"/>
            <a:ext cx="475488" cy="347472"/>
          </a:xfrm>
          <a:prstGeom prst="rect">
            <a:avLst/>
          </a:prstGeom>
          <a:solidFill>
            <a:srgbClr val="10B981">
              <a:alpha val="3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47688" y="3099816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off:1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7214616" y="3099816"/>
            <a:ext cx="475488" cy="347472"/>
          </a:xfrm>
          <a:prstGeom prst="rect">
            <a:avLst/>
          </a:prstGeom>
          <a:solidFill>
            <a:srgbClr val="10B981">
              <a:alpha val="3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214616" y="3099816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off:2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7781544" y="3099816"/>
            <a:ext cx="475488" cy="347472"/>
          </a:xfrm>
          <a:prstGeom prst="rect">
            <a:avLst/>
          </a:prstGeom>
          <a:solidFill>
            <a:srgbClr val="10B981">
              <a:alpha val="3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781544" y="3099816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off:3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4681728" y="2907792"/>
            <a:ext cx="41605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Ordering guaranteed WITHIN a partition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Key routes same-key msgs to same partition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partitions = more parallel consumers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partitions ≥ number of consumer threads needed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572000" y="4160520"/>
            <a:ext cx="4297680" cy="594360"/>
          </a:xfrm>
          <a:prstGeom prst="rect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5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4206240"/>
            <a:ext cx="347472" cy="347472"/>
          </a:xfrm>
          <a:prstGeom prst="rect">
            <a:avLst/>
          </a:prstGeom>
        </p:spPr>
      </p:pic>
      <p:sp>
        <p:nvSpPr>
          <p:cNvPr id="51" name="Text 48"/>
          <p:cNvSpPr/>
          <p:nvPr/>
        </p:nvSpPr>
        <p:spPr>
          <a:xfrm>
            <a:off x="5074920" y="4187952"/>
            <a:ext cx="3703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patientId (or customerId) as the Partition Key to guarantee order of all events per entity.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00B4D8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Producers &amp; Consumers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8803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and reading events with full reliability control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972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Producer — Reliability &amp; Performance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Acknowledgments, idempotence, batching — the producer lifecycle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" y="1207008"/>
            <a:ext cx="1572768" cy="105156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56032" y="1261872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ProducerRecord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56032" y="1627632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topic, key,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value, headers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810512" y="1444752"/>
            <a:ext cx="201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993392" y="1207008"/>
            <a:ext cx="1572768" cy="105156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993392" y="1261872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Serializer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993392" y="1627632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obj → bytes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(String, Avro, JSON)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547872" y="1444752"/>
            <a:ext cx="201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730752" y="1207008"/>
            <a:ext cx="1572768" cy="105156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730752" y="1261872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Partitioner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730752" y="1627632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hash(key) % 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round-robin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285232" y="1444752"/>
            <a:ext cx="201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68112" y="1207008"/>
            <a:ext cx="1572768" cy="105156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468112" y="1261872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Record Buffer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68112" y="1627632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messages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linger.ms window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022592" y="1444752"/>
            <a:ext cx="201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205472" y="1207008"/>
            <a:ext cx="1572768" cy="105156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205472" y="1261872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Send → Broker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205472" y="1627632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I/O thread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retry logic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56032" y="239572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Acknowledgment Modes (acks):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56032" y="2761488"/>
            <a:ext cx="26974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56032" y="2761488"/>
            <a:ext cx="64008" cy="132588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8" name="Text 26"/>
          <p:cNvSpPr/>
          <p:nvPr/>
        </p:nvSpPr>
        <p:spPr>
          <a:xfrm>
            <a:off x="438912" y="2834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acks = 0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38912" y="32004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&amp; Forget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38912" y="3511296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Speed: Fastest  |  Data loss risk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108960" y="2761488"/>
            <a:ext cx="26974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108960" y="2761488"/>
            <a:ext cx="64008" cy="13258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3" name="Text 31"/>
          <p:cNvSpPr/>
          <p:nvPr/>
        </p:nvSpPr>
        <p:spPr>
          <a:xfrm>
            <a:off x="3291840" y="2834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acks = 1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291840" y="32004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 Only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291840" y="3511296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Speed: Balanced  |  Slight loss risk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961888" y="2761488"/>
            <a:ext cx="26974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961888" y="2761488"/>
            <a:ext cx="64008" cy="13258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8" name="Text 36"/>
          <p:cNvSpPr/>
          <p:nvPr/>
        </p:nvSpPr>
        <p:spPr>
          <a:xfrm>
            <a:off x="6144768" y="2834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acks = all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144768" y="32004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Replicas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144768" y="3511296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Speed: Safest  |  No data loss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56032" y="4187952"/>
            <a:ext cx="8641080" cy="685800"/>
          </a:xfrm>
          <a:prstGeom prst="rect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4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4251960"/>
            <a:ext cx="384048" cy="384048"/>
          </a:xfrm>
          <a:prstGeom prst="rect">
            <a:avLst/>
          </a:prstGeom>
        </p:spPr>
      </p:pic>
      <p:sp>
        <p:nvSpPr>
          <p:cNvPr id="43" name="Text 40"/>
          <p:cNvSpPr/>
          <p:nvPr/>
        </p:nvSpPr>
        <p:spPr>
          <a:xfrm>
            <a:off x="804672" y="4233672"/>
            <a:ext cx="8001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 Producer (enable.idempotence=true): Assigns a Producer ID + sequence number per message. Kafka broker auto-deduplicates retries. Send a message 10 times → stored exactly once. Critical for financial and medical systems.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972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Consumer Groups — Parallelism &amp; Independence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group tracks its own offset; partitions are shared within a group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" y="1207008"/>
            <a:ext cx="1828800" cy="3657600"/>
          </a:xfrm>
          <a:prstGeom prst="rect">
            <a:avLst/>
          </a:prstGeom>
          <a:solidFill>
            <a:srgbClr val="0A1628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261872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lab-orders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 partitions)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7472" y="2084832"/>
            <a:ext cx="1645920" cy="640080"/>
          </a:xfrm>
          <a:prstGeom prst="rect">
            <a:avLst/>
          </a:prstGeom>
          <a:solidFill>
            <a:srgbClr val="00B4D8">
              <a:alpha val="25000"/>
            </a:srgbClr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2084832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7472" y="2907792"/>
            <a:ext cx="1645920" cy="640080"/>
          </a:xfrm>
          <a:prstGeom prst="rect">
            <a:avLst/>
          </a:prstGeom>
          <a:solidFill>
            <a:srgbClr val="7C3AED">
              <a:alpha val="25000"/>
            </a:srgbClr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2907792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1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7472" y="3730752"/>
            <a:ext cx="1645920" cy="640080"/>
          </a:xfrm>
          <a:prstGeom prst="rect">
            <a:avLst/>
          </a:prstGeom>
          <a:solidFill>
            <a:srgbClr val="10B981">
              <a:alpha val="25000"/>
            </a:srgbClr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3730752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423160" y="1207008"/>
            <a:ext cx="6492240" cy="1115568"/>
          </a:xfrm>
          <a:prstGeom prst="rect">
            <a:avLst/>
          </a:prstGeom>
          <a:solidFill>
            <a:srgbClr val="FFFFFF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23160" y="1207008"/>
            <a:ext cx="64008" cy="111556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6" name="Shape 14"/>
          <p:cNvSpPr/>
          <p:nvPr/>
        </p:nvSpPr>
        <p:spPr>
          <a:xfrm>
            <a:off x="2084832" y="2404872"/>
            <a:ext cx="338328" cy="-640080"/>
          </a:xfrm>
          <a:prstGeom prst="line">
            <a:avLst/>
          </a:prstGeom>
          <a:noFill/>
          <a:ln w="12700">
            <a:solidFill>
              <a:srgbClr val="00B4D8">
                <a:alpha val="50000"/>
              </a:srgbClr>
            </a:solidFill>
            <a:prstDash val="sysDash"/>
          </a:ln>
        </p:spPr>
      </p:sp>
      <p:sp>
        <p:nvSpPr>
          <p:cNvPr id="17" name="Shape 15"/>
          <p:cNvSpPr/>
          <p:nvPr/>
        </p:nvSpPr>
        <p:spPr>
          <a:xfrm>
            <a:off x="2084832" y="3227832"/>
            <a:ext cx="338328" cy="-1463040"/>
          </a:xfrm>
          <a:prstGeom prst="line">
            <a:avLst/>
          </a:prstGeom>
          <a:noFill/>
          <a:ln w="12700">
            <a:solidFill>
              <a:srgbClr val="00B4D8">
                <a:alpha val="50000"/>
              </a:srgbClr>
            </a:solidFill>
            <a:prstDash val="sysDash"/>
          </a:ln>
        </p:spPr>
      </p:sp>
      <p:sp>
        <p:nvSpPr>
          <p:cNvPr id="18" name="Shape 16"/>
          <p:cNvSpPr/>
          <p:nvPr/>
        </p:nvSpPr>
        <p:spPr>
          <a:xfrm>
            <a:off x="2084832" y="4050792"/>
            <a:ext cx="338328" cy="-2286000"/>
          </a:xfrm>
          <a:prstGeom prst="line">
            <a:avLst/>
          </a:prstGeom>
          <a:noFill/>
          <a:ln w="12700">
            <a:solidFill>
              <a:srgbClr val="00B4D8">
                <a:alpha val="50000"/>
              </a:srgbClr>
            </a:solidFill>
            <a:prstDash val="sysDash"/>
          </a:ln>
        </p:spPr>
      </p:sp>
      <p:sp>
        <p:nvSpPr>
          <p:cNvPr id="19" name="Text 17"/>
          <p:cNvSpPr/>
          <p:nvPr/>
        </p:nvSpPr>
        <p:spPr>
          <a:xfrm>
            <a:off x="2560320" y="12618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lab-group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560320" y="160934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P0 → I1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560320" y="160934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P1 → I2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560320" y="160934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P2 → I3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623560" y="1435608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instances, 1 partition each. Max parallelism!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423160" y="2459736"/>
            <a:ext cx="6492240" cy="1115568"/>
          </a:xfrm>
          <a:prstGeom prst="rect">
            <a:avLst/>
          </a:prstGeom>
          <a:solidFill>
            <a:srgbClr val="FFFFFF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423160" y="2459736"/>
            <a:ext cx="64008" cy="111556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6" name="Shape 24"/>
          <p:cNvSpPr/>
          <p:nvPr/>
        </p:nvSpPr>
        <p:spPr>
          <a:xfrm>
            <a:off x="2084832" y="2404872"/>
            <a:ext cx="338328" cy="612648"/>
          </a:xfrm>
          <a:prstGeom prst="line">
            <a:avLst/>
          </a:prstGeom>
          <a:noFill/>
          <a:ln w="12700">
            <a:solidFill>
              <a:srgbClr val="FF6B35">
                <a:alpha val="50000"/>
              </a:srgbClr>
            </a:solidFill>
            <a:prstDash val="sysDash"/>
          </a:ln>
        </p:spPr>
      </p:sp>
      <p:sp>
        <p:nvSpPr>
          <p:cNvPr id="27" name="Shape 25"/>
          <p:cNvSpPr/>
          <p:nvPr/>
        </p:nvSpPr>
        <p:spPr>
          <a:xfrm>
            <a:off x="2084832" y="3227832"/>
            <a:ext cx="338328" cy="-210312"/>
          </a:xfrm>
          <a:prstGeom prst="line">
            <a:avLst/>
          </a:prstGeom>
          <a:noFill/>
          <a:ln w="12700">
            <a:solidFill>
              <a:srgbClr val="FF6B35">
                <a:alpha val="50000"/>
              </a:srgbClr>
            </a:solidFill>
            <a:prstDash val="sysDash"/>
          </a:ln>
        </p:spPr>
      </p:sp>
      <p:sp>
        <p:nvSpPr>
          <p:cNvPr id="28" name="Shape 26"/>
          <p:cNvSpPr/>
          <p:nvPr/>
        </p:nvSpPr>
        <p:spPr>
          <a:xfrm>
            <a:off x="2084832" y="4050792"/>
            <a:ext cx="338328" cy="-1033272"/>
          </a:xfrm>
          <a:prstGeom prst="line">
            <a:avLst/>
          </a:prstGeom>
          <a:noFill/>
          <a:ln w="12700">
            <a:solidFill>
              <a:srgbClr val="FF6B35">
                <a:alpha val="50000"/>
              </a:srgbClr>
            </a:solidFill>
            <a:prstDash val="sysDash"/>
          </a:ln>
        </p:spPr>
      </p:sp>
      <p:sp>
        <p:nvSpPr>
          <p:cNvPr id="29" name="Text 27"/>
          <p:cNvSpPr/>
          <p:nvPr/>
        </p:nvSpPr>
        <p:spPr>
          <a:xfrm>
            <a:off x="2560320" y="2514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billing-group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560320" y="286207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P0+P1+P2 → I1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623560" y="2688336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instance handles all 3 partitions sequentially.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423160" y="3712464"/>
            <a:ext cx="6492240" cy="1115568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423160" y="3712464"/>
            <a:ext cx="64008" cy="11155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4" name="Shape 32"/>
          <p:cNvSpPr/>
          <p:nvPr/>
        </p:nvSpPr>
        <p:spPr>
          <a:xfrm>
            <a:off x="2084832" y="2404872"/>
            <a:ext cx="338328" cy="1865376"/>
          </a:xfrm>
          <a:prstGeom prst="line">
            <a:avLst/>
          </a:prstGeom>
          <a:noFill/>
          <a:ln w="12700">
            <a:solidFill>
              <a:srgbClr val="10B981">
                <a:alpha val="50000"/>
              </a:srgbClr>
            </a:solidFill>
            <a:prstDash val="sysDash"/>
          </a:ln>
        </p:spPr>
      </p:sp>
      <p:sp>
        <p:nvSpPr>
          <p:cNvPr id="35" name="Shape 33"/>
          <p:cNvSpPr/>
          <p:nvPr/>
        </p:nvSpPr>
        <p:spPr>
          <a:xfrm>
            <a:off x="2084832" y="3227832"/>
            <a:ext cx="338328" cy="1042416"/>
          </a:xfrm>
          <a:prstGeom prst="line">
            <a:avLst/>
          </a:prstGeom>
          <a:noFill/>
          <a:ln w="12700">
            <a:solidFill>
              <a:srgbClr val="10B981">
                <a:alpha val="50000"/>
              </a:srgbClr>
            </a:solidFill>
            <a:prstDash val="sysDash"/>
          </a:ln>
        </p:spPr>
      </p:sp>
      <p:sp>
        <p:nvSpPr>
          <p:cNvPr id="36" name="Shape 34"/>
          <p:cNvSpPr/>
          <p:nvPr/>
        </p:nvSpPr>
        <p:spPr>
          <a:xfrm>
            <a:off x="2084832" y="4050792"/>
            <a:ext cx="338328" cy="219456"/>
          </a:xfrm>
          <a:prstGeom prst="line">
            <a:avLst/>
          </a:prstGeom>
          <a:noFill/>
          <a:ln w="12700">
            <a:solidFill>
              <a:srgbClr val="10B981">
                <a:alpha val="50000"/>
              </a:srgbClr>
            </a:solidFill>
            <a:prstDash val="sysDash"/>
          </a:ln>
        </p:spPr>
      </p:sp>
      <p:sp>
        <p:nvSpPr>
          <p:cNvPr id="37" name="Text 35"/>
          <p:cNvSpPr/>
          <p:nvPr/>
        </p:nvSpPr>
        <p:spPr>
          <a:xfrm>
            <a:off x="2560320" y="376732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notify-group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2560320" y="411480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P0+P1 → I1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560320" y="411480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P2 → I2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623560" y="3941064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instances. Instance 1 handles 2 partitions.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56032" y="4069080"/>
            <a:ext cx="8641080" cy="80467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2" name="Text 40"/>
          <p:cNvSpPr/>
          <p:nvPr/>
        </p:nvSpPr>
        <p:spPr>
          <a:xfrm>
            <a:off x="365760" y="413308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Offset Management: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2011680" y="4133088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auto.commit=true → Fastest, risk of reprocessing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343400" y="4133088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commitSync() → Safest, blocks thread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675120" y="4133088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commitAsync() → Fast + safe, non-blocking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00B4D8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+ Kafka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8803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KafkaTemplate · @KafkaListener · Dead Letter Topics · Retry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972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Kafka Integration — Architecture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REST endpoint to Kafka producer to consumer — the full flow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64592" y="1207008"/>
            <a:ext cx="160020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4592" y="1207008"/>
            <a:ext cx="54864" cy="120700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280160"/>
            <a:ext cx="148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Controller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@PostMapping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74320" y="187452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/api/lab-orders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737360" y="1572768"/>
            <a:ext cx="256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929384" y="1207008"/>
            <a:ext cx="160020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929384" y="1207008"/>
            <a:ext cx="54864" cy="12070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2039112" y="1280160"/>
            <a:ext cx="148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 Service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KafkaTemplate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039112" y="187452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.send(topic, key, value)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502152" y="1572768"/>
            <a:ext cx="256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694176" y="1207008"/>
            <a:ext cx="1600200" cy="1207008"/>
          </a:xfrm>
          <a:prstGeom prst="rect">
            <a:avLst/>
          </a:prstGeom>
          <a:solidFill>
            <a:srgbClr val="0A1628"/>
          </a:solidFill>
          <a:ln w="25400">
            <a:solidFill>
              <a:srgbClr val="0A16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803904" y="1280160"/>
            <a:ext cx="148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CLUSTER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hospital.lab.orders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803904" y="187452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partitions | RF=3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266944" y="1572768"/>
            <a:ext cx="256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458968" y="1207008"/>
            <a:ext cx="160020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58968" y="1207008"/>
            <a:ext cx="54864" cy="12070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5568696" y="1280160"/>
            <a:ext cx="148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@KafkaListener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Service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568696" y="187452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acknowledgment.acknowledge()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031736" y="1572768"/>
            <a:ext cx="256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7223760" y="1207008"/>
            <a:ext cx="160020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223760" y="1207008"/>
            <a:ext cx="54864" cy="12070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7" name="Text 25"/>
          <p:cNvSpPr/>
          <p:nvPr/>
        </p:nvSpPr>
        <p:spPr>
          <a:xfrm>
            <a:off x="7333488" y="1280160"/>
            <a:ext cx="148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Database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333488" y="187452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labOrderRepo.save(order)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56032" y="2578608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56032" y="2578608"/>
            <a:ext cx="64008" cy="117043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26517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KafkaTemplate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301752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Spring-managed producer wrapper. Auto-configured from application.yml. Thread-safe. Use .send(topic, key, value) with CompletableFuture callbacks.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663440" y="2578608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63440" y="2578608"/>
            <a:ext cx="64008" cy="117043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5" name="Text 33"/>
          <p:cNvSpPr/>
          <p:nvPr/>
        </p:nvSpPr>
        <p:spPr>
          <a:xfrm>
            <a:off x="4864608" y="26517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@KafkaListener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864608" y="301752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 turns any method into a Kafka consumer. Supports single-record and batch mode. Specify topics, groupId, and containerFactory.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56032" y="3877056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56032" y="3877056"/>
            <a:ext cx="64008" cy="11704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" y="395020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application.yml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57200" y="4315968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 all Kafka config: bootstrap-servers, serializers, acks, group-id, auto-offset-reset, concurrency, ack-mode.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663440" y="3877056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663440" y="3877056"/>
            <a:ext cx="64008" cy="11704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3" name="Text 41"/>
          <p:cNvSpPr/>
          <p:nvPr/>
        </p:nvSpPr>
        <p:spPr>
          <a:xfrm>
            <a:off x="4864608" y="395020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Dead Letter Topic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864608" y="4315968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3 failed retries → message sent to hospital.lab.orders.DLT. Prevents one bad message from blocking an entire partition.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00B4D8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8803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 Kafka design — what separates pros from beginners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972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 &amp; Production Best Practices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separates a Kafka beginner from a Kafka architect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" y="1207008"/>
            <a:ext cx="4206240" cy="1115568"/>
          </a:xfrm>
          <a:prstGeom prst="rect">
            <a:avLst/>
          </a:prstGeom>
          <a:solidFill>
            <a:srgbClr val="FFFFFF"/>
          </a:solidFill>
          <a:ln w="1524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207008"/>
            <a:ext cx="54864" cy="1115568"/>
          </a:xfrm>
          <a:prstGeom prst="rect">
            <a:avLst/>
          </a:prstGeom>
          <a:solidFill>
            <a:srgbClr val="FF6B35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554480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04672" y="1261872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Is NOT a Database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04672" y="1682496"/>
            <a:ext cx="3547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query Kafka like SELECT *. It's a streaming pipeline — use a database for queryable state.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56032" y="2468880"/>
            <a:ext cx="4206240" cy="1115568"/>
          </a:xfrm>
          <a:prstGeom prst="rect">
            <a:avLst/>
          </a:prstGeom>
          <a:solidFill>
            <a:srgbClr val="FFFFFF"/>
          </a:solidFill>
          <a:ln w="1524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56032" y="2468880"/>
            <a:ext cx="54864" cy="1115568"/>
          </a:xfrm>
          <a:prstGeom prst="rect">
            <a:avLst/>
          </a:prstGeom>
          <a:solidFill>
            <a:srgbClr val="FF6B35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816352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04672" y="2523744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Store Large Payloads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804672" y="2944368"/>
            <a:ext cx="3547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files in S3/blob. Put only the reference URL in Kafka. Keep messages under 100KB.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256032" y="3730752"/>
            <a:ext cx="4206240" cy="1115568"/>
          </a:xfrm>
          <a:prstGeom prst="rect">
            <a:avLst/>
          </a:prstGeom>
          <a:solidFill>
            <a:srgbClr val="FFFFFF"/>
          </a:solidFill>
          <a:ln w="1524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256032" y="3730752"/>
            <a:ext cx="54864" cy="1115568"/>
          </a:xfrm>
          <a:prstGeom prst="rect">
            <a:avLst/>
          </a:prstGeom>
          <a:solidFill>
            <a:srgbClr val="FF6B35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4078224"/>
            <a:ext cx="347472" cy="34747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04672" y="3785616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Group for All Services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804672" y="4206240"/>
            <a:ext cx="3547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microservice MUST have its own consumer group.id. Sharing a group means only ONE service gets each message.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4718304" y="1207008"/>
            <a:ext cx="4206240" cy="1115568"/>
          </a:xfrm>
          <a:prstGeom prst="rect">
            <a:avLst/>
          </a:prstGeom>
          <a:solidFill>
            <a:srgbClr val="FFFFFF"/>
          </a:solidFill>
          <a:ln w="1524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718304" y="1207008"/>
            <a:ext cx="54864" cy="1115568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554480"/>
            <a:ext cx="347472" cy="34747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266944" y="1261872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acks=all for Critical Data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5266944" y="1682496"/>
            <a:ext cx="3547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Financial, medical, audit data — always use acks=all + idempotent producer + manual commit.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4718304" y="2468880"/>
            <a:ext cx="4206240" cy="1115568"/>
          </a:xfrm>
          <a:prstGeom prst="rect">
            <a:avLst/>
          </a:prstGeom>
          <a:solidFill>
            <a:srgbClr val="FFFFFF"/>
          </a:solidFill>
          <a:ln w="1524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718304" y="2468880"/>
            <a:ext cx="54864" cy="1115568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2816352"/>
            <a:ext cx="347472" cy="34747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266944" y="2523744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 Business Logic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5266944" y="2944368"/>
            <a:ext cx="3547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At-least-once is the default. Make your consumer logic idempotent using unique constraints in your DB.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4718304" y="3730752"/>
            <a:ext cx="4206240" cy="1115568"/>
          </a:xfrm>
          <a:prstGeom prst="rect">
            <a:avLst/>
          </a:prstGeom>
          <a:solidFill>
            <a:srgbClr val="FFFFFF"/>
          </a:solidFill>
          <a:ln w="1524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4718304" y="3730752"/>
            <a:ext cx="54864" cy="1115568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4078224"/>
            <a:ext cx="347472" cy="34747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5266944" y="3785616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Configure DLT</a:t>
            </a:r>
            <a:endParaRPr lang="en-US" sz="1200" dirty="0"/>
          </a:p>
        </p:txBody>
      </p:sp>
      <p:sp>
        <p:nvSpPr>
          <p:cNvPr id="35" name="Text 27"/>
          <p:cNvSpPr/>
          <p:nvPr/>
        </p:nvSpPr>
        <p:spPr>
          <a:xfrm>
            <a:off x="5266944" y="4206240"/>
            <a:ext cx="3547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Letter Topic + retry prevents one malformed message from blocking an entire partition indefinitely.</a:t>
            </a:r>
            <a:endParaRPr lang="en-US" sz="1000" dirty="0"/>
          </a:p>
        </p:txBody>
      </p:sp>
      <p:sp>
        <p:nvSpPr>
          <p:cNvPr id="36" name="Shape 28"/>
          <p:cNvSpPr/>
          <p:nvPr/>
        </p:nvSpPr>
        <p:spPr>
          <a:xfrm>
            <a:off x="256032" y="4645152"/>
            <a:ext cx="8641080" cy="3200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7" name="Text 29"/>
          <p:cNvSpPr/>
          <p:nvPr/>
        </p:nvSpPr>
        <p:spPr>
          <a:xfrm>
            <a:off x="256032" y="4654296"/>
            <a:ext cx="8641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Rule: 3+ Brokers  |  RF=3  |  acks=all  |  Idempotent  |  Manual Commit  |  DLT  |  Partitions ≥ Consumer Threads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0D1F3C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0"/>
            <a:ext cx="54864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0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Now a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1115568"/>
            <a:ext cx="6126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Architect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457200" y="2029968"/>
            <a:ext cx="6035040" cy="457200"/>
          </a:xfrm>
          <a:prstGeom prst="rect">
            <a:avLst/>
          </a:prstGeom>
          <a:solidFill>
            <a:srgbClr val="0D1F3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075688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32688" y="2066544"/>
            <a:ext cx="5440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Brokers — Storage, replication, fault tolerance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2578608"/>
            <a:ext cx="6035040" cy="457200"/>
          </a:xfrm>
          <a:prstGeom prst="rect">
            <a:avLst/>
          </a:prstGeom>
          <a:solidFill>
            <a:srgbClr val="0D1F3C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624328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32688" y="2615184"/>
            <a:ext cx="5440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— Channels, retention, naming strategy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57200" y="3127248"/>
            <a:ext cx="6035040" cy="457200"/>
          </a:xfrm>
          <a:prstGeom prst="rect">
            <a:avLst/>
          </a:prstGeom>
          <a:solidFill>
            <a:srgbClr val="0D1F3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172968"/>
            <a:ext cx="292608" cy="292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32688" y="3163824"/>
            <a:ext cx="5440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Partitions — Parallelism, keys, ordering guarantees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457200" y="3675888"/>
            <a:ext cx="6035040" cy="457200"/>
          </a:xfrm>
          <a:prstGeom prst="rect">
            <a:avLst/>
          </a:prstGeom>
          <a:solidFill>
            <a:srgbClr val="0D1F3C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721608"/>
            <a:ext cx="292608" cy="29260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32688" y="3712464"/>
            <a:ext cx="5440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Producers — acks, idempotence, batching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457200" y="4224528"/>
            <a:ext cx="6035040" cy="457200"/>
          </a:xfrm>
          <a:prstGeom prst="rect">
            <a:avLst/>
          </a:prstGeom>
          <a:solidFill>
            <a:srgbClr val="0D1F3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270248"/>
            <a:ext cx="292608" cy="29260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932688" y="4261104"/>
            <a:ext cx="5440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 — Groups, offsets, rebalancing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6967728" y="365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400" dirty="0"/>
          </a:p>
        </p:txBody>
      </p:sp>
      <p:sp>
        <p:nvSpPr>
          <p:cNvPr id="22" name="Shape 15"/>
          <p:cNvSpPr/>
          <p:nvPr/>
        </p:nvSpPr>
        <p:spPr>
          <a:xfrm>
            <a:off x="6967728" y="841248"/>
            <a:ext cx="1993392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>
                <a:alpha val="50000"/>
              </a:srgbClr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6967728" y="841248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Streams</a:t>
            </a:r>
            <a:endParaRPr lang="en-US" sz="1050" dirty="0"/>
          </a:p>
        </p:txBody>
      </p:sp>
      <p:sp>
        <p:nvSpPr>
          <p:cNvPr id="24" name="Shape 17"/>
          <p:cNvSpPr/>
          <p:nvPr/>
        </p:nvSpPr>
        <p:spPr>
          <a:xfrm>
            <a:off x="6967728" y="1499616"/>
            <a:ext cx="1993392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>
                <a:alpha val="50000"/>
              </a:srgbClr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6967728" y="1499616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Connect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6967728" y="2157984"/>
            <a:ext cx="1993392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>
                <a:alpha val="50000"/>
              </a:srgbClr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6967728" y="2157984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Registry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6967728" y="2816352"/>
            <a:ext cx="1993392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>
                <a:alpha val="50000"/>
              </a:srgbClr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6967728" y="2816352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Security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6967728" y="3474720"/>
            <a:ext cx="1993392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>
                <a:alpha val="50000"/>
              </a:srgbClr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6967728" y="3474720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ksqlDB</a:t>
            </a:r>
            <a:endParaRPr lang="en-US" sz="1050" dirty="0"/>
          </a:p>
        </p:txBody>
      </p:sp>
      <p:sp>
        <p:nvSpPr>
          <p:cNvPr id="32" name="Shape 25"/>
          <p:cNvSpPr/>
          <p:nvPr/>
        </p:nvSpPr>
        <p:spPr>
          <a:xfrm>
            <a:off x="6967728" y="4133088"/>
            <a:ext cx="1993392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>
                <a:alpha val="50000"/>
              </a:srgbClr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6967728" y="4133088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Multi-Cluster</a:t>
            </a:r>
            <a:endParaRPr lang="en-US" sz="1050" dirty="0"/>
          </a:p>
        </p:txBody>
      </p:sp>
      <p:sp>
        <p:nvSpPr>
          <p:cNvPr id="34" name="Text 27"/>
          <p:cNvSpPr/>
          <p:nvPr/>
        </p:nvSpPr>
        <p:spPr>
          <a:xfrm>
            <a:off x="457200" y="4736592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any question — every concept is open for deeper exploration.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Apache Kafka — Complete Mastery Course</dc:title>
  <dc:subject>Kafka Architecture, Java &amp; Spring Boot Integration</dc:subject>
  <dc:creator>Senior Java Architect</dc:creator>
  <cp:lastModifiedBy>Senior Java Architect</cp:lastModifiedBy>
  <cp:revision>1</cp:revision>
  <dcterms:created xsi:type="dcterms:W3CDTF">2026-03-06T03:40:42Z</dcterms:created>
  <dcterms:modified xsi:type="dcterms:W3CDTF">2026-03-06T03:40:42Z</dcterms:modified>
</cp:coreProperties>
</file>